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20"/>
  </p:handoutMasterIdLst>
  <p:sldIdLst>
    <p:sldId id="269" r:id="rId2"/>
    <p:sldId id="277" r:id="rId3"/>
    <p:sldId id="268" r:id="rId4"/>
    <p:sldId id="313" r:id="rId5"/>
    <p:sldId id="315" r:id="rId6"/>
    <p:sldId id="316" r:id="rId7"/>
    <p:sldId id="298" r:id="rId8"/>
    <p:sldId id="299" r:id="rId9"/>
    <p:sldId id="300" r:id="rId10"/>
    <p:sldId id="301" r:id="rId11"/>
    <p:sldId id="302" r:id="rId12"/>
    <p:sldId id="312" r:id="rId13"/>
    <p:sldId id="309" r:id="rId14"/>
    <p:sldId id="311" r:id="rId15"/>
    <p:sldId id="304" r:id="rId16"/>
    <p:sldId id="305" r:id="rId17"/>
    <p:sldId id="294" r:id="rId1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5050"/>
    <a:srgbClr val="FFCC66"/>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01" autoAdjust="0"/>
    <p:restoredTop sz="94660"/>
  </p:normalViewPr>
  <p:slideViewPr>
    <p:cSldViewPr>
      <p:cViewPr varScale="1">
        <p:scale>
          <a:sx n="114" d="100"/>
          <a:sy n="114" d="100"/>
        </p:scale>
        <p:origin x="1788" y="144"/>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696C064A-D61B-4B21-B757-51A9B82445B8}" type="datetimeFigureOut">
              <a:rPr lang="en-US" smtClean="0"/>
              <a:t>4/4/2023</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7525438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925A17EF-115B-4BB9-BF42-426DFD9E898A}" type="datetimeFigureOut">
              <a:rPr lang="en-US" smtClean="0"/>
              <a:t>4/4/2023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C4E7652-46AF-4259-BAE2-54978EA077CD}" type="slidenum">
              <a:rPr lang="en-US" smtClean="0"/>
              <a:t>‹#›</a:t>
            </a:fld>
            <a:endParaRPr lang="en-US"/>
          </a:p>
        </p:txBody>
      </p:sp>
    </p:spTree>
    <p:extLst>
      <p:ext uri="{BB962C8B-B14F-4D97-AF65-F5344CB8AC3E}">
        <p14:creationId xmlns:p14="http://schemas.microsoft.com/office/powerpoint/2010/main" val="262631254"/>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1" y="-10825"/>
            <a:ext cx="9144002" cy="6515395"/>
            <a:chOff x="-1" y="-10825"/>
            <a:chExt cx="9144002" cy="6515395"/>
          </a:xfrm>
        </p:grpSpPr>
        <p:pic>
          <p:nvPicPr>
            <p:cNvPr id="11" name="Graphic 10"/>
            <p:cNvPicPr>
              <a:picLocks noChangeAspect="1"/>
            </p:cNvPicPr>
            <p:nvPr userDrawn="1"/>
          </p:nvPicPr>
          <p:blipFill>
            <a:blip r:embed="rId2"/>
            <a:stretch>
              <a:fillRect/>
            </a:stretch>
          </p:blipFill>
          <p:spPr>
            <a:xfrm>
              <a:off x="457200" y="-10825"/>
              <a:ext cx="3429000" cy="3181546"/>
            </a:xfrm>
            <a:prstGeom prst="rect">
              <a:avLst/>
            </a:prstGeom>
          </p:spPr>
        </p:pic>
        <p:pic>
          <p:nvPicPr>
            <p:cNvPr id="12" name="Graphic 11"/>
            <p:cNvPicPr>
              <a:picLocks noChangeAspect="1"/>
            </p:cNvPicPr>
            <p:nvPr userDrawn="1"/>
          </p:nvPicPr>
          <p:blipFill>
            <a:blip r:embed="rId3" cstate="print"/>
            <a:stretch>
              <a:fillRect/>
            </a:stretch>
          </p:blipFill>
          <p:spPr>
            <a:xfrm>
              <a:off x="1295401" y="-10825"/>
              <a:ext cx="7848600" cy="3522243"/>
            </a:xfrm>
            <a:prstGeom prst="rect">
              <a:avLst/>
            </a:prstGeom>
          </p:spPr>
        </p:pic>
        <p:pic>
          <p:nvPicPr>
            <p:cNvPr id="13" name="Graphic 12"/>
            <p:cNvPicPr>
              <a:picLocks noChangeAspect="1"/>
            </p:cNvPicPr>
            <p:nvPr userDrawn="1"/>
          </p:nvPicPr>
          <p:blipFill>
            <a:blip r:embed="rId4"/>
            <a:stretch>
              <a:fillRect/>
            </a:stretch>
          </p:blipFill>
          <p:spPr>
            <a:xfrm>
              <a:off x="2831825" y="2232482"/>
              <a:ext cx="1282976" cy="1108588"/>
            </a:xfrm>
            <a:prstGeom prst="rect">
              <a:avLst/>
            </a:prstGeom>
          </p:spPr>
        </p:pic>
        <p:pic>
          <p:nvPicPr>
            <p:cNvPr id="14" name="Graphic 13"/>
            <p:cNvPicPr>
              <a:picLocks noChangeAspect="1"/>
            </p:cNvPicPr>
            <p:nvPr userDrawn="1"/>
          </p:nvPicPr>
          <p:blipFill>
            <a:blip r:embed="rId5"/>
            <a:stretch>
              <a:fillRect/>
            </a:stretch>
          </p:blipFill>
          <p:spPr>
            <a:xfrm>
              <a:off x="-1" y="2962082"/>
              <a:ext cx="2757625" cy="3542488"/>
            </a:xfrm>
            <a:prstGeom prst="rect">
              <a:avLst/>
            </a:prstGeom>
          </p:spPr>
        </p:pic>
        <p:pic>
          <p:nvPicPr>
            <p:cNvPr id="15" name="Graphic 14"/>
            <p:cNvPicPr>
              <a:picLocks noChangeAspect="1"/>
            </p:cNvPicPr>
            <p:nvPr userDrawn="1"/>
          </p:nvPicPr>
          <p:blipFill>
            <a:blip r:embed="rId6"/>
            <a:stretch>
              <a:fillRect/>
            </a:stretch>
          </p:blipFill>
          <p:spPr>
            <a:xfrm>
              <a:off x="2" y="2313169"/>
              <a:ext cx="2259131" cy="2895506"/>
            </a:xfrm>
            <a:prstGeom prst="rect">
              <a:avLst/>
            </a:prstGeom>
          </p:spPr>
        </p:pic>
      </p:grpSp>
      <p:sp>
        <p:nvSpPr>
          <p:cNvPr id="8" name="Title 7"/>
          <p:cNvSpPr>
            <a:spLocks noGrp="1"/>
          </p:cNvSpPr>
          <p:nvPr>
            <p:ph type="ctrTitle"/>
          </p:nvPr>
        </p:nvSpPr>
        <p:spPr>
          <a:xfrm>
            <a:off x="3276600" y="1213332"/>
            <a:ext cx="5326856" cy="1425577"/>
          </a:xfrm>
        </p:spPr>
        <p:txBody>
          <a:bodyPr anchor="b"/>
          <a:lstStyle>
            <a:lvl1pPr algn="r">
              <a:defRPr sz="4500" b="1">
                <a:solidFill>
                  <a:schemeClr val="bg2"/>
                </a:solidFill>
              </a:defRPr>
            </a:lvl1pPr>
          </a:lstStyle>
          <a:p>
            <a:r>
              <a:rPr lang="en-US"/>
              <a:t>Click to edit Master title style</a:t>
            </a:r>
            <a:endParaRPr lang="en-US" dirty="0"/>
          </a:p>
        </p:txBody>
      </p:sp>
      <p:sp>
        <p:nvSpPr>
          <p:cNvPr id="9" name="Subtitle 8"/>
          <p:cNvSpPr>
            <a:spLocks noGrp="1"/>
          </p:cNvSpPr>
          <p:nvPr>
            <p:ph type="subTitle" idx="1"/>
          </p:nvPr>
        </p:nvSpPr>
        <p:spPr>
          <a:xfrm>
            <a:off x="4724400" y="3849666"/>
            <a:ext cx="3879056" cy="1234575"/>
          </a:xfrm>
          <a:noFill/>
        </p:spPr>
        <p:txBody>
          <a:bodyPr/>
          <a:lstStyle>
            <a:lvl1pPr marL="0" marR="36830" indent="0" algn="l">
              <a:spcBef>
                <a:spcPts val="0"/>
              </a:spcBef>
              <a:buNone/>
              <a:defRPr>
                <a:ln>
                  <a:noFill/>
                </a:ln>
                <a:solidFill>
                  <a:schemeClr val="bg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17" name="Footer Placeholder 16"/>
          <p:cNvSpPr>
            <a:spLocks noGrp="1"/>
          </p:cNvSpPr>
          <p:nvPr>
            <p:ph type="ftr" sz="quarter" idx="11"/>
          </p:nvPr>
        </p:nvSpPr>
        <p:spPr>
          <a:xfrm>
            <a:off x="2812256" y="6111875"/>
            <a:ext cx="5791200" cy="365125"/>
          </a:xfrm>
          <a:prstGeom prst="rect">
            <a:avLst/>
          </a:prstGeom>
        </p:spPr>
        <p:txBody>
          <a:bodyPr tIns="0" bIns="0" anchor="b"/>
          <a:lstStyle>
            <a:lvl1pPr algn="ctr">
              <a:defRPr sz="1400" b="1">
                <a:solidFill>
                  <a:schemeClr val="bg1"/>
                </a:solidFill>
              </a:defRPr>
            </a:lvl1pPr>
          </a:lstStyle>
          <a:p>
            <a:r>
              <a:rPr lang="en-US"/>
              <a:t>Báo cáo tổng kết 2017 - PMO</a:t>
            </a:r>
            <a:endParaRPr lang="en-US" dirty="0"/>
          </a:p>
        </p:txBody>
      </p:sp>
      <p:pic>
        <p:nvPicPr>
          <p:cNvPr id="2051" name="Picture 1" descr="logo+Luvina"/>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295402" cy="787402"/>
          </a:xfrm>
          <a:prstGeom prst="rect">
            <a:avLst/>
          </a:prstGeom>
          <a:noFill/>
          <a:ln>
            <a:noFill/>
          </a:ln>
          <a:effectLst>
            <a:glow>
              <a:schemeClr val="accent1"/>
            </a:glow>
            <a:outerShdw blurRad="177800" dist="50800" dir="5400000" algn="ctr" rotWithShape="0">
              <a:srgbClr val="000000">
                <a:alpha val="0"/>
              </a:srgbClr>
            </a:outerShdw>
            <a:softEdge rad="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65395"/>
            <a:ext cx="4876800" cy="799306"/>
          </a:xfrm>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4572000"/>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Slide Number Placeholder 3"/>
          <p:cNvSpPr>
            <a:spLocks noGrp="1"/>
          </p:cNvSpPr>
          <p:nvPr>
            <p:ph type="sldNum" sz="quarter" idx="11"/>
          </p:nvPr>
        </p:nvSpPr>
        <p:spPr>
          <a:xfrm>
            <a:off x="8183880" y="173195"/>
            <a:ext cx="502920" cy="301752"/>
          </a:xfrm>
          <a:prstGeom prst="rect">
            <a:avLst/>
          </a:prstGeom>
        </p:spPr>
        <p:txBody>
          <a:bodyPr/>
          <a:lstStyle/>
          <a:p>
            <a:fld id="{49598980-D22C-4904-9F8F-3DB09B2ECD84}" type="slidenum">
              <a:rPr lang="en-US" smtClean="0"/>
              <a:t>‹#›</a:t>
            </a:fld>
            <a:endParaRPr lang="en-US" dirty="0"/>
          </a:p>
        </p:txBody>
      </p:sp>
      <p:sp>
        <p:nvSpPr>
          <p:cNvPr id="14" name="Content Placeholder 2"/>
          <p:cNvSpPr>
            <a:spLocks noGrp="1"/>
          </p:cNvSpPr>
          <p:nvPr>
            <p:ph idx="1"/>
          </p:nvPr>
        </p:nvSpPr>
        <p:spPr>
          <a:xfrm>
            <a:off x="457200" y="1425655"/>
            <a:ext cx="7726680" cy="571500"/>
          </a:xfrm>
        </p:spPr>
        <p:txBody>
          <a:bodyPr>
            <a:normAutofit/>
          </a:bodyPr>
          <a:lstStyle>
            <a:lvl1pPr marL="64135" indent="0">
              <a:buFont typeface="Arial" panose="020B0604020202020204" pitchFamily="34" charset="0"/>
              <a:buNone/>
              <a:defRPr sz="2000"/>
            </a:lvl1pPr>
            <a:lvl2pPr marL="537210" indent="0">
              <a:buNone/>
              <a:defRPr/>
            </a:lvl2pPr>
            <a:lvl3pPr marL="877570" indent="0">
              <a:buNone/>
              <a:defRPr/>
            </a:lvl3pPr>
            <a:lvl4pPr marL="1161415" indent="0">
              <a:buNone/>
              <a:defRPr/>
            </a:lvl4pPr>
            <a:lvl5pPr marL="1390015" indent="0">
              <a:buNone/>
              <a:defRPr/>
            </a:lvl5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lgn="l">
              <a:defRPr/>
            </a:lvl1pPr>
          </a:lstStyle>
          <a:p>
            <a:r>
              <a:rPr lang="en-US"/>
              <a:t>Click to edit Master title style</a:t>
            </a:r>
            <a:endParaRPr lang="en-US" dirty="0"/>
          </a:p>
        </p:txBody>
      </p:sp>
      <p:sp>
        <p:nvSpPr>
          <p:cNvPr id="3" name="Content Placeholder 2"/>
          <p:cNvSpPr>
            <a:spLocks noGrp="1"/>
          </p:cNvSpPr>
          <p:nvPr>
            <p:ph sz="half" idx="1"/>
          </p:nvPr>
        </p:nvSpPr>
        <p:spPr>
          <a:xfrm>
            <a:off x="457200" y="1722437"/>
            <a:ext cx="4038600" cy="4525963"/>
          </a:xfrm>
        </p:spPr>
        <p:txBody>
          <a:bodyPr/>
          <a:lstStyle>
            <a:lvl1pPr>
              <a:defRPr sz="20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22437"/>
            <a:ext cx="4038600" cy="4525963"/>
          </a:xfrm>
        </p:spPr>
        <p:txBody>
          <a:bodyPr/>
          <a:lstStyle>
            <a:lvl1pPr>
              <a:defRPr sz="20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1295400"/>
            <a:ext cx="914400" cy="5015864"/>
          </a:xfrm>
        </p:spPr>
        <p:txBody>
          <a:bodyPr vert="vert270" anchor="b"/>
          <a:lstStyle>
            <a:lvl1pPr marL="0" marR="18415" algn="r">
              <a:spcBef>
                <a:spcPts val="0"/>
              </a:spcBef>
              <a:buNone/>
              <a:defRPr sz="29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135856" y="1295400"/>
            <a:ext cx="2438400" cy="5015864"/>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51250" y="1295400"/>
            <a:ext cx="5276088" cy="5013960"/>
          </a:xfrm>
        </p:spPr>
        <p:txBody>
          <a:bodyPr>
            <a:normAutofit/>
          </a:bodyPr>
          <a:lstStyle>
            <a:lvl1pPr>
              <a:spcBef>
                <a:spcPts val="0"/>
              </a:spcBef>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6"/>
          <p:cNvSpPr>
            <a:spLocks noGrp="1"/>
          </p:cNvSpPr>
          <p:nvPr>
            <p:ph type="sldNum" sz="quarter" idx="12"/>
          </p:nvPr>
        </p:nvSpPr>
        <p:spPr>
          <a:xfrm>
            <a:off x="8191596" y="173195"/>
            <a:ext cx="502920" cy="301752"/>
          </a:xfrm>
          <a:prstGeom prst="rect">
            <a:avLst/>
          </a:prstGeom>
        </p:spPr>
        <p:txBody>
          <a:bodyPr/>
          <a:lstStyle>
            <a:lvl1pPr>
              <a:defRPr sz="1200"/>
            </a:lvl1pPr>
          </a:lstStyle>
          <a:p>
            <a:fld id="{FEA1243F-3000-4347-94A4-FBDEAD3122CB}"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66725" y="381198"/>
            <a:ext cx="4638674" cy="675926"/>
          </a:xfrm>
          <a:prstGeom prst="rect">
            <a:avLst/>
          </a:prstGeom>
        </p:spPr>
        <p:txBody>
          <a:bodyPr vert="horz" lIns="0" rIns="0" anchor="ctr">
            <a:noAutofit/>
          </a:bodyPr>
          <a:lstStyle/>
          <a:p>
            <a:endParaRPr lang="en-US" dirty="0"/>
          </a:p>
        </p:txBody>
      </p:sp>
      <p:sp>
        <p:nvSpPr>
          <p:cNvPr id="13" name="Text Placeholder 12"/>
          <p:cNvSpPr>
            <a:spLocks noGrp="1"/>
          </p:cNvSpPr>
          <p:nvPr>
            <p:ph type="body" idx="1"/>
          </p:nvPr>
        </p:nvSpPr>
        <p:spPr>
          <a:xfrm>
            <a:off x="457200" y="1566839"/>
            <a:ext cx="8229600" cy="4572000"/>
          </a:xfrm>
          <a:prstGeom prst="rect">
            <a:avLst/>
          </a:prstGeom>
        </p:spPr>
        <p:txBody>
          <a:bodyPr vert="horz" anchor="t">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1" name="Graphic 20"/>
          <p:cNvPicPr>
            <a:picLocks noChangeAspect="1"/>
          </p:cNvPicPr>
          <p:nvPr userDrawn="1"/>
        </p:nvPicPr>
        <p:blipFill>
          <a:blip r:embed="rId8" cstate="print"/>
          <a:stretch>
            <a:fillRect/>
          </a:stretch>
        </p:blipFill>
        <p:spPr>
          <a:xfrm>
            <a:off x="0" y="5307178"/>
            <a:ext cx="1219200" cy="1550822"/>
          </a:xfrm>
          <a:prstGeom prst="rect">
            <a:avLst/>
          </a:prstGeom>
        </p:spPr>
      </p:pic>
      <p:pic>
        <p:nvPicPr>
          <p:cNvPr id="27" name="Graphic 26"/>
          <p:cNvPicPr>
            <a:picLocks noChangeAspect="1"/>
          </p:cNvPicPr>
          <p:nvPr userDrawn="1"/>
        </p:nvPicPr>
        <p:blipFill>
          <a:blip r:embed="rId9" cstate="print"/>
          <a:stretch>
            <a:fillRect/>
          </a:stretch>
        </p:blipFill>
        <p:spPr>
          <a:xfrm>
            <a:off x="-16459" y="4545317"/>
            <a:ext cx="1248460" cy="1570328"/>
          </a:xfrm>
          <a:prstGeom prst="rect">
            <a:avLst/>
          </a:prstGeom>
        </p:spPr>
      </p:pic>
      <p:pic>
        <p:nvPicPr>
          <p:cNvPr id="1027" name="Picture 1" descr="logo+Luvina"/>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7932591" y="1994"/>
            <a:ext cx="1230913" cy="748202"/>
          </a:xfrm>
          <a:prstGeom prst="rect">
            <a:avLst/>
          </a:prstGeom>
          <a:noFill/>
          <a:ln>
            <a:noFill/>
          </a:ln>
          <a:effectLst>
            <a:outerShdw dist="50800" dir="5400000" algn="ctr" rotWithShape="0">
              <a:srgbClr val="000000">
                <a:alpha val="0"/>
              </a:srgbClr>
            </a:outerShdw>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dt="0"/>
  <p:txStyles>
    <p:titleStyle>
      <a:lvl1pPr marL="182880" algn="l" rtl="0" eaLnBrk="1" latinLnBrk="0" hangingPunct="1">
        <a:spcBef>
          <a:spcPct val="0"/>
        </a:spcBef>
        <a:buNone/>
        <a:defRPr sz="3200" b="1" kern="1200">
          <a:ln w="6350">
            <a:noFill/>
          </a:ln>
          <a:solidFill>
            <a:schemeClr val="accent1"/>
          </a:solidFill>
          <a:effectLst/>
          <a:latin typeface="+mj-lt"/>
          <a:ea typeface="+mj-ea"/>
          <a:cs typeface="+mj-cs"/>
        </a:defRPr>
      </a:lvl1pPr>
    </p:titleStyle>
    <p:bodyStyle>
      <a:lvl1pPr marL="448310" indent="-384175" algn="l" rtl="0" eaLnBrk="1" latinLnBrk="0" hangingPunct="1">
        <a:spcBef>
          <a:spcPct val="20000"/>
        </a:spcBef>
        <a:spcAft>
          <a:spcPts val="1000"/>
        </a:spcAft>
        <a:buClr>
          <a:schemeClr val="accent1"/>
        </a:buClr>
        <a:buSzPct val="80000"/>
        <a:buFont typeface="Arial" panose="020B0604020202020204" pitchFamily="34" charset="0"/>
        <a:buChar char="•"/>
        <a:defRPr sz="2000" kern="1200">
          <a:solidFill>
            <a:schemeClr val="bg2"/>
          </a:solidFill>
          <a:latin typeface="+mn-lt"/>
          <a:ea typeface="+mn-ea"/>
          <a:cs typeface="+mn-cs"/>
        </a:defRPr>
      </a:lvl1pPr>
      <a:lvl2pPr marL="822960" indent="-285750" algn="l" rtl="0" eaLnBrk="1" latinLnBrk="0" hangingPunct="1">
        <a:spcBef>
          <a:spcPct val="20000"/>
        </a:spcBef>
        <a:spcAft>
          <a:spcPts val="1000"/>
        </a:spcAft>
        <a:buClr>
          <a:schemeClr val="accent1"/>
        </a:buClr>
        <a:buSzPct val="95000"/>
        <a:buFont typeface="Arial" panose="020B0604020202020204" pitchFamily="34" charset="0"/>
        <a:buChar char="•"/>
        <a:defRPr sz="1800" kern="1200">
          <a:solidFill>
            <a:schemeClr val="bg2"/>
          </a:solidFill>
          <a:latin typeface="+mn-lt"/>
          <a:ea typeface="+mn-ea"/>
          <a:cs typeface="+mn-cs"/>
        </a:defRPr>
      </a:lvl2pPr>
      <a:lvl3pPr marL="1106170" indent="-228600"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3pPr>
      <a:lvl4pPr marL="13716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4pPr>
      <a:lvl5pPr marL="16002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5pPr>
      <a:lvl6pPr marL="1828800" indent="-210185" algn="l" rtl="0" eaLnBrk="1" latinLnBrk="0" hangingPunct="1">
        <a:spcBef>
          <a:spcPct val="20000"/>
        </a:spcBef>
        <a:buClr>
          <a:schemeClr val="accent1">
            <a:tint val="75000"/>
          </a:schemeClr>
        </a:buClr>
        <a:buFont typeface="Wingdings 2" panose="05020102010507070707"/>
        <a:buChar char=""/>
        <a:defRPr sz="1800" kern="1200">
          <a:solidFill>
            <a:schemeClr val="tx1"/>
          </a:solidFill>
          <a:latin typeface="+mn-lt"/>
          <a:ea typeface="+mn-ea"/>
          <a:cs typeface="+mn-cs"/>
        </a:defRPr>
      </a:lvl6pPr>
      <a:lvl7pPr marL="2084705" indent="-210185"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914400"/>
            <a:ext cx="8001000" cy="1066800"/>
          </a:xfrm>
        </p:spPr>
        <p:txBody>
          <a:bodyPr/>
          <a:lstStyle/>
          <a:p>
            <a:pPr algn="ctr"/>
            <a:r>
              <a:rPr lang="en-US" sz="3600" dirty="0"/>
              <a:t>CÁC KỸ THUẬT TEST</a:t>
            </a:r>
          </a:p>
        </p:txBody>
      </p:sp>
      <p:sp>
        <p:nvSpPr>
          <p:cNvPr id="3" name="Subtitle 2"/>
          <p:cNvSpPr>
            <a:spLocks noGrp="1"/>
          </p:cNvSpPr>
          <p:nvPr>
            <p:ph type="subTitle" idx="1"/>
          </p:nvPr>
        </p:nvSpPr>
        <p:spPr>
          <a:xfrm>
            <a:off x="4114800" y="3849666"/>
            <a:ext cx="4488656" cy="1234575"/>
          </a:xfrm>
        </p:spPr>
        <p:txBody>
          <a:bodyPr>
            <a:normAutofit/>
          </a:bodyPr>
          <a:lstStyle/>
          <a:p>
            <a:pPr algn="ctr"/>
            <a:r>
              <a:rPr lang="en-US" dirty="0"/>
              <a:t>Người </a:t>
            </a:r>
            <a:r>
              <a:rPr lang="en-US" dirty="0" err="1"/>
              <a:t>trình</a:t>
            </a:r>
            <a:r>
              <a:rPr lang="en-US" dirty="0"/>
              <a:t> </a:t>
            </a:r>
            <a:r>
              <a:rPr lang="en-US" dirty="0" err="1"/>
              <a:t>bày</a:t>
            </a:r>
            <a:r>
              <a:rPr lang="en-US" dirty="0"/>
              <a:t>: </a:t>
            </a:r>
            <a:r>
              <a:rPr lang="en-US" b="1" dirty="0"/>
              <a:t>TMO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0680" y="0"/>
            <a:ext cx="7467600" cy="3291702"/>
          </a:xfrm>
          <a:prstGeom prst="rect">
            <a:avLst/>
          </a:prstGeom>
        </p:spPr>
      </p:pic>
      <p:sp>
        <p:nvSpPr>
          <p:cNvPr id="3" name="Content Placeholder 2"/>
          <p:cNvSpPr>
            <a:spLocks noGrp="1"/>
          </p:cNvSpPr>
          <p:nvPr>
            <p:ph idx="1"/>
          </p:nvPr>
        </p:nvSpPr>
        <p:spPr>
          <a:xfrm>
            <a:off x="533400" y="3291702"/>
            <a:ext cx="8001000" cy="3337698"/>
          </a:xfrm>
        </p:spPr>
        <p:txBody>
          <a:bodyPr>
            <a:noAutofit/>
          </a:bodyPr>
          <a:lstStyle/>
          <a:p>
            <a:pPr>
              <a:buFont typeface="Wingdings" panose="05000000000000000000" pitchFamily="2" charset="2"/>
              <a:buChar char="v"/>
            </a:pPr>
            <a:r>
              <a:rPr lang="en-US" sz="1900" dirty="0"/>
              <a:t>Với </a:t>
            </a:r>
            <a:r>
              <a:rPr lang="en-US" sz="1900" dirty="0" err="1"/>
              <a:t>một</a:t>
            </a:r>
            <a:r>
              <a:rPr lang="en-US" sz="1900" dirty="0"/>
              <a:t> tester mới bạn sẽ có </a:t>
            </a:r>
            <a:r>
              <a:rPr lang="en-US" sz="1900" dirty="0" err="1"/>
              <a:t>rất</a:t>
            </a:r>
            <a:r>
              <a:rPr lang="en-US" sz="1900" dirty="0"/>
              <a:t> nhiều câu hỏi như</a:t>
            </a:r>
          </a:p>
          <a:p>
            <a:pPr lvl="1">
              <a:buFont typeface="Wingdings" panose="05000000000000000000" pitchFamily="2" charset="2"/>
              <a:buChar char="ü"/>
            </a:pPr>
            <a:r>
              <a:rPr lang="en-US" sz="1700" dirty="0" err="1"/>
              <a:t>Chức</a:t>
            </a:r>
            <a:r>
              <a:rPr lang="en-US" sz="1700" dirty="0"/>
              <a:t> </a:t>
            </a:r>
            <a:r>
              <a:rPr lang="en-US" sz="1700" dirty="0" err="1"/>
              <a:t>năng</a:t>
            </a:r>
            <a:r>
              <a:rPr lang="en-US" sz="1700" dirty="0"/>
              <a:t> </a:t>
            </a:r>
            <a:r>
              <a:rPr lang="en-US" sz="1700" dirty="0" err="1"/>
              <a:t>này</a:t>
            </a:r>
            <a:r>
              <a:rPr lang="en-US" sz="1700" dirty="0"/>
              <a:t> </a:t>
            </a:r>
            <a:r>
              <a:rPr lang="en-US" sz="1700" dirty="0" err="1"/>
              <a:t>mình</a:t>
            </a:r>
            <a:r>
              <a:rPr lang="en-US" sz="1700" dirty="0"/>
              <a:t> </a:t>
            </a:r>
            <a:r>
              <a:rPr lang="en-US" sz="1700" dirty="0" err="1"/>
              <a:t>sẽ</a:t>
            </a:r>
            <a:r>
              <a:rPr lang="en-US" sz="1700" dirty="0"/>
              <a:t> </a:t>
            </a:r>
            <a:r>
              <a:rPr lang="en-US" sz="1700" dirty="0" err="1"/>
              <a:t>phải</a:t>
            </a:r>
            <a:r>
              <a:rPr lang="en-US" sz="1700" dirty="0"/>
              <a:t> </a:t>
            </a:r>
            <a:r>
              <a:rPr lang="en-US" sz="1700" dirty="0" err="1"/>
              <a:t>viết</a:t>
            </a:r>
            <a:r>
              <a:rPr lang="en-US" sz="1700" dirty="0"/>
              <a:t> </a:t>
            </a:r>
            <a:r>
              <a:rPr lang="en-US" sz="1700" dirty="0" err="1"/>
              <a:t>những</a:t>
            </a:r>
            <a:r>
              <a:rPr lang="en-US" sz="1700" dirty="0"/>
              <a:t> test case </a:t>
            </a:r>
            <a:r>
              <a:rPr lang="en-US" sz="1700" dirty="0" err="1"/>
              <a:t>nào</a:t>
            </a:r>
            <a:r>
              <a:rPr lang="en-US" sz="1700" dirty="0"/>
              <a:t>? </a:t>
            </a:r>
          </a:p>
          <a:p>
            <a:pPr lvl="1">
              <a:buFont typeface="Wingdings" panose="05000000000000000000" pitchFamily="2" charset="2"/>
              <a:buChar char="ü"/>
            </a:pPr>
            <a:r>
              <a:rPr lang="en-US" sz="1700" dirty="0" err="1"/>
              <a:t>Làm</a:t>
            </a:r>
            <a:r>
              <a:rPr lang="en-US" sz="1700" dirty="0"/>
              <a:t> </a:t>
            </a:r>
            <a:r>
              <a:rPr lang="en-US" sz="1700" dirty="0" err="1"/>
              <a:t>sao</a:t>
            </a:r>
            <a:r>
              <a:rPr lang="en-US" sz="1700" dirty="0"/>
              <a:t> </a:t>
            </a:r>
            <a:r>
              <a:rPr lang="en-US" sz="1700" dirty="0" err="1"/>
              <a:t>không</a:t>
            </a:r>
            <a:r>
              <a:rPr lang="en-US" sz="1700" dirty="0"/>
              <a:t> </a:t>
            </a:r>
            <a:r>
              <a:rPr lang="en-US" sz="1700" dirty="0" err="1"/>
              <a:t>thiếu</a:t>
            </a:r>
            <a:r>
              <a:rPr lang="en-US" sz="1700" dirty="0"/>
              <a:t> case?</a:t>
            </a:r>
          </a:p>
          <a:p>
            <a:pPr lvl="1">
              <a:buFont typeface="Wingdings" panose="05000000000000000000" pitchFamily="2" charset="2"/>
              <a:buChar char="ü"/>
            </a:pPr>
            <a:r>
              <a:rPr lang="en-US" sz="1600" dirty="0" err="1"/>
              <a:t>Liệu</a:t>
            </a:r>
            <a:r>
              <a:rPr lang="en-US" sz="1600" dirty="0"/>
              <a:t> </a:t>
            </a:r>
            <a:r>
              <a:rPr lang="en-US" sz="1600" dirty="0" err="1"/>
              <a:t>những</a:t>
            </a:r>
            <a:r>
              <a:rPr lang="en-US" sz="1600" dirty="0"/>
              <a:t> case </a:t>
            </a:r>
            <a:r>
              <a:rPr lang="en-US" sz="1600" dirty="0" err="1"/>
              <a:t>đã</a:t>
            </a:r>
            <a:r>
              <a:rPr lang="en-US" sz="1600" dirty="0"/>
              <a:t> </a:t>
            </a:r>
            <a:r>
              <a:rPr lang="en-US" sz="1600" dirty="0" err="1"/>
              <a:t>viết</a:t>
            </a:r>
            <a:r>
              <a:rPr lang="en-US" sz="1600" dirty="0"/>
              <a:t> </a:t>
            </a:r>
            <a:r>
              <a:rPr lang="en-US" sz="1600" dirty="0" err="1"/>
              <a:t>có</a:t>
            </a:r>
            <a:r>
              <a:rPr lang="en-US" sz="1600" dirty="0"/>
              <a:t> </a:t>
            </a:r>
            <a:r>
              <a:rPr lang="en-US" sz="1600" dirty="0" err="1"/>
              <a:t>đủ</a:t>
            </a:r>
            <a:r>
              <a:rPr lang="en-US" sz="1600" dirty="0"/>
              <a:t> </a:t>
            </a:r>
            <a:r>
              <a:rPr lang="en-US" sz="1600" dirty="0" err="1"/>
              <a:t>bao</a:t>
            </a:r>
            <a:r>
              <a:rPr lang="en-US" sz="1600" dirty="0"/>
              <a:t> </a:t>
            </a:r>
            <a:r>
              <a:rPr lang="en-US" sz="1600" dirty="0" err="1"/>
              <a:t>phủ</a:t>
            </a:r>
            <a:r>
              <a:rPr lang="en-US" sz="1600" dirty="0"/>
              <a:t> </a:t>
            </a:r>
            <a:r>
              <a:rPr lang="en-US" sz="1600" dirty="0" err="1"/>
              <a:t>các</a:t>
            </a:r>
            <a:r>
              <a:rPr lang="en-US" sz="1600" dirty="0"/>
              <a:t> </a:t>
            </a:r>
            <a:r>
              <a:rPr lang="en-US" sz="1600" dirty="0" err="1"/>
              <a:t>lỗi</a:t>
            </a:r>
            <a:r>
              <a:rPr lang="en-US" sz="1600" dirty="0"/>
              <a:t> </a:t>
            </a:r>
            <a:r>
              <a:rPr lang="en-US" sz="1600" dirty="0" err="1"/>
              <a:t>có</a:t>
            </a:r>
            <a:r>
              <a:rPr lang="en-US" sz="1600" dirty="0"/>
              <a:t> </a:t>
            </a:r>
            <a:r>
              <a:rPr lang="en-US" sz="1600" dirty="0" err="1"/>
              <a:t>thể</a:t>
            </a:r>
            <a:r>
              <a:rPr lang="en-US" sz="1600" dirty="0"/>
              <a:t> </a:t>
            </a:r>
            <a:r>
              <a:rPr lang="en-US" sz="1600" dirty="0" err="1"/>
              <a:t>xảy</a:t>
            </a:r>
            <a:r>
              <a:rPr lang="en-US" sz="1600" dirty="0"/>
              <a:t> </a:t>
            </a:r>
            <a:r>
              <a:rPr lang="en-US" sz="1600" dirty="0" err="1"/>
              <a:t>ra</a:t>
            </a:r>
            <a:r>
              <a:rPr lang="en-US" sz="1600" dirty="0"/>
              <a:t> hay </a:t>
            </a:r>
            <a:r>
              <a:rPr lang="en-US" sz="1600" dirty="0" err="1"/>
              <a:t>không</a:t>
            </a:r>
            <a:r>
              <a:rPr lang="en-US" sz="1600" dirty="0"/>
              <a:t>? </a:t>
            </a:r>
          </a:p>
          <a:p>
            <a:pPr lvl="1">
              <a:buFont typeface="Wingdings" panose="05000000000000000000" pitchFamily="2" charset="2"/>
              <a:buChar char="ü"/>
            </a:pPr>
            <a:r>
              <a:rPr lang="en-US" sz="1600" dirty="0" err="1"/>
              <a:t>Mình</a:t>
            </a:r>
            <a:r>
              <a:rPr lang="en-US" sz="1600" dirty="0"/>
              <a:t> </a:t>
            </a:r>
            <a:r>
              <a:rPr lang="en-US" sz="1600" dirty="0" err="1"/>
              <a:t>có</a:t>
            </a:r>
            <a:r>
              <a:rPr lang="en-US" sz="1600" dirty="0"/>
              <a:t> </a:t>
            </a:r>
            <a:r>
              <a:rPr lang="en-US" sz="1600" dirty="0" err="1"/>
              <a:t>thể</a:t>
            </a:r>
            <a:r>
              <a:rPr lang="en-US" sz="1600" dirty="0"/>
              <a:t> </a:t>
            </a:r>
            <a:r>
              <a:rPr lang="en-US" sz="1600" dirty="0" err="1"/>
              <a:t>dùng</a:t>
            </a:r>
            <a:r>
              <a:rPr lang="en-US" sz="1600" dirty="0"/>
              <a:t> </a:t>
            </a:r>
            <a:r>
              <a:rPr lang="en-US" sz="1600" dirty="0" err="1"/>
              <a:t>những</a:t>
            </a:r>
            <a:r>
              <a:rPr lang="en-US" sz="1600" dirty="0"/>
              <a:t> </a:t>
            </a:r>
            <a:r>
              <a:rPr lang="en-US" sz="1600" dirty="0" err="1"/>
              <a:t>kỹ</a:t>
            </a:r>
            <a:r>
              <a:rPr lang="en-US" sz="1600" dirty="0"/>
              <a:t> </a:t>
            </a:r>
            <a:r>
              <a:rPr lang="en-US" sz="1600" dirty="0" err="1"/>
              <a:t>thuật</a:t>
            </a:r>
            <a:r>
              <a:rPr lang="en-US" sz="1600" dirty="0"/>
              <a:t> </a:t>
            </a:r>
            <a:r>
              <a:rPr lang="en-US" sz="1600" dirty="0" err="1"/>
              <a:t>gì</a:t>
            </a:r>
            <a:r>
              <a:rPr lang="en-US" sz="1600" dirty="0"/>
              <a:t> </a:t>
            </a:r>
            <a:r>
              <a:rPr lang="en-US" sz="1600" dirty="0" err="1"/>
              <a:t>để</a:t>
            </a:r>
            <a:r>
              <a:rPr lang="en-US" sz="1600" dirty="0"/>
              <a:t> test </a:t>
            </a:r>
            <a:r>
              <a:rPr lang="en-US" sz="1600" dirty="0" err="1"/>
              <a:t>cho</a:t>
            </a:r>
            <a:r>
              <a:rPr lang="en-US" sz="1600" dirty="0"/>
              <a:t> </a:t>
            </a:r>
            <a:r>
              <a:rPr lang="en-US" sz="1600" dirty="0" err="1"/>
              <a:t>hiệu</a:t>
            </a:r>
            <a:r>
              <a:rPr lang="en-US" sz="1600" dirty="0"/>
              <a:t> </a:t>
            </a:r>
            <a:r>
              <a:rPr lang="en-US" sz="1600" dirty="0" err="1"/>
              <a:t>quả</a:t>
            </a:r>
            <a:r>
              <a:rPr lang="en-US" sz="1600" dirty="0"/>
              <a:t> </a:t>
            </a:r>
            <a:r>
              <a:rPr lang="en-US" sz="1600" dirty="0" err="1"/>
              <a:t>nhất</a:t>
            </a:r>
            <a:r>
              <a:rPr lang="en-US" sz="1600" dirty="0"/>
              <a:t>?</a:t>
            </a:r>
          </a:p>
          <a:p>
            <a:pPr>
              <a:buFont typeface="Wingdings" panose="05000000000000000000" pitchFamily="2" charset="2"/>
              <a:buChar char="v"/>
            </a:pPr>
            <a:r>
              <a:rPr lang="en-US" sz="1800" dirty="0"/>
              <a:t>Các bài </a:t>
            </a:r>
            <a:r>
              <a:rPr lang="en-US" sz="1800" dirty="0" err="1"/>
              <a:t>học</a:t>
            </a:r>
            <a:r>
              <a:rPr lang="en-US" sz="1800" dirty="0"/>
              <a:t> </a:t>
            </a:r>
            <a:r>
              <a:rPr lang="en-US" sz="1800" dirty="0" err="1"/>
              <a:t>sau</a:t>
            </a:r>
            <a:r>
              <a:rPr lang="en-US" sz="1800" dirty="0"/>
              <a:t> </a:t>
            </a:r>
            <a:r>
              <a:rPr lang="vi-VN" sz="1800" dirty="0"/>
              <a:t>này sẽ giúp bạn có một cơ sở để đưa ra quyết định về việc sử dụng kỹ thuật test sao cho hiệu quả nhất</a:t>
            </a:r>
            <a:endPar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v"/>
            </a:pPr>
            <a:endPar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endParaRPr>
          </a:p>
          <a:p>
            <a:pPr marL="64135" indent="0">
              <a:buNone/>
            </a:pP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NỘI DUNG</a:t>
            </a:r>
          </a:p>
        </p:txBody>
      </p:sp>
      <p:sp>
        <p:nvSpPr>
          <p:cNvPr id="29" name="Content Placeholder 28"/>
          <p:cNvSpPr>
            <a:spLocks noGrp="1"/>
          </p:cNvSpPr>
          <p:nvPr>
            <p:ph idx="1"/>
          </p:nvPr>
        </p:nvSpPr>
        <p:spPr>
          <a:xfrm>
            <a:off x="1447800" y="1371600"/>
            <a:ext cx="6629400" cy="4191000"/>
          </a:xfrm>
        </p:spPr>
        <p:txBody>
          <a:bodyPr>
            <a:normAutofit/>
          </a:bodyPr>
          <a:lstStyle/>
          <a:p>
            <a:pPr marL="514350" indent="-514350">
              <a:buFont typeface="+mj-lt"/>
              <a:buAutoNum type="romanUcPeriod"/>
            </a:pPr>
            <a:r>
              <a:rPr lang="en-US" sz="2400" dirty="0" err="1"/>
              <a:t>Các</a:t>
            </a:r>
            <a:r>
              <a:rPr lang="en-US" sz="2400" dirty="0"/>
              <a:t> </a:t>
            </a:r>
            <a:r>
              <a:rPr lang="en-US" sz="2400" dirty="0" err="1"/>
              <a:t>kỹ</a:t>
            </a:r>
            <a:r>
              <a:rPr lang="en-US" sz="2400" dirty="0"/>
              <a:t> </a:t>
            </a:r>
            <a:r>
              <a:rPr lang="en-US" sz="2400" dirty="0" err="1"/>
              <a:t>thuật</a:t>
            </a:r>
            <a:r>
              <a:rPr lang="en-US" sz="2400" dirty="0"/>
              <a:t> test</a:t>
            </a:r>
          </a:p>
          <a:p>
            <a:pPr marL="514350" indent="-514350">
              <a:buFont typeface="+mj-lt"/>
              <a:buAutoNum type="romanUcPeriod"/>
            </a:pPr>
            <a:r>
              <a:rPr lang="en-US" sz="2400" dirty="0" err="1"/>
              <a:t>Làm</a:t>
            </a:r>
            <a:r>
              <a:rPr lang="en-US" sz="2400" dirty="0"/>
              <a:t> </a:t>
            </a:r>
            <a:r>
              <a:rPr lang="en-US" sz="2400" dirty="0" err="1"/>
              <a:t>sao</a:t>
            </a:r>
            <a:r>
              <a:rPr lang="en-US" sz="2400" dirty="0"/>
              <a:t> </a:t>
            </a:r>
            <a:r>
              <a:rPr lang="en-US" sz="2400" dirty="0" err="1"/>
              <a:t>chọn</a:t>
            </a:r>
            <a:r>
              <a:rPr lang="en-US" sz="2400" dirty="0"/>
              <a:t> </a:t>
            </a:r>
            <a:r>
              <a:rPr lang="en-US" sz="2400" dirty="0" err="1"/>
              <a:t>kỹ</a:t>
            </a:r>
            <a:r>
              <a:rPr lang="en-US" sz="2400" dirty="0"/>
              <a:t> </a:t>
            </a:r>
            <a:r>
              <a:rPr lang="en-US" sz="2400" dirty="0" err="1"/>
              <a:t>thuật</a:t>
            </a:r>
            <a:r>
              <a:rPr lang="en-US" sz="2400" dirty="0"/>
              <a:t> test </a:t>
            </a:r>
            <a:r>
              <a:rPr lang="en-US" sz="2400" dirty="0" err="1"/>
              <a:t>hiệu</a:t>
            </a:r>
            <a:r>
              <a:rPr lang="en-US" sz="2400" dirty="0"/>
              <a:t> </a:t>
            </a:r>
            <a:r>
              <a:rPr lang="en-US" sz="2400" dirty="0" err="1"/>
              <a:t>quả</a:t>
            </a:r>
            <a:r>
              <a:rPr lang="en-US" sz="2400" dirty="0"/>
              <a:t>?</a:t>
            </a:r>
          </a:p>
          <a:p>
            <a:pPr marL="514350" indent="-514350">
              <a:buFont typeface="+mj-lt"/>
              <a:buAutoNum type="romanUcPeriod"/>
            </a:pPr>
            <a:r>
              <a:rPr lang="en-US" sz="2400" dirty="0" err="1"/>
              <a:t>Sử</a:t>
            </a:r>
            <a:r>
              <a:rPr lang="en-US" sz="2400" dirty="0"/>
              <a:t> </a:t>
            </a:r>
            <a:r>
              <a:rPr lang="en-US" sz="2400" dirty="0" err="1"/>
              <a:t>dụng</a:t>
            </a:r>
            <a:r>
              <a:rPr lang="en-US" sz="2400" dirty="0"/>
              <a:t> </a:t>
            </a:r>
            <a:r>
              <a:rPr lang="en-US" sz="2400" dirty="0" err="1"/>
              <a:t>kỹ</a:t>
            </a:r>
            <a:r>
              <a:rPr lang="en-US" sz="2400" dirty="0"/>
              <a:t> </a:t>
            </a:r>
            <a:r>
              <a:rPr lang="en-US" sz="2400" dirty="0" err="1"/>
              <a:t>thuật</a:t>
            </a:r>
            <a:r>
              <a:rPr lang="en-US" sz="2400" dirty="0"/>
              <a:t> test </a:t>
            </a:r>
            <a:r>
              <a:rPr lang="en-US" sz="2400" dirty="0" err="1"/>
              <a:t>nào</a:t>
            </a:r>
            <a:r>
              <a:rPr lang="en-US" sz="2400" dirty="0"/>
              <a:t>?</a:t>
            </a:r>
          </a:p>
          <a:p>
            <a:pPr marL="514350" indent="-514350">
              <a:buFont typeface="+mj-lt"/>
              <a:buAutoNum type="romanUcPeriod"/>
            </a:pPr>
            <a:r>
              <a:rPr lang="en-US" sz="2400" dirty="0"/>
              <a:t>Test </a:t>
            </a:r>
            <a:r>
              <a:rPr lang="en-US" sz="2400" dirty="0" err="1"/>
              <a:t>theo</a:t>
            </a:r>
            <a:r>
              <a:rPr lang="en-US" sz="2400" dirty="0"/>
              <a:t> </a:t>
            </a:r>
            <a:r>
              <a:rPr lang="en-US" sz="2400" dirty="0" err="1"/>
              <a:t>kinh</a:t>
            </a:r>
            <a:r>
              <a:rPr lang="en-US" sz="2400" dirty="0"/>
              <a:t> </a:t>
            </a:r>
            <a:r>
              <a:rPr lang="en-US" sz="2400" dirty="0" err="1"/>
              <a:t>nghiệm</a:t>
            </a:r>
            <a:endParaRPr lang="en-US" sz="2400" dirty="0"/>
          </a:p>
          <a:p>
            <a:pPr marL="514350" indent="-514350">
              <a:buFont typeface="+mj-lt"/>
              <a:buAutoNum type="romanUcPeriod"/>
            </a:pPr>
            <a:r>
              <a:rPr lang="en-US" sz="2400" dirty="0"/>
              <a:t>Test </a:t>
            </a:r>
            <a:r>
              <a:rPr lang="en-US" sz="2400" dirty="0" err="1"/>
              <a:t>hộp</a:t>
            </a:r>
            <a:r>
              <a:rPr lang="en-US" sz="2400" dirty="0"/>
              <a:t> </a:t>
            </a:r>
            <a:r>
              <a:rPr lang="en-US" sz="2400" dirty="0" err="1"/>
              <a:t>trắng</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6858000" cy="799306"/>
          </a:xfrm>
        </p:spPr>
        <p:txBody>
          <a:bodyPr/>
          <a:lstStyle/>
          <a:p>
            <a:r>
              <a:rPr lang="en-US" dirty="0"/>
              <a:t>I. </a:t>
            </a:r>
            <a:r>
              <a:rPr lang="en-US" dirty="0" err="1"/>
              <a:t>Các</a:t>
            </a:r>
            <a:r>
              <a:rPr lang="en-US" dirty="0"/>
              <a:t> </a:t>
            </a:r>
            <a:r>
              <a:rPr lang="en-US" dirty="0" err="1"/>
              <a:t>kỹ</a:t>
            </a:r>
            <a:r>
              <a:rPr lang="en-US" dirty="0"/>
              <a:t> </a:t>
            </a:r>
            <a:r>
              <a:rPr lang="en-US" dirty="0" err="1"/>
              <a:t>thuật</a:t>
            </a:r>
            <a:r>
              <a:rPr lang="en-US" dirty="0"/>
              <a:t> test</a:t>
            </a:r>
          </a:p>
        </p:txBody>
      </p:sp>
      <p:sp>
        <p:nvSpPr>
          <p:cNvPr id="3" name="Content Placeholder 2"/>
          <p:cNvSpPr>
            <a:spLocks noGrp="1"/>
          </p:cNvSpPr>
          <p:nvPr>
            <p:ph idx="1"/>
          </p:nvPr>
        </p:nvSpPr>
        <p:spPr>
          <a:xfrm>
            <a:off x="381000" y="762000"/>
            <a:ext cx="8534400" cy="2319460"/>
          </a:xfrm>
        </p:spPr>
        <p:txBody>
          <a:bodyPr>
            <a:noAutofit/>
          </a:bodyPr>
          <a:lstStyle/>
          <a:p>
            <a:pPr marL="64135" indent="0" algn="just">
              <a:buNone/>
            </a:pPr>
            <a:r>
              <a:rPr lang="en-US" sz="1800" dirty="0"/>
              <a:t>K</a:t>
            </a:r>
            <a:r>
              <a:rPr lang="vi-VN" sz="1800" dirty="0"/>
              <a:t>ỹ thuật test</a:t>
            </a:r>
            <a:r>
              <a:rPr lang="en-US" sz="1800" dirty="0"/>
              <a:t> đ</a:t>
            </a:r>
            <a:r>
              <a:rPr lang="vi-VN" sz="1800" dirty="0"/>
              <a:t>ược chia thành 2 nhóm</a:t>
            </a:r>
            <a:endParaRPr lang="en-US" sz="1900" dirty="0"/>
          </a:p>
          <a:p>
            <a:pPr marL="285750" indent="-285750" algn="just">
              <a:lnSpc>
                <a:spcPct val="150000"/>
              </a:lnSpc>
              <a:spcAft>
                <a:spcPts val="0"/>
              </a:spcAft>
              <a:buFont typeface="Wingdings" panose="05000000000000000000" pitchFamily="2" charset="2"/>
              <a:buChar char="v"/>
            </a:pPr>
            <a:r>
              <a:rPr lang="en-US" sz="1900" dirty="0"/>
              <a:t> </a:t>
            </a:r>
            <a:r>
              <a:rPr lang="en-US" sz="1900" b="1" i="1"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Test </a:t>
            </a:r>
            <a:r>
              <a:rPr lang="en-US" sz="1900" b="1" i="1" dirty="0" err="1">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động</a:t>
            </a:r>
            <a:r>
              <a:rPr lang="en-US" sz="1900" b="1" i="1"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 </a:t>
            </a:r>
            <a:r>
              <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là test</a:t>
            </a:r>
            <a:r>
              <a:rPr lang="ja-JP" alt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a:t>
            </a:r>
            <a:r>
              <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chạy</a:t>
            </a:r>
            <a:r>
              <a:rPr lang="ja-JP" alt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a:t>
            </a:r>
            <a:r>
              <a:rPr lang="en-US" sz="1900" dirty="0" err="1">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trực</a:t>
            </a:r>
            <a:r>
              <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 </a:t>
            </a:r>
            <a:r>
              <a:rPr lang="en-US" sz="1900" dirty="0" err="1">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tiếp</a:t>
            </a:r>
            <a:r>
              <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 </a:t>
            </a:r>
            <a:r>
              <a:rPr lang="en-US" sz="1900" dirty="0" err="1">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chương</a:t>
            </a:r>
            <a:r>
              <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 </a:t>
            </a:r>
            <a:r>
              <a:rPr lang="en-US" sz="1900" dirty="0" err="1">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trình</a:t>
            </a:r>
            <a:r>
              <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 có đầu </a:t>
            </a:r>
            <a:r>
              <a:rPr lang="en-US" sz="1900" dirty="0" err="1">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vào</a:t>
            </a:r>
            <a:r>
              <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 đầu </a:t>
            </a:r>
            <a:r>
              <a:rPr lang="en-US" sz="1900" dirty="0" err="1">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ra.</a:t>
            </a:r>
            <a:endPar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v"/>
            </a:pPr>
            <a:r>
              <a:rPr lang="en-US" sz="1900" b="1" i="1"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Test </a:t>
            </a:r>
            <a:r>
              <a:rPr lang="en-US" sz="1900" b="1" i="1" dirty="0" err="1">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tĩnh</a:t>
            </a:r>
            <a:r>
              <a:rPr lang="en-US" sz="1900" b="1" i="1"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là</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việc</a:t>
            </a:r>
            <a:r>
              <a:rPr lang="en-US" sz="1900" dirty="0">
                <a:solidFill>
                  <a:schemeClr val="bg1"/>
                </a:solidFill>
                <a:latin typeface="Times New Roman" panose="02020603050405020304" pitchFamily="18" charset="0"/>
                <a:cs typeface="Times New Roman" panose="02020603050405020304" pitchFamily="18" charset="0"/>
              </a:rPr>
              <a:t> test </a:t>
            </a:r>
            <a:r>
              <a:rPr lang="en-US" sz="1900" dirty="0" err="1">
                <a:solidFill>
                  <a:schemeClr val="bg1"/>
                </a:solidFill>
                <a:latin typeface="Times New Roman" panose="02020603050405020304" pitchFamily="18" charset="0"/>
                <a:cs typeface="Times New Roman" panose="02020603050405020304" pitchFamily="18" charset="0"/>
              </a:rPr>
              <a:t>các</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sản</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phẩm</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phần</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mềm</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đang</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trong</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quá</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trình</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phát</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triển</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một</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cách</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thủ</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công</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hoặc</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có</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sự</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hỗ</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trợ</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của</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các</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công</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cụ</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không</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phải</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bằng</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cách</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thực</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thi</a:t>
            </a:r>
            <a:r>
              <a:rPr lang="en-US" sz="1900" dirty="0">
                <a:solidFill>
                  <a:schemeClr val="bg1"/>
                </a:solidFill>
                <a:latin typeface="Times New Roman" panose="02020603050405020304" pitchFamily="18" charset="0"/>
                <a:cs typeface="Times New Roman" panose="02020603050405020304" pitchFamily="18" charset="0"/>
              </a:rPr>
              <a:t> </a:t>
            </a:r>
            <a:r>
              <a:rPr lang="en-US" sz="1900" dirty="0" err="1">
                <a:solidFill>
                  <a:schemeClr val="bg1"/>
                </a:solidFill>
                <a:latin typeface="Times New Roman" panose="02020603050405020304" pitchFamily="18" charset="0"/>
                <a:cs typeface="Times New Roman" panose="02020603050405020304" pitchFamily="18" charset="0"/>
              </a:rPr>
              <a:t>chương</a:t>
            </a:r>
            <a:r>
              <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 </a:t>
            </a:r>
            <a:r>
              <a:rPr lang="en-US" sz="1900" dirty="0" err="1">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trình</a:t>
            </a:r>
            <a:r>
              <a:rPr lang="en-US" sz="1900" dirty="0">
                <a:solidFill>
                  <a:srgbClr val="000000"/>
                </a:solidFill>
                <a:latin typeface="Times New Roman" panose="02020603050405020304" pitchFamily="18" charset="0"/>
                <a:ea typeface="MS Mincho" panose="02020609040205080304" pitchFamily="17" charset="-128"/>
                <a:cs typeface="Times New Roman" panose="02020603050405020304" pitchFamily="18" charset="0"/>
              </a:rPr>
              <a:t>.</a:t>
            </a:r>
            <a:r>
              <a:rPr lang="vi-VN" sz="1800" dirty="0"/>
              <a:t> </a:t>
            </a:r>
            <a:endParaRPr lang="en-US" sz="1900" dirty="0"/>
          </a:p>
        </p:txBody>
      </p:sp>
      <p:grpSp>
        <p:nvGrpSpPr>
          <p:cNvPr id="78" name="Group 77"/>
          <p:cNvGrpSpPr/>
          <p:nvPr/>
        </p:nvGrpSpPr>
        <p:grpSpPr>
          <a:xfrm>
            <a:off x="381000" y="3148240"/>
            <a:ext cx="8762999" cy="3574248"/>
            <a:chOff x="381000" y="3148240"/>
            <a:chExt cx="8762999" cy="3574248"/>
          </a:xfrm>
        </p:grpSpPr>
        <p:sp>
          <p:nvSpPr>
            <p:cNvPr id="8" name="Rounded Rectangle 7"/>
            <p:cNvSpPr/>
            <p:nvPr/>
          </p:nvSpPr>
          <p:spPr>
            <a:xfrm>
              <a:off x="2362200" y="3929997"/>
              <a:ext cx="1828800"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vi-VN" sz="1400" dirty="0"/>
                <a:t>Test hộp trắng</a:t>
              </a:r>
              <a:endParaRPr lang="en-US" sz="1400" dirty="0"/>
            </a:p>
          </p:txBody>
        </p:sp>
        <p:sp>
          <p:nvSpPr>
            <p:cNvPr id="4" name="Rounded Rectangle 3"/>
            <p:cNvSpPr/>
            <p:nvPr/>
          </p:nvSpPr>
          <p:spPr>
            <a:xfrm>
              <a:off x="2438400" y="3148240"/>
              <a:ext cx="1676400"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vi-VN" sz="1400" dirty="0"/>
                <a:t>Test động</a:t>
              </a:r>
              <a:endParaRPr lang="en-US" sz="1400" dirty="0"/>
            </a:p>
          </p:txBody>
        </p:sp>
        <p:sp>
          <p:nvSpPr>
            <p:cNvPr id="6" name="Rounded Rectangle 5"/>
            <p:cNvSpPr/>
            <p:nvPr/>
          </p:nvSpPr>
          <p:spPr>
            <a:xfrm>
              <a:off x="6553200" y="3184199"/>
              <a:ext cx="1676400" cy="381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vi-VN" sz="1400" dirty="0"/>
                <a:t>Test tĩnh</a:t>
              </a:r>
              <a:endParaRPr lang="en-US" sz="1400" dirty="0"/>
            </a:p>
          </p:txBody>
        </p:sp>
        <p:sp>
          <p:nvSpPr>
            <p:cNvPr id="7" name="Rounded Rectangle 6"/>
            <p:cNvSpPr/>
            <p:nvPr/>
          </p:nvSpPr>
          <p:spPr>
            <a:xfrm>
              <a:off x="381000" y="3929997"/>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vi-VN" sz="1400" dirty="0"/>
                <a:t>Test hộp đen</a:t>
              </a:r>
              <a:endParaRPr lang="en-US" sz="1400" dirty="0"/>
            </a:p>
          </p:txBody>
        </p:sp>
        <p:sp>
          <p:nvSpPr>
            <p:cNvPr id="9" name="Rounded Rectangle 8"/>
            <p:cNvSpPr/>
            <p:nvPr/>
          </p:nvSpPr>
          <p:spPr>
            <a:xfrm>
              <a:off x="4343400" y="3913521"/>
              <a:ext cx="1638297"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vi-VN" sz="1400" dirty="0"/>
                <a:t>Test theo kinh nghệm</a:t>
              </a:r>
            </a:p>
          </p:txBody>
        </p:sp>
        <p:sp>
          <p:nvSpPr>
            <p:cNvPr id="12" name="Rounded Rectangle 11"/>
            <p:cNvSpPr/>
            <p:nvPr/>
          </p:nvSpPr>
          <p:spPr>
            <a:xfrm>
              <a:off x="669322" y="4465953"/>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vi-VN" sz="1400" dirty="0"/>
                <a:t>Phân lớp tương đương</a:t>
              </a:r>
              <a:endParaRPr lang="en-US" sz="1400" dirty="0"/>
            </a:p>
          </p:txBody>
        </p:sp>
        <p:sp>
          <p:nvSpPr>
            <p:cNvPr id="13" name="Rounded Rectangle 12"/>
            <p:cNvSpPr/>
            <p:nvPr/>
          </p:nvSpPr>
          <p:spPr>
            <a:xfrm>
              <a:off x="671383" y="4933820"/>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vi-VN" sz="1400" dirty="0"/>
                <a:t>Phân tích giá trị biên</a:t>
              </a:r>
              <a:endParaRPr lang="en-US" sz="1400" dirty="0"/>
            </a:p>
          </p:txBody>
        </p:sp>
        <p:sp>
          <p:nvSpPr>
            <p:cNvPr id="14" name="Rounded Rectangle 13"/>
            <p:cNvSpPr/>
            <p:nvPr/>
          </p:nvSpPr>
          <p:spPr>
            <a:xfrm>
              <a:off x="646668" y="5412468"/>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vi-VN" sz="1400" dirty="0"/>
                <a:t>Bảng quyết định</a:t>
              </a:r>
              <a:endParaRPr lang="en-US" sz="1400" dirty="0"/>
            </a:p>
          </p:txBody>
        </p:sp>
        <p:sp>
          <p:nvSpPr>
            <p:cNvPr id="15" name="Rounded Rectangle 14"/>
            <p:cNvSpPr/>
            <p:nvPr/>
          </p:nvSpPr>
          <p:spPr>
            <a:xfrm>
              <a:off x="661081" y="5868293"/>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vi-VN" sz="1400" dirty="0"/>
                <a:t>Biểu đồ dịch chuyển trạng thái</a:t>
              </a:r>
              <a:endParaRPr lang="en-US" sz="1400" dirty="0"/>
            </a:p>
          </p:txBody>
        </p:sp>
        <p:sp>
          <p:nvSpPr>
            <p:cNvPr id="16" name="Rounded Rectangle 15"/>
            <p:cNvSpPr/>
            <p:nvPr/>
          </p:nvSpPr>
          <p:spPr>
            <a:xfrm>
              <a:off x="646662" y="6341488"/>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vi-VN" sz="1400" dirty="0"/>
                <a:t>Use case testing</a:t>
              </a:r>
              <a:endParaRPr lang="en-US" sz="1400" dirty="0"/>
            </a:p>
          </p:txBody>
        </p:sp>
        <p:sp>
          <p:nvSpPr>
            <p:cNvPr id="17" name="Rounded Rectangle 16"/>
            <p:cNvSpPr/>
            <p:nvPr/>
          </p:nvSpPr>
          <p:spPr>
            <a:xfrm>
              <a:off x="2819400" y="4436142"/>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400" dirty="0"/>
                <a:t>Test </a:t>
              </a:r>
              <a:r>
                <a:rPr lang="en-US" sz="1400" dirty="0" err="1"/>
                <a:t>các</a:t>
              </a:r>
              <a:r>
                <a:rPr lang="en-US" sz="1400" dirty="0"/>
                <a:t> </a:t>
              </a:r>
              <a:r>
                <a:rPr lang="en-US" sz="1400" dirty="0" err="1"/>
                <a:t>câu</a:t>
              </a:r>
              <a:r>
                <a:rPr lang="en-US" sz="1400" dirty="0"/>
                <a:t> </a:t>
              </a:r>
              <a:r>
                <a:rPr lang="en-US" sz="1400" dirty="0" err="1"/>
                <a:t>lệnh</a:t>
              </a:r>
              <a:endParaRPr lang="en-US" sz="1400" dirty="0"/>
            </a:p>
          </p:txBody>
        </p:sp>
        <p:sp>
          <p:nvSpPr>
            <p:cNvPr id="18" name="Rounded Rectangle 17"/>
            <p:cNvSpPr/>
            <p:nvPr/>
          </p:nvSpPr>
          <p:spPr>
            <a:xfrm>
              <a:off x="2819398" y="4917345"/>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400" dirty="0"/>
                <a:t>Test </a:t>
              </a:r>
              <a:r>
                <a:rPr lang="en-US" sz="1400" dirty="0" err="1"/>
                <a:t>các</a:t>
              </a:r>
              <a:r>
                <a:rPr lang="en-US" sz="1400" dirty="0"/>
                <a:t> </a:t>
              </a:r>
              <a:r>
                <a:rPr lang="en-US" sz="1400" dirty="0" err="1"/>
                <a:t>rẽ</a:t>
              </a:r>
              <a:r>
                <a:rPr lang="en-US" sz="1400" dirty="0"/>
                <a:t> </a:t>
              </a:r>
              <a:r>
                <a:rPr lang="en-US" sz="1400" dirty="0" err="1"/>
                <a:t>nhánh</a:t>
              </a:r>
              <a:endParaRPr lang="en-US" sz="1400" dirty="0"/>
            </a:p>
          </p:txBody>
        </p:sp>
        <p:sp>
          <p:nvSpPr>
            <p:cNvPr id="19" name="Rounded Rectangle 18"/>
            <p:cNvSpPr/>
            <p:nvPr/>
          </p:nvSpPr>
          <p:spPr>
            <a:xfrm>
              <a:off x="2819398" y="5381517"/>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400" dirty="0"/>
                <a:t>Test </a:t>
              </a:r>
              <a:r>
                <a:rPr lang="en-US" sz="1400" dirty="0" err="1"/>
                <a:t>các</a:t>
              </a:r>
              <a:r>
                <a:rPr lang="en-US" sz="1400" dirty="0"/>
                <a:t> </a:t>
              </a:r>
              <a:r>
                <a:rPr lang="en-US" sz="1400" dirty="0" err="1"/>
                <a:t>biểu</a:t>
              </a:r>
              <a:r>
                <a:rPr lang="en-US" sz="1400" dirty="0"/>
                <a:t> </a:t>
              </a:r>
              <a:r>
                <a:rPr lang="en-US" sz="1400" dirty="0" err="1"/>
                <a:t>thức</a:t>
              </a:r>
              <a:r>
                <a:rPr lang="en-US" sz="1400" dirty="0"/>
                <a:t> </a:t>
              </a:r>
              <a:r>
                <a:rPr lang="en-US" sz="1400" dirty="0" err="1"/>
                <a:t>điều</a:t>
              </a:r>
              <a:r>
                <a:rPr lang="en-US" sz="1400" dirty="0"/>
                <a:t> </a:t>
              </a:r>
              <a:r>
                <a:rPr lang="en-US" sz="1400" dirty="0" err="1"/>
                <a:t>kiện</a:t>
              </a:r>
              <a:endParaRPr lang="en-US" sz="1400" dirty="0"/>
            </a:p>
          </p:txBody>
        </p:sp>
        <p:sp>
          <p:nvSpPr>
            <p:cNvPr id="20" name="Rounded Rectangle 19"/>
            <p:cNvSpPr/>
            <p:nvPr/>
          </p:nvSpPr>
          <p:spPr>
            <a:xfrm>
              <a:off x="2813220" y="5829295"/>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400" dirty="0"/>
                <a:t>Test </a:t>
              </a:r>
              <a:r>
                <a:rPr lang="en-US" sz="1400" dirty="0" err="1"/>
                <a:t>vòng</a:t>
              </a:r>
              <a:r>
                <a:rPr lang="en-US" sz="1400" dirty="0"/>
                <a:t> </a:t>
              </a:r>
              <a:r>
                <a:rPr lang="en-US" sz="1400" dirty="0" err="1"/>
                <a:t>lặp</a:t>
              </a:r>
              <a:endParaRPr lang="en-US" sz="1400" dirty="0"/>
            </a:p>
          </p:txBody>
        </p:sp>
        <p:sp>
          <p:nvSpPr>
            <p:cNvPr id="21" name="Rounded Rectangle 20"/>
            <p:cNvSpPr/>
            <p:nvPr/>
          </p:nvSpPr>
          <p:spPr>
            <a:xfrm>
              <a:off x="2813220" y="6289427"/>
              <a:ext cx="1732005" cy="38100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400" dirty="0"/>
                <a:t>Test </a:t>
              </a:r>
              <a:r>
                <a:rPr lang="en-US" sz="1400" dirty="0" err="1"/>
                <a:t>đường</a:t>
              </a:r>
              <a:r>
                <a:rPr lang="en-US" sz="1400" dirty="0"/>
                <a:t> </a:t>
              </a:r>
              <a:r>
                <a:rPr lang="en-US" sz="1400" dirty="0" err="1"/>
                <a:t>cơ</a:t>
              </a:r>
              <a:r>
                <a:rPr lang="en-US" sz="1400" dirty="0"/>
                <a:t> </a:t>
              </a:r>
              <a:r>
                <a:rPr lang="en-US" sz="1400" dirty="0" err="1"/>
                <a:t>bản</a:t>
              </a:r>
              <a:endParaRPr lang="en-US" sz="1400" dirty="0"/>
            </a:p>
          </p:txBody>
        </p:sp>
        <p:cxnSp>
          <p:nvCxnSpPr>
            <p:cNvPr id="22" name="Straight Connector 21"/>
            <p:cNvCxnSpPr>
              <a:stCxn id="4" idx="2"/>
              <a:endCxn id="7" idx="0"/>
            </p:cNvCxnSpPr>
            <p:nvPr/>
          </p:nvCxnSpPr>
          <p:spPr>
            <a:xfrm rot="5400000">
              <a:off x="2061424" y="2714820"/>
              <a:ext cx="400757" cy="2029597"/>
            </a:xfrm>
            <a:prstGeom prst="bentConnector3">
              <a:avLst>
                <a:gd name="adj1" fmla="val 50000"/>
              </a:avLst>
            </a:prstGeom>
          </p:spPr>
          <p:style>
            <a:lnRef idx="1">
              <a:schemeClr val="accent5"/>
            </a:lnRef>
            <a:fillRef idx="3">
              <a:schemeClr val="accent5"/>
            </a:fillRef>
            <a:effectRef idx="2">
              <a:schemeClr val="accent5"/>
            </a:effectRef>
            <a:fontRef idx="minor">
              <a:schemeClr val="lt1"/>
            </a:fontRef>
          </p:style>
        </p:cxnSp>
        <p:cxnSp>
          <p:nvCxnSpPr>
            <p:cNvPr id="26" name="Straight Connector 25"/>
            <p:cNvCxnSpPr>
              <a:stCxn id="4" idx="2"/>
              <a:endCxn id="8" idx="0"/>
            </p:cNvCxnSpPr>
            <p:nvPr/>
          </p:nvCxnSpPr>
          <p:spPr>
            <a:xfrm>
              <a:off x="3276600" y="3529240"/>
              <a:ext cx="0" cy="400757"/>
            </a:xfrm>
            <a:prstGeom prst="line">
              <a:avLst/>
            </a:prstGeom>
          </p:spPr>
          <p:style>
            <a:lnRef idx="1">
              <a:schemeClr val="accent5"/>
            </a:lnRef>
            <a:fillRef idx="3">
              <a:schemeClr val="accent5"/>
            </a:fillRef>
            <a:effectRef idx="2">
              <a:schemeClr val="accent5"/>
            </a:effectRef>
            <a:fontRef idx="minor">
              <a:schemeClr val="lt1"/>
            </a:fontRef>
          </p:style>
        </p:cxnSp>
        <p:cxnSp>
          <p:nvCxnSpPr>
            <p:cNvPr id="30" name="Straight Connector 29"/>
            <p:cNvCxnSpPr>
              <a:stCxn id="4" idx="2"/>
              <a:endCxn id="9" idx="0"/>
            </p:cNvCxnSpPr>
            <p:nvPr/>
          </p:nvCxnSpPr>
          <p:spPr>
            <a:xfrm rot="16200000" flipH="1">
              <a:off x="4027434" y="2778405"/>
              <a:ext cx="384281" cy="1885949"/>
            </a:xfrm>
            <a:prstGeom prst="bentConnector3">
              <a:avLst>
                <a:gd name="adj1" fmla="val 50000"/>
              </a:avLst>
            </a:prstGeom>
          </p:spPr>
          <p:style>
            <a:lnRef idx="1">
              <a:schemeClr val="accent5"/>
            </a:lnRef>
            <a:fillRef idx="3">
              <a:schemeClr val="accent5"/>
            </a:fillRef>
            <a:effectRef idx="2">
              <a:schemeClr val="accent5"/>
            </a:effectRef>
            <a:fontRef idx="minor">
              <a:schemeClr val="lt1"/>
            </a:fontRef>
          </p:style>
        </p:cxnSp>
        <p:cxnSp>
          <p:nvCxnSpPr>
            <p:cNvPr id="33" name="Straight Connector 29"/>
            <p:cNvCxnSpPr>
              <a:endCxn id="12" idx="1"/>
            </p:cNvCxnSpPr>
            <p:nvPr/>
          </p:nvCxnSpPr>
          <p:spPr>
            <a:xfrm rot="16200000" flipH="1">
              <a:off x="426103" y="4413233"/>
              <a:ext cx="331979" cy="154459"/>
            </a:xfrm>
            <a:prstGeom prst="bentConnector2">
              <a:avLst/>
            </a:prstGeom>
          </p:spPr>
          <p:style>
            <a:lnRef idx="1">
              <a:schemeClr val="accent5"/>
            </a:lnRef>
            <a:fillRef idx="3">
              <a:schemeClr val="accent5"/>
            </a:fillRef>
            <a:effectRef idx="2">
              <a:schemeClr val="accent5"/>
            </a:effectRef>
            <a:fontRef idx="minor">
              <a:schemeClr val="lt1"/>
            </a:fontRef>
          </p:style>
        </p:cxnSp>
        <p:cxnSp>
          <p:nvCxnSpPr>
            <p:cNvPr id="35" name="Straight Connector 29"/>
            <p:cNvCxnSpPr>
              <a:endCxn id="13" idx="1"/>
            </p:cNvCxnSpPr>
            <p:nvPr/>
          </p:nvCxnSpPr>
          <p:spPr>
            <a:xfrm rot="16200000" flipH="1">
              <a:off x="177878" y="4630815"/>
              <a:ext cx="828430" cy="158579"/>
            </a:xfrm>
            <a:prstGeom prst="bentConnector2">
              <a:avLst/>
            </a:prstGeom>
          </p:spPr>
          <p:style>
            <a:lnRef idx="1">
              <a:schemeClr val="accent5"/>
            </a:lnRef>
            <a:fillRef idx="3">
              <a:schemeClr val="accent5"/>
            </a:fillRef>
            <a:effectRef idx="2">
              <a:schemeClr val="accent5"/>
            </a:effectRef>
            <a:fontRef idx="minor">
              <a:schemeClr val="lt1"/>
            </a:fontRef>
          </p:style>
        </p:cxnSp>
        <p:cxnSp>
          <p:nvCxnSpPr>
            <p:cNvPr id="38" name="Straight Connector 29"/>
            <p:cNvCxnSpPr>
              <a:endCxn id="14" idx="1"/>
            </p:cNvCxnSpPr>
            <p:nvPr/>
          </p:nvCxnSpPr>
          <p:spPr>
            <a:xfrm rot="16200000" flipH="1">
              <a:off x="-71399" y="4884901"/>
              <a:ext cx="1308448" cy="127685"/>
            </a:xfrm>
            <a:prstGeom prst="bentConnector2">
              <a:avLst/>
            </a:prstGeom>
          </p:spPr>
          <p:style>
            <a:lnRef idx="1">
              <a:schemeClr val="accent5"/>
            </a:lnRef>
            <a:fillRef idx="3">
              <a:schemeClr val="accent5"/>
            </a:fillRef>
            <a:effectRef idx="2">
              <a:schemeClr val="accent5"/>
            </a:effectRef>
            <a:fontRef idx="minor">
              <a:schemeClr val="lt1"/>
            </a:fontRef>
          </p:style>
        </p:cxnSp>
        <p:cxnSp>
          <p:nvCxnSpPr>
            <p:cNvPr id="40" name="Straight Connector 29"/>
            <p:cNvCxnSpPr>
              <a:endCxn id="15" idx="1"/>
            </p:cNvCxnSpPr>
            <p:nvPr/>
          </p:nvCxnSpPr>
          <p:spPr>
            <a:xfrm rot="16200000" flipH="1">
              <a:off x="-278464" y="5119248"/>
              <a:ext cx="1730810" cy="148279"/>
            </a:xfrm>
            <a:prstGeom prst="bentConnector2">
              <a:avLst/>
            </a:prstGeom>
          </p:spPr>
          <p:style>
            <a:lnRef idx="1">
              <a:schemeClr val="accent5"/>
            </a:lnRef>
            <a:fillRef idx="3">
              <a:schemeClr val="accent5"/>
            </a:fillRef>
            <a:effectRef idx="2">
              <a:schemeClr val="accent5"/>
            </a:effectRef>
            <a:fontRef idx="minor">
              <a:schemeClr val="lt1"/>
            </a:fontRef>
          </p:style>
        </p:cxnSp>
        <p:cxnSp>
          <p:nvCxnSpPr>
            <p:cNvPr id="43" name="Straight Connector 29"/>
            <p:cNvCxnSpPr>
              <a:endCxn id="16" idx="1"/>
            </p:cNvCxnSpPr>
            <p:nvPr/>
          </p:nvCxnSpPr>
          <p:spPr>
            <a:xfrm rot="16200000" flipH="1">
              <a:off x="-525057" y="5360268"/>
              <a:ext cx="2207517" cy="135922"/>
            </a:xfrm>
            <a:prstGeom prst="bentConnector2">
              <a:avLst/>
            </a:prstGeom>
          </p:spPr>
          <p:style>
            <a:lnRef idx="1">
              <a:schemeClr val="accent5"/>
            </a:lnRef>
            <a:fillRef idx="3">
              <a:schemeClr val="accent5"/>
            </a:fillRef>
            <a:effectRef idx="2">
              <a:schemeClr val="accent5"/>
            </a:effectRef>
            <a:fontRef idx="minor">
              <a:schemeClr val="lt1"/>
            </a:fontRef>
          </p:style>
        </p:cxnSp>
        <p:cxnSp>
          <p:nvCxnSpPr>
            <p:cNvPr id="46" name="Straight Connector 29"/>
            <p:cNvCxnSpPr>
              <a:endCxn id="17" idx="1"/>
            </p:cNvCxnSpPr>
            <p:nvPr/>
          </p:nvCxnSpPr>
          <p:spPr>
            <a:xfrm rot="16200000" flipH="1">
              <a:off x="2583432" y="4390673"/>
              <a:ext cx="290701" cy="181236"/>
            </a:xfrm>
            <a:prstGeom prst="bentConnector2">
              <a:avLst/>
            </a:prstGeom>
          </p:spPr>
          <p:style>
            <a:lnRef idx="1">
              <a:schemeClr val="accent5"/>
            </a:lnRef>
            <a:fillRef idx="3">
              <a:schemeClr val="accent5"/>
            </a:fillRef>
            <a:effectRef idx="2">
              <a:schemeClr val="accent5"/>
            </a:effectRef>
            <a:fontRef idx="minor">
              <a:schemeClr val="lt1"/>
            </a:fontRef>
          </p:style>
        </p:cxnSp>
        <p:cxnSp>
          <p:nvCxnSpPr>
            <p:cNvPr id="48" name="Straight Connector 29"/>
            <p:cNvCxnSpPr/>
            <p:nvPr/>
          </p:nvCxnSpPr>
          <p:spPr>
            <a:xfrm rot="16200000" flipH="1">
              <a:off x="1630927" y="5305875"/>
              <a:ext cx="2185407" cy="162698"/>
            </a:xfrm>
            <a:prstGeom prst="bentConnector2">
              <a:avLst/>
            </a:prstGeom>
          </p:spPr>
          <p:style>
            <a:lnRef idx="1">
              <a:schemeClr val="accent5"/>
            </a:lnRef>
            <a:fillRef idx="3">
              <a:schemeClr val="accent5"/>
            </a:fillRef>
            <a:effectRef idx="2">
              <a:schemeClr val="accent5"/>
            </a:effectRef>
            <a:fontRef idx="minor">
              <a:schemeClr val="lt1"/>
            </a:fontRef>
          </p:style>
        </p:cxnSp>
        <p:cxnSp>
          <p:nvCxnSpPr>
            <p:cNvPr id="49" name="Straight Connector 29"/>
            <p:cNvCxnSpPr>
              <a:endCxn id="20" idx="1"/>
            </p:cNvCxnSpPr>
            <p:nvPr/>
          </p:nvCxnSpPr>
          <p:spPr>
            <a:xfrm rot="16200000" flipH="1">
              <a:off x="1858933" y="5065508"/>
              <a:ext cx="1725274" cy="183299"/>
            </a:xfrm>
            <a:prstGeom prst="bentConnector2">
              <a:avLst/>
            </a:prstGeom>
          </p:spPr>
          <p:style>
            <a:lnRef idx="1">
              <a:schemeClr val="accent5"/>
            </a:lnRef>
            <a:fillRef idx="3">
              <a:schemeClr val="accent5"/>
            </a:fillRef>
            <a:effectRef idx="2">
              <a:schemeClr val="accent5"/>
            </a:effectRef>
            <a:fontRef idx="minor">
              <a:schemeClr val="lt1"/>
            </a:fontRef>
          </p:style>
        </p:cxnSp>
        <p:cxnSp>
          <p:nvCxnSpPr>
            <p:cNvPr id="50" name="Straight Connector 29"/>
            <p:cNvCxnSpPr>
              <a:endCxn id="19" idx="1"/>
            </p:cNvCxnSpPr>
            <p:nvPr/>
          </p:nvCxnSpPr>
          <p:spPr>
            <a:xfrm rot="16200000" flipH="1">
              <a:off x="2132691" y="4885310"/>
              <a:ext cx="1194240" cy="179174"/>
            </a:xfrm>
            <a:prstGeom prst="bentConnector2">
              <a:avLst/>
            </a:prstGeom>
          </p:spPr>
          <p:style>
            <a:lnRef idx="1">
              <a:schemeClr val="accent5"/>
            </a:lnRef>
            <a:fillRef idx="3">
              <a:schemeClr val="accent5"/>
            </a:fillRef>
            <a:effectRef idx="2">
              <a:schemeClr val="accent5"/>
            </a:effectRef>
            <a:fontRef idx="minor">
              <a:schemeClr val="lt1"/>
            </a:fontRef>
          </p:style>
        </p:cxnSp>
        <p:cxnSp>
          <p:nvCxnSpPr>
            <p:cNvPr id="51" name="Straight Connector 29"/>
            <p:cNvCxnSpPr>
              <a:endCxn id="18" idx="1"/>
            </p:cNvCxnSpPr>
            <p:nvPr/>
          </p:nvCxnSpPr>
          <p:spPr>
            <a:xfrm rot="16200000" flipH="1">
              <a:off x="2343466" y="4631912"/>
              <a:ext cx="764447" cy="187417"/>
            </a:xfrm>
            <a:prstGeom prst="bentConnector2">
              <a:avLst/>
            </a:prstGeom>
          </p:spPr>
          <p:style>
            <a:lnRef idx="1">
              <a:schemeClr val="accent5"/>
            </a:lnRef>
            <a:fillRef idx="3">
              <a:schemeClr val="accent5"/>
            </a:fillRef>
            <a:effectRef idx="2">
              <a:schemeClr val="accent5"/>
            </a:effectRef>
            <a:fontRef idx="minor">
              <a:schemeClr val="lt1"/>
            </a:fontRef>
          </p:style>
        </p:cxnSp>
        <p:sp>
          <p:nvSpPr>
            <p:cNvPr id="57" name="Rounded Rectangle 56"/>
            <p:cNvSpPr/>
            <p:nvPr/>
          </p:nvSpPr>
          <p:spPr>
            <a:xfrm>
              <a:off x="6103205" y="3886200"/>
              <a:ext cx="1485903" cy="381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vi-VN" sz="1400" dirty="0"/>
                <a:t>Review</a:t>
              </a:r>
            </a:p>
            <a:p>
              <a:pPr algn="ctr"/>
              <a:r>
                <a:rPr lang="vi-VN" sz="1400" dirty="0"/>
                <a:t>(Thủ công)</a:t>
              </a:r>
            </a:p>
          </p:txBody>
        </p:sp>
        <p:sp>
          <p:nvSpPr>
            <p:cNvPr id="59" name="Rounded Rectangle 58"/>
            <p:cNvSpPr/>
            <p:nvPr/>
          </p:nvSpPr>
          <p:spPr>
            <a:xfrm>
              <a:off x="7694140" y="3886200"/>
              <a:ext cx="1449859" cy="381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vi-VN" sz="1400" dirty="0"/>
                <a:t>phân tích (Tools)</a:t>
              </a:r>
            </a:p>
          </p:txBody>
        </p:sp>
        <p:cxnSp>
          <p:nvCxnSpPr>
            <p:cNvPr id="65" name="Straight Connector 29"/>
            <p:cNvCxnSpPr>
              <a:stCxn id="6" idx="2"/>
              <a:endCxn id="57" idx="0"/>
            </p:cNvCxnSpPr>
            <p:nvPr/>
          </p:nvCxnSpPr>
          <p:spPr>
            <a:xfrm rot="5400000">
              <a:off x="6958279" y="3453078"/>
              <a:ext cx="321001" cy="545243"/>
            </a:xfrm>
            <a:prstGeom prst="bentConnector3">
              <a:avLst>
                <a:gd name="adj1" fmla="val 50000"/>
              </a:avLst>
            </a:prstGeom>
          </p:spPr>
          <p:style>
            <a:lnRef idx="1">
              <a:schemeClr val="accent2"/>
            </a:lnRef>
            <a:fillRef idx="3">
              <a:schemeClr val="accent2"/>
            </a:fillRef>
            <a:effectRef idx="2">
              <a:schemeClr val="accent2"/>
            </a:effectRef>
            <a:fontRef idx="minor">
              <a:schemeClr val="lt1"/>
            </a:fontRef>
          </p:style>
        </p:cxnSp>
        <p:cxnSp>
          <p:nvCxnSpPr>
            <p:cNvPr id="68" name="Straight Connector 29"/>
            <p:cNvCxnSpPr>
              <a:stCxn id="6" idx="2"/>
              <a:endCxn id="59" idx="0"/>
            </p:cNvCxnSpPr>
            <p:nvPr/>
          </p:nvCxnSpPr>
          <p:spPr>
            <a:xfrm rot="16200000" flipH="1">
              <a:off x="7744735" y="3211864"/>
              <a:ext cx="321001" cy="1027670"/>
            </a:xfrm>
            <a:prstGeom prst="bentConnector3">
              <a:avLst>
                <a:gd name="adj1" fmla="val 50000"/>
              </a:avLst>
            </a:prstGeom>
          </p:spPr>
          <p:style>
            <a:lnRef idx="1">
              <a:schemeClr val="accent2"/>
            </a:lnRef>
            <a:fillRef idx="3">
              <a:schemeClr val="accent2"/>
            </a:fillRef>
            <a:effectRef idx="2">
              <a:schemeClr val="accent2"/>
            </a:effectRef>
            <a:fontRef idx="minor">
              <a:schemeClr val="lt1"/>
            </a:fontRef>
          </p:style>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762000"/>
            <a:ext cx="3477456" cy="4572000"/>
          </a:xfrm>
          <a:prstGeom prst="rect">
            <a:avLst/>
          </a:prstGeom>
        </p:spPr>
      </p:pic>
      <p:sp>
        <p:nvSpPr>
          <p:cNvPr id="2" name="Title 1"/>
          <p:cNvSpPr>
            <a:spLocks noGrp="1"/>
          </p:cNvSpPr>
          <p:nvPr>
            <p:ph type="title"/>
          </p:nvPr>
        </p:nvSpPr>
        <p:spPr>
          <a:xfrm>
            <a:off x="152400" y="172720"/>
            <a:ext cx="8763000" cy="799306"/>
          </a:xfrm>
        </p:spPr>
        <p:txBody>
          <a:bodyPr/>
          <a:lstStyle/>
          <a:p>
            <a:r>
              <a:rPr lang="en-US" dirty="0"/>
              <a:t>II. </a:t>
            </a:r>
            <a:r>
              <a:rPr lang="en-US" dirty="0" err="1"/>
              <a:t>Làm</a:t>
            </a:r>
            <a:r>
              <a:rPr lang="en-US" dirty="0"/>
              <a:t> </a:t>
            </a:r>
            <a:r>
              <a:rPr lang="en-US" dirty="0" err="1"/>
              <a:t>sao</a:t>
            </a:r>
            <a:r>
              <a:rPr lang="en-US" dirty="0"/>
              <a:t> </a:t>
            </a:r>
            <a:r>
              <a:rPr lang="en-US" dirty="0" err="1"/>
              <a:t>chọn</a:t>
            </a:r>
            <a:r>
              <a:rPr lang="en-US" dirty="0"/>
              <a:t> </a:t>
            </a:r>
            <a:r>
              <a:rPr lang="en-US" dirty="0" err="1"/>
              <a:t>kỹ</a:t>
            </a:r>
            <a:r>
              <a:rPr lang="en-US" dirty="0"/>
              <a:t> </a:t>
            </a:r>
            <a:r>
              <a:rPr lang="en-US" dirty="0" err="1"/>
              <a:t>thuật</a:t>
            </a:r>
            <a:r>
              <a:rPr lang="en-US" dirty="0"/>
              <a:t> test </a:t>
            </a:r>
            <a:r>
              <a:rPr lang="en-US" dirty="0" err="1"/>
              <a:t>hiệu</a:t>
            </a:r>
            <a:r>
              <a:rPr lang="en-US" dirty="0"/>
              <a:t> </a:t>
            </a:r>
            <a:r>
              <a:rPr lang="en-US" dirty="0" err="1"/>
              <a:t>quả</a:t>
            </a:r>
            <a:r>
              <a:rPr lang="en-US" dirty="0"/>
              <a:t>? </a:t>
            </a:r>
            <a:br>
              <a:rPr lang="en-US" dirty="0"/>
            </a:br>
            <a:endParaRPr lang="en-US" dirty="0"/>
          </a:p>
        </p:txBody>
      </p:sp>
      <p:sp>
        <p:nvSpPr>
          <p:cNvPr id="3" name="Content Placeholder 2"/>
          <p:cNvSpPr>
            <a:spLocks noGrp="1"/>
          </p:cNvSpPr>
          <p:nvPr>
            <p:ph idx="1"/>
          </p:nvPr>
        </p:nvSpPr>
        <p:spPr>
          <a:xfrm>
            <a:off x="127686" y="685800"/>
            <a:ext cx="5257800" cy="4724400"/>
          </a:xfrm>
        </p:spPr>
        <p:txBody>
          <a:bodyPr>
            <a:noAutofit/>
          </a:bodyPr>
          <a:lstStyle/>
          <a:p>
            <a:pPr marL="285750" indent="-285750" algn="just">
              <a:lnSpc>
                <a:spcPct val="150000"/>
              </a:lnSpc>
              <a:spcAft>
                <a:spcPts val="0"/>
              </a:spcAft>
              <a:buFont typeface="Wingdings" panose="05000000000000000000" pitchFamily="2" charset="2"/>
              <a:buChar char="v"/>
            </a:pPr>
            <a:r>
              <a:rPr lang="en-US" sz="1600" dirty="0"/>
              <a:t>T</a:t>
            </a:r>
            <a:r>
              <a:rPr lang="vi-VN" sz="1600" dirty="0"/>
              <a:t>rong mỗi trường hợp cụ thể thì từng kỹ thuật lại có thể phát huy hiệu quả nhất định, mỗi kỹ thuật có thể tốt cho việc tìm thấy những lỗi này, nhưng lại không tìm được những lỗi khác. </a:t>
            </a:r>
            <a:endParaRPr lang="en-US" sz="1600" dirty="0"/>
          </a:p>
          <a:p>
            <a:pPr marL="285750" indent="-285750" algn="just">
              <a:lnSpc>
                <a:spcPct val="150000"/>
              </a:lnSpc>
              <a:spcAft>
                <a:spcPts val="0"/>
              </a:spcAft>
              <a:buFont typeface="Wingdings" panose="05000000000000000000" pitchFamily="2" charset="2"/>
              <a:buChar char="v"/>
            </a:pPr>
            <a:r>
              <a:rPr lang="vi-VN" sz="1600" dirty="0"/>
              <a:t>Ví dụ</a:t>
            </a:r>
            <a:endParaRPr lang="en-US" sz="1600" dirty="0"/>
          </a:p>
          <a:p>
            <a:pPr marL="660400" lvl="1" algn="just">
              <a:lnSpc>
                <a:spcPct val="150000"/>
              </a:lnSpc>
              <a:spcAft>
                <a:spcPts val="0"/>
              </a:spcAft>
              <a:buFont typeface="Wingdings" panose="05000000000000000000" pitchFamily="2" charset="2"/>
              <a:buChar char="ü"/>
            </a:pPr>
            <a:r>
              <a:rPr lang="en-US" sz="1600" dirty="0">
                <a:solidFill>
                  <a:srgbClr val="000000"/>
                </a:solidFill>
                <a:ea typeface="MS Mincho" panose="02020609040205080304" pitchFamily="17" charset="-128"/>
                <a:cs typeface="Times New Roman" panose="02020603050405020304" pitchFamily="18" charset="0"/>
              </a:rPr>
              <a:t>Test </a:t>
            </a:r>
            <a:r>
              <a:rPr lang="en-US" sz="1600" dirty="0" err="1">
                <a:solidFill>
                  <a:srgbClr val="000000"/>
                </a:solidFill>
                <a:ea typeface="MS Mincho" panose="02020609040205080304" pitchFamily="17" charset="-128"/>
                <a:cs typeface="Times New Roman" panose="02020603050405020304" pitchFamily="18" charset="0"/>
              </a:rPr>
              <a:t>hộp</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trắng</a:t>
            </a:r>
            <a:r>
              <a:rPr lang="en-US" sz="1600" dirty="0">
                <a:solidFill>
                  <a:srgbClr val="000000"/>
                </a:solidFill>
                <a:ea typeface="MS Mincho" panose="02020609040205080304" pitchFamily="17" charset="-128"/>
                <a:cs typeface="Times New Roman" panose="02020603050405020304" pitchFamily="18" charset="0"/>
              </a:rPr>
              <a:t> có </a:t>
            </a:r>
            <a:r>
              <a:rPr lang="en-US" sz="1600" dirty="0" err="1">
                <a:solidFill>
                  <a:srgbClr val="000000"/>
                </a:solidFill>
                <a:ea typeface="MS Mincho" panose="02020609040205080304" pitchFamily="17" charset="-128"/>
                <a:cs typeface="Times New Roman" panose="02020603050405020304" pitchFamily="18" charset="0"/>
              </a:rPr>
              <a:t>thể</a:t>
            </a:r>
            <a:r>
              <a:rPr lang="en-US" sz="1600" dirty="0">
                <a:solidFill>
                  <a:srgbClr val="000000"/>
                </a:solidFill>
                <a:ea typeface="MS Mincho" panose="02020609040205080304" pitchFamily="17" charset="-128"/>
                <a:cs typeface="Times New Roman" panose="02020603050405020304" pitchFamily="18" charset="0"/>
              </a:rPr>
              <a:t> tìm </a:t>
            </a:r>
            <a:r>
              <a:rPr lang="en-US" sz="1600" dirty="0" err="1">
                <a:solidFill>
                  <a:srgbClr val="000000"/>
                </a:solidFill>
                <a:ea typeface="MS Mincho" panose="02020609040205080304" pitchFamily="17" charset="-128"/>
                <a:cs typeface="Times New Roman" panose="02020603050405020304" pitchFamily="18" charset="0"/>
              </a:rPr>
              <a:t>ra</a:t>
            </a:r>
            <a:r>
              <a:rPr lang="en-US" sz="1600" dirty="0">
                <a:solidFill>
                  <a:srgbClr val="000000"/>
                </a:solidFill>
                <a:ea typeface="MS Mincho" panose="02020609040205080304" pitchFamily="17" charset="-128"/>
                <a:cs typeface="Times New Roman" panose="02020603050405020304" pitchFamily="18" charset="0"/>
              </a:rPr>
              <a:t> những </a:t>
            </a:r>
            <a:r>
              <a:rPr lang="en-US" sz="1600" dirty="0" err="1">
                <a:solidFill>
                  <a:srgbClr val="000000"/>
                </a:solidFill>
                <a:ea typeface="MS Mincho" panose="02020609040205080304" pitchFamily="17" charset="-128"/>
                <a:cs typeface="Times New Roman" panose="02020603050405020304" pitchFamily="18" charset="0"/>
              </a:rPr>
              <a:t>lỗi</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thừa</a:t>
            </a:r>
            <a:r>
              <a:rPr lang="en-US" sz="1600" dirty="0">
                <a:solidFill>
                  <a:srgbClr val="000000"/>
                </a:solidFill>
                <a:ea typeface="MS Mincho" panose="02020609040205080304" pitchFamily="17" charset="-128"/>
                <a:cs typeface="Times New Roman" panose="02020603050405020304" pitchFamily="18" charset="0"/>
              </a:rPr>
              <a:t> code, </a:t>
            </a:r>
            <a:r>
              <a:rPr lang="en-US" sz="1600" dirty="0" err="1">
                <a:solidFill>
                  <a:srgbClr val="000000"/>
                </a:solidFill>
                <a:ea typeface="MS Mincho" panose="02020609040205080304" pitchFamily="17" charset="-128"/>
                <a:cs typeface="Times New Roman" panose="02020603050405020304" pitchFamily="18" charset="0"/>
              </a:rPr>
              <a:t>thừa</a:t>
            </a:r>
            <a:r>
              <a:rPr lang="en-US" sz="1600" dirty="0">
                <a:solidFill>
                  <a:srgbClr val="000000"/>
                </a:solidFill>
                <a:ea typeface="MS Mincho" panose="02020609040205080304" pitchFamily="17" charset="-128"/>
                <a:cs typeface="Times New Roman" panose="02020603050405020304" pitchFamily="18" charset="0"/>
              </a:rPr>
              <a:t> các </a:t>
            </a:r>
            <a:r>
              <a:rPr lang="en-US" sz="1600" dirty="0" err="1">
                <a:solidFill>
                  <a:srgbClr val="000000"/>
                </a:solidFill>
                <a:ea typeface="MS Mincho" panose="02020609040205080304" pitchFamily="17" charset="-128"/>
                <a:cs typeface="Times New Roman" panose="02020603050405020304" pitchFamily="18" charset="0"/>
              </a:rPr>
              <a:t>mã</a:t>
            </a:r>
            <a:r>
              <a:rPr lang="en-US" sz="1600" dirty="0">
                <a:solidFill>
                  <a:srgbClr val="000000"/>
                </a:solidFill>
                <a:ea typeface="MS Mincho" panose="02020609040205080304" pitchFamily="17" charset="-128"/>
                <a:cs typeface="Times New Roman" panose="02020603050405020304" pitchFamily="18" charset="0"/>
              </a:rPr>
              <a:t> Trojan hoặc </a:t>
            </a:r>
            <a:r>
              <a:rPr lang="en-US" sz="1600" dirty="0" err="1">
                <a:solidFill>
                  <a:srgbClr val="000000"/>
                </a:solidFill>
                <a:ea typeface="MS Mincho" panose="02020609040205080304" pitchFamily="17" charset="-128"/>
                <a:cs typeface="Times New Roman" panose="02020603050405020304" pitchFamily="18" charset="0"/>
              </a:rPr>
              <a:t>mã</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độc</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hại</a:t>
            </a:r>
            <a:r>
              <a:rPr lang="en-US" sz="1600" dirty="0">
                <a:solidFill>
                  <a:srgbClr val="000000"/>
                </a:solidFill>
                <a:ea typeface="MS Mincho" panose="02020609040205080304" pitchFamily="17" charset="-128"/>
                <a:cs typeface="Times New Roman" panose="02020603050405020304" pitchFamily="18" charset="0"/>
              </a:rPr>
              <a:t> khác </a:t>
            </a:r>
          </a:p>
          <a:p>
            <a:pPr marL="660400" lvl="1" algn="just">
              <a:lnSpc>
                <a:spcPct val="150000"/>
              </a:lnSpc>
              <a:spcAft>
                <a:spcPts val="0"/>
              </a:spcAft>
              <a:buFont typeface="Wingdings" panose="05000000000000000000" pitchFamily="2" charset="2"/>
              <a:buChar char="ü"/>
            </a:pPr>
            <a:r>
              <a:rPr lang="en-US" sz="1600" dirty="0">
                <a:solidFill>
                  <a:srgbClr val="000000"/>
                </a:solidFill>
                <a:ea typeface="MS Mincho" panose="02020609040205080304" pitchFamily="17" charset="-128"/>
                <a:cs typeface="Times New Roman" panose="02020603050405020304" pitchFamily="18" charset="0"/>
              </a:rPr>
              <a:t>Tuy nhiên, nếu có các </a:t>
            </a:r>
            <a:r>
              <a:rPr lang="en-US" sz="1600" dirty="0" err="1">
                <a:solidFill>
                  <a:srgbClr val="000000"/>
                </a:solidFill>
                <a:ea typeface="MS Mincho" panose="02020609040205080304" pitchFamily="17" charset="-128"/>
                <a:cs typeface="Times New Roman" panose="02020603050405020304" pitchFamily="18" charset="0"/>
              </a:rPr>
              <a:t>phần</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đặc</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tả</a:t>
            </a:r>
            <a:r>
              <a:rPr lang="en-US" sz="1600" dirty="0">
                <a:solidFill>
                  <a:srgbClr val="000000"/>
                </a:solidFill>
                <a:ea typeface="MS Mincho" panose="02020609040205080304" pitchFamily="17" charset="-128"/>
                <a:cs typeface="Times New Roman" panose="02020603050405020304" pitchFamily="18" charset="0"/>
              </a:rPr>
              <a:t> bị </a:t>
            </a:r>
            <a:r>
              <a:rPr lang="en-US" sz="1600" dirty="0" err="1">
                <a:solidFill>
                  <a:srgbClr val="000000"/>
                </a:solidFill>
                <a:ea typeface="MS Mincho" panose="02020609040205080304" pitchFamily="17" charset="-128"/>
                <a:cs typeface="Times New Roman" panose="02020603050405020304" pitchFamily="18" charset="0"/>
              </a:rPr>
              <a:t>thiếu</a:t>
            </a:r>
            <a:r>
              <a:rPr lang="en-US" sz="1600" dirty="0">
                <a:solidFill>
                  <a:srgbClr val="000000"/>
                </a:solidFill>
                <a:ea typeface="MS Mincho" panose="02020609040205080304" pitchFamily="17" charset="-128"/>
                <a:cs typeface="Times New Roman" panose="02020603050405020304" pitchFamily="18" charset="0"/>
              </a:rPr>
              <a:t> trong code thì test </a:t>
            </a:r>
            <a:r>
              <a:rPr lang="en-US" sz="1600" dirty="0" err="1">
                <a:solidFill>
                  <a:srgbClr val="000000"/>
                </a:solidFill>
                <a:ea typeface="MS Mincho" panose="02020609040205080304" pitchFamily="17" charset="-128"/>
                <a:cs typeface="Times New Roman" panose="02020603050405020304" pitchFamily="18" charset="0"/>
              </a:rPr>
              <a:t>hộp</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đen</a:t>
            </a:r>
            <a:r>
              <a:rPr lang="en-US" sz="1600" dirty="0">
                <a:solidFill>
                  <a:srgbClr val="000000"/>
                </a:solidFill>
                <a:ea typeface="MS Mincho" panose="02020609040205080304" pitchFamily="17" charset="-128"/>
                <a:cs typeface="Times New Roman" panose="02020603050405020304" pitchFamily="18" charset="0"/>
              </a:rPr>
              <a:t> mới thấy</a:t>
            </a:r>
          </a:p>
          <a:p>
            <a:pPr marL="660400" lvl="1" algn="just">
              <a:lnSpc>
                <a:spcPct val="150000"/>
              </a:lnSpc>
              <a:spcAft>
                <a:spcPts val="0"/>
              </a:spcAft>
              <a:buFont typeface="Wingdings" panose="05000000000000000000" pitchFamily="2" charset="2"/>
              <a:buChar char="ü"/>
            </a:pPr>
            <a:r>
              <a:rPr lang="en-US" sz="1600" dirty="0" err="1">
                <a:solidFill>
                  <a:srgbClr val="000000"/>
                </a:solidFill>
                <a:ea typeface="MS Mincho" panose="02020609040205080304" pitchFamily="17" charset="-128"/>
                <a:cs typeface="Times New Roman" panose="02020603050405020304" pitchFamily="18" charset="0"/>
              </a:rPr>
              <a:t>Ngoài</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ra</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còn</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những</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lỗi</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mà</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cả</a:t>
            </a:r>
            <a:r>
              <a:rPr lang="en-US" sz="1600" dirty="0">
                <a:solidFill>
                  <a:srgbClr val="000000"/>
                </a:solidFill>
                <a:ea typeface="MS Mincho" panose="02020609040205080304" pitchFamily="17" charset="-128"/>
                <a:cs typeface="Times New Roman" panose="02020603050405020304" pitchFamily="18" charset="0"/>
              </a:rPr>
              <a:t> 2 </a:t>
            </a:r>
            <a:r>
              <a:rPr lang="en-US" sz="1600" dirty="0" err="1">
                <a:solidFill>
                  <a:srgbClr val="000000"/>
                </a:solidFill>
                <a:ea typeface="MS Mincho" panose="02020609040205080304" pitchFamily="17" charset="-128"/>
                <a:cs typeface="Times New Roman" panose="02020603050405020304" pitchFamily="18" charset="0"/>
              </a:rPr>
              <a:t>loại</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kiểm</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tra</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đều</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không</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phát</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hiện</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ra</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thì</a:t>
            </a:r>
            <a:r>
              <a:rPr lang="en-US" sz="1600" dirty="0">
                <a:solidFill>
                  <a:srgbClr val="000000"/>
                </a:solidFill>
                <a:ea typeface="MS Mincho" panose="02020609040205080304" pitchFamily="17" charset="-128"/>
                <a:cs typeface="Times New Roman" panose="02020603050405020304" pitchFamily="18" charset="0"/>
              </a:rPr>
              <a:t> tester </a:t>
            </a:r>
            <a:r>
              <a:rPr lang="en-US" sz="1600" dirty="0" err="1">
                <a:solidFill>
                  <a:srgbClr val="000000"/>
                </a:solidFill>
                <a:ea typeface="MS Mincho" panose="02020609040205080304" pitchFamily="17" charset="-128"/>
                <a:cs typeface="Times New Roman" panose="02020603050405020304" pitchFamily="18" charset="0"/>
              </a:rPr>
              <a:t>sử</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dụng</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đến</a:t>
            </a:r>
            <a:r>
              <a:rPr lang="en-US" sz="1600" dirty="0">
                <a:solidFill>
                  <a:srgbClr val="000000"/>
                </a:solidFill>
                <a:ea typeface="MS Mincho" panose="02020609040205080304" pitchFamily="17" charset="-128"/>
                <a:cs typeface="Times New Roman" panose="02020603050405020304" pitchFamily="18" charset="0"/>
              </a:rPr>
              <a:t> test </a:t>
            </a:r>
            <a:r>
              <a:rPr lang="en-US" sz="1600" dirty="0" err="1">
                <a:solidFill>
                  <a:srgbClr val="000000"/>
                </a:solidFill>
                <a:ea typeface="MS Mincho" panose="02020609040205080304" pitchFamily="17" charset="-128"/>
                <a:cs typeface="Times New Roman" panose="02020603050405020304" pitchFamily="18" charset="0"/>
              </a:rPr>
              <a:t>dựa</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trên</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kinh</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nghiệm</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mới</a:t>
            </a:r>
            <a:r>
              <a:rPr lang="en-US" sz="1600" dirty="0">
                <a:solidFill>
                  <a:srgbClr val="000000"/>
                </a:solidFill>
                <a:ea typeface="MS Mincho" panose="02020609040205080304" pitchFamily="17" charset="-128"/>
                <a:cs typeface="Times New Roman" panose="02020603050405020304" pitchFamily="18" charset="0"/>
              </a:rPr>
              <a:t> </a:t>
            </a:r>
            <a:r>
              <a:rPr lang="en-US" sz="1600" dirty="0" err="1">
                <a:solidFill>
                  <a:srgbClr val="000000"/>
                </a:solidFill>
                <a:ea typeface="MS Mincho" panose="02020609040205080304" pitchFamily="17" charset="-128"/>
                <a:cs typeface="Times New Roman" panose="02020603050405020304" pitchFamily="18" charset="0"/>
              </a:rPr>
              <a:t>thấy</a:t>
            </a:r>
            <a:r>
              <a:rPr lang="en-US" sz="1600" dirty="0">
                <a:solidFill>
                  <a:srgbClr val="000000"/>
                </a:solidFill>
                <a:ea typeface="MS Mincho" panose="02020609040205080304" pitchFamily="17" charset="-128"/>
                <a:cs typeface="Times New Roman" panose="02020603050405020304" pitchFamily="18" charset="0"/>
              </a:rPr>
              <a:t> (VD: </a:t>
            </a:r>
            <a:r>
              <a:rPr lang="en-US" sz="1600" dirty="0" err="1">
                <a:solidFill>
                  <a:srgbClr val="000000"/>
                </a:solidFill>
                <a:ea typeface="MS Mincho" panose="02020609040205080304" pitchFamily="17" charset="-128"/>
                <a:cs typeface="Times New Roman" panose="02020603050405020304" pitchFamily="18" charset="0"/>
              </a:rPr>
              <a:t>html,null</a:t>
            </a:r>
            <a:r>
              <a:rPr lang="en-US" sz="1600" dirty="0">
                <a:solidFill>
                  <a:srgbClr val="000000"/>
                </a:solidFill>
                <a:ea typeface="MS Mincho" panose="02020609040205080304" pitchFamily="17" charset="-128"/>
                <a:cs typeface="Times New Roman" panose="02020603050405020304" pitchFamily="18" charset="0"/>
              </a:rPr>
              <a:t>,...)</a:t>
            </a:r>
          </a:p>
        </p:txBody>
      </p:sp>
      <p:sp>
        <p:nvSpPr>
          <p:cNvPr id="5" name="Rectangle 4"/>
          <p:cNvSpPr/>
          <p:nvPr/>
        </p:nvSpPr>
        <p:spPr>
          <a:xfrm>
            <a:off x="381000" y="5487263"/>
            <a:ext cx="8763000" cy="923330"/>
          </a:xfrm>
          <a:prstGeom prst="rect">
            <a:avLst/>
          </a:prstGeom>
        </p:spPr>
        <p:txBody>
          <a:bodyPr wrap="square">
            <a:spAutoFit/>
          </a:bodyPr>
          <a:lstStyle/>
          <a:p>
            <a:pPr algn="just">
              <a:lnSpc>
                <a:spcPct val="150000"/>
              </a:lnSpc>
            </a:pPr>
            <a:r>
              <a:rPr lang="vi-VN" b="1" i="1" dirty="0">
                <a:solidFill>
                  <a:schemeClr val="bg1"/>
                </a:solidFill>
              </a:rPr>
              <a:t>Vì thế muốn tìm được nhiều lỗi nhất có thể thì cần kết hợp nhiều kỹ thuật đồng thời cho từng yêu cầu cụ thể. </a:t>
            </a:r>
            <a:endParaRPr lang="en-US" b="1" i="1"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799" y="643561"/>
            <a:ext cx="3230777" cy="2287050"/>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9800" y="2930611"/>
            <a:ext cx="4165600" cy="3124200"/>
          </a:xfrm>
          <a:prstGeom prst="rect">
            <a:avLst/>
          </a:prstGeom>
        </p:spPr>
      </p:pic>
      <p:sp>
        <p:nvSpPr>
          <p:cNvPr id="2" name="Title 1"/>
          <p:cNvSpPr>
            <a:spLocks noGrp="1"/>
          </p:cNvSpPr>
          <p:nvPr>
            <p:ph type="title"/>
          </p:nvPr>
        </p:nvSpPr>
        <p:spPr>
          <a:xfrm>
            <a:off x="152400" y="172720"/>
            <a:ext cx="8763000" cy="799306"/>
          </a:xfrm>
        </p:spPr>
        <p:txBody>
          <a:bodyPr/>
          <a:lstStyle/>
          <a:p>
            <a:r>
              <a:rPr lang="en-US" dirty="0"/>
              <a:t>III. </a:t>
            </a:r>
            <a:r>
              <a:rPr lang="en-US" dirty="0" err="1"/>
              <a:t>Sử</a:t>
            </a:r>
            <a:r>
              <a:rPr lang="en-US" dirty="0"/>
              <a:t> </a:t>
            </a:r>
            <a:r>
              <a:rPr lang="en-US" dirty="0" err="1"/>
              <a:t>dụng</a:t>
            </a:r>
            <a:r>
              <a:rPr lang="en-US" dirty="0"/>
              <a:t> </a:t>
            </a:r>
            <a:r>
              <a:rPr lang="en-US" dirty="0" err="1"/>
              <a:t>kỹ</a:t>
            </a:r>
            <a:r>
              <a:rPr lang="en-US" dirty="0"/>
              <a:t> </a:t>
            </a:r>
            <a:r>
              <a:rPr lang="en-US" dirty="0" err="1"/>
              <a:t>thuật</a:t>
            </a:r>
            <a:r>
              <a:rPr lang="en-US" dirty="0"/>
              <a:t> test </a:t>
            </a:r>
            <a:r>
              <a:rPr lang="en-US" dirty="0" err="1"/>
              <a:t>nào</a:t>
            </a:r>
            <a:r>
              <a:rPr lang="en-US" dirty="0"/>
              <a:t>?</a:t>
            </a:r>
            <a:br>
              <a:rPr lang="en-US" dirty="0"/>
            </a:br>
            <a:endParaRPr lang="en-US" dirty="0"/>
          </a:p>
        </p:txBody>
      </p:sp>
      <p:sp>
        <p:nvSpPr>
          <p:cNvPr id="3" name="Content Placeholder 2"/>
          <p:cNvSpPr>
            <a:spLocks noGrp="1"/>
          </p:cNvSpPr>
          <p:nvPr>
            <p:ph idx="1"/>
          </p:nvPr>
        </p:nvSpPr>
        <p:spPr>
          <a:xfrm>
            <a:off x="152400" y="762000"/>
            <a:ext cx="4419600" cy="5715000"/>
          </a:xfrm>
        </p:spPr>
        <p:txBody>
          <a:bodyPr>
            <a:noAutofit/>
          </a:bodyPr>
          <a:lstStyle/>
          <a:p>
            <a:pPr algn="just">
              <a:buFont typeface="Wingdings" panose="05000000000000000000" pitchFamily="2" charset="2"/>
              <a:buChar char="v"/>
            </a:pPr>
            <a:r>
              <a:rPr lang="en-US" sz="1800" dirty="0"/>
              <a:t>Việc </a:t>
            </a:r>
            <a:r>
              <a:rPr lang="en-US" sz="1800" dirty="0" err="1"/>
              <a:t>quyết</a:t>
            </a:r>
            <a:r>
              <a:rPr lang="en-US" sz="1800" dirty="0"/>
              <a:t> định </a:t>
            </a:r>
            <a:r>
              <a:rPr lang="en-US" sz="1800" dirty="0" err="1"/>
              <a:t>sử</a:t>
            </a:r>
            <a:r>
              <a:rPr lang="en-US" sz="1800" dirty="0"/>
              <a:t> </a:t>
            </a:r>
            <a:r>
              <a:rPr lang="en-US" sz="1800" dirty="0" err="1"/>
              <a:t>dụng</a:t>
            </a:r>
            <a:r>
              <a:rPr lang="en-US" sz="1800" dirty="0"/>
              <a:t> </a:t>
            </a:r>
            <a:r>
              <a:rPr lang="en-US" sz="1800" dirty="0" err="1"/>
              <a:t>kỹ</a:t>
            </a:r>
            <a:r>
              <a:rPr lang="en-US" sz="1800" dirty="0"/>
              <a:t> </a:t>
            </a:r>
            <a:r>
              <a:rPr lang="en-US" sz="1800" dirty="0" err="1"/>
              <a:t>thuật</a:t>
            </a:r>
            <a:r>
              <a:rPr lang="en-US" sz="1800" dirty="0"/>
              <a:t> test nào </a:t>
            </a:r>
            <a:r>
              <a:rPr lang="en-US" sz="1800" dirty="0" err="1"/>
              <a:t>thông</a:t>
            </a:r>
            <a:r>
              <a:rPr lang="en-US" sz="1800" dirty="0"/>
              <a:t> </a:t>
            </a:r>
            <a:r>
              <a:rPr lang="en-US" sz="1800" dirty="0" err="1"/>
              <a:t>thường</a:t>
            </a:r>
            <a:r>
              <a:rPr lang="en-US" sz="1800" dirty="0"/>
              <a:t> </a:t>
            </a:r>
            <a:r>
              <a:rPr lang="en-US" sz="1800" dirty="0" err="1"/>
              <a:t>phụ</a:t>
            </a:r>
            <a:r>
              <a:rPr lang="en-US" sz="1800" dirty="0"/>
              <a:t> </a:t>
            </a:r>
            <a:r>
              <a:rPr lang="en-US" sz="1800" dirty="0" err="1"/>
              <a:t>thuộc</a:t>
            </a:r>
            <a:r>
              <a:rPr lang="en-US" sz="1800" dirty="0"/>
              <a:t> </a:t>
            </a:r>
            <a:r>
              <a:rPr lang="en-US" sz="1800" dirty="0" err="1"/>
              <a:t>vào</a:t>
            </a:r>
            <a:endParaRPr lang="vi-VN" sz="1800" dirty="0"/>
          </a:p>
          <a:p>
            <a:pPr lvl="1" algn="just">
              <a:buFont typeface="Wingdings" panose="05000000000000000000" pitchFamily="2" charset="2"/>
              <a:buChar char="ü"/>
            </a:pPr>
            <a:r>
              <a:rPr lang="vi-VN" dirty="0"/>
              <a:t>Yêu cầu của khách hàng</a:t>
            </a:r>
            <a:r>
              <a:rPr lang="en-US" dirty="0"/>
              <a:t>: </a:t>
            </a:r>
            <a:r>
              <a:rPr lang="vi-VN" dirty="0"/>
              <a:t>Đôi khi ngay trong hợp đồng đã chỉ định cụ thể các kỹ thuật </a:t>
            </a:r>
            <a:r>
              <a:rPr lang="en-US" dirty="0" err="1"/>
              <a:t>test</a:t>
            </a:r>
            <a:r>
              <a:rPr lang="en-US" dirty="0"/>
              <a:t> </a:t>
            </a:r>
            <a:r>
              <a:rPr lang="vi-VN" dirty="0"/>
              <a:t>cần sử dụng</a:t>
            </a:r>
          </a:p>
          <a:p>
            <a:pPr lvl="1" algn="just">
              <a:buFont typeface="Wingdings" panose="05000000000000000000" pitchFamily="2" charset="2"/>
              <a:buChar char="ü"/>
            </a:pPr>
            <a:r>
              <a:rPr lang="vi-VN" dirty="0"/>
              <a:t>Thời gian và ngân sách của dự án</a:t>
            </a:r>
            <a:r>
              <a:rPr lang="en-US" dirty="0"/>
              <a:t>:</a:t>
            </a:r>
            <a:r>
              <a:rPr lang="vi-VN" dirty="0"/>
              <a:t> Khi có nhiều thời gian hơn, chúng ta có thể lựa chọn nhiều kỹ thuật và khi thời gian bị giới hạn, chúng ta sẽ phải giới hạn ở những kỹ thuật </a:t>
            </a:r>
            <a:r>
              <a:rPr lang="en-US" dirty="0"/>
              <a:t>test </a:t>
            </a:r>
            <a:r>
              <a:rPr lang="vi-VN" dirty="0"/>
              <a:t>mà dựa trên kinh nghiệm chúng ta đã biết rằng nó có thể giúp mình tìm ra những khuyết điểm quan trọng nhất.</a:t>
            </a:r>
            <a:endParaRPr lang="en-US" dirty="0"/>
          </a:p>
          <a:p>
            <a:pPr algn="just"/>
            <a:endParaRPr lang="en-US" sz="1800" dirty="0"/>
          </a:p>
          <a:p>
            <a:pPr algn="just"/>
            <a:endParaRPr lang="vi-VN" sz="1800" dirty="0"/>
          </a:p>
          <a:p>
            <a:pPr marL="0" indent="0" algn="just">
              <a:lnSpc>
                <a:spcPct val="150000"/>
              </a:lnSpc>
              <a:spcAft>
                <a:spcPts val="0"/>
              </a:spcAft>
              <a:buNone/>
            </a:pP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1785" y="3213100"/>
            <a:ext cx="2472690" cy="321881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1665" y="1219200"/>
            <a:ext cx="2463800" cy="1847850"/>
          </a:xfrm>
          <a:prstGeom prst="rect">
            <a:avLst/>
          </a:prstGeom>
        </p:spPr>
      </p:pic>
      <p:sp>
        <p:nvSpPr>
          <p:cNvPr id="2" name="Title 1"/>
          <p:cNvSpPr>
            <a:spLocks noGrp="1"/>
          </p:cNvSpPr>
          <p:nvPr>
            <p:ph type="title"/>
          </p:nvPr>
        </p:nvSpPr>
        <p:spPr>
          <a:xfrm>
            <a:off x="422275" y="120650"/>
            <a:ext cx="7543800" cy="937260"/>
          </a:xfrm>
        </p:spPr>
        <p:txBody>
          <a:bodyPr/>
          <a:lstStyle/>
          <a:p>
            <a:r>
              <a:rPr lang="en-US" dirty="0"/>
              <a:t>IV. Test </a:t>
            </a:r>
            <a:r>
              <a:rPr lang="en-US" dirty="0" err="1"/>
              <a:t>theo</a:t>
            </a:r>
            <a:r>
              <a:rPr lang="en-US" dirty="0"/>
              <a:t> </a:t>
            </a:r>
            <a:r>
              <a:rPr lang="en-US" dirty="0" err="1"/>
              <a:t>kinh</a:t>
            </a:r>
            <a:r>
              <a:rPr lang="en-US" dirty="0"/>
              <a:t> </a:t>
            </a:r>
            <a:r>
              <a:rPr lang="en-US" dirty="0" err="1"/>
              <a:t>nghiệm</a:t>
            </a:r>
            <a:r>
              <a:rPr lang="en-US" dirty="0"/>
              <a:t> (Experience – based testing) </a:t>
            </a:r>
          </a:p>
        </p:txBody>
      </p:sp>
      <p:sp>
        <p:nvSpPr>
          <p:cNvPr id="3" name="Content Placeholder 2"/>
          <p:cNvSpPr>
            <a:spLocks noGrp="1"/>
          </p:cNvSpPr>
          <p:nvPr>
            <p:ph idx="1"/>
          </p:nvPr>
        </p:nvSpPr>
        <p:spPr>
          <a:xfrm>
            <a:off x="304800" y="1219200"/>
            <a:ext cx="6248400" cy="5457825"/>
          </a:xfrm>
        </p:spPr>
        <p:txBody>
          <a:bodyPr>
            <a:noAutofit/>
          </a:bodyPr>
          <a:lstStyle/>
          <a:p>
            <a:pPr marL="349885" lvl="2" indent="-285750" algn="just">
              <a:buSzPct val="80000"/>
              <a:buFont typeface="Wingdings" panose="05000000000000000000" pitchFamily="2" charset="2"/>
              <a:buChar char="v"/>
            </a:pPr>
            <a:r>
              <a:rPr lang="en-US" sz="1700" dirty="0" err="1"/>
              <a:t>Đoán</a:t>
            </a:r>
            <a:r>
              <a:rPr lang="en-US" sz="1700" dirty="0"/>
              <a:t> </a:t>
            </a:r>
            <a:r>
              <a:rPr lang="en-US" sz="1700" dirty="0" err="1"/>
              <a:t>lỗi</a:t>
            </a:r>
            <a:r>
              <a:rPr lang="en-US" sz="1700" dirty="0"/>
              <a:t> (</a:t>
            </a:r>
            <a:r>
              <a:rPr lang="vi-VN" sz="1700" dirty="0"/>
              <a:t>Error guessing:</a:t>
            </a:r>
            <a:r>
              <a:rPr lang="en-US" sz="1700" dirty="0"/>
              <a:t> L</a:t>
            </a:r>
            <a:r>
              <a:rPr lang="vi-VN" sz="1700" dirty="0"/>
              <a:t>à một phương pháp kiểm thử, trong đó các trường hợp kiểm thử</a:t>
            </a:r>
            <a:r>
              <a:rPr lang="en-US" sz="1700" dirty="0"/>
              <a:t> </a:t>
            </a:r>
            <a:r>
              <a:rPr lang="en-US" sz="1700" dirty="0" err="1"/>
              <a:t>dựa</a:t>
            </a:r>
            <a:r>
              <a:rPr lang="en-US" sz="1700" dirty="0"/>
              <a:t> </a:t>
            </a:r>
            <a:r>
              <a:rPr lang="en-US" sz="1700" dirty="0" err="1"/>
              <a:t>vào</a:t>
            </a:r>
            <a:r>
              <a:rPr lang="en-US" sz="1700" dirty="0"/>
              <a:t>:</a:t>
            </a:r>
          </a:p>
          <a:p>
            <a:pPr lvl="1" algn="just">
              <a:buFont typeface="Wingdings" panose="05000000000000000000" pitchFamily="2" charset="2"/>
              <a:buChar char="ü"/>
            </a:pPr>
            <a:r>
              <a:rPr lang="en-US" sz="1700" dirty="0"/>
              <a:t>K</a:t>
            </a:r>
            <a:r>
              <a:rPr lang="vi-VN" sz="1700" dirty="0"/>
              <a:t>inh nghiệm riêng của tester hoặc của những tester khác</a:t>
            </a:r>
            <a:r>
              <a:rPr lang="en-US" sz="1700" dirty="0"/>
              <a:t>. </a:t>
            </a:r>
          </a:p>
          <a:p>
            <a:pPr lvl="1" algn="just">
              <a:buFont typeface="Wingdings" panose="05000000000000000000" pitchFamily="2" charset="2"/>
              <a:buChar char="ü"/>
            </a:pPr>
            <a:r>
              <a:rPr lang="en-US" sz="1700" dirty="0"/>
              <a:t>C</a:t>
            </a:r>
            <a:r>
              <a:rPr lang="vi-VN" sz="1700" dirty="0"/>
              <a:t>ác dữ liệu bug và failure </a:t>
            </a:r>
            <a:r>
              <a:rPr lang="en-US" sz="1700" dirty="0" err="1"/>
              <a:t>trong</a:t>
            </a:r>
            <a:r>
              <a:rPr lang="en-US" sz="1700" dirty="0"/>
              <a:t> </a:t>
            </a:r>
            <a:r>
              <a:rPr lang="en-US" sz="1700" dirty="0" err="1"/>
              <a:t>quá</a:t>
            </a:r>
            <a:r>
              <a:rPr lang="en-US" sz="1700" dirty="0"/>
              <a:t> </a:t>
            </a:r>
            <a:r>
              <a:rPr lang="en-US" sz="1700" dirty="0" err="1"/>
              <a:t>khứ</a:t>
            </a:r>
            <a:r>
              <a:rPr lang="en-US" sz="1700" dirty="0"/>
              <a:t>.</a:t>
            </a:r>
          </a:p>
          <a:p>
            <a:pPr marL="448310" lvl="1" indent="-384175" algn="just">
              <a:buSzPct val="80000"/>
              <a:buFont typeface="Wingdings" panose="05000000000000000000" pitchFamily="2" charset="2"/>
              <a:buChar char="v"/>
            </a:pPr>
            <a:r>
              <a:rPr lang="en-US" sz="1700" dirty="0" err="1"/>
              <a:t>Thăm</a:t>
            </a:r>
            <a:r>
              <a:rPr lang="en-US" sz="1700" dirty="0"/>
              <a:t> </a:t>
            </a:r>
            <a:r>
              <a:rPr lang="en-US" sz="1700" dirty="0" err="1"/>
              <a:t>dò</a:t>
            </a:r>
            <a:r>
              <a:rPr lang="en-US" sz="1700" dirty="0"/>
              <a:t> </a:t>
            </a:r>
            <a:r>
              <a:rPr lang="en-US" sz="1700" dirty="0" err="1"/>
              <a:t>lỗi</a:t>
            </a:r>
            <a:r>
              <a:rPr lang="en-US" sz="1700" dirty="0"/>
              <a:t> (Exploratory testing): L</a:t>
            </a:r>
            <a:r>
              <a:rPr lang="vi-VN" sz="1700" dirty="0"/>
              <a:t>à phương pháp tiếp cận hi</a:t>
            </a:r>
            <a:r>
              <a:rPr lang="en-US" sz="1700" dirty="0" err="1"/>
              <a:t>ệu</a:t>
            </a:r>
            <a:r>
              <a:rPr lang="vi-VN" sz="1700" dirty="0"/>
              <a:t> quả khi tài liệu đặc tả có ít thông tin, không có </a:t>
            </a:r>
            <a:r>
              <a:rPr lang="en-US" sz="1700" dirty="0" err="1"/>
              <a:t>đủ</a:t>
            </a:r>
            <a:r>
              <a:rPr lang="en-US" sz="1700" dirty="0"/>
              <a:t> </a:t>
            </a:r>
            <a:r>
              <a:rPr lang="vi-VN" sz="1700" dirty="0"/>
              <a:t>các thông số kỹ thuật </a:t>
            </a:r>
            <a:r>
              <a:rPr lang="en-US" sz="1700" dirty="0" err="1"/>
              <a:t>hoặc</a:t>
            </a:r>
            <a:r>
              <a:rPr lang="vi-VN" sz="1700" dirty="0"/>
              <a:t> khi thời gian bị hạn chế</a:t>
            </a:r>
            <a:r>
              <a:rPr lang="en-US" sz="1700" dirty="0"/>
              <a:t>.</a:t>
            </a:r>
          </a:p>
          <a:p>
            <a:pPr marL="731520" lvl="2" indent="-384175" algn="just">
              <a:buSzPct val="80000"/>
              <a:buFont typeface="Wingdings" panose="05000000000000000000" pitchFamily="2" charset="2"/>
              <a:buChar char="ü"/>
            </a:pPr>
            <a:r>
              <a:rPr lang="en-US" sz="1700" dirty="0" err="1"/>
              <a:t>Phụ</a:t>
            </a:r>
            <a:r>
              <a:rPr lang="en-US" sz="1700" dirty="0"/>
              <a:t> </a:t>
            </a:r>
            <a:r>
              <a:rPr lang="en-US" sz="1700" dirty="0" err="1"/>
              <a:t>thuộc</a:t>
            </a:r>
            <a:r>
              <a:rPr lang="en-US" sz="1700" dirty="0"/>
              <a:t> </a:t>
            </a:r>
            <a:r>
              <a:rPr lang="en-US" sz="1700" dirty="0" err="1"/>
              <a:t>vào</a:t>
            </a:r>
            <a:r>
              <a:rPr lang="vi-VN" sz="1700" dirty="0"/>
              <a:t> khả năng học hỏi: </a:t>
            </a:r>
            <a:r>
              <a:rPr lang="en-US" sz="1700" dirty="0"/>
              <a:t>V</a:t>
            </a:r>
            <a:r>
              <a:rPr lang="vi-VN" sz="1700" dirty="0"/>
              <a:t>ề nghiệp vụ phần mềm, cách sử dụng, các điểm mạnh, điểm yếu của phần mềm. </a:t>
            </a:r>
            <a:r>
              <a:rPr lang="en-US" sz="1700" dirty="0" err="1"/>
              <a:t>Phải</a:t>
            </a:r>
            <a:r>
              <a:rPr lang="en-US" sz="1700" dirty="0"/>
              <a:t> c</a:t>
            </a:r>
            <a:r>
              <a:rPr lang="vi-VN" sz="1700" dirty="0"/>
              <a:t>ó hiểu </a:t>
            </a:r>
            <a:r>
              <a:rPr lang="en-US" sz="1700" dirty="0" err="1"/>
              <a:t>biết</a:t>
            </a:r>
            <a:r>
              <a:rPr lang="vi-VN" sz="1700" dirty="0"/>
              <a:t> cơ bản về phần mềm thì mới thực hiện tốt test thăm dò này.</a:t>
            </a:r>
            <a:endParaRPr lang="en-US" sz="1700" dirty="0"/>
          </a:p>
          <a:p>
            <a:pPr marL="731520" lvl="2" indent="-384175" algn="just">
              <a:buSzPct val="80000"/>
              <a:buFont typeface="Wingdings" panose="05000000000000000000" pitchFamily="2" charset="2"/>
              <a:buChar char="ü"/>
            </a:pPr>
            <a:r>
              <a:rPr lang="vi-VN" sz="1700" dirty="0"/>
              <a:t>Hoạt động thiết kế và thực thi các test được thực hiện song song và thường không có tài liệu chính thức liên quan đến các điều kiện test, các </a:t>
            </a:r>
            <a:r>
              <a:rPr lang="en-US" sz="1700" dirty="0"/>
              <a:t>test cases</a:t>
            </a:r>
            <a:r>
              <a:rPr lang="vi-VN" sz="1700" dirty="0"/>
              <a:t>, các Test script, vv…</a:t>
            </a:r>
            <a:endParaRPr lang="en-US" sz="1700" dirty="0"/>
          </a:p>
          <a:p>
            <a:pPr marL="537210" lvl="1" indent="0" algn="just">
              <a:buNone/>
            </a:pP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951705"/>
            <a:ext cx="3200400" cy="5106987"/>
          </a:xfrm>
          <a:prstGeom prst="rect">
            <a:avLst/>
          </a:prstGeom>
        </p:spPr>
      </p:pic>
      <p:sp>
        <p:nvSpPr>
          <p:cNvPr id="2" name="Title 1"/>
          <p:cNvSpPr>
            <a:spLocks noGrp="1"/>
          </p:cNvSpPr>
          <p:nvPr>
            <p:ph type="title"/>
          </p:nvPr>
        </p:nvSpPr>
        <p:spPr>
          <a:xfrm>
            <a:off x="457200" y="152400"/>
            <a:ext cx="7162800" cy="799306"/>
          </a:xfrm>
        </p:spPr>
        <p:txBody>
          <a:bodyPr/>
          <a:lstStyle/>
          <a:p>
            <a:r>
              <a:rPr lang="en-US" dirty="0"/>
              <a:t>V. Test </a:t>
            </a:r>
            <a:r>
              <a:rPr lang="en-US" dirty="0" err="1"/>
              <a:t>hộp</a:t>
            </a:r>
            <a:r>
              <a:rPr lang="en-US" dirty="0"/>
              <a:t> </a:t>
            </a:r>
            <a:r>
              <a:rPr lang="en-US" dirty="0" err="1"/>
              <a:t>trắng</a:t>
            </a:r>
            <a:endParaRPr lang="en-US" dirty="0"/>
          </a:p>
        </p:txBody>
      </p:sp>
      <p:sp>
        <p:nvSpPr>
          <p:cNvPr id="3" name="Content Placeholder 2"/>
          <p:cNvSpPr>
            <a:spLocks noGrp="1"/>
          </p:cNvSpPr>
          <p:nvPr>
            <p:ph idx="1"/>
          </p:nvPr>
        </p:nvSpPr>
        <p:spPr>
          <a:xfrm>
            <a:off x="228600" y="838199"/>
            <a:ext cx="5334000" cy="4534695"/>
          </a:xfrm>
        </p:spPr>
        <p:txBody>
          <a:bodyPr>
            <a:noAutofit/>
          </a:bodyPr>
          <a:lstStyle/>
          <a:p>
            <a:pPr marL="407035" lvl="2" indent="-342900">
              <a:buSzPct val="80000"/>
              <a:buFont typeface="Wingdings" panose="05000000000000000000" pitchFamily="2" charset="2"/>
              <a:buChar char="v"/>
            </a:pPr>
            <a:r>
              <a:rPr lang="en-US" sz="1400" dirty="0" err="1"/>
              <a:t>Là</a:t>
            </a:r>
            <a:r>
              <a:rPr lang="en-US" sz="1400" dirty="0"/>
              <a:t> test</a:t>
            </a:r>
            <a:r>
              <a:rPr lang="vi-VN" sz="1400" dirty="0"/>
              <a:t> </a:t>
            </a:r>
            <a:r>
              <a:rPr lang="en-US" sz="1400" dirty="0" err="1"/>
              <a:t>mà</a:t>
            </a:r>
            <a:r>
              <a:rPr lang="en-US" sz="1400" dirty="0"/>
              <a:t> </a:t>
            </a:r>
            <a:r>
              <a:rPr lang="vi-VN" sz="1400" dirty="0"/>
              <a:t>dựa trên phân tích về cấu trúc bên trong</a:t>
            </a:r>
            <a:r>
              <a:rPr lang="en-US" sz="1400" dirty="0"/>
              <a:t> </a:t>
            </a:r>
            <a:r>
              <a:rPr lang="vi-VN" sz="1400" dirty="0"/>
              <a:t>hệ thống</a:t>
            </a:r>
            <a:r>
              <a:rPr lang="en-US" sz="1400" dirty="0"/>
              <a:t>.</a:t>
            </a:r>
          </a:p>
          <a:p>
            <a:pPr marL="407035" lvl="2" indent="-342900">
              <a:buSzPct val="80000"/>
              <a:buFont typeface="Wingdings" panose="05000000000000000000" pitchFamily="2" charset="2"/>
              <a:buChar char="v"/>
            </a:pPr>
            <a:r>
              <a:rPr lang="en-US" sz="1400" dirty="0" err="1"/>
              <a:t>Ưu</a:t>
            </a:r>
            <a:r>
              <a:rPr lang="en-US" sz="1400" dirty="0"/>
              <a:t> </a:t>
            </a:r>
            <a:r>
              <a:rPr lang="en-US" sz="1400" dirty="0" err="1"/>
              <a:t>điểm</a:t>
            </a:r>
            <a:endParaRPr lang="en-US" sz="1400" dirty="0"/>
          </a:p>
          <a:p>
            <a:pPr marL="672465" lvl="3" indent="-342900">
              <a:buSzPct val="80000"/>
              <a:buFont typeface="Wingdings" panose="05000000000000000000" pitchFamily="2" charset="2"/>
              <a:buChar char="ü"/>
            </a:pPr>
            <a:r>
              <a:rPr lang="vi-VN" sz="1400" dirty="0"/>
              <a:t>Test có thể bắt đầu ở giai đoạn sớm hơn, không cần phải chờ đợi cho GUI để có thể test</a:t>
            </a:r>
          </a:p>
          <a:p>
            <a:pPr marL="672465" lvl="3" indent="-342900">
              <a:buSzPct val="80000"/>
              <a:buFont typeface="Wingdings" panose="05000000000000000000" pitchFamily="2" charset="2"/>
              <a:buChar char="ü"/>
            </a:pPr>
            <a:r>
              <a:rPr lang="vi-VN" sz="1400" dirty="0"/>
              <a:t>Test kỹ càng hơn, có thể bao phủ hầu hết các đường dẫn</a:t>
            </a:r>
          </a:p>
          <a:p>
            <a:pPr marL="672465" lvl="3" indent="-342900">
              <a:buSzPct val="80000"/>
              <a:buFont typeface="Wingdings" panose="05000000000000000000" pitchFamily="2" charset="2"/>
              <a:buChar char="ü"/>
            </a:pPr>
            <a:r>
              <a:rPr lang="vi-VN" sz="1400" dirty="0"/>
              <a:t>Thích hợp trong việc tìm kiếm lỗi và các vấn đề trong mã lệnh</a:t>
            </a:r>
          </a:p>
          <a:p>
            <a:pPr marL="672465" lvl="3" indent="-342900">
              <a:buSzPct val="80000"/>
              <a:buFont typeface="Wingdings" panose="05000000000000000000" pitchFamily="2" charset="2"/>
              <a:buChar char="ü"/>
            </a:pPr>
            <a:r>
              <a:rPr lang="vi-VN" sz="1400" dirty="0"/>
              <a:t>Cho phép tìm kiếm các lỗi ẩn bên trong</a:t>
            </a:r>
          </a:p>
          <a:p>
            <a:pPr marL="672465" lvl="3" indent="-342900">
              <a:buSzPct val="80000"/>
              <a:buFont typeface="Wingdings" panose="05000000000000000000" pitchFamily="2" charset="2"/>
              <a:buChar char="ü"/>
            </a:pPr>
            <a:r>
              <a:rPr lang="vi-VN" sz="1400" dirty="0"/>
              <a:t>Các lập trình viên có thể tự kiểm tra</a:t>
            </a:r>
          </a:p>
          <a:p>
            <a:pPr marL="672465" lvl="3" indent="-342900">
              <a:buSzPct val="80000"/>
              <a:buFont typeface="Wingdings" panose="05000000000000000000" pitchFamily="2" charset="2"/>
              <a:buChar char="ü"/>
            </a:pPr>
            <a:r>
              <a:rPr lang="vi-VN" sz="1400" dirty="0"/>
              <a:t>Giúp tối ưu việc mã hoá</a:t>
            </a:r>
          </a:p>
          <a:p>
            <a:pPr marL="672465" lvl="3" indent="-342900">
              <a:buSzPct val="80000"/>
              <a:buFont typeface="Wingdings" panose="05000000000000000000" pitchFamily="2" charset="2"/>
              <a:buChar char="ü"/>
            </a:pPr>
            <a:r>
              <a:rPr lang="vi-VN" sz="1400" dirty="0"/>
              <a:t>Do yêu cầu kiến thức cấu trúc bên trong của phần mềm, nên việc kiểm soát lỗi tối đa nhất</a:t>
            </a:r>
            <a:r>
              <a:rPr lang="en-US" sz="1400" dirty="0"/>
              <a:t>.</a:t>
            </a:r>
          </a:p>
          <a:p>
            <a:pPr marL="64135" indent="0">
              <a:buNone/>
            </a:pPr>
            <a:endParaRPr lang="en-US" sz="1400" dirty="0"/>
          </a:p>
        </p:txBody>
      </p:sp>
      <p:sp>
        <p:nvSpPr>
          <p:cNvPr id="8" name="Content Placeholder 2"/>
          <p:cNvSpPr txBox="1"/>
          <p:nvPr/>
        </p:nvSpPr>
        <p:spPr>
          <a:xfrm>
            <a:off x="76200" y="5372895"/>
            <a:ext cx="8534400" cy="914400"/>
          </a:xfrm>
          <a:prstGeom prst="rect">
            <a:avLst/>
          </a:prstGeom>
        </p:spPr>
        <p:txBody>
          <a:bodyPr vert="horz" anchor="t">
            <a:noAutofit/>
          </a:bodyPr>
          <a:lstStyle>
            <a:lvl1pPr marL="448310" indent="-384175" algn="l" rtl="0" eaLnBrk="1" latinLnBrk="0" hangingPunct="1">
              <a:spcBef>
                <a:spcPct val="20000"/>
              </a:spcBef>
              <a:spcAft>
                <a:spcPts val="1000"/>
              </a:spcAft>
              <a:buClr>
                <a:schemeClr val="accent1"/>
              </a:buClr>
              <a:buSzPct val="80000"/>
              <a:buFont typeface="Arial" panose="020B0604020202020204" pitchFamily="34" charset="0"/>
              <a:buChar char="•"/>
              <a:defRPr sz="2000" kern="1200">
                <a:solidFill>
                  <a:schemeClr val="bg2"/>
                </a:solidFill>
                <a:latin typeface="+mn-lt"/>
                <a:ea typeface="+mn-ea"/>
                <a:cs typeface="+mn-cs"/>
              </a:defRPr>
            </a:lvl1pPr>
            <a:lvl2pPr marL="822960" indent="-285750" algn="l" rtl="0" eaLnBrk="1" latinLnBrk="0" hangingPunct="1">
              <a:spcBef>
                <a:spcPct val="20000"/>
              </a:spcBef>
              <a:spcAft>
                <a:spcPts val="1000"/>
              </a:spcAft>
              <a:buClr>
                <a:schemeClr val="accent1"/>
              </a:buClr>
              <a:buSzPct val="95000"/>
              <a:buFont typeface="Arial" panose="020B0604020202020204" pitchFamily="34" charset="0"/>
              <a:buChar char="•"/>
              <a:defRPr sz="1800" kern="1200">
                <a:solidFill>
                  <a:schemeClr val="bg2"/>
                </a:solidFill>
                <a:latin typeface="+mn-lt"/>
                <a:ea typeface="+mn-ea"/>
                <a:cs typeface="+mn-cs"/>
              </a:defRPr>
            </a:lvl2pPr>
            <a:lvl3pPr marL="1106170" indent="-228600"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3pPr>
            <a:lvl4pPr marL="13716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4pPr>
            <a:lvl5pPr marL="16002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5pPr>
            <a:lvl6pPr marL="1828800" indent="-210185" algn="l" rtl="0" eaLnBrk="1" latinLnBrk="0" hangingPunct="1">
              <a:spcBef>
                <a:spcPct val="20000"/>
              </a:spcBef>
              <a:buClr>
                <a:schemeClr val="accent1">
                  <a:tint val="75000"/>
                </a:schemeClr>
              </a:buClr>
              <a:buFont typeface="Wingdings 2" panose="05020102010507070707"/>
              <a:buChar char=""/>
              <a:defRPr sz="1800" kern="1200">
                <a:solidFill>
                  <a:schemeClr val="tx1"/>
                </a:solidFill>
                <a:latin typeface="+mn-lt"/>
                <a:ea typeface="+mn-ea"/>
                <a:cs typeface="+mn-cs"/>
              </a:defRPr>
            </a:lvl6pPr>
            <a:lvl7pPr marL="2084705" indent="-210185"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9pPr>
          </a:lstStyle>
          <a:p>
            <a:pPr>
              <a:buFont typeface="Wingdings" panose="05000000000000000000" pitchFamily="2" charset="2"/>
              <a:buChar char="v"/>
            </a:pPr>
            <a:r>
              <a:rPr lang="en-US" sz="1600" dirty="0" err="1">
                <a:solidFill>
                  <a:schemeClr val="bg1"/>
                </a:solidFill>
              </a:rPr>
              <a:t>Nhược</a:t>
            </a:r>
            <a:r>
              <a:rPr lang="en-US" sz="1600" dirty="0">
                <a:solidFill>
                  <a:schemeClr val="bg1"/>
                </a:solidFill>
              </a:rPr>
              <a:t> </a:t>
            </a:r>
            <a:r>
              <a:rPr lang="en-US" sz="1600" dirty="0" err="1">
                <a:solidFill>
                  <a:schemeClr val="bg1"/>
                </a:solidFill>
              </a:rPr>
              <a:t>điểm</a:t>
            </a:r>
            <a:endParaRPr lang="en-US" sz="1600" dirty="0">
              <a:solidFill>
                <a:schemeClr val="bg1"/>
              </a:solidFill>
            </a:endParaRPr>
          </a:p>
          <a:p>
            <a:pPr lvl="1">
              <a:buFont typeface="Wingdings" panose="05000000000000000000" pitchFamily="2" charset="2"/>
              <a:buChar char="ü"/>
            </a:pPr>
            <a:r>
              <a:rPr lang="en-US" sz="1400" dirty="0" err="1">
                <a:solidFill>
                  <a:schemeClr val="bg1"/>
                </a:solidFill>
              </a:rPr>
              <a:t>Hệ</a:t>
            </a:r>
            <a:r>
              <a:rPr lang="en-US" sz="1400" dirty="0">
                <a:solidFill>
                  <a:schemeClr val="bg1"/>
                </a:solidFill>
              </a:rPr>
              <a:t> </a:t>
            </a:r>
            <a:r>
              <a:rPr lang="en-US" sz="1400" dirty="0" err="1">
                <a:solidFill>
                  <a:schemeClr val="bg1"/>
                </a:solidFill>
              </a:rPr>
              <a:t>thống</a:t>
            </a:r>
            <a:r>
              <a:rPr lang="en-US" sz="1400" dirty="0">
                <a:solidFill>
                  <a:schemeClr val="bg1"/>
                </a:solidFill>
              </a:rPr>
              <a:t> </a:t>
            </a:r>
            <a:r>
              <a:rPr lang="en-US" sz="1400" dirty="0" err="1">
                <a:solidFill>
                  <a:schemeClr val="bg1"/>
                </a:solidFill>
              </a:rPr>
              <a:t>phải</a:t>
            </a:r>
            <a:r>
              <a:rPr lang="en-US" sz="1400" dirty="0">
                <a:solidFill>
                  <a:schemeClr val="bg1"/>
                </a:solidFill>
              </a:rPr>
              <a:t> </a:t>
            </a:r>
            <a:r>
              <a:rPr lang="en-US" sz="1400" dirty="0" err="1">
                <a:solidFill>
                  <a:schemeClr val="bg1"/>
                </a:solidFill>
              </a:rPr>
              <a:t>cho</a:t>
            </a:r>
            <a:r>
              <a:rPr lang="en-US" sz="1400" dirty="0">
                <a:solidFill>
                  <a:schemeClr val="bg1"/>
                </a:solidFill>
              </a:rPr>
              <a:t> </a:t>
            </a:r>
            <a:r>
              <a:rPr lang="en-US" sz="1400" dirty="0" err="1">
                <a:solidFill>
                  <a:schemeClr val="bg1"/>
                </a:solidFill>
              </a:rPr>
              <a:t>phép</a:t>
            </a:r>
            <a:r>
              <a:rPr lang="en-US" sz="1400" dirty="0">
                <a:solidFill>
                  <a:schemeClr val="bg1"/>
                </a:solidFill>
              </a:rPr>
              <a:t> </a:t>
            </a:r>
            <a:r>
              <a:rPr lang="en-US" sz="1400" dirty="0" err="1">
                <a:solidFill>
                  <a:schemeClr val="bg1"/>
                </a:solidFill>
              </a:rPr>
              <a:t>kiểm</a:t>
            </a:r>
            <a:r>
              <a:rPr lang="en-US" sz="1400" dirty="0">
                <a:solidFill>
                  <a:schemeClr val="bg1"/>
                </a:solidFill>
              </a:rPr>
              <a:t> </a:t>
            </a:r>
            <a:r>
              <a:rPr lang="en-US" sz="1400" dirty="0" err="1">
                <a:solidFill>
                  <a:schemeClr val="bg1"/>
                </a:solidFill>
              </a:rPr>
              <a:t>tra</a:t>
            </a:r>
            <a:r>
              <a:rPr lang="en-US" sz="1400" dirty="0">
                <a:solidFill>
                  <a:schemeClr val="bg1"/>
                </a:solidFill>
              </a:rPr>
              <a:t> code, </a:t>
            </a:r>
            <a:r>
              <a:rPr lang="en-US" sz="1400" dirty="0" err="1">
                <a:solidFill>
                  <a:schemeClr val="bg1"/>
                </a:solidFill>
              </a:rPr>
              <a:t>cấu</a:t>
            </a:r>
            <a:r>
              <a:rPr lang="en-US" sz="1400" dirty="0">
                <a:solidFill>
                  <a:schemeClr val="bg1"/>
                </a:solidFill>
              </a:rPr>
              <a:t> </a:t>
            </a:r>
            <a:r>
              <a:rPr lang="en-US" sz="1400" dirty="0" err="1">
                <a:solidFill>
                  <a:schemeClr val="bg1"/>
                </a:solidFill>
              </a:rPr>
              <a:t>trúc</a:t>
            </a:r>
            <a:r>
              <a:rPr lang="en-US" sz="1400" dirty="0">
                <a:solidFill>
                  <a:schemeClr val="bg1"/>
                </a:solidFill>
              </a:rPr>
              <a:t> </a:t>
            </a:r>
            <a:r>
              <a:rPr lang="en-US" sz="1400" dirty="0" err="1">
                <a:solidFill>
                  <a:schemeClr val="bg1"/>
                </a:solidFill>
              </a:rPr>
              <a:t>chức</a:t>
            </a:r>
            <a:r>
              <a:rPr lang="en-US" sz="1400" dirty="0">
                <a:solidFill>
                  <a:schemeClr val="bg1"/>
                </a:solidFill>
              </a:rPr>
              <a:t> </a:t>
            </a:r>
            <a:r>
              <a:rPr lang="en-US" sz="1400" dirty="0" err="1">
                <a:solidFill>
                  <a:schemeClr val="bg1"/>
                </a:solidFill>
              </a:rPr>
              <a:t>năng</a:t>
            </a:r>
            <a:r>
              <a:rPr lang="en-US" sz="1400" dirty="0">
                <a:solidFill>
                  <a:schemeClr val="bg1"/>
                </a:solidFill>
              </a:rPr>
              <a:t> </a:t>
            </a:r>
            <a:r>
              <a:rPr lang="en-US" sz="1400" dirty="0" err="1">
                <a:solidFill>
                  <a:schemeClr val="bg1"/>
                </a:solidFill>
              </a:rPr>
              <a:t>bên</a:t>
            </a:r>
            <a:r>
              <a:rPr lang="en-US" sz="1400" dirty="0">
                <a:solidFill>
                  <a:schemeClr val="bg1"/>
                </a:solidFill>
              </a:rPr>
              <a:t> </a:t>
            </a:r>
            <a:r>
              <a:rPr lang="en-US" sz="1400" dirty="0" err="1">
                <a:solidFill>
                  <a:schemeClr val="bg1"/>
                </a:solidFill>
              </a:rPr>
              <a:t>trong</a:t>
            </a:r>
            <a:r>
              <a:rPr lang="en-US" sz="1400" dirty="0">
                <a:solidFill>
                  <a:schemeClr val="bg1"/>
                </a:solidFill>
              </a:rPr>
              <a:t>. </a:t>
            </a:r>
          </a:p>
          <a:p>
            <a:pPr lvl="1">
              <a:buFont typeface="Wingdings" panose="05000000000000000000" pitchFamily="2" charset="2"/>
              <a:buChar char="ü"/>
            </a:pPr>
            <a:r>
              <a:rPr lang="en-US" sz="1400" dirty="0">
                <a:solidFill>
                  <a:schemeClr val="bg1"/>
                </a:solidFill>
              </a:rPr>
              <a:t>Tester </a:t>
            </a:r>
            <a:r>
              <a:rPr lang="en-US" sz="1400" dirty="0" err="1">
                <a:solidFill>
                  <a:schemeClr val="bg1"/>
                </a:solidFill>
              </a:rPr>
              <a:t>phải</a:t>
            </a:r>
            <a:r>
              <a:rPr lang="en-US" sz="1400" dirty="0">
                <a:solidFill>
                  <a:schemeClr val="bg1"/>
                </a:solidFill>
              </a:rPr>
              <a:t> </a:t>
            </a:r>
            <a:r>
              <a:rPr lang="en-US" sz="1400" dirty="0" err="1">
                <a:solidFill>
                  <a:schemeClr val="bg1"/>
                </a:solidFill>
              </a:rPr>
              <a:t>có</a:t>
            </a:r>
            <a:r>
              <a:rPr lang="en-US" sz="1400" dirty="0">
                <a:solidFill>
                  <a:schemeClr val="bg1"/>
                </a:solidFill>
              </a:rPr>
              <a:t> </a:t>
            </a:r>
            <a:r>
              <a:rPr lang="en-US" sz="1400" dirty="0" err="1">
                <a:solidFill>
                  <a:schemeClr val="bg1"/>
                </a:solidFill>
              </a:rPr>
              <a:t>kỹ</a:t>
            </a:r>
            <a:r>
              <a:rPr lang="en-US" sz="1400" dirty="0">
                <a:solidFill>
                  <a:schemeClr val="bg1"/>
                </a:solidFill>
              </a:rPr>
              <a:t> </a:t>
            </a:r>
            <a:r>
              <a:rPr lang="en-US" sz="1400" dirty="0" err="1">
                <a:solidFill>
                  <a:schemeClr val="bg1"/>
                </a:solidFill>
              </a:rPr>
              <a:t>năng</a:t>
            </a:r>
            <a:r>
              <a:rPr lang="en-US" sz="1400" dirty="0">
                <a:solidFill>
                  <a:schemeClr val="bg1"/>
                </a:solidFill>
              </a:rPr>
              <a:t>, </a:t>
            </a:r>
            <a:r>
              <a:rPr lang="en-US" sz="1400" dirty="0" err="1">
                <a:solidFill>
                  <a:schemeClr val="bg1"/>
                </a:solidFill>
              </a:rPr>
              <a:t>kiến</a:t>
            </a:r>
            <a:r>
              <a:rPr lang="en-US" sz="1400" dirty="0">
                <a:solidFill>
                  <a:schemeClr val="bg1"/>
                </a:solidFill>
              </a:rPr>
              <a:t> </a:t>
            </a:r>
            <a:r>
              <a:rPr lang="en-US" sz="1400" dirty="0" err="1">
                <a:solidFill>
                  <a:schemeClr val="bg1"/>
                </a:solidFill>
              </a:rPr>
              <a:t>thức</a:t>
            </a:r>
            <a:r>
              <a:rPr lang="en-US" sz="1400" dirty="0">
                <a:solidFill>
                  <a:schemeClr val="bg1"/>
                </a:solidFill>
              </a:rPr>
              <a:t> </a:t>
            </a:r>
            <a:r>
              <a:rPr lang="en-US" sz="1400" dirty="0" err="1">
                <a:solidFill>
                  <a:schemeClr val="bg1"/>
                </a:solidFill>
              </a:rPr>
              <a:t>nhất</a:t>
            </a:r>
            <a:r>
              <a:rPr lang="en-US" sz="1400" dirty="0">
                <a:solidFill>
                  <a:schemeClr val="bg1"/>
                </a:solidFill>
              </a:rPr>
              <a:t> </a:t>
            </a:r>
            <a:r>
              <a:rPr lang="en-US" sz="1400" dirty="0" err="1">
                <a:solidFill>
                  <a:schemeClr val="bg1"/>
                </a:solidFill>
              </a:rPr>
              <a:t>định</a:t>
            </a:r>
            <a:r>
              <a:rPr lang="en-US" sz="1400" dirty="0">
                <a:solidFill>
                  <a:schemeClr val="bg1"/>
                </a:solidFill>
              </a:rPr>
              <a:t> </a:t>
            </a:r>
            <a:r>
              <a:rPr lang="en-US" sz="1400" dirty="0" err="1">
                <a:solidFill>
                  <a:schemeClr val="bg1"/>
                </a:solidFill>
              </a:rPr>
              <a:t>về</a:t>
            </a:r>
            <a:r>
              <a:rPr lang="en-US" sz="1400" dirty="0">
                <a:solidFill>
                  <a:schemeClr val="bg1"/>
                </a:solidFill>
              </a:rPr>
              <a:t> </a:t>
            </a:r>
            <a:r>
              <a:rPr lang="en-US" sz="1400" dirty="0" err="1">
                <a:solidFill>
                  <a:schemeClr val="bg1"/>
                </a:solidFill>
              </a:rPr>
              <a:t>ngôn</a:t>
            </a:r>
            <a:r>
              <a:rPr lang="en-US" sz="1400" dirty="0">
                <a:solidFill>
                  <a:schemeClr val="bg1"/>
                </a:solidFill>
              </a:rPr>
              <a:t> </a:t>
            </a:r>
            <a:r>
              <a:rPr lang="en-US" sz="1400" dirty="0" err="1">
                <a:solidFill>
                  <a:schemeClr val="bg1"/>
                </a:solidFill>
              </a:rPr>
              <a:t>ngữ</a:t>
            </a:r>
            <a:r>
              <a:rPr lang="en-US" sz="1400" dirty="0">
                <a:solidFill>
                  <a:schemeClr val="bg1"/>
                </a:solidFill>
              </a:rPr>
              <a:t> </a:t>
            </a:r>
            <a:r>
              <a:rPr lang="en-US" sz="1400" dirty="0" err="1">
                <a:solidFill>
                  <a:schemeClr val="bg1"/>
                </a:solidFill>
              </a:rPr>
              <a:t>lập</a:t>
            </a:r>
            <a:r>
              <a:rPr lang="en-US" sz="1400" dirty="0">
                <a:solidFill>
                  <a:schemeClr val="bg1"/>
                </a:solidFill>
              </a:rPr>
              <a:t> </a:t>
            </a:r>
            <a:r>
              <a:rPr lang="en-US" sz="1400" dirty="0" err="1">
                <a:solidFill>
                  <a:schemeClr val="bg1"/>
                </a:solidFill>
              </a:rPr>
              <a:t>trình</a:t>
            </a:r>
            <a:r>
              <a:rPr lang="en-US" sz="1400" dirty="0">
                <a:solidFill>
                  <a:schemeClr val="bg1"/>
                </a:solidFill>
              </a:rPr>
              <a:t> </a:t>
            </a:r>
            <a:r>
              <a:rPr lang="en-US" sz="1400" dirty="0" err="1">
                <a:solidFill>
                  <a:schemeClr val="bg1"/>
                </a:solidFill>
              </a:rPr>
              <a:t>được</a:t>
            </a:r>
            <a:r>
              <a:rPr lang="en-US" sz="1400" dirty="0">
                <a:solidFill>
                  <a:schemeClr val="bg1"/>
                </a:solidFill>
              </a:rPr>
              <a:t> </a:t>
            </a:r>
            <a:r>
              <a:rPr lang="en-US" sz="1400" dirty="0" err="1">
                <a:solidFill>
                  <a:schemeClr val="bg1"/>
                </a:solidFill>
              </a:rPr>
              <a:t>dùng</a:t>
            </a:r>
            <a:r>
              <a:rPr lang="en-US" sz="1400" dirty="0">
                <a:solidFill>
                  <a:schemeClr val="bg1"/>
                </a:solidFill>
              </a:rPr>
              <a:t> </a:t>
            </a:r>
            <a:r>
              <a:rPr lang="en-US" sz="1400" dirty="0" err="1">
                <a:solidFill>
                  <a:schemeClr val="bg1"/>
                </a:solidFill>
              </a:rPr>
              <a:t>trong</a:t>
            </a:r>
            <a:r>
              <a:rPr lang="en-US" sz="1400" dirty="0">
                <a:solidFill>
                  <a:schemeClr val="bg1"/>
                </a:solidFill>
              </a:rPr>
              <a:t> </a:t>
            </a:r>
            <a:r>
              <a:rPr lang="en-US" sz="1400" dirty="0" err="1">
                <a:solidFill>
                  <a:schemeClr val="bg1"/>
                </a:solidFill>
              </a:rPr>
              <a:t>hệ</a:t>
            </a:r>
            <a:r>
              <a:rPr lang="en-US" sz="1400" dirty="0">
                <a:solidFill>
                  <a:schemeClr val="bg1"/>
                </a:solidFill>
              </a:rPr>
              <a:t> </a:t>
            </a:r>
            <a:r>
              <a:rPr lang="en-US" sz="1400" dirty="0" err="1">
                <a:solidFill>
                  <a:schemeClr val="bg1"/>
                </a:solidFill>
              </a:rPr>
              <a:t>thống</a:t>
            </a:r>
            <a:r>
              <a:rPr lang="en-US" sz="1400" dirty="0">
                <a:solidFill>
                  <a:schemeClr val="bg1"/>
                </a:solidFill>
              </a:rPr>
              <a:t> </a:t>
            </a:r>
            <a:r>
              <a:rPr lang="en-US" sz="1400" dirty="0" err="1">
                <a:solidFill>
                  <a:schemeClr val="bg1"/>
                </a:solidFill>
              </a:rPr>
              <a:t>đang</a:t>
            </a:r>
            <a:r>
              <a:rPr lang="en-US" sz="1400" dirty="0">
                <a:solidFill>
                  <a:schemeClr val="bg1"/>
                </a:solidFill>
              </a:rPr>
              <a:t> test.</a:t>
            </a:r>
          </a:p>
          <a:p>
            <a:pPr lvl="1">
              <a:buFont typeface="Wingdings" panose="05000000000000000000" pitchFamily="2" charset="2"/>
              <a:buChar char="ü"/>
            </a:pPr>
            <a:endParaRPr lang="en-US" sz="1400" dirty="0">
              <a:solidFill>
                <a:schemeClr val="bg1"/>
              </a:solidFill>
            </a:endParaRPr>
          </a:p>
          <a:p>
            <a:pPr marL="64135" indent="0">
              <a:buFont typeface="Arial" panose="020B0604020202020204" pitchFamily="34" charset="0"/>
              <a:buNone/>
            </a:pP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395"/>
            <a:ext cx="5486400" cy="799306"/>
          </a:xfrm>
        </p:spPr>
        <p:txBody>
          <a:bodyPr/>
          <a:lstStyle/>
          <a:p>
            <a:r>
              <a:rPr lang="en-US" dirty="0"/>
              <a:t>V. Test </a:t>
            </a:r>
            <a:r>
              <a:rPr lang="en-US" dirty="0" err="1"/>
              <a:t>hộp</a:t>
            </a:r>
            <a:r>
              <a:rPr lang="en-US" dirty="0"/>
              <a:t> </a:t>
            </a:r>
            <a:r>
              <a:rPr lang="en-US" dirty="0" err="1"/>
              <a:t>trắng</a:t>
            </a:r>
            <a:endParaRPr lang="en-US" dirty="0">
              <a:solidFill>
                <a:srgbClr val="FFC000"/>
              </a:solidFill>
            </a:endParaRPr>
          </a:p>
        </p:txBody>
      </p:sp>
      <p:sp>
        <p:nvSpPr>
          <p:cNvPr id="3" name="Content Placeholder 2"/>
          <p:cNvSpPr>
            <a:spLocks noGrp="1"/>
          </p:cNvSpPr>
          <p:nvPr>
            <p:ph idx="1"/>
          </p:nvPr>
        </p:nvSpPr>
        <p:spPr>
          <a:xfrm>
            <a:off x="428368" y="1295400"/>
            <a:ext cx="8229600" cy="4572000"/>
          </a:xfrm>
        </p:spPr>
        <p:txBody>
          <a:bodyPr>
            <a:normAutofit/>
          </a:bodyPr>
          <a:lstStyle/>
          <a:p>
            <a:pPr>
              <a:buFont typeface="Wingdings" panose="05000000000000000000" pitchFamily="2" charset="2"/>
              <a:buChar char="v"/>
            </a:pPr>
            <a:r>
              <a:rPr lang="en-US" sz="1900" dirty="0"/>
              <a:t>Các </a:t>
            </a:r>
            <a:r>
              <a:rPr lang="en-US" sz="1900" dirty="0" err="1"/>
              <a:t>kỹ</a:t>
            </a:r>
            <a:r>
              <a:rPr lang="en-US" sz="1900" dirty="0"/>
              <a:t> </a:t>
            </a:r>
            <a:r>
              <a:rPr lang="en-US" sz="1900" dirty="0" err="1"/>
              <a:t>thuật</a:t>
            </a:r>
            <a:r>
              <a:rPr lang="en-US" sz="1900" dirty="0"/>
              <a:t> trong white-box testing</a:t>
            </a:r>
          </a:p>
          <a:p>
            <a:pPr lvl="1">
              <a:buFont typeface="Wingdings" panose="05000000000000000000" pitchFamily="2" charset="2"/>
              <a:buChar char="ü"/>
            </a:pPr>
            <a:r>
              <a:rPr lang="en-US" sz="1900" dirty="0"/>
              <a:t>3.1. Test các câu </a:t>
            </a:r>
            <a:r>
              <a:rPr lang="en-US" sz="1900" dirty="0" err="1"/>
              <a:t>lệnh</a:t>
            </a:r>
            <a:r>
              <a:rPr lang="en-US" sz="1900" dirty="0"/>
              <a:t>(Statement testing/ Test </a:t>
            </a:r>
            <a:r>
              <a:rPr lang="en-US" sz="1900" dirty="0" err="1"/>
              <a:t>độ</a:t>
            </a:r>
            <a:r>
              <a:rPr lang="en-US" sz="1900" dirty="0"/>
              <a:t> bao </a:t>
            </a:r>
            <a:r>
              <a:rPr lang="en-US" sz="1900" dirty="0" err="1"/>
              <a:t>phủ</a:t>
            </a:r>
            <a:r>
              <a:rPr lang="en-US" sz="1900" dirty="0"/>
              <a:t> C0)</a:t>
            </a:r>
          </a:p>
          <a:p>
            <a:pPr lvl="1">
              <a:buFont typeface="Wingdings" panose="05000000000000000000" pitchFamily="2" charset="2"/>
              <a:buChar char="ü"/>
            </a:pPr>
            <a:r>
              <a:rPr lang="en-US" sz="1900" dirty="0"/>
              <a:t>3.2. Test các </a:t>
            </a:r>
            <a:r>
              <a:rPr lang="en-US" sz="1900" dirty="0" err="1"/>
              <a:t>rẽ</a:t>
            </a:r>
            <a:r>
              <a:rPr lang="en-US" sz="1900" dirty="0"/>
              <a:t> </a:t>
            </a:r>
            <a:r>
              <a:rPr lang="en-US" sz="1900" dirty="0" err="1"/>
              <a:t>nhánh</a:t>
            </a:r>
            <a:r>
              <a:rPr lang="en-US" sz="1900" dirty="0"/>
              <a:t> (Branch testing/ Test </a:t>
            </a:r>
            <a:r>
              <a:rPr lang="en-US" sz="1900" dirty="0" err="1"/>
              <a:t>độ</a:t>
            </a:r>
            <a:r>
              <a:rPr lang="en-US" sz="1900" dirty="0"/>
              <a:t> bao </a:t>
            </a:r>
            <a:r>
              <a:rPr lang="en-US" sz="1900" dirty="0" err="1"/>
              <a:t>phủ</a:t>
            </a:r>
            <a:r>
              <a:rPr lang="en-US" sz="1900" dirty="0"/>
              <a:t> C1)</a:t>
            </a:r>
          </a:p>
          <a:p>
            <a:pPr lvl="1">
              <a:buFont typeface="Wingdings" panose="05000000000000000000" pitchFamily="2" charset="2"/>
              <a:buChar char="ü"/>
            </a:pPr>
            <a:r>
              <a:rPr lang="en-US" sz="1900" dirty="0"/>
              <a:t>3.3. Test các </a:t>
            </a:r>
            <a:r>
              <a:rPr lang="en-US" sz="1900" dirty="0" err="1"/>
              <a:t>biểu</a:t>
            </a:r>
            <a:r>
              <a:rPr lang="en-US" sz="1900" dirty="0"/>
              <a:t> </a:t>
            </a:r>
            <a:r>
              <a:rPr lang="en-US" sz="1900" dirty="0" err="1"/>
              <a:t>thức</a:t>
            </a:r>
            <a:r>
              <a:rPr lang="en-US" sz="1900" dirty="0"/>
              <a:t> </a:t>
            </a:r>
            <a:r>
              <a:rPr lang="en-US" sz="1900" dirty="0" err="1"/>
              <a:t>điều</a:t>
            </a:r>
            <a:r>
              <a:rPr lang="en-US" sz="1900" dirty="0"/>
              <a:t> </a:t>
            </a:r>
            <a:r>
              <a:rPr lang="en-US" sz="1900" dirty="0" err="1"/>
              <a:t>kiện</a:t>
            </a:r>
            <a:r>
              <a:rPr lang="en-US" sz="1900" dirty="0"/>
              <a:t> (Condition testing/ Test </a:t>
            </a:r>
            <a:r>
              <a:rPr lang="en-US" sz="1900" dirty="0" err="1"/>
              <a:t>độ</a:t>
            </a:r>
            <a:r>
              <a:rPr lang="en-US" sz="1900" dirty="0"/>
              <a:t> bao </a:t>
            </a:r>
            <a:r>
              <a:rPr lang="en-US" sz="1900" dirty="0" err="1"/>
              <a:t>phủ</a:t>
            </a:r>
            <a:r>
              <a:rPr lang="en-US" sz="1900" dirty="0"/>
              <a:t> C2)</a:t>
            </a:r>
          </a:p>
          <a:p>
            <a:pPr lvl="1">
              <a:buFont typeface="Wingdings" panose="05000000000000000000" pitchFamily="2" charset="2"/>
              <a:buChar char="ü"/>
            </a:pPr>
            <a:r>
              <a:rPr lang="en-US" sz="1900" dirty="0"/>
              <a:t>3.4. Test </a:t>
            </a:r>
            <a:r>
              <a:rPr lang="en-US" sz="1900" dirty="0" err="1"/>
              <a:t>vòng</a:t>
            </a:r>
            <a:r>
              <a:rPr lang="en-US" sz="1900" dirty="0"/>
              <a:t> </a:t>
            </a:r>
            <a:r>
              <a:rPr lang="en-US" sz="1900" dirty="0" err="1"/>
              <a:t>lặp</a:t>
            </a:r>
            <a:r>
              <a:rPr lang="en-US" sz="1900" dirty="0"/>
              <a:t> (Loop testing)</a:t>
            </a:r>
          </a:p>
          <a:p>
            <a:pPr lvl="1">
              <a:buFont typeface="Wingdings" panose="05000000000000000000" pitchFamily="2" charset="2"/>
              <a:buChar char="ü"/>
            </a:pPr>
            <a:r>
              <a:rPr lang="en-US" sz="1900" dirty="0">
                <a:solidFill>
                  <a:srgbClr val="FF0000"/>
                </a:solidFill>
              </a:rPr>
              <a:t>3.5. Test </a:t>
            </a:r>
            <a:r>
              <a:rPr lang="en-US" sz="1900" dirty="0" err="1">
                <a:solidFill>
                  <a:srgbClr val="FF0000"/>
                </a:solidFill>
              </a:rPr>
              <a:t>đường</a:t>
            </a:r>
            <a:r>
              <a:rPr lang="en-US" sz="1900" dirty="0">
                <a:solidFill>
                  <a:srgbClr val="FF0000"/>
                </a:solidFill>
              </a:rPr>
              <a:t> cơ </a:t>
            </a:r>
            <a:r>
              <a:rPr lang="en-US" sz="1900" dirty="0" err="1">
                <a:solidFill>
                  <a:srgbClr val="FF0000"/>
                </a:solidFill>
              </a:rPr>
              <a:t>bản</a:t>
            </a:r>
            <a:r>
              <a:rPr lang="en-US" sz="1900" dirty="0">
                <a:solidFill>
                  <a:srgbClr val="FF0000"/>
                </a:solidFill>
              </a:rPr>
              <a:t> (Path testing)</a:t>
            </a:r>
          </a:p>
          <a:p>
            <a:pPr marL="537210" lvl="1" indent="0">
              <a:buNone/>
            </a:pPr>
            <a:r>
              <a:rPr lang="en-US" sz="1900" dirty="0">
                <a:solidFill>
                  <a:srgbClr val="FF0000"/>
                </a:solidFill>
              </a:rPr>
              <a:t>*** </a:t>
            </a:r>
            <a:r>
              <a:rPr lang="en-US" sz="1900" dirty="0" err="1">
                <a:solidFill>
                  <a:srgbClr val="FF0000"/>
                </a:solidFill>
              </a:rPr>
              <a:t>Tại</a:t>
            </a:r>
            <a:r>
              <a:rPr lang="en-US" sz="1900" dirty="0">
                <a:solidFill>
                  <a:srgbClr val="FF0000"/>
                </a:solidFill>
              </a:rPr>
              <a:t> </a:t>
            </a:r>
            <a:r>
              <a:rPr lang="en-US" sz="1900" dirty="0" err="1">
                <a:solidFill>
                  <a:srgbClr val="FF0000"/>
                </a:solidFill>
              </a:rPr>
              <a:t>Luvina</a:t>
            </a:r>
            <a:r>
              <a:rPr lang="en-US" sz="1900" dirty="0">
                <a:solidFill>
                  <a:srgbClr val="FF0000"/>
                </a:solidFill>
              </a:rPr>
              <a:t> </a:t>
            </a:r>
            <a:r>
              <a:rPr lang="en-US" sz="1900" dirty="0" err="1">
                <a:solidFill>
                  <a:srgbClr val="FF0000"/>
                </a:solidFill>
              </a:rPr>
              <a:t>thì</a:t>
            </a:r>
            <a:r>
              <a:rPr lang="en-US" sz="1900" dirty="0">
                <a:solidFill>
                  <a:srgbClr val="FF0000"/>
                </a:solidFill>
              </a:rPr>
              <a:t> 3.5 </a:t>
            </a:r>
            <a:r>
              <a:rPr lang="en-US" sz="1900" dirty="0" err="1">
                <a:solidFill>
                  <a:srgbClr val="FF0000"/>
                </a:solidFill>
              </a:rPr>
              <a:t>là</a:t>
            </a:r>
            <a:r>
              <a:rPr lang="en-US" sz="1900" dirty="0">
                <a:solidFill>
                  <a:srgbClr val="FF0000"/>
                </a:solidFill>
              </a:rPr>
              <a:t> </a:t>
            </a:r>
            <a:r>
              <a:rPr lang="en-US" sz="1900" dirty="0" err="1">
                <a:solidFill>
                  <a:srgbClr val="FF0000"/>
                </a:solidFill>
              </a:rPr>
              <a:t>loại</a:t>
            </a:r>
            <a:r>
              <a:rPr lang="en-US" sz="1900" dirty="0">
                <a:solidFill>
                  <a:srgbClr val="FF0000"/>
                </a:solidFill>
              </a:rPr>
              <a:t> </a:t>
            </a:r>
            <a:r>
              <a:rPr lang="en-US" sz="1900" dirty="0" err="1">
                <a:solidFill>
                  <a:srgbClr val="FF0000"/>
                </a:solidFill>
              </a:rPr>
              <a:t>ít</a:t>
            </a:r>
            <a:r>
              <a:rPr lang="en-US" sz="1900" dirty="0">
                <a:solidFill>
                  <a:srgbClr val="FF0000"/>
                </a:solidFill>
              </a:rPr>
              <a:t> </a:t>
            </a:r>
            <a:r>
              <a:rPr lang="en-US" sz="1900" dirty="0" err="1">
                <a:solidFill>
                  <a:srgbClr val="FF0000"/>
                </a:solidFill>
              </a:rPr>
              <a:t>được</a:t>
            </a:r>
            <a:r>
              <a:rPr lang="en-US" sz="1900" dirty="0">
                <a:solidFill>
                  <a:srgbClr val="FF0000"/>
                </a:solidFill>
              </a:rPr>
              <a:t> </a:t>
            </a:r>
            <a:r>
              <a:rPr lang="en-US" sz="1900" dirty="0" err="1">
                <a:solidFill>
                  <a:srgbClr val="FF0000"/>
                </a:solidFill>
              </a:rPr>
              <a:t>sử</a:t>
            </a:r>
            <a:r>
              <a:rPr lang="en-US" sz="1900" dirty="0">
                <a:solidFill>
                  <a:srgbClr val="FF0000"/>
                </a:solidFill>
              </a:rPr>
              <a:t> </a:t>
            </a:r>
            <a:r>
              <a:rPr lang="en-US" sz="1900" dirty="0" err="1">
                <a:solidFill>
                  <a:srgbClr val="FF0000"/>
                </a:solidFill>
              </a:rPr>
              <a:t>dụng</a:t>
            </a:r>
            <a:r>
              <a:rPr lang="en-US" sz="1900" dirty="0">
                <a:solidFill>
                  <a:srgbClr val="FF0000"/>
                </a:solidFill>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270" y="26773"/>
            <a:ext cx="7162800" cy="799306"/>
          </a:xfrm>
        </p:spPr>
        <p:txBody>
          <a:bodyPr/>
          <a:lstStyle/>
          <a:p>
            <a:pPr marL="64135"/>
            <a:r>
              <a:rPr lang="en-US" dirty="0"/>
              <a:t>3.1. Test </a:t>
            </a:r>
            <a:r>
              <a:rPr lang="en-US" dirty="0" err="1"/>
              <a:t>các</a:t>
            </a:r>
            <a:r>
              <a:rPr lang="en-US" dirty="0"/>
              <a:t> </a:t>
            </a:r>
            <a:r>
              <a:rPr lang="en-US" dirty="0" err="1"/>
              <a:t>câu</a:t>
            </a:r>
            <a:r>
              <a:rPr lang="en-US" dirty="0"/>
              <a:t> </a:t>
            </a:r>
            <a:r>
              <a:rPr lang="en-US" dirty="0" err="1"/>
              <a:t>lệnh</a:t>
            </a:r>
            <a:endParaRPr lang="en-US" dirty="0"/>
          </a:p>
        </p:txBody>
      </p:sp>
      <p:sp>
        <p:nvSpPr>
          <p:cNvPr id="3" name="Content Placeholder 2"/>
          <p:cNvSpPr>
            <a:spLocks noGrp="1"/>
          </p:cNvSpPr>
          <p:nvPr>
            <p:ph idx="1"/>
          </p:nvPr>
        </p:nvSpPr>
        <p:spPr>
          <a:xfrm>
            <a:off x="457200" y="1066800"/>
            <a:ext cx="8229600" cy="5638800"/>
          </a:xfrm>
        </p:spPr>
        <p:txBody>
          <a:bodyPr>
            <a:noAutofit/>
          </a:bodyPr>
          <a:lstStyle/>
          <a:p>
            <a:pPr marL="64135" lvl="2" indent="0">
              <a:buSzPct val="80000"/>
              <a:buNone/>
            </a:pPr>
            <a:r>
              <a:rPr lang="vi-VN" sz="1900" dirty="0"/>
              <a:t>Là test sao cho mỗi lệnh được thực thi ít nhất 1 lần.</a:t>
            </a:r>
            <a:endParaRPr lang="en-US" sz="1900" dirty="0"/>
          </a:p>
          <a:p>
            <a:pPr marL="64135" lvl="2" indent="0">
              <a:buSzPct val="80000"/>
              <a:buNone/>
            </a:pPr>
            <a:r>
              <a:rPr lang="en-US" sz="1900" dirty="0"/>
              <a:t>VD:</a:t>
            </a:r>
          </a:p>
          <a:p>
            <a:pPr marL="64135" lvl="2" indent="0">
              <a:buSzPct val="80000"/>
              <a:buNone/>
            </a:pPr>
            <a:endParaRPr lang="en-US" sz="1900" dirty="0"/>
          </a:p>
          <a:p>
            <a:pPr marL="64135" lvl="2" indent="0">
              <a:buSzPct val="80000"/>
              <a:buNone/>
            </a:pPr>
            <a:endParaRPr lang="en-US" sz="1900" dirty="0"/>
          </a:p>
          <a:p>
            <a:pPr marL="64135" lvl="2" indent="0">
              <a:buSzPct val="80000"/>
              <a:buNone/>
            </a:pPr>
            <a:endParaRPr lang="en-US" sz="1900" dirty="0"/>
          </a:p>
          <a:p>
            <a:pPr marL="64135" lvl="2" indent="0">
              <a:buSzPct val="80000"/>
              <a:buNone/>
            </a:pPr>
            <a:endParaRPr lang="en-US" sz="1900" dirty="0"/>
          </a:p>
          <a:p>
            <a:pPr marL="64135" lvl="2" indent="0">
              <a:buSzPct val="80000"/>
              <a:buNone/>
            </a:pPr>
            <a:endParaRPr lang="en-US" sz="1900" dirty="0"/>
          </a:p>
          <a:p>
            <a:pPr marL="64135" lvl="2" indent="0">
              <a:buSzPct val="80000"/>
              <a:buNone/>
            </a:pPr>
            <a:r>
              <a:rPr lang="en-US" sz="1900" dirty="0" err="1"/>
              <a:t>Với</a:t>
            </a:r>
            <a:r>
              <a:rPr lang="en-US" sz="1900" dirty="0"/>
              <a:t> </a:t>
            </a:r>
            <a:r>
              <a:rPr lang="en-US" sz="1900" dirty="0" err="1"/>
              <a:t>hàm</a:t>
            </a:r>
            <a:r>
              <a:rPr lang="en-US" sz="1900" dirty="0"/>
              <a:t> float </a:t>
            </a:r>
            <a:r>
              <a:rPr lang="en-US" sz="1900" dirty="0" err="1"/>
              <a:t>trên</a:t>
            </a:r>
            <a:r>
              <a:rPr lang="en-US" sz="1900" dirty="0"/>
              <a:t>, ta </a:t>
            </a:r>
            <a:r>
              <a:rPr lang="en-US" sz="1900" dirty="0" err="1"/>
              <a:t>chỉ</a:t>
            </a:r>
            <a:r>
              <a:rPr lang="en-US" sz="1900" dirty="0"/>
              <a:t> </a:t>
            </a:r>
            <a:r>
              <a:rPr lang="en-US" sz="1900" dirty="0" err="1"/>
              <a:t>cần</a:t>
            </a:r>
            <a:r>
              <a:rPr lang="en-US" sz="1900" dirty="0"/>
              <a:t> 2 test cases </a:t>
            </a:r>
            <a:r>
              <a:rPr lang="en-US" sz="1900" dirty="0" err="1"/>
              <a:t>sau</a:t>
            </a:r>
            <a:r>
              <a:rPr lang="en-US" sz="1900" dirty="0"/>
              <a:t> </a:t>
            </a:r>
            <a:r>
              <a:rPr lang="en-US" sz="1900" dirty="0" err="1"/>
              <a:t>đây</a:t>
            </a:r>
            <a:r>
              <a:rPr lang="en-US" sz="1900" dirty="0"/>
              <a:t> </a:t>
            </a:r>
            <a:r>
              <a:rPr lang="en-US" sz="1900" dirty="0" err="1"/>
              <a:t>là</a:t>
            </a:r>
            <a:r>
              <a:rPr lang="en-US" sz="1900" dirty="0"/>
              <a:t> </a:t>
            </a:r>
            <a:r>
              <a:rPr lang="en-US" sz="1900" dirty="0" err="1"/>
              <a:t>đạt</a:t>
            </a:r>
            <a:r>
              <a:rPr lang="en-US" sz="1900" dirty="0"/>
              <a:t> 100%</a:t>
            </a:r>
          </a:p>
          <a:p>
            <a:pPr lvl="2">
              <a:buFont typeface="Wingdings" panose="05000000000000000000" pitchFamily="2" charset="2"/>
              <a:buChar char="ü"/>
            </a:pPr>
            <a:r>
              <a:rPr lang="en-US" sz="1900" dirty="0"/>
              <a:t> TC: Line 1,2,3,4,10</a:t>
            </a:r>
          </a:p>
          <a:p>
            <a:pPr lvl="3">
              <a:buFont typeface="Wingdings" panose="05000000000000000000" pitchFamily="2" charset="2"/>
              <a:buChar char="§"/>
            </a:pPr>
            <a:r>
              <a:rPr lang="en-US" sz="1900" dirty="0"/>
              <a:t>float(0,0,0,0), </a:t>
            </a:r>
            <a:r>
              <a:rPr lang="en-US" sz="1900" dirty="0" err="1"/>
              <a:t>trả</a:t>
            </a:r>
            <a:r>
              <a:rPr lang="en-US" sz="1900" dirty="0"/>
              <a:t> </a:t>
            </a:r>
            <a:r>
              <a:rPr lang="en-US" sz="1900" dirty="0" err="1"/>
              <a:t>về</a:t>
            </a:r>
            <a:r>
              <a:rPr lang="en-US" sz="1900" dirty="0"/>
              <a:t> 0</a:t>
            </a:r>
          </a:p>
          <a:p>
            <a:pPr lvl="2">
              <a:buFont typeface="Wingdings" panose="05000000000000000000" pitchFamily="2" charset="2"/>
              <a:buChar char="ü"/>
            </a:pPr>
            <a:r>
              <a:rPr lang="en-US" sz="1900" dirty="0"/>
              <a:t> TC: Line 1,2,3,5,6,7,8,9,10</a:t>
            </a:r>
          </a:p>
          <a:p>
            <a:pPr lvl="3">
              <a:buFont typeface="Wingdings" panose="05000000000000000000" pitchFamily="2" charset="2"/>
              <a:buChar char="§"/>
            </a:pPr>
            <a:r>
              <a:rPr lang="en-US" sz="1900" dirty="0">
                <a:sym typeface="+mn-ea"/>
              </a:rPr>
              <a:t>float</a:t>
            </a:r>
            <a:r>
              <a:rPr lang="en-US" sz="1900" dirty="0"/>
              <a:t>(1,1,1,1), </a:t>
            </a:r>
            <a:r>
              <a:rPr lang="en-US" sz="1900" dirty="0" err="1"/>
              <a:t>trả</a:t>
            </a:r>
            <a:r>
              <a:rPr lang="en-US" sz="1900" dirty="0"/>
              <a:t> </a:t>
            </a:r>
            <a:r>
              <a:rPr lang="en-US" sz="1900" dirty="0" err="1"/>
              <a:t>về</a:t>
            </a:r>
            <a:r>
              <a:rPr lang="en-US" sz="1900" dirty="0"/>
              <a:t> 1</a:t>
            </a:r>
          </a:p>
          <a:p>
            <a:pPr marL="537210" lvl="1" indent="0">
              <a:buNone/>
            </a:pPr>
            <a:endParaRPr lang="en-US" sz="1900" dirty="0"/>
          </a:p>
          <a:p>
            <a:pPr marL="328930" lvl="3" indent="0">
              <a:buSzPct val="80000"/>
              <a:buNone/>
            </a:pPr>
            <a:endParaRPr lang="en-US" sz="1900" dirty="0"/>
          </a:p>
        </p:txBody>
      </p:sp>
      <p:pic>
        <p:nvPicPr>
          <p:cNvPr id="6" name="Picture 5"/>
          <p:cNvPicPr>
            <a:picLocks noChangeAspect="1"/>
          </p:cNvPicPr>
          <p:nvPr/>
        </p:nvPicPr>
        <p:blipFill>
          <a:blip r:embed="rId2"/>
          <a:stretch>
            <a:fillRect/>
          </a:stretch>
        </p:blipFill>
        <p:spPr>
          <a:xfrm>
            <a:off x="2667000" y="1676400"/>
            <a:ext cx="2286000" cy="277115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395"/>
            <a:ext cx="7162800" cy="799306"/>
          </a:xfrm>
        </p:spPr>
        <p:txBody>
          <a:bodyPr/>
          <a:lstStyle/>
          <a:p>
            <a:pPr marL="64135"/>
            <a:r>
              <a:rPr lang="en-US" dirty="0"/>
              <a:t>3.2. Test </a:t>
            </a:r>
            <a:r>
              <a:rPr lang="en-US" dirty="0" err="1"/>
              <a:t>các</a:t>
            </a:r>
            <a:r>
              <a:rPr lang="en-US" dirty="0"/>
              <a:t> </a:t>
            </a:r>
            <a:r>
              <a:rPr lang="en-US" dirty="0" err="1"/>
              <a:t>rẽ</a:t>
            </a:r>
            <a:r>
              <a:rPr lang="en-US" dirty="0"/>
              <a:t> </a:t>
            </a:r>
            <a:r>
              <a:rPr lang="en-US" dirty="0" err="1"/>
              <a:t>nhánh</a:t>
            </a:r>
            <a:endParaRPr lang="en-US" dirty="0"/>
          </a:p>
        </p:txBody>
      </p:sp>
      <p:sp>
        <p:nvSpPr>
          <p:cNvPr id="3" name="Content Placeholder 2"/>
          <p:cNvSpPr>
            <a:spLocks noGrp="1"/>
          </p:cNvSpPr>
          <p:nvPr>
            <p:ph idx="1"/>
          </p:nvPr>
        </p:nvSpPr>
        <p:spPr>
          <a:xfrm>
            <a:off x="457200" y="1066800"/>
            <a:ext cx="8229600" cy="5638800"/>
          </a:xfrm>
        </p:spPr>
        <p:txBody>
          <a:bodyPr>
            <a:noAutofit/>
          </a:bodyPr>
          <a:lstStyle/>
          <a:p>
            <a:pPr marL="64135" lvl="2" indent="0">
              <a:buSzPct val="80000"/>
              <a:buNone/>
            </a:pPr>
            <a:r>
              <a:rPr lang="vi-VN" sz="1900" dirty="0"/>
              <a:t>Là test sao cho mỗi điểm rẽ nhánh đều được thực hiện ít nhất 1 lần cho trường hợp TRUE lẫn FALSE.</a:t>
            </a:r>
            <a:endParaRPr lang="en-US" sz="1900" dirty="0"/>
          </a:p>
          <a:p>
            <a:pPr marL="64135" lvl="2" indent="0">
              <a:buSzPct val="80000"/>
              <a:buNone/>
            </a:pPr>
            <a:r>
              <a:rPr lang="en-US" sz="1900" dirty="0"/>
              <a:t>VD: </a:t>
            </a:r>
            <a:r>
              <a:rPr lang="vi-VN" sz="1900" dirty="0"/>
              <a:t>Với hàm </a:t>
            </a:r>
            <a:r>
              <a:rPr lang="en-US" sz="1900" dirty="0">
                <a:sym typeface="+mn-ea"/>
              </a:rPr>
              <a:t>float</a:t>
            </a:r>
            <a:r>
              <a:rPr lang="vi-VN" sz="1900" dirty="0"/>
              <a:t> ở trên ta phân chia trường hợp như sau:</a:t>
            </a:r>
            <a:endParaRPr lang="en-US" sz="1900" dirty="0"/>
          </a:p>
          <a:p>
            <a:pPr marL="328930" lvl="3" indent="0">
              <a:buSzPct val="80000"/>
              <a:buNone/>
            </a:pPr>
            <a:endParaRPr lang="en-US" sz="1900" dirty="0"/>
          </a:p>
          <a:p>
            <a:pPr marL="328930" lvl="3" indent="0">
              <a:buSzPct val="80000"/>
              <a:buNone/>
            </a:pPr>
            <a:endParaRPr lang="en-US" sz="1900" dirty="0"/>
          </a:p>
          <a:p>
            <a:pPr marL="328930" lvl="3" indent="0">
              <a:buSzPct val="80000"/>
              <a:buNone/>
            </a:pPr>
            <a:endParaRPr lang="en-US" sz="1900" dirty="0"/>
          </a:p>
          <a:p>
            <a:pPr marL="328930" lvl="3" indent="0">
              <a:buSzPct val="80000"/>
              <a:buNone/>
            </a:pPr>
            <a:endParaRPr lang="en-US" sz="1900" dirty="0"/>
          </a:p>
          <a:p>
            <a:pPr marL="328930" lvl="3" indent="0">
              <a:buSzPct val="80000"/>
              <a:buNone/>
            </a:pPr>
            <a:endParaRPr lang="en-US" sz="1900" dirty="0"/>
          </a:p>
        </p:txBody>
      </p:sp>
      <p:graphicFrame>
        <p:nvGraphicFramePr>
          <p:cNvPr id="5" name="Table 4"/>
          <p:cNvGraphicFramePr>
            <a:graphicFrameLocks noGrp="1"/>
          </p:cNvGraphicFramePr>
          <p:nvPr/>
        </p:nvGraphicFramePr>
        <p:xfrm>
          <a:off x="381000" y="2286000"/>
          <a:ext cx="8610600" cy="2645995"/>
        </p:xfrm>
        <a:graphic>
          <a:graphicData uri="http://schemas.openxmlformats.org/drawingml/2006/table">
            <a:tbl>
              <a:tblPr firstRow="1" bandRow="1">
                <a:tableStyleId>{00A15C55-8517-42AA-B614-E9B94910E393}</a:tableStyleId>
              </a:tblPr>
              <a:tblGrid>
                <a:gridCol w="1296220">
                  <a:extLst>
                    <a:ext uri="{9D8B030D-6E8A-4147-A177-3AD203B41FA5}">
                      <a16:colId xmlns:a16="http://schemas.microsoft.com/office/drawing/2014/main" val="20000"/>
                    </a:ext>
                  </a:extLst>
                </a:gridCol>
                <a:gridCol w="3009080">
                  <a:extLst>
                    <a:ext uri="{9D8B030D-6E8A-4147-A177-3AD203B41FA5}">
                      <a16:colId xmlns:a16="http://schemas.microsoft.com/office/drawing/2014/main" val="20001"/>
                    </a:ext>
                  </a:extLst>
                </a:gridCol>
                <a:gridCol w="2152650">
                  <a:extLst>
                    <a:ext uri="{9D8B030D-6E8A-4147-A177-3AD203B41FA5}">
                      <a16:colId xmlns:a16="http://schemas.microsoft.com/office/drawing/2014/main" val="20002"/>
                    </a:ext>
                  </a:extLst>
                </a:gridCol>
                <a:gridCol w="2152650">
                  <a:extLst>
                    <a:ext uri="{9D8B030D-6E8A-4147-A177-3AD203B41FA5}">
                      <a16:colId xmlns:a16="http://schemas.microsoft.com/office/drawing/2014/main" val="20003"/>
                    </a:ext>
                  </a:extLst>
                </a:gridCol>
              </a:tblGrid>
              <a:tr h="408001">
                <a:tc>
                  <a:txBody>
                    <a:bodyPr/>
                    <a:lstStyle/>
                    <a:p>
                      <a:pPr algn="ctr"/>
                      <a:r>
                        <a:rPr lang="en-US" sz="1700" kern="1200" dirty="0">
                          <a:solidFill>
                            <a:schemeClr val="bg2"/>
                          </a:solidFill>
                          <a:effectLst/>
                        </a:rPr>
                        <a:t>Line</a:t>
                      </a:r>
                      <a:endParaRPr lang="en-US" sz="1700" dirty="0">
                        <a:solidFill>
                          <a:schemeClr val="bg2"/>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700" kern="1200" dirty="0" err="1">
                          <a:solidFill>
                            <a:schemeClr val="bg2"/>
                          </a:solidFill>
                          <a:effectLst/>
                        </a:rPr>
                        <a:t>Biểu</a:t>
                      </a:r>
                      <a:r>
                        <a:rPr lang="en-US" sz="1700" kern="1200" baseline="0" dirty="0">
                          <a:solidFill>
                            <a:schemeClr val="bg2"/>
                          </a:solidFill>
                          <a:effectLst/>
                        </a:rPr>
                        <a:t> </a:t>
                      </a:r>
                      <a:r>
                        <a:rPr lang="en-US" sz="1700" kern="1200" baseline="0" dirty="0" err="1">
                          <a:solidFill>
                            <a:schemeClr val="bg2"/>
                          </a:solidFill>
                          <a:effectLst/>
                        </a:rPr>
                        <a:t>thức</a:t>
                      </a:r>
                      <a:r>
                        <a:rPr lang="en-US" sz="1700" kern="1200" baseline="0" dirty="0">
                          <a:solidFill>
                            <a:schemeClr val="bg2"/>
                          </a:solidFill>
                          <a:effectLst/>
                        </a:rPr>
                        <a:t> </a:t>
                      </a:r>
                      <a:r>
                        <a:rPr lang="en-US" sz="1700" kern="1200" baseline="0" dirty="0" err="1">
                          <a:solidFill>
                            <a:schemeClr val="bg2"/>
                          </a:solidFill>
                          <a:effectLst/>
                        </a:rPr>
                        <a:t>điều</a:t>
                      </a:r>
                      <a:r>
                        <a:rPr lang="en-US" sz="1700" kern="1200" baseline="0" dirty="0">
                          <a:solidFill>
                            <a:schemeClr val="bg2"/>
                          </a:solidFill>
                          <a:effectLst/>
                        </a:rPr>
                        <a:t> </a:t>
                      </a:r>
                      <a:r>
                        <a:rPr lang="en-US" sz="1700" kern="1200" baseline="0" dirty="0" err="1">
                          <a:solidFill>
                            <a:schemeClr val="bg2"/>
                          </a:solidFill>
                          <a:effectLst/>
                        </a:rPr>
                        <a:t>kiện</a:t>
                      </a:r>
                      <a:endParaRPr lang="en-US" sz="1700" dirty="0">
                        <a:solidFill>
                          <a:schemeClr val="bg2"/>
                        </a:solidFill>
                      </a:endParaRPr>
                    </a:p>
                  </a:txBody>
                  <a:tcPr/>
                </a:tc>
                <a:tc>
                  <a:txBody>
                    <a:bodyPr/>
                    <a:lstStyle/>
                    <a:p>
                      <a:pPr algn="ctr"/>
                      <a:r>
                        <a:rPr lang="en-US" sz="1700" kern="1200" dirty="0">
                          <a:solidFill>
                            <a:schemeClr val="bg2"/>
                          </a:solidFill>
                          <a:effectLst/>
                        </a:rPr>
                        <a:t>True</a:t>
                      </a:r>
                      <a:endParaRPr lang="en-US" sz="1700" dirty="0">
                        <a:solidFill>
                          <a:schemeClr val="bg2"/>
                        </a:solidFill>
                      </a:endParaRPr>
                    </a:p>
                  </a:txBody>
                  <a:tcPr/>
                </a:tc>
                <a:tc>
                  <a:txBody>
                    <a:bodyPr/>
                    <a:lstStyle/>
                    <a:p>
                      <a:pPr algn="ctr"/>
                      <a:r>
                        <a:rPr lang="en-US" sz="1700" kern="1200" dirty="0">
                          <a:solidFill>
                            <a:schemeClr val="bg2"/>
                          </a:solidFill>
                          <a:effectLst/>
                        </a:rPr>
                        <a:t>False</a:t>
                      </a:r>
                      <a:endParaRPr lang="en-US" sz="1700" dirty="0">
                        <a:solidFill>
                          <a:schemeClr val="bg2"/>
                        </a:solidFill>
                      </a:endParaRPr>
                    </a:p>
                  </a:txBody>
                  <a:tcPr/>
                </a:tc>
                <a:extLst>
                  <a:ext uri="{0D108BD9-81ED-4DB2-BD59-A6C34878D82A}">
                    <a16:rowId xmlns:a16="http://schemas.microsoft.com/office/drawing/2014/main" val="10000"/>
                  </a:ext>
                </a:extLst>
              </a:tr>
              <a:tr h="695463">
                <a:tc>
                  <a:txBody>
                    <a:bodyPr/>
                    <a:lstStyle/>
                    <a:p>
                      <a:pPr algn="just">
                        <a:lnSpc>
                          <a:spcPct val="150000"/>
                        </a:lnSpc>
                        <a:spcAft>
                          <a:spcPts val="0"/>
                        </a:spcAft>
                        <a:tabLst>
                          <a:tab pos="217170" algn="l"/>
                        </a:tabLst>
                      </a:pPr>
                      <a:r>
                        <a:rPr lang="en-US" sz="1700" dirty="0">
                          <a:effectLst/>
                        </a:rPr>
                        <a:t>3</a:t>
                      </a:r>
                      <a:endParaRPr lang="en-US" sz="1700" dirty="0">
                        <a:solidFill>
                          <a:srgbClr val="000000"/>
                        </a:solidFill>
                        <a:effectLst/>
                        <a:latin typeface="Times New Roman" panose="02020603050405020304" pitchFamily="18" charset="0"/>
                        <a:ea typeface="MS Mincho"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tabLst>
                          <a:tab pos="217170" algn="l"/>
                        </a:tabLst>
                      </a:pPr>
                      <a:r>
                        <a:rPr lang="en-US" sz="1700" dirty="0">
                          <a:effectLst/>
                        </a:rPr>
                        <a:t>(a == 0)</a:t>
                      </a:r>
                      <a:endParaRPr lang="en-US" sz="1700" dirty="0">
                        <a:solidFill>
                          <a:srgbClr val="000000"/>
                        </a:solidFill>
                        <a:effectLst/>
                        <a:latin typeface="Times New Roman" panose="02020603050405020304" pitchFamily="18" charset="0"/>
                        <a:ea typeface="MS Mincho"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tabLst>
                          <a:tab pos="217170" algn="l"/>
                        </a:tabLst>
                      </a:pPr>
                      <a:r>
                        <a:rPr lang="en-US" sz="1700" dirty="0">
                          <a:effectLst/>
                        </a:rPr>
                        <a:t>Test Case 1</a:t>
                      </a:r>
                    </a:p>
                    <a:p>
                      <a:pPr algn="just">
                        <a:lnSpc>
                          <a:spcPct val="150000"/>
                        </a:lnSpc>
                        <a:spcAft>
                          <a:spcPts val="0"/>
                        </a:spcAft>
                        <a:tabLst>
                          <a:tab pos="217170" algn="l"/>
                        </a:tabLst>
                      </a:pPr>
                      <a:r>
                        <a:rPr lang="en-US" sz="1700" dirty="0">
                          <a:sym typeface="+mn-ea"/>
                        </a:rPr>
                        <a:t>float</a:t>
                      </a:r>
                      <a:r>
                        <a:rPr lang="en-US" sz="1700" dirty="0">
                          <a:effectLst/>
                        </a:rPr>
                        <a:t>(0, 0, 0, 0)</a:t>
                      </a:r>
                    </a:p>
                    <a:p>
                      <a:pPr algn="just">
                        <a:lnSpc>
                          <a:spcPct val="150000"/>
                        </a:lnSpc>
                        <a:spcAft>
                          <a:spcPts val="0"/>
                        </a:spcAft>
                        <a:tabLst>
                          <a:tab pos="217170" algn="l"/>
                        </a:tabLst>
                      </a:pPr>
                      <a:r>
                        <a:rPr lang="en-US" sz="1700" dirty="0">
                          <a:effectLst/>
                        </a:rPr>
                        <a:t>return 0</a:t>
                      </a:r>
                      <a:endParaRPr lang="en-US" sz="1700" dirty="0">
                        <a:solidFill>
                          <a:srgbClr val="000000"/>
                        </a:solidFill>
                        <a:effectLst/>
                        <a:latin typeface="Times New Roman" panose="02020603050405020304" pitchFamily="18" charset="0"/>
                        <a:ea typeface="MS Mincho"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tabLst>
                          <a:tab pos="217170" algn="l"/>
                        </a:tabLst>
                      </a:pPr>
                      <a:r>
                        <a:rPr lang="en-US" sz="1700" dirty="0">
                          <a:effectLst/>
                        </a:rPr>
                        <a:t>Test Case 2</a:t>
                      </a:r>
                    </a:p>
                    <a:p>
                      <a:pPr algn="just">
                        <a:lnSpc>
                          <a:spcPct val="150000"/>
                        </a:lnSpc>
                        <a:spcAft>
                          <a:spcPts val="0"/>
                        </a:spcAft>
                        <a:tabLst>
                          <a:tab pos="217170" algn="l"/>
                        </a:tabLst>
                      </a:pPr>
                      <a:r>
                        <a:rPr lang="en-US" sz="1700" dirty="0">
                          <a:sym typeface="+mn-ea"/>
                        </a:rPr>
                        <a:t>float</a:t>
                      </a:r>
                      <a:r>
                        <a:rPr lang="en-US" sz="1700" dirty="0">
                          <a:effectLst/>
                        </a:rPr>
                        <a:t>(1, 1, 1, 1)</a:t>
                      </a:r>
                    </a:p>
                    <a:p>
                      <a:pPr algn="just">
                        <a:lnSpc>
                          <a:spcPct val="150000"/>
                        </a:lnSpc>
                        <a:spcAft>
                          <a:spcPts val="0"/>
                        </a:spcAft>
                        <a:tabLst>
                          <a:tab pos="217170" algn="l"/>
                        </a:tabLst>
                      </a:pPr>
                      <a:r>
                        <a:rPr lang="en-US" sz="1700" dirty="0">
                          <a:effectLst/>
                        </a:rPr>
                        <a:t>return 1</a:t>
                      </a:r>
                      <a:endParaRPr lang="en-US" sz="1700" dirty="0">
                        <a:solidFill>
                          <a:srgbClr val="000000"/>
                        </a:solidFill>
                        <a:effectLst/>
                        <a:latin typeface="Times New Roman" panose="02020603050405020304" pitchFamily="18" charset="0"/>
                        <a:ea typeface="MS Mincho"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95463">
                <a:tc>
                  <a:txBody>
                    <a:bodyPr/>
                    <a:lstStyle/>
                    <a:p>
                      <a:pPr algn="just">
                        <a:lnSpc>
                          <a:spcPct val="150000"/>
                        </a:lnSpc>
                        <a:spcAft>
                          <a:spcPts val="0"/>
                        </a:spcAft>
                        <a:tabLst>
                          <a:tab pos="217170" algn="l"/>
                        </a:tabLst>
                      </a:pPr>
                      <a:r>
                        <a:rPr lang="en-US" sz="1700" dirty="0">
                          <a:effectLst/>
                        </a:rPr>
                        <a:t>6</a:t>
                      </a:r>
                      <a:endParaRPr lang="en-US" sz="1700" dirty="0">
                        <a:solidFill>
                          <a:srgbClr val="000000"/>
                        </a:solidFill>
                        <a:effectLst/>
                        <a:latin typeface="Times New Roman" panose="02020603050405020304" pitchFamily="18" charset="0"/>
                        <a:ea typeface="MS Mincho"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tabLst>
                          <a:tab pos="217170" algn="l"/>
                        </a:tabLst>
                      </a:pPr>
                      <a:r>
                        <a:rPr lang="en-US" sz="1700" dirty="0">
                          <a:effectLst/>
                        </a:rPr>
                        <a:t>((a==b) OR ((c == d) AND a==2 ))</a:t>
                      </a:r>
                      <a:endParaRPr lang="en-US" sz="1700" dirty="0">
                        <a:solidFill>
                          <a:srgbClr val="000000"/>
                        </a:solidFill>
                        <a:effectLst/>
                        <a:latin typeface="Times New Roman" panose="02020603050405020304" pitchFamily="18" charset="0"/>
                        <a:ea typeface="MS Mincho"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tabLst>
                          <a:tab pos="217170" algn="l"/>
                        </a:tabLst>
                      </a:pPr>
                      <a:r>
                        <a:rPr lang="en-US" sz="1700" dirty="0">
                          <a:effectLst/>
                        </a:rPr>
                        <a:t>Test Case 2</a:t>
                      </a:r>
                    </a:p>
                    <a:p>
                      <a:pPr algn="just">
                        <a:lnSpc>
                          <a:spcPct val="150000"/>
                        </a:lnSpc>
                        <a:spcAft>
                          <a:spcPts val="0"/>
                        </a:spcAft>
                        <a:tabLst>
                          <a:tab pos="217170" algn="l"/>
                        </a:tabLst>
                      </a:pPr>
                      <a:r>
                        <a:rPr lang="en-US" sz="1700" dirty="0">
                          <a:sym typeface="+mn-ea"/>
                        </a:rPr>
                        <a:t>float</a:t>
                      </a:r>
                      <a:r>
                        <a:rPr lang="en-US" sz="1700" dirty="0">
                          <a:effectLst/>
                        </a:rPr>
                        <a:t>(1, 1, 1, 1)</a:t>
                      </a:r>
                    </a:p>
                    <a:p>
                      <a:pPr algn="just">
                        <a:lnSpc>
                          <a:spcPct val="150000"/>
                        </a:lnSpc>
                        <a:spcAft>
                          <a:spcPts val="0"/>
                        </a:spcAft>
                        <a:tabLst>
                          <a:tab pos="217170" algn="l"/>
                        </a:tabLst>
                      </a:pPr>
                      <a:r>
                        <a:rPr lang="en-US" sz="1700" dirty="0">
                          <a:effectLst/>
                        </a:rPr>
                        <a:t>return 1</a:t>
                      </a:r>
                      <a:endParaRPr lang="en-US" sz="1700" dirty="0">
                        <a:solidFill>
                          <a:srgbClr val="000000"/>
                        </a:solidFill>
                        <a:effectLst/>
                        <a:latin typeface="Times New Roman" panose="02020603050405020304" pitchFamily="18" charset="0"/>
                        <a:ea typeface="MS Mincho"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tabLst>
                          <a:tab pos="217170" algn="l"/>
                        </a:tabLst>
                      </a:pPr>
                      <a:r>
                        <a:rPr lang="en-US" sz="1700" dirty="0">
                          <a:effectLst/>
                        </a:rPr>
                        <a:t>Test Case 3</a:t>
                      </a:r>
                    </a:p>
                    <a:p>
                      <a:pPr algn="just">
                        <a:lnSpc>
                          <a:spcPct val="150000"/>
                        </a:lnSpc>
                        <a:spcAft>
                          <a:spcPts val="0"/>
                        </a:spcAft>
                        <a:tabLst>
                          <a:tab pos="217170" algn="l"/>
                        </a:tabLst>
                      </a:pPr>
                      <a:r>
                        <a:rPr lang="en-US" sz="1700" dirty="0">
                          <a:sym typeface="+mn-ea"/>
                        </a:rPr>
                        <a:t>float</a:t>
                      </a:r>
                      <a:r>
                        <a:rPr lang="en-US" sz="1700" dirty="0">
                          <a:effectLst/>
                        </a:rPr>
                        <a:t>(1, 2, 1, 2)</a:t>
                      </a:r>
                    </a:p>
                    <a:p>
                      <a:pPr algn="just">
                        <a:lnSpc>
                          <a:spcPct val="150000"/>
                        </a:lnSpc>
                        <a:spcAft>
                          <a:spcPts val="0"/>
                        </a:spcAft>
                        <a:tabLst>
                          <a:tab pos="217170" algn="l"/>
                        </a:tabLst>
                      </a:pPr>
                      <a:r>
                        <a:rPr lang="en-US" sz="1700" dirty="0">
                          <a:effectLst/>
                        </a:rPr>
                        <a:t>division by zero!</a:t>
                      </a:r>
                      <a:endParaRPr lang="en-US" sz="1700" dirty="0">
                        <a:solidFill>
                          <a:srgbClr val="000000"/>
                        </a:solidFill>
                        <a:effectLst/>
                        <a:latin typeface="Times New Roman" panose="02020603050405020304" pitchFamily="18" charset="0"/>
                        <a:ea typeface="MS Mincho"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4876800" cy="799306"/>
          </a:xfrm>
        </p:spPr>
        <p:txBody>
          <a:bodyPr/>
          <a:lstStyle/>
          <a:p>
            <a:r>
              <a:rPr lang="en-US" dirty="0"/>
              <a:t>3.2. Test </a:t>
            </a:r>
            <a:r>
              <a:rPr lang="en-US" dirty="0" err="1"/>
              <a:t>các</a:t>
            </a:r>
            <a:r>
              <a:rPr lang="en-US" dirty="0"/>
              <a:t> </a:t>
            </a:r>
            <a:r>
              <a:rPr lang="en-US" dirty="0" err="1"/>
              <a:t>rẽ</a:t>
            </a:r>
            <a:r>
              <a:rPr lang="en-US" dirty="0"/>
              <a:t> </a:t>
            </a:r>
            <a:r>
              <a:rPr lang="en-US" dirty="0" err="1"/>
              <a:t>nhánh</a:t>
            </a:r>
            <a:endParaRPr lang="en-US" dirty="0"/>
          </a:p>
        </p:txBody>
      </p:sp>
      <p:sp>
        <p:nvSpPr>
          <p:cNvPr id="3" name="Content Placeholder 2"/>
          <p:cNvSpPr>
            <a:spLocks noGrp="1"/>
          </p:cNvSpPr>
          <p:nvPr>
            <p:ph idx="1"/>
          </p:nvPr>
        </p:nvSpPr>
        <p:spPr/>
        <p:txBody>
          <a:bodyPr/>
          <a:lstStyle/>
          <a:p>
            <a:pPr marL="328930" lvl="3" indent="0">
              <a:buSzPct val="80000"/>
              <a:buNone/>
            </a:pPr>
            <a:r>
              <a:rPr lang="en-US" sz="1900" dirty="0" err="1"/>
              <a:t>Với</a:t>
            </a:r>
            <a:r>
              <a:rPr lang="en-US" sz="1900" dirty="0"/>
              <a:t> 2 test cases </a:t>
            </a:r>
            <a:r>
              <a:rPr lang="en-US" sz="1900" dirty="0" err="1"/>
              <a:t>xác</a:t>
            </a:r>
            <a:r>
              <a:rPr lang="en-US" sz="1900" dirty="0"/>
              <a:t> </a:t>
            </a:r>
            <a:r>
              <a:rPr lang="en-US" sz="1900" dirty="0" err="1"/>
              <a:t>định</a:t>
            </a:r>
            <a:r>
              <a:rPr lang="en-US" sz="1900" dirty="0"/>
              <a:t> </a:t>
            </a:r>
            <a:r>
              <a:rPr lang="en-US" sz="1900" dirty="0" err="1"/>
              <a:t>trong</a:t>
            </a:r>
            <a:r>
              <a:rPr lang="en-US" sz="1900" dirty="0"/>
              <a:t> </a:t>
            </a:r>
            <a:r>
              <a:rPr lang="en-US" sz="1900" dirty="0" err="1"/>
              <a:t>phần</a:t>
            </a:r>
            <a:r>
              <a:rPr lang="en-US" sz="1900" dirty="0"/>
              <a:t> </a:t>
            </a:r>
            <a:r>
              <a:rPr lang="en-US" sz="1900" dirty="0" err="1"/>
              <a:t>trước</a:t>
            </a:r>
            <a:r>
              <a:rPr lang="en-US" sz="1900" dirty="0"/>
              <a:t>, ta </a:t>
            </a:r>
            <a:r>
              <a:rPr lang="en-US" sz="1900" dirty="0" err="1"/>
              <a:t>chỉ</a:t>
            </a:r>
            <a:r>
              <a:rPr lang="en-US" sz="1900" dirty="0"/>
              <a:t> </a:t>
            </a:r>
            <a:r>
              <a:rPr lang="en-US" sz="1900" dirty="0" err="1"/>
              <a:t>đạt</a:t>
            </a:r>
            <a:r>
              <a:rPr lang="en-US" sz="1900" dirty="0"/>
              <a:t> </a:t>
            </a:r>
            <a:r>
              <a:rPr lang="en-US" sz="1900" dirty="0" err="1"/>
              <a:t>được</a:t>
            </a:r>
            <a:r>
              <a:rPr lang="en-US" sz="1900" dirty="0"/>
              <a:t> 3/4 = 75% </a:t>
            </a:r>
            <a:r>
              <a:rPr lang="en-US" sz="1900" dirty="0" err="1"/>
              <a:t>bao</a:t>
            </a:r>
            <a:r>
              <a:rPr lang="en-US" sz="1900" dirty="0"/>
              <a:t> </a:t>
            </a:r>
            <a:r>
              <a:rPr lang="en-US" sz="1900" dirty="0" err="1"/>
              <a:t>phủ</a:t>
            </a:r>
            <a:r>
              <a:rPr lang="en-US" sz="1900" dirty="0"/>
              <a:t> </a:t>
            </a:r>
            <a:r>
              <a:rPr lang="en-US" sz="1900" dirty="0" err="1"/>
              <a:t>các</a:t>
            </a:r>
            <a:r>
              <a:rPr lang="en-US" sz="1900" dirty="0"/>
              <a:t> </a:t>
            </a:r>
            <a:r>
              <a:rPr lang="en-US" sz="1900" dirty="0" err="1"/>
              <a:t>nhánh</a:t>
            </a:r>
            <a:r>
              <a:rPr lang="en-US" sz="1900" dirty="0"/>
              <a:t>. </a:t>
            </a:r>
            <a:r>
              <a:rPr lang="en-US" sz="1900" dirty="0" err="1"/>
              <a:t>Nếu</a:t>
            </a:r>
            <a:r>
              <a:rPr lang="en-US" sz="1900" dirty="0"/>
              <a:t> </a:t>
            </a:r>
            <a:r>
              <a:rPr lang="en-US" sz="1900" dirty="0" err="1"/>
              <a:t>thêm</a:t>
            </a:r>
            <a:r>
              <a:rPr lang="en-US" sz="1900" dirty="0"/>
              <a:t> test case 3 </a:t>
            </a:r>
            <a:r>
              <a:rPr lang="en-US" sz="1900" dirty="0">
                <a:sym typeface="+mn-ea"/>
              </a:rPr>
              <a:t>float</a:t>
            </a:r>
            <a:r>
              <a:rPr lang="en-US" sz="1900" dirty="0"/>
              <a:t>(1,2,1,2), </a:t>
            </a:r>
            <a:r>
              <a:rPr lang="en-US" sz="1900" dirty="0" err="1"/>
              <a:t>thì</a:t>
            </a:r>
            <a:r>
              <a:rPr lang="en-US" sz="1900" dirty="0"/>
              <a:t> </a:t>
            </a:r>
            <a:r>
              <a:rPr lang="en-US" sz="1900" dirty="0" err="1"/>
              <a:t>mới</a:t>
            </a:r>
            <a:r>
              <a:rPr lang="en-US" sz="1900" dirty="0"/>
              <a:t> </a:t>
            </a:r>
            <a:r>
              <a:rPr lang="en-US" sz="1900" dirty="0" err="1"/>
              <a:t>đạt</a:t>
            </a:r>
            <a:r>
              <a:rPr lang="en-US" sz="1900" dirty="0"/>
              <a:t> 100% </a:t>
            </a:r>
            <a:r>
              <a:rPr lang="en-US" sz="1900" dirty="0" err="1"/>
              <a:t>bao</a:t>
            </a:r>
            <a:r>
              <a:rPr lang="en-US" sz="1900" dirty="0"/>
              <a:t> </a:t>
            </a:r>
            <a:r>
              <a:rPr lang="en-US" sz="1900" dirty="0" err="1"/>
              <a:t>phủ</a:t>
            </a:r>
            <a:r>
              <a:rPr lang="en-US" sz="1900" dirty="0"/>
              <a:t> </a:t>
            </a:r>
            <a:r>
              <a:rPr lang="en-US" sz="1900" dirty="0" err="1"/>
              <a:t>các</a:t>
            </a:r>
            <a:r>
              <a:rPr lang="en-US" sz="1900" dirty="0"/>
              <a:t> </a:t>
            </a:r>
            <a:r>
              <a:rPr lang="en-US" sz="1900" dirty="0" err="1"/>
              <a:t>nhánh</a:t>
            </a:r>
            <a:r>
              <a:rPr lang="en-US" sz="1900" dirty="0"/>
              <a:t>.</a:t>
            </a:r>
          </a:p>
          <a:p>
            <a:pPr lvl="2">
              <a:buFont typeface="Wingdings" panose="05000000000000000000" pitchFamily="2" charset="2"/>
              <a:buChar char="ü"/>
            </a:pPr>
            <a:r>
              <a:rPr lang="en-US" sz="1900" dirty="0"/>
              <a:t>TC1: Line 1,2,3,4,10</a:t>
            </a:r>
          </a:p>
          <a:p>
            <a:pPr lvl="3">
              <a:buFont typeface="Wingdings" panose="05000000000000000000" pitchFamily="2" charset="2"/>
              <a:buChar char="§"/>
            </a:pPr>
            <a:r>
              <a:rPr lang="en-US" sz="1900" dirty="0">
                <a:sym typeface="+mn-ea"/>
              </a:rPr>
              <a:t>float</a:t>
            </a:r>
            <a:r>
              <a:rPr lang="en-US" sz="1900" dirty="0"/>
              <a:t>(0,0,0,0), </a:t>
            </a:r>
            <a:r>
              <a:rPr lang="en-US" sz="1900" dirty="0" err="1"/>
              <a:t>trả</a:t>
            </a:r>
            <a:r>
              <a:rPr lang="en-US" sz="1900" dirty="0"/>
              <a:t> </a:t>
            </a:r>
            <a:r>
              <a:rPr lang="en-US" sz="1900" dirty="0" err="1"/>
              <a:t>về</a:t>
            </a:r>
            <a:r>
              <a:rPr lang="en-US" sz="1900" dirty="0"/>
              <a:t> 0.</a:t>
            </a:r>
          </a:p>
          <a:p>
            <a:pPr lvl="2">
              <a:buFont typeface="Wingdings" panose="05000000000000000000" pitchFamily="2" charset="2"/>
              <a:buChar char="ü"/>
            </a:pPr>
            <a:r>
              <a:rPr lang="en-US" sz="1900" dirty="0"/>
              <a:t> TC2: Line 1,2,3,5,6,7,8,9,10</a:t>
            </a:r>
          </a:p>
          <a:p>
            <a:pPr lvl="3">
              <a:buFont typeface="Wingdings" panose="05000000000000000000" pitchFamily="2" charset="2"/>
              <a:buChar char="§"/>
            </a:pPr>
            <a:r>
              <a:rPr lang="en-US" sz="1900" dirty="0">
                <a:sym typeface="+mn-ea"/>
              </a:rPr>
              <a:t>float</a:t>
            </a:r>
            <a:r>
              <a:rPr lang="en-US" sz="1900" dirty="0"/>
              <a:t>(1,1,1,1), </a:t>
            </a:r>
            <a:r>
              <a:rPr lang="en-US" sz="1900" dirty="0" err="1"/>
              <a:t>trả</a:t>
            </a:r>
            <a:r>
              <a:rPr lang="en-US" sz="1900" dirty="0"/>
              <a:t> </a:t>
            </a:r>
            <a:r>
              <a:rPr lang="en-US" sz="1900" dirty="0" err="1"/>
              <a:t>về</a:t>
            </a:r>
            <a:r>
              <a:rPr lang="en-US" sz="1900" dirty="0"/>
              <a:t> 1.</a:t>
            </a:r>
          </a:p>
          <a:p>
            <a:pPr lvl="2">
              <a:buFont typeface="Wingdings" panose="05000000000000000000" pitchFamily="2" charset="2"/>
              <a:buChar char="ü"/>
            </a:pPr>
            <a:r>
              <a:rPr lang="en-US" sz="1900" dirty="0"/>
              <a:t> TC3: Line 1,2,3,5,6,8</a:t>
            </a:r>
          </a:p>
          <a:p>
            <a:pPr lvl="3">
              <a:buFont typeface="Wingdings" panose="05000000000000000000" pitchFamily="2" charset="2"/>
              <a:buChar char="§"/>
            </a:pPr>
            <a:r>
              <a:rPr lang="en-US" sz="1900" dirty="0">
                <a:sym typeface="+mn-ea"/>
              </a:rPr>
              <a:t>float</a:t>
            </a:r>
            <a:r>
              <a:rPr lang="en-US" sz="1900" dirty="0"/>
              <a:t>(1,2,1,2) </a:t>
            </a:r>
            <a:r>
              <a:rPr lang="en-US" sz="1900" dirty="0" err="1"/>
              <a:t>deivision</a:t>
            </a:r>
            <a:r>
              <a:rPr lang="en-US" sz="1900" dirty="0"/>
              <a:t> by zero.</a:t>
            </a:r>
          </a:p>
          <a:p>
            <a:pPr marL="328930" lvl="3" indent="0">
              <a:buSzPct val="80000"/>
              <a:buNone/>
            </a:pPr>
            <a:endParaRPr lang="en-US" sz="1900"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162800" cy="799306"/>
          </a:xfrm>
        </p:spPr>
        <p:txBody>
          <a:bodyPr/>
          <a:lstStyle/>
          <a:p>
            <a:pPr marL="64135"/>
            <a:r>
              <a:rPr lang="en-US" dirty="0"/>
              <a:t>3.3. Test </a:t>
            </a:r>
            <a:r>
              <a:rPr lang="en-US" dirty="0" err="1"/>
              <a:t>các</a:t>
            </a:r>
            <a:r>
              <a:rPr lang="en-US" dirty="0"/>
              <a:t> </a:t>
            </a:r>
            <a:r>
              <a:rPr lang="en-US" dirty="0" err="1"/>
              <a:t>biểu</a:t>
            </a:r>
            <a:r>
              <a:rPr lang="en-US" dirty="0"/>
              <a:t> </a:t>
            </a:r>
            <a:r>
              <a:rPr lang="en-US" dirty="0" err="1"/>
              <a:t>thức</a:t>
            </a:r>
            <a:r>
              <a:rPr lang="en-US" dirty="0"/>
              <a:t> </a:t>
            </a:r>
            <a:r>
              <a:rPr lang="en-US" dirty="0" err="1"/>
              <a:t>điều</a:t>
            </a:r>
            <a:r>
              <a:rPr lang="en-US" dirty="0"/>
              <a:t> </a:t>
            </a:r>
            <a:r>
              <a:rPr lang="en-US" dirty="0" err="1"/>
              <a:t>kiện</a:t>
            </a:r>
            <a:endParaRPr lang="en-US" dirty="0"/>
          </a:p>
        </p:txBody>
      </p:sp>
      <p:sp>
        <p:nvSpPr>
          <p:cNvPr id="3" name="Content Placeholder 2"/>
          <p:cNvSpPr>
            <a:spLocks noGrp="1"/>
          </p:cNvSpPr>
          <p:nvPr>
            <p:ph idx="1"/>
          </p:nvPr>
        </p:nvSpPr>
        <p:spPr>
          <a:xfrm>
            <a:off x="457200" y="838200"/>
            <a:ext cx="8229600" cy="4343400"/>
          </a:xfrm>
        </p:spPr>
        <p:txBody>
          <a:bodyPr>
            <a:normAutofit/>
          </a:bodyPr>
          <a:lstStyle/>
          <a:p>
            <a:pPr marL="64135" indent="0">
              <a:buNone/>
            </a:pPr>
            <a:r>
              <a:rPr lang="vi-VN" dirty="0"/>
              <a:t>Là test sao cho mỗi biểu thức của từng điều kiện đều thực hiện ít nhất 1 lần cho trường hợp TRUE lẫn FALSE.</a:t>
            </a:r>
            <a:endParaRPr lang="en-US" dirty="0"/>
          </a:p>
          <a:p>
            <a:pPr marL="64135" indent="0">
              <a:buNone/>
            </a:pPr>
            <a:r>
              <a:rPr lang="en-US" dirty="0"/>
              <a:t>VD : </a:t>
            </a:r>
            <a:r>
              <a:rPr lang="en-US" dirty="0" err="1"/>
              <a:t>Với</a:t>
            </a:r>
            <a:r>
              <a:rPr lang="en-US" dirty="0"/>
              <a:t> </a:t>
            </a:r>
            <a:r>
              <a:rPr lang="en-US" dirty="0" err="1"/>
              <a:t>hàm</a:t>
            </a:r>
            <a:r>
              <a:rPr lang="en-US" dirty="0"/>
              <a:t> foo ta </a:t>
            </a:r>
            <a:r>
              <a:rPr lang="en-US" dirty="0" err="1"/>
              <a:t>phân</a:t>
            </a:r>
            <a:r>
              <a:rPr lang="en-US" dirty="0"/>
              <a:t> chia </a:t>
            </a:r>
            <a:r>
              <a:rPr lang="en-US" dirty="0" err="1"/>
              <a:t>trường</a:t>
            </a:r>
            <a:r>
              <a:rPr lang="en-US" dirty="0"/>
              <a:t> </a:t>
            </a:r>
            <a:r>
              <a:rPr lang="en-US" dirty="0" err="1"/>
              <a:t>hợp</a:t>
            </a:r>
            <a:r>
              <a:rPr lang="en-US" dirty="0"/>
              <a:t> </a:t>
            </a:r>
            <a:r>
              <a:rPr lang="en-US" dirty="0" err="1"/>
              <a:t>như</a:t>
            </a:r>
            <a:r>
              <a:rPr lang="en-US" dirty="0"/>
              <a:t> </a:t>
            </a:r>
            <a:r>
              <a:rPr lang="en-US" dirty="0" err="1"/>
              <a:t>sau</a:t>
            </a:r>
            <a:r>
              <a:rPr lang="en-US" dirty="0"/>
              <a:t>:</a:t>
            </a:r>
          </a:p>
          <a:p>
            <a:pPr marL="64135" indent="0">
              <a:buNone/>
            </a:pPr>
            <a:endParaRPr lang="en-US" dirty="0"/>
          </a:p>
          <a:p>
            <a:pPr marL="328930" lvl="3" indent="0">
              <a:buSzPct val="80000"/>
              <a:buNone/>
            </a:pPr>
            <a:endParaRPr lang="en-US" dirty="0"/>
          </a:p>
          <a:p>
            <a:pPr marL="328930" lvl="3" indent="0">
              <a:buSzPct val="80000"/>
              <a:buNone/>
            </a:pPr>
            <a:endParaRPr lang="en-US" dirty="0"/>
          </a:p>
          <a:p>
            <a:pPr marL="328930" lvl="3" indent="0">
              <a:buSzPct val="80000"/>
              <a:buNone/>
            </a:pPr>
            <a:endParaRPr lang="en-US" dirty="0"/>
          </a:p>
          <a:p>
            <a:pPr marL="328930" lvl="3" indent="0">
              <a:buSzPct val="80000"/>
              <a:buNone/>
            </a:pPr>
            <a:endParaRPr lang="en-US" dirty="0"/>
          </a:p>
          <a:p>
            <a:pPr marL="328930" lvl="3" indent="0">
              <a:buSzPct val="80000"/>
              <a:buNone/>
            </a:pPr>
            <a:endParaRPr lang="en-US" dirty="0"/>
          </a:p>
          <a:p>
            <a:pPr marL="328930" lvl="3" indent="0">
              <a:buSzPct val="80000"/>
              <a:buNone/>
            </a:pPr>
            <a:endParaRPr lang="en-US" dirty="0"/>
          </a:p>
          <a:p>
            <a:pPr marL="328930" lvl="3" indent="0">
              <a:buSzPct val="80000"/>
              <a:buNone/>
            </a:pPr>
            <a:endParaRPr lang="en-US" dirty="0"/>
          </a:p>
          <a:p>
            <a:pPr marL="328930" lvl="3" indent="0">
              <a:buSzPct val="80000"/>
              <a:buNone/>
            </a:pP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875551717"/>
              </p:ext>
            </p:extLst>
          </p:nvPr>
        </p:nvGraphicFramePr>
        <p:xfrm>
          <a:off x="152400" y="1600200"/>
          <a:ext cx="8686800" cy="4821936"/>
        </p:xfrm>
        <a:graphic>
          <a:graphicData uri="http://schemas.openxmlformats.org/drawingml/2006/table">
            <a:tbl>
              <a:tblPr firstRow="1" bandRow="1">
                <a:tableStyleId>{00A15C55-8517-42AA-B614-E9B94910E393}</a:tableStyleId>
              </a:tblPr>
              <a:tblGrid>
                <a:gridCol w="7620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33909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268114">
                <a:tc>
                  <a:txBody>
                    <a:bodyPr/>
                    <a:lstStyle/>
                    <a:p>
                      <a:pPr algn="ctr"/>
                      <a:r>
                        <a:rPr lang="en-US" sz="1700" kern="1200" dirty="0">
                          <a:solidFill>
                            <a:schemeClr val="bg2"/>
                          </a:solidFill>
                          <a:effectLst/>
                        </a:rPr>
                        <a:t>Line</a:t>
                      </a:r>
                      <a:endParaRPr lang="en-US" sz="1700" dirty="0">
                        <a:solidFill>
                          <a:schemeClr val="bg2"/>
                        </a:solidFill>
                      </a:endParaRPr>
                    </a:p>
                  </a:txBody>
                  <a:tcPr/>
                </a:tc>
                <a:tc>
                  <a:txBody>
                    <a:bodyPr/>
                    <a:lstStyle/>
                    <a:p>
                      <a:pPr algn="ctr"/>
                      <a:r>
                        <a:rPr lang="en-US" sz="1700" kern="1200" dirty="0" err="1">
                          <a:solidFill>
                            <a:schemeClr val="bg2"/>
                          </a:solidFill>
                          <a:effectLst/>
                        </a:rPr>
                        <a:t>Biểu</a:t>
                      </a:r>
                      <a:r>
                        <a:rPr lang="en-US" sz="1700" kern="1200" baseline="0" dirty="0">
                          <a:solidFill>
                            <a:schemeClr val="bg2"/>
                          </a:solidFill>
                          <a:effectLst/>
                        </a:rPr>
                        <a:t> </a:t>
                      </a:r>
                      <a:r>
                        <a:rPr lang="en-US" sz="1700" kern="1200" baseline="0" dirty="0" err="1">
                          <a:solidFill>
                            <a:schemeClr val="bg2"/>
                          </a:solidFill>
                          <a:effectLst/>
                        </a:rPr>
                        <a:t>thức</a:t>
                      </a:r>
                      <a:r>
                        <a:rPr lang="en-US" sz="1700" kern="1200" baseline="0" dirty="0">
                          <a:solidFill>
                            <a:schemeClr val="bg2"/>
                          </a:solidFill>
                          <a:effectLst/>
                        </a:rPr>
                        <a:t> </a:t>
                      </a:r>
                      <a:r>
                        <a:rPr lang="en-US" sz="1700" kern="1200" baseline="0" dirty="0" err="1">
                          <a:solidFill>
                            <a:schemeClr val="bg2"/>
                          </a:solidFill>
                          <a:effectLst/>
                        </a:rPr>
                        <a:t>điều</a:t>
                      </a:r>
                      <a:r>
                        <a:rPr lang="en-US" sz="1700" kern="1200" baseline="0" dirty="0">
                          <a:solidFill>
                            <a:schemeClr val="bg2"/>
                          </a:solidFill>
                          <a:effectLst/>
                        </a:rPr>
                        <a:t> </a:t>
                      </a:r>
                      <a:r>
                        <a:rPr lang="en-US" sz="1700" kern="1200" baseline="0" dirty="0" err="1">
                          <a:solidFill>
                            <a:schemeClr val="bg2"/>
                          </a:solidFill>
                          <a:effectLst/>
                        </a:rPr>
                        <a:t>kiện</a:t>
                      </a:r>
                      <a:endParaRPr lang="en-US" sz="1700" dirty="0">
                        <a:solidFill>
                          <a:schemeClr val="bg2"/>
                        </a:solidFill>
                      </a:endParaRPr>
                    </a:p>
                  </a:txBody>
                  <a:tcPr/>
                </a:tc>
                <a:tc>
                  <a:txBody>
                    <a:bodyPr/>
                    <a:lstStyle/>
                    <a:p>
                      <a:pPr algn="ctr"/>
                      <a:r>
                        <a:rPr lang="en-US" sz="1700" kern="1200" dirty="0">
                          <a:solidFill>
                            <a:schemeClr val="bg2"/>
                          </a:solidFill>
                          <a:effectLst/>
                        </a:rPr>
                        <a:t>True</a:t>
                      </a:r>
                      <a:endParaRPr lang="en-US" sz="1700" dirty="0">
                        <a:solidFill>
                          <a:schemeClr val="bg2"/>
                        </a:solidFill>
                      </a:endParaRPr>
                    </a:p>
                  </a:txBody>
                  <a:tcPr/>
                </a:tc>
                <a:tc>
                  <a:txBody>
                    <a:bodyPr/>
                    <a:lstStyle/>
                    <a:p>
                      <a:pPr algn="ctr"/>
                      <a:r>
                        <a:rPr lang="en-US" sz="1700" kern="1200" dirty="0">
                          <a:solidFill>
                            <a:schemeClr val="bg2"/>
                          </a:solidFill>
                          <a:effectLst/>
                        </a:rPr>
                        <a:t>False</a:t>
                      </a:r>
                      <a:endParaRPr lang="en-US" sz="1700" dirty="0">
                        <a:solidFill>
                          <a:schemeClr val="bg2"/>
                        </a:solidFill>
                      </a:endParaRPr>
                    </a:p>
                  </a:txBody>
                  <a:tcPr/>
                </a:tc>
                <a:extLst>
                  <a:ext uri="{0D108BD9-81ED-4DB2-BD59-A6C34878D82A}">
                    <a16:rowId xmlns:a16="http://schemas.microsoft.com/office/drawing/2014/main" val="10000"/>
                  </a:ext>
                </a:extLst>
              </a:tr>
              <a:tr h="707711">
                <a:tc>
                  <a:txBody>
                    <a:bodyPr/>
                    <a:lstStyle/>
                    <a:p>
                      <a:pPr algn="just">
                        <a:lnSpc>
                          <a:spcPct val="150000"/>
                        </a:lnSpc>
                        <a:spcAft>
                          <a:spcPts val="0"/>
                        </a:spcAft>
                        <a:tabLst>
                          <a:tab pos="217170" algn="l"/>
                        </a:tabLst>
                      </a:pPr>
                      <a:r>
                        <a:rPr lang="en-US" sz="1700" dirty="0">
                          <a:effectLst/>
                          <a:latin typeface="Arial (Body)" charset="0"/>
                          <a:cs typeface="Arial (Body)" charset="0"/>
                        </a:rPr>
                        <a:t>3</a:t>
                      </a:r>
                      <a:endParaRPr lang="en-US" sz="1700" dirty="0">
                        <a:solidFill>
                          <a:srgbClr val="000000"/>
                        </a:solidFill>
                        <a:effectLst/>
                        <a:latin typeface="Arial (Body)" charset="0"/>
                        <a:ea typeface="MS Mincho" panose="02020609040205080304" pitchFamily="17" charset="-128"/>
                        <a:cs typeface="Arial (Body)" charset="0"/>
                      </a:endParaRPr>
                    </a:p>
                  </a:txBody>
                  <a:tcPr marL="68580" marR="68580" marT="0" marB="0"/>
                </a:tc>
                <a:tc>
                  <a:txBody>
                    <a:bodyPr/>
                    <a:lstStyle/>
                    <a:p>
                      <a:pPr algn="just">
                        <a:lnSpc>
                          <a:spcPct val="150000"/>
                        </a:lnSpc>
                        <a:spcAft>
                          <a:spcPts val="0"/>
                        </a:spcAft>
                        <a:tabLst>
                          <a:tab pos="217170" algn="l"/>
                        </a:tabLst>
                      </a:pPr>
                      <a:r>
                        <a:rPr lang="en-US" sz="1700" dirty="0">
                          <a:effectLst/>
                          <a:latin typeface="Arial (Body)" charset="0"/>
                          <a:cs typeface="Arial (Body)" charset="0"/>
                        </a:rPr>
                        <a:t>(a == 0)</a:t>
                      </a:r>
                      <a:endParaRPr lang="en-US" sz="1700" dirty="0">
                        <a:solidFill>
                          <a:srgbClr val="000000"/>
                        </a:solidFill>
                        <a:effectLst/>
                        <a:latin typeface="Arial (Body)" charset="0"/>
                        <a:ea typeface="MS Mincho" panose="02020609040205080304" pitchFamily="17" charset="-128"/>
                        <a:cs typeface="Arial (Body)" charset="0"/>
                      </a:endParaRPr>
                    </a:p>
                  </a:txBody>
                  <a:tcPr marL="68580" marR="68580" marT="0" marB="0"/>
                </a:tc>
                <a:tc>
                  <a:txBody>
                    <a:bodyPr/>
                    <a:lstStyle/>
                    <a:p>
                      <a:pPr algn="just">
                        <a:lnSpc>
                          <a:spcPct val="150000"/>
                        </a:lnSpc>
                        <a:spcAft>
                          <a:spcPts val="0"/>
                        </a:spcAft>
                        <a:tabLst>
                          <a:tab pos="217170" algn="l"/>
                        </a:tabLst>
                      </a:pPr>
                      <a:r>
                        <a:rPr lang="en-US" sz="1700" dirty="0">
                          <a:effectLst/>
                          <a:latin typeface="Arial (Body)" charset="0"/>
                          <a:cs typeface="Arial (Body)" charset="0"/>
                        </a:rPr>
                        <a:t>Test Case 1</a:t>
                      </a:r>
                    </a:p>
                    <a:p>
                      <a:pPr algn="just">
                        <a:lnSpc>
                          <a:spcPct val="150000"/>
                        </a:lnSpc>
                        <a:spcAft>
                          <a:spcPts val="0"/>
                        </a:spcAft>
                        <a:tabLst>
                          <a:tab pos="217170" algn="l"/>
                        </a:tabLst>
                      </a:pPr>
                      <a:r>
                        <a:rPr lang="en-US" sz="1700" dirty="0">
                          <a:sym typeface="+mn-ea"/>
                        </a:rPr>
                        <a:t>float</a:t>
                      </a:r>
                      <a:r>
                        <a:rPr lang="en-US" sz="1700" dirty="0">
                          <a:effectLst/>
                          <a:latin typeface="Arial (Body)" charset="0"/>
                          <a:cs typeface="Arial (Body)" charset="0"/>
                        </a:rPr>
                        <a:t>(0, 0, 0, 0)</a:t>
                      </a:r>
                    </a:p>
                    <a:p>
                      <a:pPr algn="just">
                        <a:lnSpc>
                          <a:spcPct val="150000"/>
                        </a:lnSpc>
                        <a:spcAft>
                          <a:spcPts val="0"/>
                        </a:spcAft>
                        <a:tabLst>
                          <a:tab pos="217170" algn="l"/>
                        </a:tabLst>
                      </a:pPr>
                      <a:r>
                        <a:rPr lang="en-US" sz="1700" dirty="0">
                          <a:effectLst/>
                          <a:latin typeface="Arial (Body)" charset="0"/>
                          <a:cs typeface="Arial (Body)" charset="0"/>
                        </a:rPr>
                        <a:t>return 0</a:t>
                      </a:r>
                      <a:endParaRPr lang="en-US" sz="1700" dirty="0">
                        <a:solidFill>
                          <a:srgbClr val="000000"/>
                        </a:solidFill>
                        <a:effectLst/>
                        <a:latin typeface="Arial (Body)" charset="0"/>
                        <a:ea typeface="MS Mincho" panose="02020609040205080304" pitchFamily="17" charset="-128"/>
                        <a:cs typeface="Arial (Body)" charset="0"/>
                      </a:endParaRPr>
                    </a:p>
                  </a:txBody>
                  <a:tcPr marL="68580" marR="68580" marT="0" marB="0"/>
                </a:tc>
                <a:tc>
                  <a:txBody>
                    <a:bodyPr/>
                    <a:lstStyle/>
                    <a:p>
                      <a:pPr algn="just">
                        <a:lnSpc>
                          <a:spcPct val="150000"/>
                        </a:lnSpc>
                        <a:spcAft>
                          <a:spcPts val="0"/>
                        </a:spcAft>
                        <a:tabLst>
                          <a:tab pos="217170" algn="l"/>
                        </a:tabLst>
                      </a:pPr>
                      <a:r>
                        <a:rPr lang="en-US" sz="1700" dirty="0">
                          <a:effectLst/>
                          <a:latin typeface="Arial (Body)" charset="0"/>
                          <a:cs typeface="Arial (Body)" charset="0"/>
                        </a:rPr>
                        <a:t>Test Case 2</a:t>
                      </a:r>
                    </a:p>
                    <a:p>
                      <a:pPr algn="just">
                        <a:lnSpc>
                          <a:spcPct val="150000"/>
                        </a:lnSpc>
                        <a:spcAft>
                          <a:spcPts val="0"/>
                        </a:spcAft>
                        <a:tabLst>
                          <a:tab pos="217170" algn="l"/>
                        </a:tabLst>
                      </a:pPr>
                      <a:r>
                        <a:rPr lang="en-US" sz="1700" dirty="0">
                          <a:sym typeface="+mn-ea"/>
                        </a:rPr>
                        <a:t>float</a:t>
                      </a:r>
                      <a:r>
                        <a:rPr lang="en-US" sz="1700" dirty="0">
                          <a:effectLst/>
                          <a:latin typeface="Arial (Body)" charset="0"/>
                          <a:cs typeface="Arial (Body)" charset="0"/>
                        </a:rPr>
                        <a:t>(1, 1, 1, 1)</a:t>
                      </a:r>
                    </a:p>
                    <a:p>
                      <a:pPr algn="just">
                        <a:lnSpc>
                          <a:spcPct val="150000"/>
                        </a:lnSpc>
                        <a:spcAft>
                          <a:spcPts val="0"/>
                        </a:spcAft>
                        <a:tabLst>
                          <a:tab pos="217170" algn="l"/>
                        </a:tabLst>
                      </a:pPr>
                      <a:r>
                        <a:rPr lang="en-US" sz="1700" dirty="0">
                          <a:effectLst/>
                          <a:latin typeface="Arial (Body)" charset="0"/>
                          <a:cs typeface="Arial (Body)" charset="0"/>
                        </a:rPr>
                        <a:t>return 1</a:t>
                      </a:r>
                      <a:endParaRPr lang="en-US" sz="1700" dirty="0">
                        <a:solidFill>
                          <a:srgbClr val="000000"/>
                        </a:solidFill>
                        <a:effectLst/>
                        <a:latin typeface="Arial (Body)" charset="0"/>
                        <a:ea typeface="MS Mincho" panose="02020609040205080304" pitchFamily="17" charset="-128"/>
                        <a:cs typeface="Arial (Body)" charset="0"/>
                      </a:endParaRPr>
                    </a:p>
                  </a:txBody>
                  <a:tcPr marL="68580" marR="68580" marT="0" marB="0"/>
                </a:tc>
                <a:extLst>
                  <a:ext uri="{0D108BD9-81ED-4DB2-BD59-A6C34878D82A}">
                    <a16:rowId xmlns:a16="http://schemas.microsoft.com/office/drawing/2014/main" val="10001"/>
                  </a:ext>
                </a:extLst>
              </a:tr>
              <a:tr h="462125">
                <a:tc>
                  <a:txBody>
                    <a:bodyPr/>
                    <a:lstStyle/>
                    <a:p>
                      <a:pPr algn="just">
                        <a:lnSpc>
                          <a:spcPct val="150000"/>
                        </a:lnSpc>
                        <a:spcAft>
                          <a:spcPts val="0"/>
                        </a:spcAft>
                        <a:tabLst>
                          <a:tab pos="217170" algn="l"/>
                        </a:tabLst>
                      </a:pPr>
                      <a:r>
                        <a:rPr lang="en-US" sz="1700" dirty="0">
                          <a:effectLst/>
                          <a:latin typeface="Arial (Body)" charset="0"/>
                          <a:cs typeface="Arial (Body)" charset="0"/>
                        </a:rPr>
                        <a:t>6</a:t>
                      </a:r>
                      <a:endParaRPr lang="en-US" sz="1700" dirty="0">
                        <a:solidFill>
                          <a:srgbClr val="000000"/>
                        </a:solidFill>
                        <a:effectLst/>
                        <a:latin typeface="Arial (Body)" charset="0"/>
                        <a:ea typeface="MS Mincho" panose="02020609040205080304" pitchFamily="17" charset="-128"/>
                        <a:cs typeface="Arial (Body)" charset="0"/>
                      </a:endParaRPr>
                    </a:p>
                  </a:txBody>
                  <a:tcPr marL="68580" marR="68580" marT="0" marB="0"/>
                </a:tc>
                <a:tc>
                  <a:txBody>
                    <a:bodyPr/>
                    <a:lstStyle/>
                    <a:p>
                      <a:pPr algn="just">
                        <a:lnSpc>
                          <a:spcPct val="150000"/>
                        </a:lnSpc>
                        <a:spcAft>
                          <a:spcPts val="0"/>
                        </a:spcAft>
                        <a:tabLst>
                          <a:tab pos="217170" algn="l"/>
                        </a:tabLst>
                      </a:pPr>
                      <a:r>
                        <a:rPr lang="en-US" sz="1700" dirty="0">
                          <a:effectLst/>
                          <a:latin typeface="Arial (Body)" charset="0"/>
                          <a:cs typeface="Arial (Body)" charset="0"/>
                        </a:rPr>
                        <a:t>(a==b)</a:t>
                      </a:r>
                      <a:endParaRPr lang="en-US" sz="1700" dirty="0">
                        <a:solidFill>
                          <a:srgbClr val="000000"/>
                        </a:solidFill>
                        <a:effectLst/>
                        <a:latin typeface="Arial (Body)" charset="0"/>
                        <a:ea typeface="MS Mincho" panose="02020609040205080304" pitchFamily="17" charset="-128"/>
                        <a:cs typeface="Arial (Body)" charset="0"/>
                      </a:endParaRPr>
                    </a:p>
                  </a:txBody>
                  <a:tcPr marL="68580" marR="68580" marT="0" marB="0"/>
                </a:tc>
                <a:tc>
                  <a:txBody>
                    <a:bodyPr/>
                    <a:lstStyle/>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Test Case 2 : </a:t>
                      </a:r>
                      <a:r>
                        <a:rPr lang="en-US" sz="1700" dirty="0">
                          <a:sym typeface="+mn-ea"/>
                        </a:rPr>
                        <a:t>float</a:t>
                      </a:r>
                      <a:r>
                        <a:rPr lang="en-US" sz="1700" dirty="0">
                          <a:solidFill>
                            <a:srgbClr val="000000"/>
                          </a:solidFill>
                          <a:effectLst/>
                          <a:latin typeface="Arial (Body)" charset="0"/>
                          <a:ea typeface="MS Mincho" panose="02020609040205080304" pitchFamily="17" charset="-128"/>
                          <a:cs typeface="Arial (Body)" charset="0"/>
                        </a:rPr>
                        <a:t>(1, 1, 1, 1)</a:t>
                      </a:r>
                    </a:p>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return 1</a:t>
                      </a:r>
                    </a:p>
                  </a:txBody>
                  <a:tcPr marL="68580" marR="68580" marT="0" marB="0"/>
                </a:tc>
                <a:tc>
                  <a:txBody>
                    <a:bodyPr/>
                    <a:lstStyle/>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Test Case 3 : </a:t>
                      </a:r>
                      <a:r>
                        <a:rPr lang="en-US" sz="1700" dirty="0">
                          <a:sym typeface="+mn-ea"/>
                        </a:rPr>
                        <a:t>float</a:t>
                      </a:r>
                      <a:r>
                        <a:rPr lang="en-US" sz="1700" dirty="0">
                          <a:solidFill>
                            <a:srgbClr val="000000"/>
                          </a:solidFill>
                          <a:effectLst/>
                          <a:latin typeface="Arial (Body)" charset="0"/>
                          <a:ea typeface="MS Mincho" panose="02020609040205080304" pitchFamily="17" charset="-128"/>
                          <a:cs typeface="Arial (Body)" charset="0"/>
                        </a:rPr>
                        <a:t>(1, 2, 1, 2)</a:t>
                      </a:r>
                    </a:p>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division by zero!</a:t>
                      </a:r>
                    </a:p>
                  </a:txBody>
                  <a:tcPr marL="68580" marR="68580" marT="0" marB="0"/>
                </a:tc>
                <a:extLst>
                  <a:ext uri="{0D108BD9-81ED-4DB2-BD59-A6C34878D82A}">
                    <a16:rowId xmlns:a16="http://schemas.microsoft.com/office/drawing/2014/main" val="10002"/>
                  </a:ext>
                </a:extLst>
              </a:tr>
              <a:tr h="462125">
                <a:tc>
                  <a:txBody>
                    <a:bodyPr/>
                    <a:lstStyle/>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6</a:t>
                      </a:r>
                    </a:p>
                  </a:txBody>
                  <a:tcPr marL="68580" marR="68580" marT="0" marB="0"/>
                </a:tc>
                <a:tc>
                  <a:txBody>
                    <a:bodyPr/>
                    <a:lstStyle/>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(c==d)</a:t>
                      </a:r>
                    </a:p>
                  </a:txBody>
                  <a:tcPr marL="68580" marR="68580" marT="0" marB="0"/>
                </a:tc>
                <a:tc>
                  <a:txBody>
                    <a:bodyPr/>
                    <a:lstStyle/>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Test Case 4 : </a:t>
                      </a:r>
                      <a:r>
                        <a:rPr lang="en-US" sz="1700" dirty="0">
                          <a:sym typeface="+mn-ea"/>
                        </a:rPr>
                        <a:t>float</a:t>
                      </a:r>
                      <a:r>
                        <a:rPr lang="en-US" sz="1700" dirty="0">
                          <a:solidFill>
                            <a:srgbClr val="000000"/>
                          </a:solidFill>
                          <a:effectLst/>
                          <a:latin typeface="Arial (Body)" charset="0"/>
                          <a:ea typeface="MS Mincho" panose="02020609040205080304" pitchFamily="17" charset="-128"/>
                          <a:cs typeface="Arial (Body)" charset="0"/>
                        </a:rPr>
                        <a:t>(2, 1, 1, 1)</a:t>
                      </a:r>
                    </a:p>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Return 1</a:t>
                      </a:r>
                    </a:p>
                  </a:txBody>
                  <a:tcPr marL="68580" marR="68580" marT="0" marB="0"/>
                </a:tc>
                <a:tc>
                  <a:txBody>
                    <a:bodyPr/>
                    <a:lstStyle/>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Test Case 3 : </a:t>
                      </a:r>
                      <a:r>
                        <a:rPr lang="en-US" sz="1700" dirty="0">
                          <a:sym typeface="+mn-ea"/>
                        </a:rPr>
                        <a:t>float</a:t>
                      </a:r>
                      <a:r>
                        <a:rPr lang="en-US" sz="1700" dirty="0">
                          <a:solidFill>
                            <a:srgbClr val="000000"/>
                          </a:solidFill>
                          <a:effectLst/>
                          <a:latin typeface="Arial (Body)" charset="0"/>
                          <a:ea typeface="MS Mincho" panose="02020609040205080304" pitchFamily="17" charset="-128"/>
                          <a:cs typeface="Arial (Body)" charset="0"/>
                        </a:rPr>
                        <a:t>(1, 2, 1, 2)</a:t>
                      </a:r>
                    </a:p>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division by zero!</a:t>
                      </a:r>
                    </a:p>
                  </a:txBody>
                  <a:tcPr marL="68580" marR="68580" marT="0" marB="0"/>
                </a:tc>
                <a:extLst>
                  <a:ext uri="{0D108BD9-81ED-4DB2-BD59-A6C34878D82A}">
                    <a16:rowId xmlns:a16="http://schemas.microsoft.com/office/drawing/2014/main" val="10003"/>
                  </a:ext>
                </a:extLst>
              </a:tr>
              <a:tr h="462125">
                <a:tc>
                  <a:txBody>
                    <a:bodyPr/>
                    <a:lstStyle/>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6</a:t>
                      </a:r>
                    </a:p>
                  </a:txBody>
                  <a:tcPr marL="68580" marR="68580" marT="0" marB="0"/>
                </a:tc>
                <a:tc>
                  <a:txBody>
                    <a:bodyPr/>
                    <a:lstStyle/>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a==2</a:t>
                      </a:r>
                    </a:p>
                  </a:txBody>
                  <a:tcPr marL="68580" marR="68580" marT="0" marB="0"/>
                </a:tc>
                <a:tc>
                  <a:txBody>
                    <a:bodyPr/>
                    <a:lstStyle/>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Test Case 4 : </a:t>
                      </a:r>
                      <a:r>
                        <a:rPr lang="en-US" sz="1700" dirty="0">
                          <a:sym typeface="+mn-ea"/>
                        </a:rPr>
                        <a:t>float</a:t>
                      </a:r>
                      <a:r>
                        <a:rPr lang="en-US" sz="1700" dirty="0">
                          <a:solidFill>
                            <a:srgbClr val="000000"/>
                          </a:solidFill>
                          <a:effectLst/>
                          <a:latin typeface="Arial (Body)" charset="0"/>
                          <a:ea typeface="MS Mincho" panose="02020609040205080304" pitchFamily="17" charset="-128"/>
                          <a:cs typeface="Arial (Body)" charset="0"/>
                        </a:rPr>
                        <a:t>(2, 1, 1, 1)</a:t>
                      </a:r>
                    </a:p>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Return 1</a:t>
                      </a:r>
                    </a:p>
                  </a:txBody>
                  <a:tcPr marL="68580" marR="68580" marT="0" marB="0"/>
                </a:tc>
                <a:tc>
                  <a:txBody>
                    <a:bodyPr/>
                    <a:lstStyle/>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Test Case 5 : </a:t>
                      </a:r>
                      <a:r>
                        <a:rPr lang="en-US" sz="1700" dirty="0">
                          <a:sym typeface="+mn-ea"/>
                        </a:rPr>
                        <a:t>float</a:t>
                      </a:r>
                      <a:r>
                        <a:rPr lang="en-US" sz="1700" dirty="0">
                          <a:solidFill>
                            <a:srgbClr val="000000"/>
                          </a:solidFill>
                          <a:effectLst/>
                          <a:latin typeface="Arial (Body)" charset="0"/>
                          <a:ea typeface="MS Mincho" panose="02020609040205080304" pitchFamily="17" charset="-128"/>
                          <a:cs typeface="Arial (Body)" charset="0"/>
                        </a:rPr>
                        <a:t>(3,1, 1, 1)</a:t>
                      </a:r>
                    </a:p>
                    <a:p>
                      <a:pPr algn="just">
                        <a:lnSpc>
                          <a:spcPct val="150000"/>
                        </a:lnSpc>
                        <a:spcAft>
                          <a:spcPts val="0"/>
                        </a:spcAft>
                        <a:tabLst>
                          <a:tab pos="217170" algn="l"/>
                        </a:tabLst>
                      </a:pPr>
                      <a:r>
                        <a:rPr lang="en-US" sz="1700" dirty="0">
                          <a:solidFill>
                            <a:srgbClr val="000000"/>
                          </a:solidFill>
                          <a:effectLst/>
                          <a:latin typeface="Arial (Body)" charset="0"/>
                          <a:ea typeface="MS Mincho" panose="02020609040205080304" pitchFamily="17" charset="-128"/>
                          <a:cs typeface="Arial (Body)" charset="0"/>
                        </a:rPr>
                        <a:t>division by zero!</a:t>
                      </a:r>
                    </a:p>
                  </a:txBody>
                  <a:tcPr marL="68580" marR="6858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395"/>
            <a:ext cx="7086600" cy="799306"/>
          </a:xfrm>
        </p:spPr>
        <p:txBody>
          <a:bodyPr/>
          <a:lstStyle/>
          <a:p>
            <a:r>
              <a:rPr lang="en-US" dirty="0"/>
              <a:t>3.3. Test </a:t>
            </a:r>
            <a:r>
              <a:rPr lang="en-US" dirty="0" err="1"/>
              <a:t>các</a:t>
            </a:r>
            <a:r>
              <a:rPr lang="en-US" dirty="0"/>
              <a:t> </a:t>
            </a:r>
            <a:r>
              <a:rPr lang="en-US" dirty="0" err="1"/>
              <a:t>biểu</a:t>
            </a:r>
            <a:r>
              <a:rPr lang="en-US" dirty="0"/>
              <a:t> </a:t>
            </a:r>
            <a:r>
              <a:rPr lang="en-US" dirty="0" err="1"/>
              <a:t>thức</a:t>
            </a:r>
            <a:r>
              <a:rPr lang="en-US" dirty="0"/>
              <a:t> </a:t>
            </a:r>
            <a:r>
              <a:rPr lang="en-US" dirty="0" err="1"/>
              <a:t>điều</a:t>
            </a:r>
            <a:r>
              <a:rPr lang="en-US" dirty="0"/>
              <a:t> </a:t>
            </a:r>
            <a:r>
              <a:rPr lang="en-US" dirty="0" err="1"/>
              <a:t>kiện</a:t>
            </a:r>
            <a:endParaRPr lang="en-US" dirty="0"/>
          </a:p>
        </p:txBody>
      </p:sp>
      <p:sp>
        <p:nvSpPr>
          <p:cNvPr id="3" name="Content Placeholder 2"/>
          <p:cNvSpPr>
            <a:spLocks noGrp="1"/>
          </p:cNvSpPr>
          <p:nvPr>
            <p:ph idx="1"/>
          </p:nvPr>
        </p:nvSpPr>
        <p:spPr>
          <a:xfrm>
            <a:off x="495300" y="1155176"/>
            <a:ext cx="8229600" cy="4572000"/>
          </a:xfrm>
        </p:spPr>
        <p:txBody>
          <a:bodyPr>
            <a:normAutofit/>
          </a:bodyPr>
          <a:lstStyle/>
          <a:p>
            <a:pPr algn="just">
              <a:buFont typeface="Wingdings" panose="05000000000000000000" pitchFamily="2" charset="2"/>
              <a:buChar char="Ø"/>
            </a:pPr>
            <a:r>
              <a:rPr lang="en-US" sz="1900" dirty="0" err="1"/>
              <a:t>Với</a:t>
            </a:r>
            <a:r>
              <a:rPr lang="en-US" sz="1900" dirty="0"/>
              <a:t> 3 test cases </a:t>
            </a:r>
            <a:r>
              <a:rPr lang="en-US" sz="1900" dirty="0" err="1"/>
              <a:t>xác</a:t>
            </a:r>
            <a:r>
              <a:rPr lang="en-US" sz="1900" dirty="0"/>
              <a:t> </a:t>
            </a:r>
            <a:r>
              <a:rPr lang="en-US" sz="1900" dirty="0" err="1"/>
              <a:t>định</a:t>
            </a:r>
            <a:r>
              <a:rPr lang="en-US" sz="1900" dirty="0"/>
              <a:t> </a:t>
            </a:r>
            <a:r>
              <a:rPr lang="en-US" sz="1900" dirty="0" err="1"/>
              <a:t>trong</a:t>
            </a:r>
            <a:r>
              <a:rPr lang="en-US" sz="1900" dirty="0"/>
              <a:t> </a:t>
            </a:r>
            <a:r>
              <a:rPr lang="en-US" sz="1900" dirty="0" err="1"/>
              <a:t>phần</a:t>
            </a:r>
            <a:r>
              <a:rPr lang="en-US" sz="1900" dirty="0"/>
              <a:t> </a:t>
            </a:r>
            <a:r>
              <a:rPr lang="en-US" sz="1900" dirty="0" err="1"/>
              <a:t>trước</a:t>
            </a:r>
            <a:r>
              <a:rPr lang="en-US" sz="1900" dirty="0"/>
              <a:t>, ta </a:t>
            </a:r>
            <a:r>
              <a:rPr lang="en-US" sz="1900" dirty="0" err="1"/>
              <a:t>chỉ</a:t>
            </a:r>
            <a:r>
              <a:rPr lang="en-US" sz="1900" dirty="0"/>
              <a:t> </a:t>
            </a:r>
            <a:r>
              <a:rPr lang="en-US" sz="1900" dirty="0" err="1"/>
              <a:t>đạt</a:t>
            </a:r>
            <a:r>
              <a:rPr lang="en-US" sz="1900" dirty="0"/>
              <a:t> </a:t>
            </a:r>
            <a:r>
              <a:rPr lang="en-US" sz="1900" dirty="0" err="1"/>
              <a:t>được</a:t>
            </a:r>
            <a:r>
              <a:rPr lang="en-US" sz="1900" dirty="0"/>
              <a:t> 5/8 = 62.5% </a:t>
            </a:r>
            <a:r>
              <a:rPr lang="en-US" sz="1900" dirty="0" err="1"/>
              <a:t>bao</a:t>
            </a:r>
            <a:r>
              <a:rPr lang="en-US" sz="1900" dirty="0"/>
              <a:t> </a:t>
            </a:r>
            <a:r>
              <a:rPr lang="en-US" sz="1900" dirty="0" err="1"/>
              <a:t>phủ</a:t>
            </a:r>
            <a:r>
              <a:rPr lang="en-US" sz="1900" dirty="0"/>
              <a:t> </a:t>
            </a:r>
            <a:r>
              <a:rPr lang="en-US" sz="1900" dirty="0" err="1"/>
              <a:t>các</a:t>
            </a:r>
            <a:r>
              <a:rPr lang="en-US" sz="1900" dirty="0"/>
              <a:t> </a:t>
            </a:r>
            <a:r>
              <a:rPr lang="en-US" sz="1900" dirty="0" err="1"/>
              <a:t>nhánh</a:t>
            </a:r>
            <a:r>
              <a:rPr lang="en-US" sz="1900" dirty="0"/>
              <a:t>. </a:t>
            </a:r>
          </a:p>
          <a:p>
            <a:pPr marL="537210" lvl="1" indent="0">
              <a:buNone/>
            </a:pPr>
            <a:r>
              <a:rPr lang="en-US" sz="1900" dirty="0"/>
              <a:t>Nếu thêm case: float(2, 1, 1, 1) , float(3,1, 1, 1) =&gt; thì mới </a:t>
            </a:r>
            <a:r>
              <a:rPr lang="en-US" sz="1900" dirty="0" err="1"/>
              <a:t>đạt</a:t>
            </a:r>
            <a:r>
              <a:rPr lang="en-US" sz="1900" dirty="0"/>
              <a:t> 100% bao </a:t>
            </a:r>
            <a:r>
              <a:rPr lang="en-US" sz="1900" dirty="0" err="1"/>
              <a:t>phủ</a:t>
            </a:r>
            <a:r>
              <a:rPr lang="en-US" sz="1900" dirty="0"/>
              <a:t> các </a:t>
            </a:r>
            <a:r>
              <a:rPr lang="en-US" sz="1900" dirty="0" err="1"/>
              <a:t>nhánh</a:t>
            </a:r>
            <a:r>
              <a:rPr lang="en-US" sz="1900" dirty="0"/>
              <a:t>.</a:t>
            </a:r>
          </a:p>
          <a:p>
            <a:pPr lvl="3">
              <a:buFont typeface="Wingdings" panose="05000000000000000000" pitchFamily="2" charset="2"/>
              <a:buChar char="§"/>
            </a:pPr>
            <a:endParaRPr lang="en-US" sz="1900" dirty="0"/>
          </a:p>
          <a:p>
            <a:endParaRPr lang="en-US" sz="1900" dirty="0"/>
          </a:p>
        </p:txBody>
      </p:sp>
      <p:graphicFrame>
        <p:nvGraphicFramePr>
          <p:cNvPr id="4" name="Table 3"/>
          <p:cNvGraphicFramePr>
            <a:graphicFrameLocks noGrp="1"/>
          </p:cNvGraphicFramePr>
          <p:nvPr>
            <p:extLst>
              <p:ext uri="{D42A27DB-BD31-4B8C-83A1-F6EECF244321}">
                <p14:modId xmlns:p14="http://schemas.microsoft.com/office/powerpoint/2010/main" val="3539258672"/>
              </p:ext>
            </p:extLst>
          </p:nvPr>
        </p:nvGraphicFramePr>
        <p:xfrm>
          <a:off x="2438400" y="2667000"/>
          <a:ext cx="4572000" cy="313182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tblGrid>
              <a:tr h="1432560">
                <a:tc>
                  <a:txBody>
                    <a:bodyPr/>
                    <a:lstStyle/>
                    <a:p>
                      <a:pPr lvl="0">
                        <a:buFontTx/>
                        <a:buNone/>
                      </a:pPr>
                      <a:r>
                        <a:rPr lang="en-US" sz="1900" b="0" dirty="0">
                          <a:solidFill>
                            <a:schemeClr val="bg1"/>
                          </a:solidFill>
                          <a:latin typeface="Times New Roman" panose="02020603050405020304" pitchFamily="18" charset="0"/>
                          <a:cs typeface="Times New Roman" panose="02020603050405020304" pitchFamily="18" charset="0"/>
                        </a:rPr>
                        <a:t>TC1: line 1,2,3,4,10</a:t>
                      </a:r>
                    </a:p>
                    <a:p>
                      <a:pPr lvl="1">
                        <a:buFontTx/>
                        <a:buNone/>
                      </a:pPr>
                      <a:r>
                        <a:rPr lang="en-US" sz="1900" dirty="0">
                          <a:sym typeface="+mn-ea"/>
                        </a:rPr>
                        <a:t>f</a:t>
                      </a:r>
                      <a:r>
                        <a:rPr lang="en-US" sz="1900" b="0" dirty="0">
                          <a:solidFill>
                            <a:schemeClr val="bg1"/>
                          </a:solidFill>
                          <a:sym typeface="+mn-ea"/>
                        </a:rPr>
                        <a:t>float</a:t>
                      </a:r>
                      <a:r>
                        <a:rPr lang="en-US" sz="1900" b="0" dirty="0">
                          <a:solidFill>
                            <a:schemeClr val="bg1"/>
                          </a:solidFill>
                          <a:latin typeface="Times New Roman" panose="02020603050405020304" pitchFamily="18" charset="0"/>
                          <a:cs typeface="Times New Roman" panose="02020603050405020304" pitchFamily="18" charset="0"/>
                        </a:rPr>
                        <a:t>(0,0,0,0), </a:t>
                      </a:r>
                      <a:r>
                        <a:rPr lang="en-US" sz="1900" b="0" dirty="0" err="1">
                          <a:solidFill>
                            <a:schemeClr val="bg1"/>
                          </a:solidFill>
                          <a:latin typeface="Times New Roman" panose="02020603050405020304" pitchFamily="18" charset="0"/>
                          <a:cs typeface="Times New Roman" panose="02020603050405020304" pitchFamily="18" charset="0"/>
                        </a:rPr>
                        <a:t>trả</a:t>
                      </a:r>
                      <a:r>
                        <a:rPr lang="en-US" sz="1900" b="0" dirty="0">
                          <a:solidFill>
                            <a:schemeClr val="bg1"/>
                          </a:solidFill>
                          <a:latin typeface="Times New Roman" panose="02020603050405020304" pitchFamily="18" charset="0"/>
                          <a:cs typeface="Times New Roman" panose="02020603050405020304" pitchFamily="18" charset="0"/>
                        </a:rPr>
                        <a:t> </a:t>
                      </a:r>
                      <a:r>
                        <a:rPr lang="en-US" sz="1900" b="0" dirty="0" err="1">
                          <a:solidFill>
                            <a:schemeClr val="bg1"/>
                          </a:solidFill>
                          <a:latin typeface="Times New Roman" panose="02020603050405020304" pitchFamily="18" charset="0"/>
                          <a:cs typeface="Times New Roman" panose="02020603050405020304" pitchFamily="18" charset="0"/>
                        </a:rPr>
                        <a:t>về</a:t>
                      </a:r>
                      <a:r>
                        <a:rPr lang="en-US" sz="1900" b="0" dirty="0">
                          <a:solidFill>
                            <a:schemeClr val="bg1"/>
                          </a:solidFill>
                          <a:latin typeface="Times New Roman" panose="02020603050405020304" pitchFamily="18" charset="0"/>
                          <a:cs typeface="Times New Roman" panose="02020603050405020304" pitchFamily="18" charset="0"/>
                        </a:rPr>
                        <a:t> 0.</a:t>
                      </a:r>
                    </a:p>
                    <a:p>
                      <a:pPr lvl="0">
                        <a:buFont typeface="Wingdings" panose="05000000000000000000" pitchFamily="2" charset="2"/>
                        <a:buNone/>
                      </a:pPr>
                      <a:r>
                        <a:rPr lang="en-US" sz="1900" b="0" dirty="0">
                          <a:solidFill>
                            <a:schemeClr val="bg1"/>
                          </a:solidFill>
                          <a:latin typeface="Times New Roman" panose="02020603050405020304" pitchFamily="18" charset="0"/>
                          <a:cs typeface="Times New Roman" panose="02020603050405020304" pitchFamily="18" charset="0"/>
                        </a:rPr>
                        <a:t>TC2: line 1,2,3,5,6,7,8,9,10</a:t>
                      </a:r>
                    </a:p>
                    <a:p>
                      <a:pPr lvl="1">
                        <a:buFont typeface="Wingdings" panose="05000000000000000000" pitchFamily="2" charset="2"/>
                        <a:buNone/>
                      </a:pPr>
                      <a:r>
                        <a:rPr lang="en-US" sz="1900" dirty="0">
                          <a:sym typeface="+mn-ea"/>
                        </a:rPr>
                        <a:t>f</a:t>
                      </a:r>
                      <a:r>
                        <a:rPr lang="en-US" sz="1900" b="0" dirty="0">
                          <a:solidFill>
                            <a:schemeClr val="bg1"/>
                          </a:solidFill>
                          <a:sym typeface="+mn-ea"/>
                        </a:rPr>
                        <a:t>float</a:t>
                      </a:r>
                      <a:r>
                        <a:rPr lang="en-US" sz="1900" b="0" dirty="0">
                          <a:solidFill>
                            <a:schemeClr val="bg1"/>
                          </a:solidFill>
                          <a:latin typeface="Times New Roman" panose="02020603050405020304" pitchFamily="18" charset="0"/>
                          <a:cs typeface="Times New Roman" panose="02020603050405020304" pitchFamily="18" charset="0"/>
                        </a:rPr>
                        <a:t>(1,1,1,1), </a:t>
                      </a:r>
                      <a:r>
                        <a:rPr lang="en-US" sz="1900" b="0" dirty="0" err="1">
                          <a:solidFill>
                            <a:schemeClr val="bg1"/>
                          </a:solidFill>
                          <a:latin typeface="Times New Roman" panose="02020603050405020304" pitchFamily="18" charset="0"/>
                          <a:cs typeface="Times New Roman" panose="02020603050405020304" pitchFamily="18" charset="0"/>
                        </a:rPr>
                        <a:t>trả</a:t>
                      </a:r>
                      <a:r>
                        <a:rPr lang="en-US" sz="1900" b="0" dirty="0">
                          <a:solidFill>
                            <a:schemeClr val="bg1"/>
                          </a:solidFill>
                          <a:latin typeface="Times New Roman" panose="02020603050405020304" pitchFamily="18" charset="0"/>
                          <a:cs typeface="Times New Roman" panose="02020603050405020304" pitchFamily="18" charset="0"/>
                        </a:rPr>
                        <a:t> </a:t>
                      </a:r>
                      <a:r>
                        <a:rPr lang="en-US" sz="1900" b="0" dirty="0" err="1">
                          <a:solidFill>
                            <a:schemeClr val="bg1"/>
                          </a:solidFill>
                          <a:latin typeface="Times New Roman" panose="02020603050405020304" pitchFamily="18" charset="0"/>
                          <a:cs typeface="Times New Roman" panose="02020603050405020304" pitchFamily="18" charset="0"/>
                        </a:rPr>
                        <a:t>về</a:t>
                      </a:r>
                      <a:r>
                        <a:rPr lang="en-US" sz="1900" b="0" dirty="0">
                          <a:solidFill>
                            <a:schemeClr val="bg1"/>
                          </a:solidFill>
                          <a:latin typeface="Times New Roman" panose="02020603050405020304" pitchFamily="18" charset="0"/>
                          <a:cs typeface="Times New Roman" panose="02020603050405020304" pitchFamily="18" charset="0"/>
                        </a:rPr>
                        <a:t> 1.</a:t>
                      </a:r>
                    </a:p>
                    <a:p>
                      <a:pPr lvl="0">
                        <a:buFont typeface="Wingdings" panose="05000000000000000000" pitchFamily="2" charset="2"/>
                        <a:buNone/>
                      </a:pPr>
                      <a:r>
                        <a:rPr lang="en-US" sz="1900" b="0" dirty="0">
                          <a:solidFill>
                            <a:schemeClr val="bg1"/>
                          </a:solidFill>
                          <a:latin typeface="Times New Roman" panose="02020603050405020304" pitchFamily="18" charset="0"/>
                          <a:cs typeface="Times New Roman" panose="02020603050405020304" pitchFamily="18" charset="0"/>
                        </a:rPr>
                        <a:t>TC3: line</a:t>
                      </a:r>
                      <a:r>
                        <a:rPr lang="en-US" sz="1900" b="0" baseline="0" dirty="0">
                          <a:solidFill>
                            <a:schemeClr val="bg1"/>
                          </a:solidFill>
                          <a:latin typeface="Times New Roman" panose="02020603050405020304" pitchFamily="18" charset="0"/>
                          <a:cs typeface="Times New Roman" panose="02020603050405020304" pitchFamily="18" charset="0"/>
                        </a:rPr>
                        <a:t> </a:t>
                      </a:r>
                      <a:r>
                        <a:rPr lang="en-US" sz="1900" b="0" dirty="0">
                          <a:solidFill>
                            <a:schemeClr val="bg1"/>
                          </a:solidFill>
                          <a:latin typeface="Times New Roman" panose="02020603050405020304" pitchFamily="18" charset="0"/>
                          <a:cs typeface="Times New Roman" panose="02020603050405020304" pitchFamily="18" charset="0"/>
                        </a:rPr>
                        <a:t>1,2,3,5,6,8</a:t>
                      </a:r>
                    </a:p>
                    <a:p>
                      <a:pPr lvl="1" algn="just">
                        <a:lnSpc>
                          <a:spcPct val="150000"/>
                        </a:lnSpc>
                        <a:spcAft>
                          <a:spcPts val="0"/>
                        </a:spcAft>
                        <a:tabLst>
                          <a:tab pos="217170" algn="l"/>
                        </a:tabLst>
                      </a:pPr>
                      <a:r>
                        <a:rPr lang="en-US" sz="1900" dirty="0">
                          <a:sym typeface="+mn-ea"/>
                        </a:rPr>
                        <a:t>f</a:t>
                      </a:r>
                      <a:r>
                        <a:rPr lang="en-US" sz="1900" b="0" dirty="0">
                          <a:solidFill>
                            <a:schemeClr val="bg1"/>
                          </a:solidFill>
                          <a:sym typeface="+mn-ea"/>
                        </a:rPr>
                        <a:t>float</a:t>
                      </a:r>
                      <a:r>
                        <a:rPr lang="en-US" sz="1900" b="0" dirty="0">
                          <a:solidFill>
                            <a:schemeClr val="bg1"/>
                          </a:solidFill>
                          <a:latin typeface="Times New Roman" panose="02020603050405020304" pitchFamily="18" charset="0"/>
                          <a:cs typeface="Times New Roman" panose="02020603050405020304" pitchFamily="18" charset="0"/>
                        </a:rPr>
                        <a:t>(1,2,1,2), </a:t>
                      </a:r>
                      <a:r>
                        <a:rPr lang="en-US" sz="1900" b="0" dirty="0" err="1">
                          <a:solidFill>
                            <a:schemeClr val="bg1"/>
                          </a:solidFill>
                          <a:latin typeface="Times New Roman" panose="02020603050405020304" pitchFamily="18" charset="0"/>
                          <a:cs typeface="Times New Roman" panose="02020603050405020304" pitchFamily="18" charset="0"/>
                        </a:rPr>
                        <a:t>trả</a:t>
                      </a:r>
                      <a:r>
                        <a:rPr lang="en-US" sz="1900" b="0" dirty="0">
                          <a:solidFill>
                            <a:schemeClr val="bg1"/>
                          </a:solidFill>
                          <a:latin typeface="Times New Roman" panose="02020603050405020304" pitchFamily="18" charset="0"/>
                          <a:cs typeface="Times New Roman" panose="02020603050405020304" pitchFamily="18" charset="0"/>
                        </a:rPr>
                        <a:t> </a:t>
                      </a:r>
                      <a:r>
                        <a:rPr lang="en-US" sz="1900" b="0" dirty="0" err="1">
                          <a:solidFill>
                            <a:schemeClr val="bg1"/>
                          </a:solidFill>
                          <a:latin typeface="Times New Roman" panose="02020603050405020304" pitchFamily="18" charset="0"/>
                          <a:cs typeface="Times New Roman" panose="02020603050405020304" pitchFamily="18" charset="0"/>
                        </a:rPr>
                        <a:t>về</a:t>
                      </a:r>
                      <a:r>
                        <a:rPr lang="en-US" sz="1900" b="0" dirty="0">
                          <a:solidFill>
                            <a:schemeClr val="bg1"/>
                          </a:solidFill>
                          <a:latin typeface="Times New Roman" panose="02020603050405020304" pitchFamily="18" charset="0"/>
                          <a:cs typeface="Times New Roman" panose="02020603050405020304" pitchFamily="18" charset="0"/>
                        </a:rPr>
                        <a:t> </a:t>
                      </a:r>
                      <a:r>
                        <a:rPr lang="en-US" sz="1900" b="0" dirty="0">
                          <a:solidFill>
                            <a:srgbClr val="000000"/>
                          </a:solidFill>
                          <a:effectLst/>
                          <a:latin typeface="Times New Roman" panose="02020603050405020304" pitchFamily="18" charset="0"/>
                          <a:ea typeface="MS Mincho" panose="02020609040205080304" pitchFamily="17" charset="-128"/>
                          <a:cs typeface="Times New Roman" panose="02020603050405020304" pitchFamily="18" charset="0"/>
                        </a:rPr>
                        <a:t>division by zero!</a:t>
                      </a:r>
                    </a:p>
                    <a:p>
                      <a:pPr lvl="0">
                        <a:buFont typeface="Wingdings" panose="05000000000000000000" pitchFamily="2" charset="2"/>
                        <a:buNone/>
                      </a:pPr>
                      <a:r>
                        <a:rPr lang="en-US" sz="1900" b="0" dirty="0">
                          <a:solidFill>
                            <a:schemeClr val="bg1"/>
                          </a:solidFill>
                          <a:latin typeface="Times New Roman" panose="02020603050405020304" pitchFamily="18" charset="0"/>
                          <a:cs typeface="Times New Roman" panose="02020603050405020304" pitchFamily="18" charset="0"/>
                        </a:rPr>
                        <a:t>TC4: line 1,2,3,5,6,7,8,9,10</a:t>
                      </a:r>
                    </a:p>
                    <a:p>
                      <a:pPr lvl="1">
                        <a:buFont typeface="Wingdings" panose="05000000000000000000" pitchFamily="2" charset="2"/>
                        <a:buNone/>
                      </a:pPr>
                      <a:r>
                        <a:rPr lang="en-US" sz="1900" dirty="0" err="1">
                          <a:sym typeface="+mn-ea"/>
                        </a:rPr>
                        <a:t>f</a:t>
                      </a:r>
                      <a:r>
                        <a:rPr lang="en-US" sz="1900" b="0" dirty="0" err="1">
                          <a:solidFill>
                            <a:schemeClr val="bg1"/>
                          </a:solidFill>
                          <a:sym typeface="+mn-ea"/>
                        </a:rPr>
                        <a:t>float</a:t>
                      </a:r>
                      <a:r>
                        <a:rPr lang="en-US" sz="1900" b="0" dirty="0">
                          <a:solidFill>
                            <a:schemeClr val="bg1"/>
                          </a:solidFill>
                          <a:latin typeface="Times New Roman" panose="02020603050405020304" pitchFamily="18" charset="0"/>
                          <a:cs typeface="Times New Roman" panose="02020603050405020304" pitchFamily="18" charset="0"/>
                        </a:rPr>
                        <a:t>(2,1,1,1), </a:t>
                      </a:r>
                      <a:r>
                        <a:rPr lang="en-US" sz="1900" b="0" dirty="0" err="1">
                          <a:solidFill>
                            <a:schemeClr val="bg1"/>
                          </a:solidFill>
                          <a:latin typeface="Times New Roman" panose="02020603050405020304" pitchFamily="18" charset="0"/>
                          <a:cs typeface="Times New Roman" panose="02020603050405020304" pitchFamily="18" charset="0"/>
                        </a:rPr>
                        <a:t>trả</a:t>
                      </a:r>
                      <a:r>
                        <a:rPr lang="en-US" sz="1900" b="0" dirty="0">
                          <a:solidFill>
                            <a:schemeClr val="bg1"/>
                          </a:solidFill>
                          <a:latin typeface="Times New Roman" panose="02020603050405020304" pitchFamily="18" charset="0"/>
                          <a:cs typeface="Times New Roman" panose="02020603050405020304" pitchFamily="18" charset="0"/>
                        </a:rPr>
                        <a:t> </a:t>
                      </a:r>
                      <a:r>
                        <a:rPr lang="en-US" sz="1900" b="0" dirty="0" err="1">
                          <a:solidFill>
                            <a:schemeClr val="bg1"/>
                          </a:solidFill>
                          <a:latin typeface="Times New Roman" panose="02020603050405020304" pitchFamily="18" charset="0"/>
                          <a:cs typeface="Times New Roman" panose="02020603050405020304" pitchFamily="18" charset="0"/>
                        </a:rPr>
                        <a:t>về</a:t>
                      </a:r>
                      <a:r>
                        <a:rPr lang="en-US" sz="1900" b="0" dirty="0">
                          <a:solidFill>
                            <a:schemeClr val="bg1"/>
                          </a:solidFill>
                          <a:latin typeface="Times New Roman" panose="02020603050405020304" pitchFamily="18" charset="0"/>
                          <a:cs typeface="Times New Roman" panose="02020603050405020304" pitchFamily="18" charset="0"/>
                        </a:rPr>
                        <a:t> 1.</a:t>
                      </a:r>
                    </a:p>
                    <a:p>
                      <a:pPr lvl="0">
                        <a:buFont typeface="Wingdings" panose="05000000000000000000" pitchFamily="2" charset="2"/>
                        <a:buNone/>
                      </a:pPr>
                      <a:r>
                        <a:rPr lang="en-US" sz="1900" b="0" dirty="0">
                          <a:solidFill>
                            <a:schemeClr val="bg1"/>
                          </a:solidFill>
                          <a:latin typeface="Times New Roman" panose="02020603050405020304" pitchFamily="18" charset="0"/>
                          <a:cs typeface="Times New Roman" panose="02020603050405020304" pitchFamily="18" charset="0"/>
                        </a:rPr>
                        <a:t>TC5: line 1,2,3,5,6,8</a:t>
                      </a:r>
                    </a:p>
                    <a:p>
                      <a:pPr marL="45720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lang="en-US" sz="1900" dirty="0" err="1">
                          <a:sym typeface="+mn-ea"/>
                        </a:rPr>
                        <a:t>f</a:t>
                      </a:r>
                      <a:r>
                        <a:rPr lang="en-US" sz="1900" b="0" dirty="0" err="1">
                          <a:solidFill>
                            <a:schemeClr val="bg1"/>
                          </a:solidFill>
                          <a:sym typeface="+mn-ea"/>
                        </a:rPr>
                        <a:t>float</a:t>
                      </a:r>
                      <a:r>
                        <a:rPr lang="en-US" sz="1900" b="0" dirty="0">
                          <a:solidFill>
                            <a:schemeClr val="bg1"/>
                          </a:solidFill>
                          <a:latin typeface="Times New Roman" panose="02020603050405020304" pitchFamily="18" charset="0"/>
                          <a:cs typeface="Times New Roman" panose="02020603050405020304" pitchFamily="18" charset="0"/>
                        </a:rPr>
                        <a:t>(3,1,1,1), </a:t>
                      </a:r>
                      <a:r>
                        <a:rPr lang="en-US" sz="1900" b="0" dirty="0" err="1">
                          <a:solidFill>
                            <a:schemeClr val="bg1"/>
                          </a:solidFill>
                          <a:latin typeface="Times New Roman" panose="02020603050405020304" pitchFamily="18" charset="0"/>
                          <a:cs typeface="Times New Roman" panose="02020603050405020304" pitchFamily="18" charset="0"/>
                        </a:rPr>
                        <a:t>trả</a:t>
                      </a:r>
                      <a:r>
                        <a:rPr lang="en-US" sz="1900" b="0" dirty="0">
                          <a:solidFill>
                            <a:schemeClr val="bg1"/>
                          </a:solidFill>
                          <a:latin typeface="Times New Roman" panose="02020603050405020304" pitchFamily="18" charset="0"/>
                          <a:cs typeface="Times New Roman" panose="02020603050405020304" pitchFamily="18" charset="0"/>
                        </a:rPr>
                        <a:t> </a:t>
                      </a:r>
                      <a:r>
                        <a:rPr lang="en-US" sz="1900" b="0" dirty="0" err="1">
                          <a:solidFill>
                            <a:schemeClr val="bg1"/>
                          </a:solidFill>
                          <a:latin typeface="Times New Roman" panose="02020603050405020304" pitchFamily="18" charset="0"/>
                          <a:cs typeface="Times New Roman" panose="02020603050405020304" pitchFamily="18" charset="0"/>
                        </a:rPr>
                        <a:t>về</a:t>
                      </a:r>
                      <a:r>
                        <a:rPr lang="en-US" sz="1900" b="0" dirty="0">
                          <a:solidFill>
                            <a:schemeClr val="bg1"/>
                          </a:solidFill>
                          <a:latin typeface="Times New Roman" panose="02020603050405020304" pitchFamily="18" charset="0"/>
                          <a:cs typeface="Times New Roman" panose="02020603050405020304" pitchFamily="18" charset="0"/>
                        </a:rPr>
                        <a:t> </a:t>
                      </a:r>
                      <a:r>
                        <a:rPr lang="en-US" sz="1900" b="0" dirty="0">
                          <a:solidFill>
                            <a:srgbClr val="000000"/>
                          </a:solidFill>
                          <a:effectLst/>
                          <a:latin typeface="Times New Roman" panose="02020603050405020304" pitchFamily="18" charset="0"/>
                          <a:ea typeface="MS Mincho" panose="02020609040205080304" pitchFamily="17" charset="-128"/>
                          <a:cs typeface="Times New Roman" panose="02020603050405020304" pitchFamily="18" charset="0"/>
                        </a:rPr>
                        <a:t>division by zero!</a:t>
                      </a:r>
                      <a:endParaRPr lang="en-US" sz="1900" b="0" dirty="0">
                        <a:solidFill>
                          <a:schemeClr val="bg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5604"/>
            <a:ext cx="7162800" cy="799306"/>
          </a:xfrm>
        </p:spPr>
        <p:txBody>
          <a:bodyPr/>
          <a:lstStyle/>
          <a:p>
            <a:pPr marL="64135"/>
            <a:r>
              <a:rPr lang="en-US" dirty="0"/>
              <a:t>3.4. Test </a:t>
            </a:r>
            <a:r>
              <a:rPr lang="en-US" dirty="0" err="1"/>
              <a:t>các</a:t>
            </a:r>
            <a:r>
              <a:rPr lang="en-US" dirty="0"/>
              <a:t> </a:t>
            </a:r>
            <a:r>
              <a:rPr lang="en-US" dirty="0" err="1"/>
              <a:t>vòng</a:t>
            </a:r>
            <a:r>
              <a:rPr lang="en-US" dirty="0"/>
              <a:t> </a:t>
            </a:r>
            <a:r>
              <a:rPr lang="en-US" dirty="0" err="1"/>
              <a:t>lặp</a:t>
            </a:r>
            <a:endParaRPr lang="en-US" dirty="0"/>
          </a:p>
        </p:txBody>
      </p:sp>
      <p:sp>
        <p:nvSpPr>
          <p:cNvPr id="3" name="Content Placeholder 2"/>
          <p:cNvSpPr>
            <a:spLocks noGrp="1"/>
          </p:cNvSpPr>
          <p:nvPr>
            <p:ph idx="1"/>
          </p:nvPr>
        </p:nvSpPr>
        <p:spPr>
          <a:xfrm>
            <a:off x="304800" y="894910"/>
            <a:ext cx="7010400" cy="5810690"/>
          </a:xfrm>
        </p:spPr>
        <p:txBody>
          <a:bodyPr>
            <a:normAutofit/>
          </a:bodyPr>
          <a:lstStyle/>
          <a:p>
            <a:pPr marL="64135" lvl="2" indent="0">
              <a:buSzPct val="80000"/>
              <a:buNone/>
            </a:pPr>
            <a:r>
              <a:rPr lang="en-US" altLang="en-US" sz="1900" dirty="0" err="1">
                <a:latin typeface="Times New Roman" panose="02020603050405020304" pitchFamily="18" charset="0"/>
                <a:cs typeface="Times New Roman" panose="02020603050405020304" pitchFamily="18" charset="0"/>
              </a:rPr>
              <a:t>Là</a:t>
            </a:r>
            <a:r>
              <a:rPr lang="en-US" altLang="en-US" sz="1900" dirty="0">
                <a:latin typeface="Times New Roman" panose="02020603050405020304" pitchFamily="18" charset="0"/>
                <a:cs typeface="Times New Roman" panose="02020603050405020304" pitchFamily="18" charset="0"/>
              </a:rPr>
              <a:t> test </a:t>
            </a:r>
            <a:r>
              <a:rPr lang="en-US" altLang="en-US" sz="1900" dirty="0" err="1">
                <a:latin typeface="Times New Roman" panose="02020603050405020304" pitchFamily="18" charset="0"/>
                <a:cs typeface="Times New Roman" panose="02020603050405020304" pitchFamily="18" charset="0"/>
              </a:rPr>
              <a:t>tất</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cả</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các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vòng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đều</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được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thực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hiện</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tại</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biên</a:t>
            </a:r>
            <a:r>
              <a:rPr lang="en-US" altLang="en-US" sz="19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altLang="en-US" sz="1900" dirty="0" err="1">
                <a:latin typeface="Times New Roman" panose="02020603050405020304" pitchFamily="18" charset="0"/>
                <a:cs typeface="Times New Roman" panose="02020603050405020304" pitchFamily="18" charset="0"/>
              </a:rPr>
              <a:t>Vòng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đơn</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Cách</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thực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hiện</a:t>
            </a:r>
            <a:r>
              <a:rPr lang="en-US" altLang="en-US" sz="1900" dirty="0">
                <a:latin typeface="Times New Roman" panose="02020603050405020304" pitchFamily="18" charset="0"/>
                <a:cs typeface="Times New Roman" panose="02020603050405020304" pitchFamily="18" charset="0"/>
              </a:rPr>
              <a:t> test</a:t>
            </a:r>
          </a:p>
          <a:p>
            <a:pPr lvl="2"/>
            <a:r>
              <a:rPr lang="en-US" altLang="en-US" sz="1900" dirty="0" err="1">
                <a:latin typeface="Times New Roman" panose="02020603050405020304" pitchFamily="18" charset="0"/>
                <a:cs typeface="Times New Roman" panose="02020603050405020304" pitchFamily="18" charset="0"/>
              </a:rPr>
              <a:t>Bỏ</a:t>
            </a:r>
            <a:r>
              <a:rPr lang="en-US" altLang="en-US" sz="1900" dirty="0">
                <a:latin typeface="Times New Roman" panose="02020603050405020304" pitchFamily="18" charset="0"/>
                <a:cs typeface="Times New Roman" panose="02020603050405020304" pitchFamily="18" charset="0"/>
              </a:rPr>
              <a:t> qua </a:t>
            </a:r>
            <a:r>
              <a:rPr lang="en-US" altLang="en-US" sz="1900" dirty="0" err="1">
                <a:latin typeface="Times New Roman" panose="02020603050405020304" pitchFamily="18" charset="0"/>
                <a:cs typeface="Times New Roman" panose="02020603050405020304" pitchFamily="18" charset="0"/>
              </a:rPr>
              <a:t>vòng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a:t>
            </a:r>
          </a:p>
          <a:p>
            <a:pPr lvl="2"/>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được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thực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hiện</a:t>
            </a:r>
            <a:r>
              <a:rPr lang="en-US" altLang="en-US" sz="1900" dirty="0">
                <a:latin typeface="Times New Roman" panose="02020603050405020304" pitchFamily="18" charset="0"/>
                <a:cs typeface="Times New Roman" panose="02020603050405020304" pitchFamily="18" charset="0"/>
              </a:rPr>
              <a:t> 1, 2, m </a:t>
            </a:r>
            <a:r>
              <a:rPr lang="en-US" altLang="en-US" sz="1900" dirty="0" err="1">
                <a:latin typeface="Times New Roman" panose="02020603050405020304" pitchFamily="18" charset="0"/>
                <a:cs typeface="Times New Roman" panose="02020603050405020304" pitchFamily="18" charset="0"/>
              </a:rPr>
              <a:t>lần</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với</a:t>
            </a:r>
            <a:r>
              <a:rPr lang="en-US" altLang="en-US" sz="1900" dirty="0">
                <a:latin typeface="Times New Roman" panose="02020603050405020304" pitchFamily="18" charset="0"/>
                <a:cs typeface="Times New Roman" panose="02020603050405020304" pitchFamily="18" charset="0"/>
              </a:rPr>
              <a:t> m &lt; n).</a:t>
            </a:r>
          </a:p>
          <a:p>
            <a:pPr lvl="2"/>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tại</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biên</a:t>
            </a:r>
            <a:r>
              <a:rPr lang="en-US" altLang="en-US" sz="1900" dirty="0">
                <a:latin typeface="Times New Roman" panose="02020603050405020304" pitchFamily="18" charset="0"/>
                <a:cs typeface="Times New Roman" panose="02020603050405020304" pitchFamily="18" charset="0"/>
              </a:rPr>
              <a:t> n-1, n, n+1.</a:t>
            </a:r>
          </a:p>
          <a:p>
            <a:pPr marL="877570" lvl="2" indent="0">
              <a:buNone/>
            </a:pPr>
            <a:r>
              <a:rPr lang="en-US" altLang="en-US" sz="1900" dirty="0">
                <a:latin typeface="Times New Roman" panose="02020603050405020304" pitchFamily="18" charset="0"/>
                <a:cs typeface="Times New Roman" panose="02020603050405020304" pitchFamily="18" charset="0"/>
              </a:rPr>
              <a:t>(n </a:t>
            </a:r>
            <a:r>
              <a:rPr lang="en-US" altLang="en-US" sz="1900" dirty="0" err="1">
                <a:latin typeface="Times New Roman" panose="02020603050405020304" pitchFamily="18" charset="0"/>
                <a:cs typeface="Times New Roman" panose="02020603050405020304" pitchFamily="18" charset="0"/>
              </a:rPr>
              <a:t>là</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số</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lần</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tối</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đa</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cho</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phép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vượt</a:t>
            </a:r>
            <a:r>
              <a:rPr lang="en-US" altLang="en-US" sz="1900" dirty="0">
                <a:latin typeface="Times New Roman" panose="02020603050405020304" pitchFamily="18" charset="0"/>
                <a:cs typeface="Times New Roman" panose="02020603050405020304" pitchFamily="18" charset="0"/>
              </a:rPr>
              <a:t> qua)</a:t>
            </a:r>
          </a:p>
          <a:p>
            <a:pPr>
              <a:buFont typeface="Wingdings" panose="05000000000000000000" pitchFamily="2" charset="2"/>
              <a:buChar char="v"/>
            </a:pPr>
            <a:r>
              <a:rPr lang="en-US" altLang="en-US" sz="1900" dirty="0" err="1">
                <a:latin typeface="Times New Roman" panose="02020603050405020304" pitchFamily="18" charset="0"/>
                <a:cs typeface="Times New Roman" panose="02020603050405020304" pitchFamily="18" charset="0"/>
              </a:rPr>
              <a:t>Vòng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lồng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nhau</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Cách</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thực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hiện</a:t>
            </a:r>
            <a:r>
              <a:rPr lang="en-US" altLang="en-US" sz="1900" dirty="0">
                <a:latin typeface="Times New Roman" panose="02020603050405020304" pitchFamily="18" charset="0"/>
                <a:cs typeface="Times New Roman" panose="02020603050405020304" pitchFamily="18" charset="0"/>
              </a:rPr>
              <a:t> test</a:t>
            </a:r>
          </a:p>
          <a:p>
            <a:pPr lvl="2"/>
            <a:r>
              <a:rPr lang="en-US" altLang="en-US" sz="1900" dirty="0" err="1">
                <a:latin typeface="Times New Roman" panose="02020603050405020304" pitchFamily="18" charset="0"/>
                <a:cs typeface="Times New Roman" panose="02020603050405020304" pitchFamily="18" charset="0"/>
              </a:rPr>
              <a:t>Bắt</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đầu</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từ</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vòng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trong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cùng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các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vòng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ngoài</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có</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giá</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trị</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nhỏ</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nhất</a:t>
            </a:r>
            <a:r>
              <a:rPr lang="en-US" altLang="en-US" sz="1900" dirty="0">
                <a:latin typeface="Times New Roman" panose="02020603050405020304" pitchFamily="18" charset="0"/>
                <a:cs typeface="Times New Roman" panose="02020603050405020304" pitchFamily="18" charset="0"/>
              </a:rPr>
              <a:t>.</a:t>
            </a:r>
          </a:p>
          <a:p>
            <a:pPr lvl="2"/>
            <a:r>
              <a:rPr lang="en-US" altLang="en-US" sz="1900" dirty="0">
                <a:latin typeface="Times New Roman" panose="02020603050405020304" pitchFamily="18" charset="0"/>
                <a:cs typeface="Times New Roman" panose="02020603050405020304" pitchFamily="18" charset="0"/>
              </a:rPr>
              <a:t>Test </a:t>
            </a:r>
            <a:r>
              <a:rPr lang="en-US" altLang="en-US" sz="1900" dirty="0" err="1">
                <a:latin typeface="Times New Roman" panose="02020603050405020304" pitchFamily="18" charset="0"/>
                <a:cs typeface="Times New Roman" panose="02020603050405020304" pitchFamily="18" charset="0"/>
              </a:rPr>
              <a:t>vòng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trong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cùng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đơn</a:t>
            </a:r>
            <a:r>
              <a:rPr lang="en-US" altLang="en-US" sz="1900" dirty="0">
                <a:latin typeface="Times New Roman" panose="02020603050405020304" pitchFamily="18" charset="0"/>
                <a:cs typeface="Times New Roman" panose="02020603050405020304" pitchFamily="18" charset="0"/>
              </a:rPr>
              <a:t>).</a:t>
            </a:r>
          </a:p>
          <a:p>
            <a:pPr lvl="2"/>
            <a:r>
              <a:rPr lang="en-US" altLang="en-US" sz="1900" dirty="0">
                <a:latin typeface="Times New Roman" panose="02020603050405020304" pitchFamily="18" charset="0"/>
                <a:cs typeface="Times New Roman" panose="02020603050405020304" pitchFamily="18" charset="0"/>
              </a:rPr>
              <a:t>Di </a:t>
            </a:r>
            <a:r>
              <a:rPr lang="en-US" altLang="en-US" sz="1900" dirty="0" err="1">
                <a:latin typeface="Times New Roman" panose="02020603050405020304" pitchFamily="18" charset="0"/>
                <a:cs typeface="Times New Roman" panose="02020603050405020304" pitchFamily="18" charset="0"/>
              </a:rPr>
              <a:t>chuyển</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ra</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vòng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ngoài</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thực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hiện</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với</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bước</a:t>
            </a:r>
            <a:r>
              <a:rPr lang="en-US" altLang="en-US" sz="1900" dirty="0">
                <a:latin typeface="Times New Roman" panose="02020603050405020304" pitchFamily="18" charset="0"/>
                <a:cs typeface="Times New Roman" panose="02020603050405020304" pitchFamily="18" charset="0"/>
              </a:rPr>
              <a:t> 2 </a:t>
            </a:r>
            <a:r>
              <a:rPr lang="en-US" altLang="en-US" sz="1900" dirty="0" err="1">
                <a:latin typeface="Times New Roman" panose="02020603050405020304" pitchFamily="18" charset="0"/>
                <a:cs typeface="Times New Roman" panose="02020603050405020304" pitchFamily="18" charset="0"/>
              </a:rPr>
              <a:t>với</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giá</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trị</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vòng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bên</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trong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tùy</a:t>
            </a:r>
            <a:r>
              <a:rPr lang="en-US" altLang="en-US" sz="1900" dirty="0">
                <a:latin typeface="Times New Roman" panose="02020603050405020304" pitchFamily="18" charset="0"/>
                <a:cs typeface="Times New Roman" panose="02020603050405020304" pitchFamily="18" charset="0"/>
              </a:rPr>
              <a:t> ý.</a:t>
            </a:r>
          </a:p>
          <a:p>
            <a:pPr lvl="2"/>
            <a:r>
              <a:rPr lang="en-US" altLang="en-US" sz="1900" dirty="0" err="1">
                <a:latin typeface="Times New Roman" panose="02020603050405020304" pitchFamily="18" charset="0"/>
                <a:cs typeface="Times New Roman" panose="02020603050405020304" pitchFamily="18" charset="0"/>
              </a:rPr>
              <a:t>Thực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hiện</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tiếp</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tục</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dần</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ra</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ngoài</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cho</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đến</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hết</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vòng</a:t>
            </a:r>
            <a:r>
              <a:rPr lang="en-US" altLang="en-US" sz="1900" dirty="0">
                <a:latin typeface="Times New Roman" panose="02020603050405020304" pitchFamily="18" charset="0"/>
                <a:cs typeface="Times New Roman" panose="02020603050405020304" pitchFamily="18" charset="0"/>
              </a:rPr>
              <a:t> </a:t>
            </a:r>
            <a:r>
              <a:rPr lang="en-US" altLang="en-US" sz="1900" dirty="0" err="1">
                <a:latin typeface="Times New Roman" panose="02020603050405020304" pitchFamily="18" charset="0"/>
                <a:cs typeface="Times New Roman" panose="02020603050405020304" pitchFamily="18" charset="0"/>
              </a:rPr>
              <a:t>lặp.</a:t>
            </a:r>
            <a:endParaRPr lang="en-US" altLang="en-US" sz="19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1077097"/>
            <a:ext cx="16002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64743" y="3800255"/>
            <a:ext cx="1701114" cy="268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395"/>
            <a:ext cx="7162800" cy="799306"/>
          </a:xfrm>
        </p:spPr>
        <p:txBody>
          <a:bodyPr/>
          <a:lstStyle/>
          <a:p>
            <a:pPr marL="64135"/>
            <a:r>
              <a:rPr lang="en-US" dirty="0"/>
              <a:t>3.4. Test </a:t>
            </a:r>
            <a:r>
              <a:rPr lang="en-US" dirty="0" err="1"/>
              <a:t>các</a:t>
            </a:r>
            <a:r>
              <a:rPr lang="en-US" dirty="0"/>
              <a:t> </a:t>
            </a:r>
            <a:r>
              <a:rPr lang="en-US" dirty="0" err="1"/>
              <a:t>vòng</a:t>
            </a:r>
            <a:r>
              <a:rPr lang="en-US" dirty="0"/>
              <a:t> </a:t>
            </a:r>
            <a:r>
              <a:rPr lang="en-US" dirty="0" err="1"/>
              <a:t>lặp</a:t>
            </a:r>
            <a:endParaRPr lang="en-US" dirty="0"/>
          </a:p>
        </p:txBody>
      </p:sp>
      <p:sp>
        <p:nvSpPr>
          <p:cNvPr id="3" name="Content Placeholder 2"/>
          <p:cNvSpPr>
            <a:spLocks noGrp="1"/>
          </p:cNvSpPr>
          <p:nvPr>
            <p:ph idx="1"/>
          </p:nvPr>
        </p:nvSpPr>
        <p:spPr>
          <a:xfrm>
            <a:off x="457200" y="1066800"/>
            <a:ext cx="5867400" cy="5638800"/>
          </a:xfrm>
        </p:spPr>
        <p:txBody>
          <a:bodyPr>
            <a:normAutofit/>
          </a:bodyPr>
          <a:lstStyle/>
          <a:p>
            <a:pPr marL="349885" lvl="2" indent="-285750">
              <a:buSzPct val="80000"/>
              <a:buFont typeface="Wingdings" panose="05000000000000000000" pitchFamily="2" charset="2"/>
              <a:buChar char="v"/>
            </a:pPr>
            <a:r>
              <a:rPr lang="en-US" sz="1900" dirty="0" err="1"/>
              <a:t>Vòng</a:t>
            </a:r>
            <a:r>
              <a:rPr lang="en-US" sz="1900" dirty="0"/>
              <a:t> </a:t>
            </a:r>
            <a:r>
              <a:rPr lang="en-US" sz="1900" dirty="0" err="1"/>
              <a:t>lặp</a:t>
            </a:r>
            <a:r>
              <a:rPr lang="en-US" sz="1900" dirty="0"/>
              <a:t> </a:t>
            </a:r>
            <a:r>
              <a:rPr lang="en-US" sz="1900" dirty="0" err="1"/>
              <a:t>móc</a:t>
            </a:r>
            <a:r>
              <a:rPr lang="en-US" sz="1900" dirty="0"/>
              <a:t> </a:t>
            </a:r>
            <a:r>
              <a:rPr lang="en-US" sz="1900" dirty="0" err="1"/>
              <a:t>nối</a:t>
            </a:r>
            <a:r>
              <a:rPr lang="en-US" sz="1900" dirty="0"/>
              <a:t>: </a:t>
            </a:r>
            <a:r>
              <a:rPr lang="en-US" sz="1900" dirty="0" err="1"/>
              <a:t>cách</a:t>
            </a:r>
            <a:r>
              <a:rPr lang="en-US" sz="1900" dirty="0"/>
              <a:t> </a:t>
            </a:r>
            <a:r>
              <a:rPr lang="en-US" sz="1900" dirty="0" err="1"/>
              <a:t>thực</a:t>
            </a:r>
            <a:r>
              <a:rPr lang="en-US" sz="1900" dirty="0"/>
              <a:t> </a:t>
            </a:r>
            <a:r>
              <a:rPr lang="en-US" sz="1900" dirty="0" err="1"/>
              <a:t>hiện</a:t>
            </a:r>
            <a:r>
              <a:rPr lang="en-US" sz="1900" dirty="0"/>
              <a:t> test</a:t>
            </a:r>
          </a:p>
          <a:p>
            <a:pPr lvl="1"/>
            <a:r>
              <a:rPr lang="en-US" sz="1900" dirty="0" err="1"/>
              <a:t>Giống</a:t>
            </a:r>
            <a:r>
              <a:rPr lang="en-US" sz="1900" dirty="0"/>
              <a:t> </a:t>
            </a:r>
            <a:r>
              <a:rPr lang="en-US" sz="1900" dirty="0" err="1"/>
              <a:t>vòng</a:t>
            </a:r>
            <a:r>
              <a:rPr lang="en-US" sz="1900" dirty="0"/>
              <a:t> </a:t>
            </a:r>
            <a:r>
              <a:rPr lang="en-US" sz="1900" dirty="0" err="1"/>
              <a:t>lặp</a:t>
            </a:r>
            <a:r>
              <a:rPr lang="en-US" sz="1900" dirty="0"/>
              <a:t> </a:t>
            </a:r>
            <a:r>
              <a:rPr lang="en-US" sz="1900" dirty="0" err="1"/>
              <a:t>đơn</a:t>
            </a:r>
            <a:r>
              <a:rPr lang="en-US" sz="1900" dirty="0"/>
              <a:t> </a:t>
            </a:r>
            <a:r>
              <a:rPr lang="en-US" sz="1900" dirty="0" err="1"/>
              <a:t>nếu</a:t>
            </a:r>
            <a:r>
              <a:rPr lang="en-US" sz="1900" dirty="0"/>
              <a:t> </a:t>
            </a:r>
            <a:r>
              <a:rPr lang="en-US" sz="1900" dirty="0" err="1"/>
              <a:t>các</a:t>
            </a:r>
            <a:r>
              <a:rPr lang="en-US" sz="1900" dirty="0"/>
              <a:t> </a:t>
            </a:r>
            <a:r>
              <a:rPr lang="en-US" sz="1900" dirty="0" err="1"/>
              <a:t>biến</a:t>
            </a:r>
            <a:r>
              <a:rPr lang="en-US" sz="1900" dirty="0"/>
              <a:t> </a:t>
            </a:r>
            <a:r>
              <a:rPr lang="en-US" sz="1900" dirty="0" err="1"/>
              <a:t>điều</a:t>
            </a:r>
            <a:r>
              <a:rPr lang="en-US" sz="1900" dirty="0"/>
              <a:t> </a:t>
            </a:r>
            <a:r>
              <a:rPr lang="en-US" sz="1900" dirty="0" err="1"/>
              <a:t>khiển</a:t>
            </a:r>
            <a:r>
              <a:rPr lang="en-US" sz="1900" dirty="0"/>
              <a:t> </a:t>
            </a:r>
            <a:r>
              <a:rPr lang="en-US" sz="1900" dirty="0" err="1"/>
              <a:t>độc</a:t>
            </a:r>
            <a:r>
              <a:rPr lang="en-US" sz="1900" dirty="0"/>
              <a:t> </a:t>
            </a:r>
            <a:r>
              <a:rPr lang="en-US" sz="1900" dirty="0" err="1"/>
              <a:t>lập.</a:t>
            </a:r>
            <a:r>
              <a:rPr lang="en-US" sz="1900" dirty="0"/>
              <a:t> </a:t>
            </a:r>
          </a:p>
          <a:p>
            <a:pPr lvl="1"/>
            <a:r>
              <a:rPr lang="en-US" sz="1900" dirty="0" err="1"/>
              <a:t>Ngược</a:t>
            </a:r>
            <a:r>
              <a:rPr lang="en-US" sz="1900" dirty="0"/>
              <a:t> </a:t>
            </a:r>
            <a:r>
              <a:rPr lang="en-US" sz="1900" dirty="0" err="1"/>
              <a:t>lại</a:t>
            </a:r>
            <a:r>
              <a:rPr lang="en-US" sz="1900" dirty="0"/>
              <a:t>, </a:t>
            </a:r>
            <a:r>
              <a:rPr lang="en-US" sz="1900" dirty="0" err="1"/>
              <a:t>xem</a:t>
            </a:r>
            <a:r>
              <a:rPr lang="en-US" sz="1900" dirty="0"/>
              <a:t> </a:t>
            </a:r>
            <a:r>
              <a:rPr lang="en-US" sz="1900" dirty="0" err="1"/>
              <a:t>xét</a:t>
            </a:r>
            <a:r>
              <a:rPr lang="en-US" sz="1900" dirty="0"/>
              <a:t> </a:t>
            </a:r>
            <a:r>
              <a:rPr lang="en-US" sz="1900" dirty="0" err="1"/>
              <a:t>như</a:t>
            </a:r>
            <a:r>
              <a:rPr lang="en-US" sz="1900" dirty="0"/>
              <a:t> </a:t>
            </a:r>
            <a:r>
              <a:rPr lang="en-US" sz="1900" dirty="0" err="1"/>
              <a:t>vòng</a:t>
            </a:r>
            <a:r>
              <a:rPr lang="en-US" sz="1900" dirty="0"/>
              <a:t> </a:t>
            </a:r>
            <a:r>
              <a:rPr lang="en-US" sz="1900" dirty="0" err="1"/>
              <a:t>lặp</a:t>
            </a:r>
            <a:r>
              <a:rPr lang="en-US" sz="1900" dirty="0"/>
              <a:t> </a:t>
            </a:r>
            <a:r>
              <a:rPr lang="en-US" sz="1900" dirty="0" err="1"/>
              <a:t>lồng</a:t>
            </a:r>
            <a:r>
              <a:rPr lang="en-US" sz="1900" dirty="0"/>
              <a:t> </a:t>
            </a:r>
            <a:r>
              <a:rPr lang="en-US" sz="1900" dirty="0" err="1"/>
              <a:t>nhau</a:t>
            </a:r>
            <a:r>
              <a:rPr lang="en-US" sz="1900" dirty="0"/>
              <a:t>.</a:t>
            </a:r>
          </a:p>
        </p:txBody>
      </p:sp>
      <p:pic>
        <p:nvPicPr>
          <p:cNvPr id="8"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97924" y="1066800"/>
            <a:ext cx="1219200" cy="2725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86400"/>
          </a:xfrm>
        </p:spPr>
        <p:txBody>
          <a:bodyPr>
            <a:normAutofit/>
          </a:bodyPr>
          <a:lstStyle/>
          <a:p>
            <a:pPr marL="64135" indent="0" algn="ctr">
              <a:buNone/>
            </a:pPr>
            <a:endParaRPr lang="en-US" sz="2800" b="1" i="1" dirty="0">
              <a:solidFill>
                <a:srgbClr val="FF0000"/>
              </a:solidFill>
              <a:latin typeface="Baskerville Old Face" panose="02020602080505020303" pitchFamily="18" charset="0"/>
            </a:endParaRPr>
          </a:p>
          <a:p>
            <a:pPr marL="64135" indent="0" algn="ctr">
              <a:buNone/>
            </a:pPr>
            <a:r>
              <a:rPr lang="en-US" sz="3600" b="1" i="1" dirty="0">
                <a:solidFill>
                  <a:srgbClr val="FF0000"/>
                </a:solidFill>
                <a:latin typeface="Arial (Body)" charset="0"/>
                <a:cs typeface="Arial (Body)" charset="0"/>
              </a:rPr>
              <a:t>XIN CẢM ƠN VÌ ĐÃ LẮNG NGHE !</a:t>
            </a:r>
          </a:p>
          <a:p>
            <a:pPr marL="64135" indent="0" algn="ctr">
              <a:buNone/>
            </a:pPr>
            <a:endParaRPr lang="en-US" sz="2800" b="1" i="1" dirty="0">
              <a:solidFill>
                <a:srgbClr val="FF0000"/>
              </a:solidFill>
              <a:latin typeface="Baskerville Old Face" panose="02020602080505020303" pitchFamily="18" charset="0"/>
            </a:endParaRPr>
          </a:p>
          <a:p>
            <a:pPr marL="64135" indent="0" algn="ctr">
              <a:buNone/>
            </a:pPr>
            <a:r>
              <a:rPr lang="en-US" sz="13800" b="1" dirty="0"/>
              <a:t>Q&amp;A?</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Custom 48">
      <a:dk1>
        <a:sysClr val="windowText" lastClr="000000"/>
      </a:dk1>
      <a:lt1>
        <a:sysClr val="window" lastClr="FFFFFF"/>
      </a:lt1>
      <a:dk2>
        <a:srgbClr val="262626"/>
      </a:dk2>
      <a:lt2>
        <a:srgbClr val="F2F2F2"/>
      </a:lt2>
      <a:accent1>
        <a:srgbClr val="C94C25"/>
      </a:accent1>
      <a:accent2>
        <a:srgbClr val="EA8640"/>
      </a:accent2>
      <a:accent3>
        <a:srgbClr val="99D9E7"/>
      </a:accent3>
      <a:accent4>
        <a:srgbClr val="FAB17B"/>
      </a:accent4>
      <a:accent5>
        <a:srgbClr val="21B8B3"/>
      </a:accent5>
      <a:accent6>
        <a:srgbClr val="F3786E"/>
      </a:accent6>
      <a:hlink>
        <a:srgbClr val="646567"/>
      </a:hlink>
      <a:folHlink>
        <a:srgbClr val="646567"/>
      </a:folHlink>
    </a:clrScheme>
    <a:fontScheme name="Custom 27">
      <a:majorFont>
        <a:latin typeface="Segoe UI"/>
        <a:ea typeface=""/>
        <a:cs typeface=""/>
      </a:majorFont>
      <a:minorFont>
        <a:latin typeface="Arial"/>
        <a:ea typeface=""/>
        <a:cs typeface=""/>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110000" t="250000" r="110000" b="40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110000" t="250000" r="110000" b="40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70000"/>
                <a:satMod val="130000"/>
              </a:schemeClr>
              <a:schemeClr val="phClr">
                <a:tint val="70000"/>
                <a:satMod val="130000"/>
              </a:schemeClr>
            </a:duotone>
          </a:blip>
          <a:tile tx="0" ty="0" sx="90000" sy="90000" flip="none" algn="t"/>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TM10001105[[fn=Crop]]</Template>
  <TotalTime>694</TotalTime>
  <Words>1799</Words>
  <Application>Microsoft Office PowerPoint</Application>
  <PresentationFormat>On-screen Show (4:3)</PresentationFormat>
  <Paragraphs>196</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 (Body)</vt:lpstr>
      <vt:lpstr>Arial</vt:lpstr>
      <vt:lpstr>Baskerville Old Face</vt:lpstr>
      <vt:lpstr>Calibri</vt:lpstr>
      <vt:lpstr>Segoe UI</vt:lpstr>
      <vt:lpstr>Times New Roman</vt:lpstr>
      <vt:lpstr>Wingdings</vt:lpstr>
      <vt:lpstr>Wingdings 2</vt:lpstr>
      <vt:lpstr>Verve</vt:lpstr>
      <vt:lpstr>CÁC KỸ THUẬT TEST</vt:lpstr>
      <vt:lpstr>PowerPoint Presentation</vt:lpstr>
      <vt:lpstr>NỘI DUNG</vt:lpstr>
      <vt:lpstr>I. Các kỹ thuật test</vt:lpstr>
      <vt:lpstr>II. Làm sao chọn kỹ thuật test hiệu quả?  </vt:lpstr>
      <vt:lpstr>III. Sử dụng kỹ thuật test nào? </vt:lpstr>
      <vt:lpstr>IV. Test theo kinh nghiệm (Experience – based testing) </vt:lpstr>
      <vt:lpstr>V. Test hộp trắng</vt:lpstr>
      <vt:lpstr>V. Test hộp trắng</vt:lpstr>
      <vt:lpstr>3.1. Test các câu lệnh</vt:lpstr>
      <vt:lpstr>3.2. Test các rẽ nhánh</vt:lpstr>
      <vt:lpstr>3.2. Test các rẽ nhánh</vt:lpstr>
      <vt:lpstr>3.3. Test các biểu thức điều kiện</vt:lpstr>
      <vt:lpstr>3.3. Test các biểu thức điều kiện</vt:lpstr>
      <vt:lpstr>3.4. Test các vòng lặp</vt:lpstr>
      <vt:lpstr>3.4. Test các vòng lặp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Reporting Progress or Status</dc:title>
  <dc:creator>Duong Thi Hong Diep</dc:creator>
  <cp:lastModifiedBy>Pham Thi Thanh Nga</cp:lastModifiedBy>
  <cp:revision>463</cp:revision>
  <cp:lastPrinted>2019-10-03T00:30:30Z</cp:lastPrinted>
  <dcterms:created xsi:type="dcterms:W3CDTF">2018-01-16T08:57:00Z</dcterms:created>
  <dcterms:modified xsi:type="dcterms:W3CDTF">2023-04-04T08:33:56Z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1033-11.2.0.8893</vt:lpwstr>
  </property>
</Properties>
</file>