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eb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69" r:id="rId2"/>
    <p:sldId id="338" r:id="rId3"/>
    <p:sldId id="348" r:id="rId4"/>
    <p:sldId id="347" r:id="rId5"/>
    <p:sldId id="342" r:id="rId6"/>
    <p:sldId id="332" r:id="rId7"/>
    <p:sldId id="277" r:id="rId8"/>
    <p:sldId id="344" r:id="rId9"/>
    <p:sldId id="345" r:id="rId10"/>
    <p:sldId id="346" r:id="rId11"/>
    <p:sldId id="349" r:id="rId12"/>
    <p:sldId id="350" r:id="rId13"/>
    <p:sldId id="351" r:id="rId14"/>
    <p:sldId id="353" r:id="rId15"/>
    <p:sldId id="306" r:id="rId16"/>
    <p:sldId id="337" r:id="rId17"/>
    <p:sldId id="300" r:id="rId18"/>
    <p:sldId id="301" r:id="rId19"/>
    <p:sldId id="334" r:id="rId20"/>
    <p:sldId id="303" r:id="rId21"/>
    <p:sldId id="304" r:id="rId22"/>
    <p:sldId id="305" r:id="rId23"/>
    <p:sldId id="29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 Tuan Anh" initials="VTA"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5050"/>
    <a:srgbClr val="FFCC66"/>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01" autoAdjust="0"/>
    <p:restoredTop sz="96433" autoAdjust="0"/>
  </p:normalViewPr>
  <p:slideViewPr>
    <p:cSldViewPr>
      <p:cViewPr varScale="1">
        <p:scale>
          <a:sx n="114" d="100"/>
          <a:sy n="114" d="100"/>
        </p:scale>
        <p:origin x="1788" y="144"/>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925A17EF-115B-4BB9-BF42-426DFD9E898A}" type="datetimeFigureOut">
              <a:rPr lang="en-US" smtClean="0"/>
              <a:t>4/7/2023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7C4E7652-46AF-4259-BAE2-54978EA077CD}" type="slidenum">
              <a:rPr lang="en-US" smtClean="0"/>
              <a:t>‹#›</a:t>
            </a:fld>
            <a:endParaRPr lang="en-US"/>
          </a:p>
        </p:txBody>
      </p:sp>
    </p:spTree>
    <p:extLst>
      <p:ext uri="{BB962C8B-B14F-4D97-AF65-F5344CB8AC3E}">
        <p14:creationId xmlns:p14="http://schemas.microsoft.com/office/powerpoint/2010/main" val="4283971275"/>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4E7652-46AF-4259-BAE2-54978EA077CD}" type="slidenum">
              <a:rPr lang="en-US" smtClean="0"/>
              <a:t>6</a:t>
            </a:fld>
            <a:endParaRPr lang="en-US"/>
          </a:p>
        </p:txBody>
      </p:sp>
    </p:spTree>
    <p:extLst>
      <p:ext uri="{BB962C8B-B14F-4D97-AF65-F5344CB8AC3E}">
        <p14:creationId xmlns:p14="http://schemas.microsoft.com/office/powerpoint/2010/main" val="2949378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4E7652-46AF-4259-BAE2-54978EA077CD}" type="slidenum">
              <a:rPr lang="en-US" smtClean="0"/>
              <a:t>9</a:t>
            </a:fld>
            <a:endParaRPr lang="en-US"/>
          </a:p>
        </p:txBody>
      </p:sp>
    </p:spTree>
    <p:extLst>
      <p:ext uri="{BB962C8B-B14F-4D97-AF65-F5344CB8AC3E}">
        <p14:creationId xmlns:p14="http://schemas.microsoft.com/office/powerpoint/2010/main" val="3885991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4E7652-46AF-4259-BAE2-54978EA077CD}" type="slidenum">
              <a:rPr lang="en-US" smtClean="0"/>
              <a:t>15</a:t>
            </a:fld>
            <a:endParaRPr lang="en-US"/>
          </a:p>
        </p:txBody>
      </p:sp>
    </p:spTree>
    <p:extLst>
      <p:ext uri="{BB962C8B-B14F-4D97-AF65-F5344CB8AC3E}">
        <p14:creationId xmlns:p14="http://schemas.microsoft.com/office/powerpoint/2010/main" val="2187970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7C4E7652-46AF-4259-BAE2-54978EA077CD}" type="slidenum">
              <a:rPr lang="en-US" smtClean="0"/>
              <a:t>16</a:t>
            </a:fld>
            <a:endParaRPr lang="en-US"/>
          </a:p>
        </p:txBody>
      </p:sp>
    </p:spTree>
    <p:extLst>
      <p:ext uri="{BB962C8B-B14F-4D97-AF65-F5344CB8AC3E}">
        <p14:creationId xmlns:p14="http://schemas.microsoft.com/office/powerpoint/2010/main" val="2893916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jpe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1" y="-10825"/>
            <a:ext cx="9144002" cy="6515395"/>
            <a:chOff x="-1" y="-10825"/>
            <a:chExt cx="9144002" cy="6515395"/>
          </a:xfrm>
        </p:grpSpPr>
        <p:pic>
          <p:nvPicPr>
            <p:cNvPr id="11" name="Graphic 10"/>
            <p:cNvPicPr>
              <a:picLocks noChangeAspect="1"/>
            </p:cNvPicPr>
            <p:nvPr userDrawn="1"/>
          </p:nvPicPr>
          <p:blipFill>
            <a:blip r:embed="rId2"/>
            <a:stretch>
              <a:fillRect/>
            </a:stretch>
          </p:blipFill>
          <p:spPr>
            <a:xfrm>
              <a:off x="457200" y="-10825"/>
              <a:ext cx="3429000" cy="3181546"/>
            </a:xfrm>
            <a:prstGeom prst="rect">
              <a:avLst/>
            </a:prstGeom>
          </p:spPr>
        </p:pic>
        <p:pic>
          <p:nvPicPr>
            <p:cNvPr id="12" name="Graphic 11"/>
            <p:cNvPicPr>
              <a:picLocks noChangeAspect="1"/>
            </p:cNvPicPr>
            <p:nvPr userDrawn="1"/>
          </p:nvPicPr>
          <p:blipFill>
            <a:blip r:embed="rId3" cstate="print"/>
            <a:stretch>
              <a:fillRect/>
            </a:stretch>
          </p:blipFill>
          <p:spPr>
            <a:xfrm>
              <a:off x="1295401" y="-10825"/>
              <a:ext cx="7848600" cy="3522243"/>
            </a:xfrm>
            <a:prstGeom prst="rect">
              <a:avLst/>
            </a:prstGeom>
          </p:spPr>
        </p:pic>
        <p:pic>
          <p:nvPicPr>
            <p:cNvPr id="13" name="Graphic 12"/>
            <p:cNvPicPr>
              <a:picLocks noChangeAspect="1"/>
            </p:cNvPicPr>
            <p:nvPr userDrawn="1"/>
          </p:nvPicPr>
          <p:blipFill>
            <a:blip r:embed="rId4"/>
            <a:stretch>
              <a:fillRect/>
            </a:stretch>
          </p:blipFill>
          <p:spPr>
            <a:xfrm>
              <a:off x="2831825" y="2232482"/>
              <a:ext cx="1282976" cy="1108588"/>
            </a:xfrm>
            <a:prstGeom prst="rect">
              <a:avLst/>
            </a:prstGeom>
          </p:spPr>
        </p:pic>
        <p:pic>
          <p:nvPicPr>
            <p:cNvPr id="14" name="Graphic 13"/>
            <p:cNvPicPr>
              <a:picLocks noChangeAspect="1"/>
            </p:cNvPicPr>
            <p:nvPr userDrawn="1"/>
          </p:nvPicPr>
          <p:blipFill>
            <a:blip r:embed="rId5"/>
            <a:stretch>
              <a:fillRect/>
            </a:stretch>
          </p:blipFill>
          <p:spPr>
            <a:xfrm>
              <a:off x="-1" y="2962082"/>
              <a:ext cx="2757625" cy="3542488"/>
            </a:xfrm>
            <a:prstGeom prst="rect">
              <a:avLst/>
            </a:prstGeom>
          </p:spPr>
        </p:pic>
        <p:pic>
          <p:nvPicPr>
            <p:cNvPr id="15" name="Graphic 14"/>
            <p:cNvPicPr>
              <a:picLocks noChangeAspect="1"/>
            </p:cNvPicPr>
            <p:nvPr userDrawn="1"/>
          </p:nvPicPr>
          <p:blipFill>
            <a:blip r:embed="rId6"/>
            <a:stretch>
              <a:fillRect/>
            </a:stretch>
          </p:blipFill>
          <p:spPr>
            <a:xfrm>
              <a:off x="2" y="2313169"/>
              <a:ext cx="2259131" cy="2895506"/>
            </a:xfrm>
            <a:prstGeom prst="rect">
              <a:avLst/>
            </a:prstGeom>
          </p:spPr>
        </p:pic>
      </p:grpSp>
      <p:sp>
        <p:nvSpPr>
          <p:cNvPr id="8" name="Title 7"/>
          <p:cNvSpPr>
            <a:spLocks noGrp="1"/>
          </p:cNvSpPr>
          <p:nvPr>
            <p:ph type="ctrTitle"/>
          </p:nvPr>
        </p:nvSpPr>
        <p:spPr>
          <a:xfrm>
            <a:off x="3276600" y="1213332"/>
            <a:ext cx="5326856" cy="1425577"/>
          </a:xfrm>
        </p:spPr>
        <p:txBody>
          <a:bodyPr anchor="b"/>
          <a:lstStyle>
            <a:lvl1pPr algn="r">
              <a:defRPr sz="4500" b="1">
                <a:solidFill>
                  <a:schemeClr val="bg2"/>
                </a:solidFill>
              </a:defRPr>
            </a:lvl1pPr>
          </a:lstStyle>
          <a:p>
            <a:r>
              <a:rPr lang="en-US"/>
              <a:t>Click to edit Master title style</a:t>
            </a:r>
            <a:endParaRPr lang="en-US" dirty="0"/>
          </a:p>
        </p:txBody>
      </p:sp>
      <p:sp>
        <p:nvSpPr>
          <p:cNvPr id="9" name="Subtitle 8"/>
          <p:cNvSpPr>
            <a:spLocks noGrp="1"/>
          </p:cNvSpPr>
          <p:nvPr>
            <p:ph type="subTitle" idx="1"/>
          </p:nvPr>
        </p:nvSpPr>
        <p:spPr>
          <a:xfrm>
            <a:off x="4724400" y="3849666"/>
            <a:ext cx="3879056" cy="1234575"/>
          </a:xfrm>
          <a:noFill/>
        </p:spPr>
        <p:txBody>
          <a:bodyPr/>
          <a:lstStyle>
            <a:lvl1pPr marL="0" marR="36830" indent="0" algn="l">
              <a:spcBef>
                <a:spcPts val="0"/>
              </a:spcBef>
              <a:buNone/>
              <a:defRPr>
                <a:ln>
                  <a:noFill/>
                </a:ln>
                <a:solidFill>
                  <a:schemeClr val="bg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17" name="Footer Placeholder 16"/>
          <p:cNvSpPr>
            <a:spLocks noGrp="1"/>
          </p:cNvSpPr>
          <p:nvPr>
            <p:ph type="ftr" sz="quarter" idx="11"/>
          </p:nvPr>
        </p:nvSpPr>
        <p:spPr>
          <a:xfrm>
            <a:off x="2812256" y="6111875"/>
            <a:ext cx="5791200" cy="365125"/>
          </a:xfrm>
          <a:prstGeom prst="rect">
            <a:avLst/>
          </a:prstGeom>
        </p:spPr>
        <p:txBody>
          <a:bodyPr tIns="0" bIns="0" anchor="b"/>
          <a:lstStyle>
            <a:lvl1pPr algn="ctr">
              <a:defRPr sz="1400" b="1">
                <a:solidFill>
                  <a:schemeClr val="bg1"/>
                </a:solidFill>
              </a:defRPr>
            </a:lvl1pPr>
          </a:lstStyle>
          <a:p>
            <a:r>
              <a:rPr lang="en-US"/>
              <a:t>Báo cáo tổng kết 2017 - PMO</a:t>
            </a:r>
            <a:endParaRPr lang="en-US" dirty="0"/>
          </a:p>
        </p:txBody>
      </p:sp>
      <p:pic>
        <p:nvPicPr>
          <p:cNvPr id="2051" name="Picture 1" descr="logo+Luvina"/>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295402" cy="787402"/>
          </a:xfrm>
          <a:prstGeom prst="rect">
            <a:avLst/>
          </a:prstGeom>
          <a:noFill/>
          <a:ln>
            <a:noFill/>
          </a:ln>
          <a:effectLst>
            <a:glow>
              <a:schemeClr val="accent1"/>
            </a:glow>
            <a:outerShdw blurRad="177800" dist="50800" dir="5400000" algn="ctr" rotWithShape="0">
              <a:srgbClr val="000000">
                <a:alpha val="0"/>
              </a:srgbClr>
            </a:outerShdw>
            <a:softEdge rad="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4876800" cy="799306"/>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4572000"/>
          </a:xfrm>
        </p:spPr>
        <p:txBody>
          <a:bodyPr/>
          <a:lstStyle>
            <a:lvl1pPr>
              <a:defRPr sz="2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Slide Number Placeholder 3"/>
          <p:cNvSpPr>
            <a:spLocks noGrp="1"/>
          </p:cNvSpPr>
          <p:nvPr>
            <p:ph type="sldNum" sz="quarter" idx="11"/>
          </p:nvPr>
        </p:nvSpPr>
        <p:spPr>
          <a:xfrm>
            <a:off x="8183880" y="173195"/>
            <a:ext cx="502920" cy="301752"/>
          </a:xfrm>
          <a:prstGeom prst="rect">
            <a:avLst/>
          </a:prstGeom>
        </p:spPr>
        <p:txBody>
          <a:bodyPr/>
          <a:lstStyle/>
          <a:p>
            <a:fld id="{49598980-D22C-4904-9F8F-3DB09B2ECD84}" type="slidenum">
              <a:rPr lang="en-US" smtClean="0"/>
              <a:t>‹#›</a:t>
            </a:fld>
            <a:endParaRPr lang="en-US" dirty="0"/>
          </a:p>
        </p:txBody>
      </p:sp>
      <p:sp>
        <p:nvSpPr>
          <p:cNvPr id="14" name="Content Placeholder 2"/>
          <p:cNvSpPr>
            <a:spLocks noGrp="1"/>
          </p:cNvSpPr>
          <p:nvPr>
            <p:ph idx="1"/>
          </p:nvPr>
        </p:nvSpPr>
        <p:spPr>
          <a:xfrm>
            <a:off x="457200" y="1425655"/>
            <a:ext cx="7726680" cy="571500"/>
          </a:xfrm>
        </p:spPr>
        <p:txBody>
          <a:bodyPr>
            <a:normAutofit/>
          </a:bodyPr>
          <a:lstStyle>
            <a:lvl1pPr marL="64135" indent="0">
              <a:buFont typeface="Arial" panose="020B0604020202020204" pitchFamily="34" charset="0"/>
              <a:buNone/>
              <a:defRPr sz="2000"/>
            </a:lvl1pPr>
            <a:lvl2pPr marL="537210" indent="0">
              <a:buNone/>
              <a:defRPr/>
            </a:lvl2pPr>
            <a:lvl3pPr marL="877570" indent="0">
              <a:buNone/>
              <a:defRPr/>
            </a:lvl3pPr>
            <a:lvl4pPr marL="1161415" indent="0">
              <a:buNone/>
              <a:defRPr/>
            </a:lvl4pPr>
            <a:lvl5pPr marL="1390015" indent="0">
              <a:buNone/>
              <a:defRPr/>
            </a:lvl5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lang="en-US"/>
              <a:t>Click to edit Master title style</a:t>
            </a:r>
            <a:endParaRPr lang="en-US" dirty="0"/>
          </a:p>
        </p:txBody>
      </p:sp>
      <p:sp>
        <p:nvSpPr>
          <p:cNvPr id="3" name="Content Placeholder 2"/>
          <p:cNvSpPr>
            <a:spLocks noGrp="1"/>
          </p:cNvSpPr>
          <p:nvPr>
            <p:ph sz="half" idx="1"/>
          </p:nvPr>
        </p:nvSpPr>
        <p:spPr>
          <a:xfrm>
            <a:off x="457200" y="1722437"/>
            <a:ext cx="4038600" cy="4525963"/>
          </a:xfrm>
        </p:spPr>
        <p:txBody>
          <a:bodyPr/>
          <a:lstStyle>
            <a:lvl1pPr>
              <a:defRPr sz="20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22437"/>
            <a:ext cx="4038600" cy="4525963"/>
          </a:xfrm>
        </p:spPr>
        <p:txBody>
          <a:bodyPr/>
          <a:lstStyle>
            <a:lvl1pPr>
              <a:defRPr sz="20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1295400"/>
            <a:ext cx="914400" cy="5015864"/>
          </a:xfrm>
        </p:spPr>
        <p:txBody>
          <a:bodyPr vert="vert270" anchor="b"/>
          <a:lstStyle>
            <a:lvl1pPr marL="0" marR="18415" algn="r">
              <a:spcBef>
                <a:spcPts val="0"/>
              </a:spcBef>
              <a:buNone/>
              <a:defRPr sz="29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135856" y="1295400"/>
            <a:ext cx="2438400" cy="5015864"/>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51250" y="1295400"/>
            <a:ext cx="5276088" cy="5013960"/>
          </a:xfrm>
        </p:spPr>
        <p:txBody>
          <a:bodyPr>
            <a:normAutofit/>
          </a:bodyPr>
          <a:lstStyle>
            <a:lvl1pPr>
              <a:spcBef>
                <a:spcPts val="0"/>
              </a:spcBef>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6"/>
          <p:cNvSpPr>
            <a:spLocks noGrp="1"/>
          </p:cNvSpPr>
          <p:nvPr>
            <p:ph type="sldNum" sz="quarter" idx="12"/>
          </p:nvPr>
        </p:nvSpPr>
        <p:spPr>
          <a:xfrm>
            <a:off x="8191596" y="173195"/>
            <a:ext cx="502920" cy="301752"/>
          </a:xfrm>
          <a:prstGeom prst="rect">
            <a:avLst/>
          </a:prstGeom>
        </p:spPr>
        <p:txBody>
          <a:bodyPr/>
          <a:lstStyle>
            <a:lvl1pPr>
              <a:defRPr sz="1200"/>
            </a:lvl1pPr>
          </a:lstStyle>
          <a:p>
            <a:fld id="{FEA1243F-3000-4347-94A4-FBDEAD3122CB}"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66725" y="381198"/>
            <a:ext cx="4638674" cy="675926"/>
          </a:xfrm>
          <a:prstGeom prst="rect">
            <a:avLst/>
          </a:prstGeom>
        </p:spPr>
        <p:txBody>
          <a:bodyPr vert="horz" lIns="0" rIns="0" anchor="ctr">
            <a:noAutofit/>
          </a:bodyPr>
          <a:lstStyle/>
          <a:p>
            <a:endParaRPr lang="en-US" dirty="0"/>
          </a:p>
        </p:txBody>
      </p:sp>
      <p:sp>
        <p:nvSpPr>
          <p:cNvPr id="13" name="Text Placeholder 12"/>
          <p:cNvSpPr>
            <a:spLocks noGrp="1"/>
          </p:cNvSpPr>
          <p:nvPr>
            <p:ph type="body" idx="1"/>
          </p:nvPr>
        </p:nvSpPr>
        <p:spPr>
          <a:xfrm>
            <a:off x="457200" y="1566839"/>
            <a:ext cx="8229600" cy="4572000"/>
          </a:xfrm>
          <a:prstGeom prst="rect">
            <a:avLst/>
          </a:prstGeom>
        </p:spPr>
        <p:txBody>
          <a:bodyPr vert="horz"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1" name="Graphic 20"/>
          <p:cNvPicPr>
            <a:picLocks noChangeAspect="1"/>
          </p:cNvPicPr>
          <p:nvPr userDrawn="1"/>
        </p:nvPicPr>
        <p:blipFill>
          <a:blip r:embed="rId8" cstate="print"/>
          <a:stretch>
            <a:fillRect/>
          </a:stretch>
        </p:blipFill>
        <p:spPr>
          <a:xfrm>
            <a:off x="0" y="5307178"/>
            <a:ext cx="1219200" cy="1550822"/>
          </a:xfrm>
          <a:prstGeom prst="rect">
            <a:avLst/>
          </a:prstGeom>
        </p:spPr>
      </p:pic>
      <p:pic>
        <p:nvPicPr>
          <p:cNvPr id="27" name="Graphic 26"/>
          <p:cNvPicPr>
            <a:picLocks noChangeAspect="1"/>
          </p:cNvPicPr>
          <p:nvPr userDrawn="1"/>
        </p:nvPicPr>
        <p:blipFill>
          <a:blip r:embed="rId9" cstate="print"/>
          <a:stretch>
            <a:fillRect/>
          </a:stretch>
        </p:blipFill>
        <p:spPr>
          <a:xfrm>
            <a:off x="-16459" y="4545317"/>
            <a:ext cx="1248460" cy="1570328"/>
          </a:xfrm>
          <a:prstGeom prst="rect">
            <a:avLst/>
          </a:prstGeom>
        </p:spPr>
      </p:pic>
      <p:pic>
        <p:nvPicPr>
          <p:cNvPr id="1027" name="Picture 1" descr="logo+Luvina"/>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7932591" y="1994"/>
            <a:ext cx="1230913" cy="748202"/>
          </a:xfrm>
          <a:prstGeom prst="rect">
            <a:avLst/>
          </a:prstGeom>
          <a:noFill/>
          <a:ln>
            <a:noFill/>
          </a:ln>
          <a:effectLst>
            <a:outerShdw dist="50800" dir="5400000" algn="ctr" rotWithShape="0">
              <a:srgbClr val="000000">
                <a:alpha val="0"/>
              </a:srgbClr>
            </a:outerShdw>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lvl1pPr marL="182880" algn="l" rtl="0" eaLnBrk="1" latinLnBrk="0" hangingPunct="1">
        <a:spcBef>
          <a:spcPct val="0"/>
        </a:spcBef>
        <a:buNone/>
        <a:defRPr sz="3200" b="1" kern="1200">
          <a:ln w="6350">
            <a:noFill/>
          </a:ln>
          <a:solidFill>
            <a:schemeClr val="accent1"/>
          </a:solidFill>
          <a:effectLst/>
          <a:latin typeface="+mj-lt"/>
          <a:ea typeface="+mj-ea"/>
          <a:cs typeface="+mj-cs"/>
        </a:defRPr>
      </a:lvl1pPr>
    </p:titleStyle>
    <p:body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webp"/><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914400"/>
            <a:ext cx="8001000" cy="1066800"/>
          </a:xfrm>
        </p:spPr>
        <p:txBody>
          <a:bodyPr/>
          <a:lstStyle/>
          <a:p>
            <a:pPr algn="ctr"/>
            <a:r>
              <a:rPr lang="en-US" sz="3600" dirty="0"/>
              <a:t>LÝ THUYẾT CHUNG </a:t>
            </a:r>
            <a:br>
              <a:rPr lang="en-US" sz="3600" dirty="0"/>
            </a:br>
            <a:r>
              <a:rPr lang="en-US" sz="3600" dirty="0"/>
              <a:t>VỀ TEST</a:t>
            </a:r>
          </a:p>
        </p:txBody>
      </p:sp>
      <p:sp>
        <p:nvSpPr>
          <p:cNvPr id="3" name="Subtitle 2"/>
          <p:cNvSpPr>
            <a:spLocks noGrp="1"/>
          </p:cNvSpPr>
          <p:nvPr>
            <p:ph type="subTitle" idx="1"/>
          </p:nvPr>
        </p:nvSpPr>
        <p:spPr>
          <a:xfrm>
            <a:off x="4114800" y="3849666"/>
            <a:ext cx="4488656" cy="1234575"/>
          </a:xfrm>
        </p:spPr>
        <p:txBody>
          <a:bodyPr>
            <a:normAutofit/>
          </a:bodyPr>
          <a:lstStyle/>
          <a:p>
            <a:pPr algn="ctr"/>
            <a:r>
              <a:rPr lang="en-US" dirty="0"/>
              <a:t>Người </a:t>
            </a:r>
            <a:r>
              <a:rPr lang="en-US" dirty="0" err="1"/>
              <a:t>trình</a:t>
            </a:r>
            <a:r>
              <a:rPr lang="en-US" dirty="0"/>
              <a:t> </a:t>
            </a:r>
            <a:r>
              <a:rPr lang="en-US" dirty="0" err="1"/>
              <a:t>bày</a:t>
            </a:r>
            <a:r>
              <a:rPr lang="en-US" dirty="0"/>
              <a:t>: </a:t>
            </a:r>
            <a:r>
              <a:rPr lang="en-US" b="1" dirty="0"/>
              <a:t>TMO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NỘI DUNG</a:t>
            </a:r>
            <a:endParaRPr lang="en-US" dirty="0"/>
          </a:p>
        </p:txBody>
      </p:sp>
      <p:sp>
        <p:nvSpPr>
          <p:cNvPr id="3" name="Content Placeholder 2"/>
          <p:cNvSpPr>
            <a:spLocks noGrp="1"/>
          </p:cNvSpPr>
          <p:nvPr>
            <p:ph idx="1"/>
          </p:nvPr>
        </p:nvSpPr>
        <p:spPr/>
        <p:txBody>
          <a:bodyPr>
            <a:normAutofit/>
          </a:bodyPr>
          <a:lstStyle/>
          <a:p>
            <a:pPr marL="578485" indent="-514350">
              <a:buFont typeface="+mj-lt"/>
              <a:buAutoNum type="romanUcPeriod"/>
            </a:pPr>
            <a:r>
              <a:rPr lang="en-US" sz="1800" dirty="0" err="1"/>
              <a:t>Tại</a:t>
            </a:r>
            <a:r>
              <a:rPr lang="en-US" sz="1800" dirty="0"/>
              <a:t> </a:t>
            </a:r>
            <a:r>
              <a:rPr lang="en-US" sz="1800" dirty="0" err="1"/>
              <a:t>sao</a:t>
            </a:r>
            <a:r>
              <a:rPr lang="en-US" sz="1800" dirty="0"/>
              <a:t> </a:t>
            </a:r>
            <a:r>
              <a:rPr lang="en-US" sz="1800" dirty="0" err="1"/>
              <a:t>phải</a:t>
            </a:r>
            <a:r>
              <a:rPr lang="en-US" sz="1800" dirty="0"/>
              <a:t> test?</a:t>
            </a:r>
            <a:endParaRPr lang="en-US" sz="1900" dirty="0"/>
          </a:p>
          <a:p>
            <a:pPr marL="578485" indent="-514350">
              <a:buFont typeface="+mj-lt"/>
              <a:buAutoNum type="romanUcPeriod"/>
            </a:pPr>
            <a:r>
              <a:rPr lang="en-US" sz="1800" dirty="0"/>
              <a:t>Developer </a:t>
            </a:r>
            <a:r>
              <a:rPr lang="en-US" sz="1800" dirty="0" err="1"/>
              <a:t>thì</a:t>
            </a:r>
            <a:r>
              <a:rPr lang="en-US" sz="1800" dirty="0"/>
              <a:t> </a:t>
            </a:r>
            <a:r>
              <a:rPr lang="en-US" sz="1800" dirty="0" err="1"/>
              <a:t>cần</a:t>
            </a:r>
            <a:r>
              <a:rPr lang="en-US" sz="1800" dirty="0"/>
              <a:t> </a:t>
            </a:r>
            <a:r>
              <a:rPr lang="en-US" sz="1800" dirty="0" err="1"/>
              <a:t>gì</a:t>
            </a:r>
            <a:r>
              <a:rPr lang="en-US" sz="1800" dirty="0"/>
              <a:t> </a:t>
            </a:r>
            <a:r>
              <a:rPr lang="en-US" sz="1800" dirty="0" err="1"/>
              <a:t>phải</a:t>
            </a:r>
            <a:r>
              <a:rPr lang="en-US" sz="1800" dirty="0"/>
              <a:t> </a:t>
            </a:r>
            <a:r>
              <a:rPr lang="en-US" sz="1800" dirty="0" err="1"/>
              <a:t>biết</a:t>
            </a:r>
            <a:r>
              <a:rPr lang="en-US" sz="1800" dirty="0"/>
              <a:t> test?</a:t>
            </a:r>
            <a:endParaRPr lang="en-US" sz="1900" dirty="0"/>
          </a:p>
          <a:p>
            <a:pPr marL="578485" indent="-514350">
              <a:buFont typeface="+mj-lt"/>
              <a:buAutoNum type="romanUcPeriod"/>
            </a:pPr>
            <a:r>
              <a:rPr lang="en-US" sz="1900" dirty="0"/>
              <a:t>Test </a:t>
            </a:r>
            <a:r>
              <a:rPr lang="en-US" sz="1900" dirty="0" err="1"/>
              <a:t>là</a:t>
            </a:r>
            <a:r>
              <a:rPr lang="en-US" sz="1900" dirty="0"/>
              <a:t> </a:t>
            </a:r>
            <a:r>
              <a:rPr lang="en-US" sz="1900" dirty="0" err="1"/>
              <a:t>gì</a:t>
            </a:r>
            <a:r>
              <a:rPr lang="en-US" sz="1900" dirty="0"/>
              <a:t>?</a:t>
            </a:r>
          </a:p>
          <a:p>
            <a:pPr marL="578485" lvl="0" indent="-514350">
              <a:buFont typeface="+mj-lt"/>
              <a:buAutoNum type="romanUcPeriod"/>
            </a:pPr>
            <a:r>
              <a:rPr lang="en-US" sz="1900" dirty="0" err="1">
                <a:sym typeface="+mn-ea"/>
              </a:rPr>
              <a:t>Phân</a:t>
            </a:r>
            <a:r>
              <a:rPr lang="en-US" sz="1900" dirty="0">
                <a:sym typeface="+mn-ea"/>
              </a:rPr>
              <a:t> </a:t>
            </a:r>
            <a:r>
              <a:rPr lang="en-US" sz="1900" dirty="0" err="1">
                <a:sym typeface="+mn-ea"/>
              </a:rPr>
              <a:t>loại</a:t>
            </a:r>
            <a:r>
              <a:rPr lang="en-US" sz="1900" dirty="0">
                <a:sym typeface="+mn-ea"/>
              </a:rPr>
              <a:t> Test (Testing types).</a:t>
            </a:r>
          </a:p>
          <a:p>
            <a:pPr marL="578485" lvl="0" indent="-514350">
              <a:buFont typeface="+mj-lt"/>
              <a:buAutoNum type="romanUcPeriod"/>
            </a:pPr>
            <a:r>
              <a:rPr lang="en-US" sz="1900" dirty="0" err="1">
                <a:sym typeface="+mn-ea"/>
              </a:rPr>
              <a:t>Các</a:t>
            </a:r>
            <a:r>
              <a:rPr lang="en-US" sz="1900" dirty="0">
                <a:sym typeface="+mn-ea"/>
              </a:rPr>
              <a:t> </a:t>
            </a:r>
            <a:r>
              <a:rPr lang="en-US" sz="1900" dirty="0" err="1">
                <a:sym typeface="+mn-ea"/>
              </a:rPr>
              <a:t>mức</a:t>
            </a:r>
            <a:r>
              <a:rPr lang="en-US" sz="1900" dirty="0">
                <a:sym typeface="+mn-ea"/>
              </a:rPr>
              <a:t> </a:t>
            </a:r>
            <a:r>
              <a:rPr lang="en-US" sz="1900" dirty="0" err="1">
                <a:sym typeface="+mn-ea"/>
              </a:rPr>
              <a:t>độ</a:t>
            </a:r>
            <a:r>
              <a:rPr lang="en-US" sz="1900" dirty="0">
                <a:sym typeface="+mn-ea"/>
              </a:rPr>
              <a:t> Test (Test levels).</a:t>
            </a:r>
          </a:p>
          <a:p>
            <a:pPr marL="578485" indent="-514350">
              <a:buFont typeface="+mj-lt"/>
              <a:buAutoNum type="romanUcPeriod"/>
            </a:pPr>
            <a:r>
              <a:rPr lang="en-US" sz="1900" dirty="0">
                <a:sym typeface="+mn-ea"/>
              </a:rPr>
              <a:t>Quy</a:t>
            </a:r>
            <a:r>
              <a:rPr lang="vi-VN" sz="1900" dirty="0">
                <a:sym typeface="+mn-ea"/>
              </a:rPr>
              <a:t> trình Test cơ bản</a:t>
            </a:r>
            <a:r>
              <a:rPr lang="en-US" sz="1900" dirty="0">
                <a:sym typeface="+mn-ea"/>
              </a:rPr>
              <a:t>.</a:t>
            </a:r>
            <a:endParaRPr lang="vi-VN" sz="1900" dirty="0"/>
          </a:p>
          <a:p>
            <a:pPr marL="578485" lvl="0" indent="-514350">
              <a:buFont typeface="+mj-lt"/>
              <a:buAutoNum type="romanUcPeriod"/>
            </a:pPr>
            <a:r>
              <a:rPr lang="en-US" sz="1800" dirty="0" err="1"/>
              <a:t>Bí</a:t>
            </a:r>
            <a:r>
              <a:rPr lang="en-US" sz="1800" dirty="0"/>
              <a:t> </a:t>
            </a:r>
            <a:r>
              <a:rPr lang="en-US" sz="1800" dirty="0" err="1"/>
              <a:t>Kíp</a:t>
            </a:r>
            <a:r>
              <a:rPr lang="en-US" sz="1800" dirty="0"/>
              <a:t> </a:t>
            </a:r>
            <a:r>
              <a:rPr lang="en-US" sz="1800" dirty="0" err="1"/>
              <a:t>Truy</a:t>
            </a:r>
            <a:r>
              <a:rPr lang="en-US" sz="1800" dirty="0"/>
              <a:t> </a:t>
            </a:r>
            <a:r>
              <a:rPr lang="en-US" sz="1800" dirty="0" err="1"/>
              <a:t>Lùng</a:t>
            </a:r>
            <a:r>
              <a:rPr lang="en-US" sz="1800" dirty="0"/>
              <a:t> Bug</a:t>
            </a:r>
            <a:endParaRPr lang="en-US" sz="1900" dirty="0"/>
          </a:p>
          <a:p>
            <a:pPr marL="521335" indent="-457200">
              <a:buFont typeface="+mj-lt"/>
              <a:buAutoNum type="romanUcPeriod"/>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4200675"/>
            <a:ext cx="3422437" cy="2590727"/>
          </a:xfrm>
          <a:prstGeom prst="rect">
            <a:avLst/>
          </a:prstGeom>
        </p:spPr>
      </p:pic>
      <p:sp>
        <p:nvSpPr>
          <p:cNvPr id="2" name="Title 1"/>
          <p:cNvSpPr>
            <a:spLocks noGrp="1"/>
          </p:cNvSpPr>
          <p:nvPr>
            <p:ph type="title"/>
          </p:nvPr>
        </p:nvSpPr>
        <p:spPr>
          <a:xfrm>
            <a:off x="306281" y="76200"/>
            <a:ext cx="7762875" cy="675926"/>
          </a:xfrm>
        </p:spPr>
        <p:txBody>
          <a:bodyPr/>
          <a:lstStyle/>
          <a:p>
            <a:r>
              <a:rPr lang="en-US" dirty="0"/>
              <a:t>I. </a:t>
            </a:r>
            <a:r>
              <a:rPr lang="en-US" dirty="0" err="1"/>
              <a:t>Tại</a:t>
            </a:r>
            <a:r>
              <a:rPr lang="en-US" dirty="0"/>
              <a:t> </a:t>
            </a:r>
            <a:r>
              <a:rPr lang="en-US" dirty="0" err="1"/>
              <a:t>sao</a:t>
            </a:r>
            <a:r>
              <a:rPr lang="en-US" dirty="0"/>
              <a:t> </a:t>
            </a:r>
            <a:r>
              <a:rPr lang="en-US" dirty="0" err="1"/>
              <a:t>phải</a:t>
            </a:r>
            <a:r>
              <a:rPr lang="en-US" dirty="0"/>
              <a:t> test?</a:t>
            </a:r>
          </a:p>
        </p:txBody>
      </p:sp>
      <p:sp>
        <p:nvSpPr>
          <p:cNvPr id="3" name="Content Placeholder 2"/>
          <p:cNvSpPr>
            <a:spLocks noGrp="1"/>
          </p:cNvSpPr>
          <p:nvPr>
            <p:ph sz="half" idx="1"/>
          </p:nvPr>
        </p:nvSpPr>
        <p:spPr>
          <a:xfrm>
            <a:off x="-76200" y="914400"/>
            <a:ext cx="8763000" cy="3286275"/>
          </a:xfrm>
        </p:spPr>
        <p:txBody>
          <a:bodyPr>
            <a:normAutofit fontScale="85000" lnSpcReduction="10000"/>
          </a:bodyPr>
          <a:lstStyle/>
          <a:p>
            <a:pPr>
              <a:buFont typeface="Wingdings" panose="05000000000000000000" pitchFamily="2" charset="2"/>
              <a:buChar char="v"/>
            </a:pPr>
            <a:r>
              <a:rPr lang="vi-VN" dirty="0"/>
              <a:t>Phần mềm không tự sinh ra, mà do </a:t>
            </a:r>
            <a:r>
              <a:rPr lang="en-US" dirty="0"/>
              <a:t>Developer </a:t>
            </a:r>
            <a:r>
              <a:rPr lang="vi-VN" dirty="0"/>
              <a:t>viết ra. </a:t>
            </a:r>
            <a:r>
              <a:rPr lang="en-US" dirty="0"/>
              <a:t>Developer</a:t>
            </a:r>
            <a:r>
              <a:rPr lang="vi-VN" dirty="0"/>
              <a:t> thì cũng là người, đã là người thì ai cũng có lúc mắc sai lầm. Sai lầm trong khi code sẽ </a:t>
            </a:r>
            <a:r>
              <a:rPr lang="en-US" dirty="0" err="1"/>
              <a:t>gây</a:t>
            </a:r>
            <a:r>
              <a:rPr lang="vi-VN" dirty="0"/>
              <a:t> ra </a:t>
            </a:r>
            <a:r>
              <a:rPr lang="en-US" dirty="0" err="1"/>
              <a:t>lỗi</a:t>
            </a:r>
            <a:r>
              <a:rPr lang="vi-VN" dirty="0"/>
              <a:t>.</a:t>
            </a:r>
            <a:endParaRPr lang="en-US" dirty="0"/>
          </a:p>
          <a:p>
            <a:pPr>
              <a:buFont typeface="Wingdings" panose="05000000000000000000" pitchFamily="2" charset="2"/>
              <a:buChar char="v"/>
            </a:pPr>
            <a:r>
              <a:rPr lang="en-US" dirty="0" err="1"/>
              <a:t>Lỗi</a:t>
            </a:r>
            <a:r>
              <a:rPr lang="vi-VN" dirty="0"/>
              <a:t> có nhiều loại, có </a:t>
            </a:r>
            <a:r>
              <a:rPr lang="en-US" dirty="0" err="1"/>
              <a:t>lỗi</a:t>
            </a:r>
            <a:r>
              <a:rPr lang="vi-VN" dirty="0"/>
              <a:t> vô hại, có </a:t>
            </a:r>
            <a:r>
              <a:rPr lang="en-US" dirty="0" err="1"/>
              <a:t>lỗi</a:t>
            </a:r>
            <a:r>
              <a:rPr lang="vi-VN" dirty="0"/>
              <a:t> gây chết</a:t>
            </a:r>
            <a:r>
              <a:rPr lang="en-US" dirty="0"/>
              <a:t> </a:t>
            </a:r>
            <a:r>
              <a:rPr lang="en-US" dirty="0" err="1"/>
              <a:t>giết</a:t>
            </a:r>
            <a:r>
              <a:rPr lang="en-US" dirty="0"/>
              <a:t> </a:t>
            </a:r>
            <a:r>
              <a:rPr lang="en-US" dirty="0" err="1"/>
              <a:t>người</a:t>
            </a:r>
            <a:r>
              <a:rPr lang="en-US" dirty="0"/>
              <a:t> </a:t>
            </a:r>
            <a:r>
              <a:rPr lang="en-US" dirty="0" err="1"/>
              <a:t>hoặc</a:t>
            </a:r>
            <a:r>
              <a:rPr lang="en-US" dirty="0"/>
              <a:t> </a:t>
            </a:r>
            <a:r>
              <a:rPr lang="en-US" dirty="0" err="1"/>
              <a:t>gây</a:t>
            </a:r>
            <a:r>
              <a:rPr lang="en-US" dirty="0"/>
              <a:t> </a:t>
            </a:r>
            <a:r>
              <a:rPr lang="en-US" dirty="0" err="1"/>
              <a:t>thiệt</a:t>
            </a:r>
            <a:r>
              <a:rPr lang="en-US" dirty="0"/>
              <a:t> </a:t>
            </a:r>
            <a:r>
              <a:rPr lang="en-US" dirty="0" err="1"/>
              <a:t>hại</a:t>
            </a:r>
            <a:r>
              <a:rPr lang="en-US" dirty="0"/>
              <a:t> </a:t>
            </a:r>
            <a:r>
              <a:rPr lang="en-US" dirty="0" err="1"/>
              <a:t>cả</a:t>
            </a:r>
            <a:r>
              <a:rPr lang="en-US" dirty="0"/>
              <a:t> </a:t>
            </a:r>
            <a:r>
              <a:rPr lang="en-US" dirty="0" err="1"/>
              <a:t>triệu</a:t>
            </a:r>
            <a:r>
              <a:rPr lang="en-US" dirty="0"/>
              <a:t> </a:t>
            </a:r>
            <a:r>
              <a:rPr lang="en-US" dirty="0" err="1"/>
              <a:t>đô</a:t>
            </a:r>
            <a:r>
              <a:rPr lang="vi-VN" dirty="0"/>
              <a:t>. Do vậy ta phải tìm cách loại bỏ </a:t>
            </a:r>
            <a:r>
              <a:rPr lang="en-US" dirty="0" err="1"/>
              <a:t>lỗi</a:t>
            </a:r>
            <a:r>
              <a:rPr lang="vi-VN" dirty="0"/>
              <a:t> khỏi phần mềm.</a:t>
            </a:r>
            <a:endParaRPr lang="en-US" dirty="0"/>
          </a:p>
          <a:p>
            <a:pPr marL="724535" lvl="1">
              <a:buFont typeface="Wingdings" panose="05000000000000000000" pitchFamily="2" charset="2"/>
              <a:buChar char="ü"/>
            </a:pPr>
            <a:r>
              <a:rPr lang="en-US" dirty="0"/>
              <a:t>S</a:t>
            </a:r>
            <a:r>
              <a:rPr lang="vi-VN" dirty="0"/>
              <a:t>ự kiện </a:t>
            </a:r>
            <a:r>
              <a:rPr lang="en-US" dirty="0" err="1"/>
              <a:t>cỗ</a:t>
            </a:r>
            <a:r>
              <a:rPr lang="en-US" dirty="0"/>
              <a:t> </a:t>
            </a:r>
            <a:r>
              <a:rPr lang="en-US" dirty="0" err="1"/>
              <a:t>máy</a:t>
            </a:r>
            <a:r>
              <a:rPr lang="en-US" dirty="0"/>
              <a:t> </a:t>
            </a:r>
            <a:r>
              <a:rPr lang="vi-VN" dirty="0"/>
              <a:t>Therac-25 năm 1982 chính là câu chuyện nổi tiếng nhất về việc </a:t>
            </a:r>
            <a:r>
              <a:rPr lang="vi-VN" b="1" dirty="0"/>
              <a:t>code giết người</a:t>
            </a:r>
            <a:r>
              <a:rPr lang="vi-VN" dirty="0"/>
              <a:t>. Therac-25 là một cỗ máy xạ trị cho bệnh nhân ung thư. Do sai lầ</a:t>
            </a:r>
            <a:r>
              <a:rPr lang="en-US" dirty="0"/>
              <a:t>m</a:t>
            </a:r>
            <a:r>
              <a:rPr lang="vi-VN" dirty="0"/>
              <a:t> trong việc code và kiểm thử, máy </a:t>
            </a:r>
            <a:r>
              <a:rPr lang="vi-VN" b="1" dirty="0"/>
              <a:t>chiếu phóng xạ quá liều</a:t>
            </a:r>
            <a:r>
              <a:rPr lang="vi-VN" dirty="0"/>
              <a:t>, làm chết 3 người, bị thương 6 người.</a:t>
            </a:r>
            <a:endParaRPr lang="en-US" dirty="0"/>
          </a:p>
          <a:p>
            <a:pPr marL="724535" lvl="1">
              <a:buFont typeface="Wingdings" panose="05000000000000000000" pitchFamily="2" charset="2"/>
              <a:buChar char="ü"/>
            </a:pPr>
            <a:r>
              <a:rPr lang="vi-VN" dirty="0"/>
              <a:t>Năm 1998, một module trong vệ tinh sao hoả bị lỗi, khiến nó “úp mặt vào sao Hỏa” ngay khi tới nơi. gây </a:t>
            </a:r>
            <a:r>
              <a:rPr lang="vi-VN" b="1" dirty="0"/>
              <a:t>thiệt hại 327 triệu đô</a:t>
            </a:r>
            <a:r>
              <a:rPr lang="vi-VN" dirty="0"/>
              <a:t> và 1 năm chờ đợi.</a:t>
            </a:r>
            <a:endParaRPr lang="en-US" dirty="0"/>
          </a:p>
          <a:p>
            <a:pPr>
              <a:buFont typeface="Wingdings" panose="05000000000000000000" pitchFamily="2" charset="2"/>
              <a:buChar char="v"/>
            </a:pPr>
            <a:r>
              <a:rPr lang="en-US" dirty="0" err="1"/>
              <a:t>Có</a:t>
            </a:r>
            <a:r>
              <a:rPr lang="en-US" dirty="0"/>
              <a:t> </a:t>
            </a:r>
            <a:r>
              <a:rPr lang="en-US" dirty="0" err="1"/>
              <a:t>những</a:t>
            </a:r>
            <a:r>
              <a:rPr lang="en-US" dirty="0"/>
              <a:t> </a:t>
            </a:r>
            <a:r>
              <a:rPr lang="en-US" dirty="0" err="1"/>
              <a:t>lỗi</a:t>
            </a:r>
            <a:r>
              <a:rPr lang="en-US" dirty="0"/>
              <a:t> </a:t>
            </a:r>
            <a:r>
              <a:rPr lang="en-US" dirty="0" err="1"/>
              <a:t>nhìn</a:t>
            </a:r>
            <a:r>
              <a:rPr lang="en-US" dirty="0"/>
              <a:t> </a:t>
            </a:r>
            <a:r>
              <a:rPr lang="en-US" dirty="0" err="1"/>
              <a:t>là</a:t>
            </a:r>
            <a:r>
              <a:rPr lang="en-US" dirty="0"/>
              <a:t> </a:t>
            </a:r>
            <a:r>
              <a:rPr lang="en-US" dirty="0" err="1"/>
              <a:t>thấy</a:t>
            </a:r>
            <a:r>
              <a:rPr lang="en-US" dirty="0"/>
              <a:t> </a:t>
            </a:r>
            <a:r>
              <a:rPr lang="en-US" dirty="0" err="1"/>
              <a:t>luôn</a:t>
            </a:r>
            <a:r>
              <a:rPr lang="en-US" dirty="0"/>
              <a:t> </a:t>
            </a:r>
            <a:r>
              <a:rPr lang="en-US" dirty="0" err="1"/>
              <a:t>nhưng</a:t>
            </a:r>
            <a:r>
              <a:rPr lang="en-US" dirty="0"/>
              <a:t> </a:t>
            </a:r>
            <a:r>
              <a:rPr lang="en-US" dirty="0" err="1"/>
              <a:t>có</a:t>
            </a:r>
            <a:r>
              <a:rPr lang="en-US" dirty="0"/>
              <a:t> </a:t>
            </a:r>
            <a:r>
              <a:rPr lang="en-US" dirty="0" err="1"/>
              <a:t>những</a:t>
            </a:r>
            <a:r>
              <a:rPr lang="en-US" dirty="0"/>
              <a:t> </a:t>
            </a:r>
            <a:r>
              <a:rPr lang="en-US" dirty="0" err="1"/>
              <a:t>lỗi</a:t>
            </a:r>
            <a:r>
              <a:rPr lang="en-US" dirty="0"/>
              <a:t> </a:t>
            </a:r>
            <a:r>
              <a:rPr lang="vi-VN" dirty="0"/>
              <a:t>chúng ta phải chạy thử chương trình, tìm cách phá chương trình cho những con </a:t>
            </a:r>
            <a:r>
              <a:rPr lang="en-US" dirty="0" err="1"/>
              <a:t>lỗi</a:t>
            </a:r>
            <a:r>
              <a:rPr lang="vi-VN" dirty="0"/>
              <a:t> này ló đầu ra.</a:t>
            </a:r>
            <a:endParaRPr lang="en-US" dirty="0"/>
          </a:p>
        </p:txBody>
      </p:sp>
    </p:spTree>
    <p:extLst>
      <p:ext uri="{BB962C8B-B14F-4D97-AF65-F5344CB8AC3E}">
        <p14:creationId xmlns:p14="http://schemas.microsoft.com/office/powerpoint/2010/main" val="3510254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843" y="152400"/>
            <a:ext cx="7762875" cy="675926"/>
          </a:xfrm>
        </p:spPr>
        <p:txBody>
          <a:bodyPr/>
          <a:lstStyle/>
          <a:p>
            <a:r>
              <a:rPr lang="en-US" dirty="0"/>
              <a:t>II. Developer </a:t>
            </a:r>
            <a:r>
              <a:rPr lang="en-US" dirty="0" err="1"/>
              <a:t>thì</a:t>
            </a:r>
            <a:r>
              <a:rPr lang="en-US" dirty="0"/>
              <a:t> </a:t>
            </a:r>
            <a:r>
              <a:rPr lang="en-US" dirty="0" err="1"/>
              <a:t>cần</a:t>
            </a:r>
            <a:r>
              <a:rPr lang="en-US" dirty="0"/>
              <a:t> </a:t>
            </a:r>
            <a:r>
              <a:rPr lang="en-US" dirty="0" err="1"/>
              <a:t>gì</a:t>
            </a:r>
            <a:r>
              <a:rPr lang="en-US" dirty="0"/>
              <a:t> </a:t>
            </a:r>
            <a:r>
              <a:rPr lang="en-US" dirty="0" err="1"/>
              <a:t>phải</a:t>
            </a:r>
            <a:r>
              <a:rPr lang="en-US" dirty="0"/>
              <a:t> </a:t>
            </a:r>
            <a:r>
              <a:rPr lang="en-US" dirty="0" err="1"/>
              <a:t>biết</a:t>
            </a:r>
            <a:r>
              <a:rPr lang="en-US" dirty="0"/>
              <a:t> test ?</a:t>
            </a:r>
          </a:p>
        </p:txBody>
      </p:sp>
      <p:sp>
        <p:nvSpPr>
          <p:cNvPr id="3" name="Content Placeholder 2"/>
          <p:cNvSpPr>
            <a:spLocks noGrp="1"/>
          </p:cNvSpPr>
          <p:nvPr>
            <p:ph sz="half" idx="1"/>
          </p:nvPr>
        </p:nvSpPr>
        <p:spPr>
          <a:xfrm>
            <a:off x="76201" y="828327"/>
            <a:ext cx="8991600" cy="3896073"/>
          </a:xfrm>
        </p:spPr>
        <p:txBody>
          <a:bodyPr>
            <a:normAutofit lnSpcReduction="10000"/>
          </a:bodyPr>
          <a:lstStyle/>
          <a:p>
            <a:pPr algn="just">
              <a:buFont typeface="Wingdings" panose="05000000000000000000" pitchFamily="2" charset="2"/>
              <a:buChar char="v"/>
            </a:pPr>
            <a:r>
              <a:rPr lang="en-US" sz="1900" dirty="0"/>
              <a:t>Developer </a:t>
            </a:r>
            <a:r>
              <a:rPr lang="vi-VN" sz="1900" dirty="0"/>
              <a:t>cũng thường phải viết </a:t>
            </a:r>
            <a:r>
              <a:rPr lang="en-US" sz="1900" dirty="0"/>
              <a:t>unit test hay test </a:t>
            </a:r>
            <a:r>
              <a:rPr lang="en-US" sz="1900" dirty="0" err="1"/>
              <a:t>lại</a:t>
            </a:r>
            <a:r>
              <a:rPr lang="en-US" sz="1900" dirty="0"/>
              <a:t> flow </a:t>
            </a:r>
            <a:r>
              <a:rPr lang="en-US" sz="1900" dirty="0" err="1"/>
              <a:t>cơ</a:t>
            </a:r>
            <a:r>
              <a:rPr lang="en-US" sz="1900" dirty="0"/>
              <a:t> </a:t>
            </a:r>
            <a:r>
              <a:rPr lang="en-US" sz="1900" dirty="0" err="1"/>
              <a:t>bản</a:t>
            </a:r>
            <a:r>
              <a:rPr lang="en-US" sz="1900" dirty="0"/>
              <a:t> code </a:t>
            </a:r>
            <a:r>
              <a:rPr lang="en-US" sz="1900" dirty="0" err="1"/>
              <a:t>của</a:t>
            </a:r>
            <a:r>
              <a:rPr lang="en-US" sz="1900" dirty="0"/>
              <a:t> </a:t>
            </a:r>
            <a:r>
              <a:rPr lang="en-US" sz="1900" dirty="0" err="1"/>
              <a:t>mình</a:t>
            </a:r>
            <a:r>
              <a:rPr lang="vi-VN" sz="1900" dirty="0"/>
              <a:t>. Để </a:t>
            </a:r>
            <a:r>
              <a:rPr lang="en-US" sz="1900" dirty="0"/>
              <a:t>test </a:t>
            </a:r>
            <a:r>
              <a:rPr lang="en-US" sz="1900" dirty="0" err="1"/>
              <a:t>được</a:t>
            </a:r>
            <a:r>
              <a:rPr lang="en-US" sz="1900" dirty="0"/>
              <a:t> </a:t>
            </a:r>
            <a:r>
              <a:rPr lang="en-US" sz="1900" dirty="0" err="1"/>
              <a:t>một</a:t>
            </a:r>
            <a:r>
              <a:rPr lang="en-US" sz="1900" dirty="0"/>
              <a:t> </a:t>
            </a:r>
            <a:r>
              <a:rPr lang="en-US" sz="1900" dirty="0" err="1"/>
              <a:t>cách</a:t>
            </a:r>
            <a:r>
              <a:rPr lang="en-US" sz="1900" dirty="0"/>
              <a:t> </a:t>
            </a:r>
            <a:r>
              <a:rPr lang="vi-VN" sz="1900" dirty="0"/>
              <a:t>đúng đắn</a:t>
            </a:r>
            <a:r>
              <a:rPr lang="en-US" sz="1900" dirty="0"/>
              <a:t> </a:t>
            </a:r>
            <a:r>
              <a:rPr lang="en-US" sz="1900" dirty="0" err="1"/>
              <a:t>thì</a:t>
            </a:r>
            <a:r>
              <a:rPr lang="en-US" sz="1900" dirty="0"/>
              <a:t> </a:t>
            </a:r>
            <a:r>
              <a:rPr lang="vi-VN" sz="1900" dirty="0"/>
              <a:t>chúng ta phải sử dụng tư duy tester để xác định các case cần test. </a:t>
            </a:r>
            <a:endParaRPr lang="en-US" sz="1900" dirty="0"/>
          </a:p>
          <a:p>
            <a:pPr algn="just">
              <a:buFont typeface="Wingdings" panose="05000000000000000000" pitchFamily="2" charset="2"/>
              <a:buChar char="v"/>
            </a:pPr>
            <a:r>
              <a:rPr lang="en-US" sz="1900" dirty="0" err="1"/>
              <a:t>Lợi</a:t>
            </a:r>
            <a:r>
              <a:rPr lang="en-US" sz="1900" dirty="0"/>
              <a:t> </a:t>
            </a:r>
            <a:r>
              <a:rPr lang="en-US" sz="1900" dirty="0" err="1"/>
              <a:t>ích</a:t>
            </a:r>
            <a:r>
              <a:rPr lang="en-US" sz="1900" dirty="0"/>
              <a:t> </a:t>
            </a:r>
            <a:r>
              <a:rPr lang="en-US" sz="1900" dirty="0" err="1"/>
              <a:t>khi</a:t>
            </a:r>
            <a:r>
              <a:rPr lang="en-US" sz="1900" dirty="0"/>
              <a:t> </a:t>
            </a:r>
            <a:r>
              <a:rPr lang="en-US" sz="1900" dirty="0" err="1"/>
              <a:t>có</a:t>
            </a:r>
            <a:r>
              <a:rPr lang="vi-VN" sz="1900" dirty="0"/>
              <a:t> tư duy tester</a:t>
            </a:r>
            <a:endParaRPr lang="en-US" sz="1900" dirty="0"/>
          </a:p>
          <a:p>
            <a:pPr lvl="1" algn="just">
              <a:buFont typeface="Wingdings" panose="05000000000000000000" pitchFamily="2" charset="2"/>
              <a:buChar char="ü"/>
            </a:pPr>
            <a:r>
              <a:rPr lang="vi-VN" sz="1900" dirty="0"/>
              <a:t>Tư duy tester giúp chúng ta nghĩ ra được toàn bộ những case có thể gây ra lỗi cho hệ thống, từ đó nghĩ ra phương pháp giải quyết phù hợp</a:t>
            </a:r>
            <a:r>
              <a:rPr lang="en-US" sz="1900" dirty="0"/>
              <a:t>.</a:t>
            </a:r>
            <a:endParaRPr lang="vi-VN" sz="1900" dirty="0"/>
          </a:p>
          <a:p>
            <a:pPr lvl="1" algn="just">
              <a:buFont typeface="Wingdings" panose="05000000000000000000" pitchFamily="2" charset="2"/>
              <a:buChar char="ü"/>
            </a:pPr>
            <a:r>
              <a:rPr lang="vi-VN" sz="1900" dirty="0"/>
              <a:t>Tư duy tester cũng sẽ giúp bạn thấu hiểu tester và dễ giao tiếp với họ</a:t>
            </a:r>
            <a:r>
              <a:rPr lang="en-US" sz="1900" dirty="0"/>
              <a:t>.</a:t>
            </a:r>
            <a:endParaRPr lang="vi-VN" sz="1900" dirty="0"/>
          </a:p>
          <a:p>
            <a:pPr lvl="1" algn="just">
              <a:buFont typeface="Wingdings" panose="05000000000000000000" pitchFamily="2" charset="2"/>
              <a:buChar char="ü"/>
            </a:pPr>
            <a:r>
              <a:rPr lang="vi-VN" sz="1900" dirty="0"/>
              <a:t>Developer có tư duy tester sẽ chạy thử code mình viết kĩ lưỡng hơn, tiết kiệm được thời gian cho cả tester và developer.</a:t>
            </a:r>
          </a:p>
          <a:p>
            <a:pPr lvl="1" algn="just">
              <a:buFont typeface="Wingdings" panose="05000000000000000000" pitchFamily="2" charset="2"/>
              <a:buChar char="ü"/>
            </a:pPr>
            <a:r>
              <a:rPr lang="vi-VN" sz="1900" dirty="0"/>
              <a:t>Code viết ra ít có </a:t>
            </a:r>
            <a:r>
              <a:rPr lang="en-US" sz="1900" dirty="0" err="1"/>
              <a:t>lỗi</a:t>
            </a:r>
            <a:r>
              <a:rPr lang="vi-VN" sz="1900" dirty="0"/>
              <a:t> hơn, giúp nâng cao chất lượng phần mềm</a:t>
            </a:r>
          </a:p>
          <a:p>
            <a:pPr algn="just">
              <a:buFont typeface="Wingdings" panose="05000000000000000000" pitchFamily="2" charset="2"/>
              <a:buChar char="v"/>
            </a:pPr>
            <a:endParaRPr lang="en-US" sz="19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4648200"/>
            <a:ext cx="5206349" cy="1968254"/>
          </a:xfrm>
          <a:prstGeom prst="rect">
            <a:avLst/>
          </a:prstGeom>
        </p:spPr>
      </p:pic>
    </p:spTree>
    <p:extLst>
      <p:ext uri="{BB962C8B-B14F-4D97-AF65-F5344CB8AC3E}">
        <p14:creationId xmlns:p14="http://schemas.microsoft.com/office/powerpoint/2010/main" val="3668202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4638674" cy="675926"/>
          </a:xfrm>
        </p:spPr>
        <p:txBody>
          <a:bodyPr/>
          <a:lstStyle/>
          <a:p>
            <a:r>
              <a:rPr lang="en-US" dirty="0"/>
              <a:t>III. Test </a:t>
            </a:r>
            <a:r>
              <a:rPr lang="en-US" dirty="0" err="1"/>
              <a:t>là</a:t>
            </a:r>
            <a:r>
              <a:rPr lang="en-US" dirty="0"/>
              <a:t> </a:t>
            </a:r>
            <a:r>
              <a:rPr lang="en-US" dirty="0" err="1"/>
              <a:t>gì</a:t>
            </a:r>
            <a:r>
              <a:rPr lang="en-US" dirty="0"/>
              <a:t>?</a:t>
            </a:r>
          </a:p>
        </p:txBody>
      </p:sp>
      <p:sp>
        <p:nvSpPr>
          <p:cNvPr id="3" name="Content Placeholder 2"/>
          <p:cNvSpPr>
            <a:spLocks noGrp="1"/>
          </p:cNvSpPr>
          <p:nvPr>
            <p:ph sz="half" idx="1"/>
          </p:nvPr>
        </p:nvSpPr>
        <p:spPr>
          <a:xfrm>
            <a:off x="152400" y="959276"/>
            <a:ext cx="8610600" cy="2295525"/>
          </a:xfrm>
        </p:spPr>
        <p:txBody>
          <a:bodyPr>
            <a:noAutofit/>
          </a:bodyPr>
          <a:lstStyle/>
          <a:p>
            <a:pPr algn="just">
              <a:buFont typeface="Wingdings" panose="05000000000000000000" pitchFamily="2" charset="2"/>
              <a:buChar char="v"/>
            </a:pPr>
            <a:r>
              <a:rPr lang="en-GB" sz="1900" b="1" dirty="0" err="1"/>
              <a:t>Định</a:t>
            </a:r>
            <a:r>
              <a:rPr lang="en-GB" sz="1900" b="1" dirty="0"/>
              <a:t> </a:t>
            </a:r>
            <a:r>
              <a:rPr lang="en-GB" sz="1900" b="1" dirty="0" err="1"/>
              <a:t>nghĩa</a:t>
            </a:r>
            <a:r>
              <a:rPr lang="en-GB" sz="1900" b="1" dirty="0"/>
              <a:t>:</a:t>
            </a:r>
          </a:p>
          <a:p>
            <a:pPr marL="724535" lvl="1" algn="just">
              <a:buFont typeface="Wingdings" panose="05000000000000000000" pitchFamily="2" charset="2"/>
              <a:buChar char="ü"/>
            </a:pPr>
            <a:r>
              <a:rPr lang="en-GB" sz="1700" dirty="0"/>
              <a:t>Test </a:t>
            </a:r>
            <a:r>
              <a:rPr lang="en-GB" sz="1700" dirty="0" err="1"/>
              <a:t>là</a:t>
            </a:r>
            <a:r>
              <a:rPr lang="en-GB" sz="1700" dirty="0"/>
              <a:t> </a:t>
            </a:r>
            <a:r>
              <a:rPr lang="en-GB" sz="1700" dirty="0" err="1"/>
              <a:t>quá</a:t>
            </a:r>
            <a:r>
              <a:rPr lang="en-GB" sz="1700" dirty="0"/>
              <a:t> </a:t>
            </a:r>
            <a:r>
              <a:rPr lang="en-GB" sz="1700" dirty="0" err="1"/>
              <a:t>trình</a:t>
            </a:r>
            <a:r>
              <a:rPr lang="en-GB" sz="1700" dirty="0"/>
              <a:t> </a:t>
            </a:r>
            <a:r>
              <a:rPr lang="en-GB" sz="1700" dirty="0" err="1"/>
              <a:t>đánh</a:t>
            </a:r>
            <a:r>
              <a:rPr lang="en-GB" sz="1700" dirty="0"/>
              <a:t> </a:t>
            </a:r>
            <a:r>
              <a:rPr lang="en-GB" sz="1700" dirty="0" err="1"/>
              <a:t>giá</a:t>
            </a:r>
            <a:r>
              <a:rPr lang="en-GB" sz="1700" dirty="0"/>
              <a:t> </a:t>
            </a:r>
            <a:r>
              <a:rPr lang="en-GB" sz="1700" dirty="0" err="1"/>
              <a:t>một</a:t>
            </a:r>
            <a:r>
              <a:rPr lang="en-GB" sz="1700" dirty="0"/>
              <a:t> </a:t>
            </a:r>
            <a:r>
              <a:rPr lang="en-GB" sz="1700" dirty="0" err="1"/>
              <a:t>hệ</a:t>
            </a:r>
            <a:r>
              <a:rPr lang="en-GB" sz="1700" dirty="0"/>
              <a:t> </a:t>
            </a:r>
            <a:r>
              <a:rPr lang="en-GB" sz="1700" dirty="0" err="1"/>
              <a:t>thống</a:t>
            </a:r>
            <a:r>
              <a:rPr lang="en-GB" sz="1700" dirty="0"/>
              <a:t> (</a:t>
            </a:r>
            <a:r>
              <a:rPr lang="en-GB" sz="1700" dirty="0" err="1"/>
              <a:t>hoặc</a:t>
            </a:r>
            <a:r>
              <a:rPr lang="en-GB" sz="1700" dirty="0"/>
              <a:t> </a:t>
            </a:r>
            <a:r>
              <a:rPr lang="en-GB" sz="1700" dirty="0" err="1"/>
              <a:t>một</a:t>
            </a:r>
            <a:r>
              <a:rPr lang="en-GB" sz="1700" dirty="0"/>
              <a:t> </a:t>
            </a:r>
            <a:r>
              <a:rPr lang="en-GB" sz="1700" dirty="0" err="1"/>
              <a:t>thành</a:t>
            </a:r>
            <a:r>
              <a:rPr lang="en-GB" sz="1700" dirty="0"/>
              <a:t> </a:t>
            </a:r>
            <a:r>
              <a:rPr lang="en-GB" sz="1700" dirty="0" err="1"/>
              <a:t>phần</a:t>
            </a:r>
            <a:r>
              <a:rPr lang="en-GB" sz="1700" dirty="0"/>
              <a:t> </a:t>
            </a:r>
            <a:r>
              <a:rPr lang="en-GB" sz="1700" dirty="0" err="1"/>
              <a:t>của</a:t>
            </a:r>
            <a:r>
              <a:rPr lang="en-GB" sz="1700" dirty="0"/>
              <a:t> </a:t>
            </a:r>
            <a:r>
              <a:rPr lang="en-GB" sz="1700" dirty="0" err="1"/>
              <a:t>hệ</a:t>
            </a:r>
            <a:r>
              <a:rPr lang="en-GB" sz="1700" dirty="0"/>
              <a:t> </a:t>
            </a:r>
            <a:r>
              <a:rPr lang="en-GB" sz="1700" dirty="0" err="1"/>
              <a:t>thống</a:t>
            </a:r>
            <a:r>
              <a:rPr lang="en-GB" sz="1700" dirty="0"/>
              <a:t>) </a:t>
            </a:r>
            <a:r>
              <a:rPr lang="en-GB" sz="1700" dirty="0" err="1"/>
              <a:t>với</a:t>
            </a:r>
            <a:r>
              <a:rPr lang="en-GB" sz="1700" dirty="0"/>
              <a:t> </a:t>
            </a:r>
            <a:r>
              <a:rPr lang="en-GB" sz="1700" dirty="0" err="1"/>
              <a:t>mục</a:t>
            </a:r>
            <a:r>
              <a:rPr lang="en-GB" sz="1700" dirty="0"/>
              <a:t> </a:t>
            </a:r>
            <a:r>
              <a:rPr lang="en-GB" sz="1700" dirty="0" err="1"/>
              <a:t>đích</a:t>
            </a:r>
            <a:r>
              <a:rPr lang="en-GB" sz="1700" dirty="0"/>
              <a:t> </a:t>
            </a:r>
            <a:r>
              <a:rPr lang="en-GB" sz="1700" dirty="0" err="1"/>
              <a:t>xác</a:t>
            </a:r>
            <a:r>
              <a:rPr lang="en-GB" sz="1700" dirty="0"/>
              <a:t> </a:t>
            </a:r>
            <a:r>
              <a:rPr lang="en-GB" sz="1700" dirty="0" err="1"/>
              <a:t>nhận</a:t>
            </a:r>
            <a:r>
              <a:rPr lang="en-GB" sz="1700" dirty="0"/>
              <a:t> </a:t>
            </a:r>
            <a:r>
              <a:rPr lang="en-GB" sz="1700" dirty="0" err="1"/>
              <a:t>xem</a:t>
            </a:r>
            <a:r>
              <a:rPr lang="en-GB" sz="1700" dirty="0"/>
              <a:t> </a:t>
            </a:r>
            <a:r>
              <a:rPr lang="en-GB" sz="1700" dirty="0" err="1"/>
              <a:t>nó</a:t>
            </a:r>
            <a:r>
              <a:rPr lang="en-GB" sz="1700" dirty="0"/>
              <a:t> </a:t>
            </a:r>
            <a:r>
              <a:rPr lang="en-GB" sz="1700" dirty="0" err="1"/>
              <a:t>có</a:t>
            </a:r>
            <a:r>
              <a:rPr lang="en-GB" sz="1700" dirty="0"/>
              <a:t> </a:t>
            </a:r>
            <a:r>
              <a:rPr lang="en-GB" sz="1700" dirty="0" err="1"/>
              <a:t>đáp</a:t>
            </a:r>
            <a:r>
              <a:rPr lang="en-GB" sz="1700" dirty="0"/>
              <a:t> </a:t>
            </a:r>
            <a:r>
              <a:rPr lang="en-GB" sz="1700" dirty="0" err="1"/>
              <a:t>ứng</a:t>
            </a:r>
            <a:r>
              <a:rPr lang="en-GB" sz="1700" dirty="0"/>
              <a:t> </a:t>
            </a:r>
            <a:r>
              <a:rPr lang="en-GB" sz="1700" dirty="0" err="1"/>
              <a:t>yêu</a:t>
            </a:r>
            <a:r>
              <a:rPr lang="en-GB" sz="1700" dirty="0"/>
              <a:t> </a:t>
            </a:r>
            <a:r>
              <a:rPr lang="en-GB" sz="1700" dirty="0" err="1"/>
              <a:t>cầu</a:t>
            </a:r>
            <a:r>
              <a:rPr lang="en-GB" sz="1700" dirty="0"/>
              <a:t> </a:t>
            </a:r>
            <a:r>
              <a:rPr lang="en-GB" sz="1700" dirty="0" err="1"/>
              <a:t>đưa</a:t>
            </a:r>
            <a:r>
              <a:rPr lang="en-GB" sz="1700" dirty="0"/>
              <a:t> </a:t>
            </a:r>
            <a:r>
              <a:rPr lang="en-GB" sz="1700" dirty="0" err="1"/>
              <a:t>ra</a:t>
            </a:r>
            <a:r>
              <a:rPr lang="en-GB" sz="1700" dirty="0"/>
              <a:t> hay </a:t>
            </a:r>
            <a:r>
              <a:rPr lang="en-GB" sz="1700" dirty="0" err="1"/>
              <a:t>không</a:t>
            </a:r>
            <a:r>
              <a:rPr lang="en-GB" sz="1700" dirty="0"/>
              <a:t>, </a:t>
            </a:r>
            <a:r>
              <a:rPr lang="vi-VN" sz="1600" dirty="0"/>
              <a:t>có sự khác biệt nào giữa phần mềm thực tế và những yêu cầu </a:t>
            </a:r>
            <a:r>
              <a:rPr lang="en-US" sz="1600" dirty="0" err="1"/>
              <a:t>được</a:t>
            </a:r>
            <a:r>
              <a:rPr lang="en-US" sz="1600" dirty="0"/>
              <a:t> </a:t>
            </a:r>
            <a:r>
              <a:rPr lang="en-US" sz="1600" dirty="0" err="1"/>
              <a:t>đưa</a:t>
            </a:r>
            <a:r>
              <a:rPr lang="en-US" sz="1600" dirty="0"/>
              <a:t> </a:t>
            </a:r>
            <a:r>
              <a:rPr lang="en-US" sz="1600" dirty="0" err="1"/>
              <a:t>ra</a:t>
            </a:r>
            <a:r>
              <a:rPr lang="en-US" sz="1600" dirty="0"/>
              <a:t> </a:t>
            </a:r>
            <a:r>
              <a:rPr lang="vi-VN" sz="1600" dirty="0"/>
              <a:t>(requirement). </a:t>
            </a:r>
            <a:endParaRPr lang="en-US" sz="1600" dirty="0"/>
          </a:p>
          <a:p>
            <a:pPr marL="724535" lvl="1" algn="just">
              <a:buFont typeface="Wingdings" panose="05000000000000000000" pitchFamily="2" charset="2"/>
              <a:buChar char="ü"/>
            </a:pPr>
            <a:r>
              <a:rPr lang="vi-VN" sz="1600" dirty="0"/>
              <a:t>Hiểu một cách đơn giản, test là chạy một </a:t>
            </a:r>
            <a:r>
              <a:rPr lang="en-US" sz="1600" dirty="0" err="1"/>
              <a:t>chương</a:t>
            </a:r>
            <a:r>
              <a:rPr lang="en-US" sz="1600" dirty="0"/>
              <a:t> </a:t>
            </a:r>
            <a:r>
              <a:rPr lang="en-US" sz="1600" dirty="0" err="1"/>
              <a:t>trình</a:t>
            </a:r>
            <a:r>
              <a:rPr lang="en-US" sz="1600" dirty="0"/>
              <a:t> </a:t>
            </a:r>
            <a:r>
              <a:rPr lang="vi-VN" sz="1600" dirty="0"/>
              <a:t>để xác nhận bất kì thiếu sót hay những yêu cầu bị bỏ quên, những yêu cầu </a:t>
            </a:r>
            <a:r>
              <a:rPr lang="en-US" sz="1600" dirty="0" err="1"/>
              <a:t>không</a:t>
            </a:r>
            <a:r>
              <a:rPr lang="vi-VN" sz="1600" dirty="0"/>
              <a:t> đúng so với yêu cầu thực tế đề ra.</a:t>
            </a:r>
            <a:endParaRPr lang="en-GB" sz="1700" dirty="0"/>
          </a:p>
          <a:p>
            <a:pPr marL="438785" lvl="1" indent="0" algn="just">
              <a:buNone/>
            </a:pPr>
            <a:endParaRPr lang="en-GB" sz="1700" dirty="0"/>
          </a:p>
          <a:p>
            <a:pPr algn="just">
              <a:buFont typeface="Wingdings" panose="05000000000000000000" pitchFamily="2" charset="2"/>
              <a:buChar char="v"/>
            </a:pPr>
            <a:endParaRPr lang="en-US" sz="1900" dirty="0"/>
          </a:p>
        </p:txBody>
      </p:sp>
      <p:pic>
        <p:nvPicPr>
          <p:cNvPr id="6" name="Picture 5"/>
          <p:cNvPicPr>
            <a:picLocks noChangeAspect="1"/>
          </p:cNvPicPr>
          <p:nvPr/>
        </p:nvPicPr>
        <p:blipFill>
          <a:blip r:embed="rId2"/>
          <a:stretch>
            <a:fillRect/>
          </a:stretch>
        </p:blipFill>
        <p:spPr>
          <a:xfrm>
            <a:off x="1676400" y="3385751"/>
            <a:ext cx="5562600" cy="3229982"/>
          </a:xfrm>
          <a:prstGeom prst="rect">
            <a:avLst/>
          </a:prstGeom>
        </p:spPr>
      </p:pic>
    </p:spTree>
    <p:extLst>
      <p:ext uri="{BB962C8B-B14F-4D97-AF65-F5344CB8AC3E}">
        <p14:creationId xmlns:p14="http://schemas.microsoft.com/office/powerpoint/2010/main" val="3197107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3"/>
          <p:cNvPicPr>
            <a:picLocks noChangeAspect="1"/>
          </p:cNvPicPr>
          <p:nvPr/>
        </p:nvPicPr>
        <p:blipFill>
          <a:blip r:embed="rId3"/>
          <a:stretch>
            <a:fillRect/>
          </a:stretch>
        </p:blipFill>
        <p:spPr>
          <a:xfrm>
            <a:off x="990600" y="3784436"/>
            <a:ext cx="7691118" cy="2644775"/>
          </a:xfrm>
          <a:prstGeom prst="rect">
            <a:avLst/>
          </a:prstGeom>
        </p:spPr>
      </p:pic>
      <p:sp>
        <p:nvSpPr>
          <p:cNvPr id="7" name="Title 1"/>
          <p:cNvSpPr txBox="1"/>
          <p:nvPr/>
        </p:nvSpPr>
        <p:spPr>
          <a:xfrm>
            <a:off x="609600" y="-97155"/>
            <a:ext cx="7866380" cy="859155"/>
          </a:xfrm>
          <a:prstGeom prst="rect">
            <a:avLst/>
          </a:prstGeom>
        </p:spPr>
        <p:txBody>
          <a:bodyPr vert="horz" lIns="0" rIns="0" anchor="ctr">
            <a:noAutofit/>
          </a:bodyPr>
          <a:lstStyle>
            <a:lvl1pPr marL="182880" algn="l" rtl="0" eaLnBrk="1" latinLnBrk="0" hangingPunct="1">
              <a:spcBef>
                <a:spcPct val="0"/>
              </a:spcBef>
              <a:buNone/>
              <a:defRPr sz="3200" b="1" kern="1200">
                <a:ln w="6350">
                  <a:noFill/>
                </a:ln>
                <a:solidFill>
                  <a:schemeClr val="accent1"/>
                </a:solidFill>
                <a:effectLst/>
                <a:latin typeface="+mj-lt"/>
                <a:ea typeface="+mj-ea"/>
                <a:cs typeface="+mj-cs"/>
              </a:defRPr>
            </a:lvl1pPr>
          </a:lstStyle>
          <a:p>
            <a:r>
              <a:rPr lang="en-US" dirty="0"/>
              <a:t>III. Test </a:t>
            </a:r>
            <a:r>
              <a:rPr lang="en-US" dirty="0" err="1"/>
              <a:t>là</a:t>
            </a:r>
            <a:r>
              <a:rPr lang="en-US" dirty="0"/>
              <a:t> </a:t>
            </a:r>
            <a:r>
              <a:rPr lang="en-US" dirty="0" err="1"/>
              <a:t>gì</a:t>
            </a:r>
            <a:r>
              <a:rPr lang="en-US" dirty="0"/>
              <a:t>?</a:t>
            </a:r>
          </a:p>
        </p:txBody>
      </p:sp>
      <p:sp>
        <p:nvSpPr>
          <p:cNvPr id="10" name="Rectangle 9"/>
          <p:cNvSpPr/>
          <p:nvPr/>
        </p:nvSpPr>
        <p:spPr>
          <a:xfrm>
            <a:off x="990600" y="5614086"/>
            <a:ext cx="1676400" cy="110680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l"/>
            <a:r>
              <a:rPr lang="en-US" sz="1900" dirty="0" err="1"/>
              <a:t>Nhà</a:t>
            </a:r>
            <a:r>
              <a:rPr lang="en-US" sz="1900" dirty="0"/>
              <a:t> sản </a:t>
            </a:r>
            <a:r>
              <a:rPr lang="en-US" sz="1900" dirty="0" err="1"/>
              <a:t>xuất</a:t>
            </a:r>
            <a:r>
              <a:rPr lang="en-US" sz="1900" dirty="0"/>
              <a:t> </a:t>
            </a:r>
            <a:r>
              <a:rPr lang="en-US" sz="1900" dirty="0" err="1"/>
              <a:t>quên</a:t>
            </a:r>
            <a:r>
              <a:rPr lang="en-US" sz="1900" dirty="0"/>
              <a:t> </a:t>
            </a:r>
            <a:r>
              <a:rPr lang="en-US" sz="1900" dirty="0" err="1"/>
              <a:t>gạt</a:t>
            </a:r>
            <a:r>
              <a:rPr lang="en-US" sz="1900" dirty="0"/>
              <a:t> </a:t>
            </a:r>
            <a:r>
              <a:rPr lang="en-US" sz="1900" dirty="0" err="1"/>
              <a:t>nước</a:t>
            </a:r>
            <a:r>
              <a:rPr lang="en-US" sz="1900" dirty="0"/>
              <a:t> </a:t>
            </a:r>
            <a:r>
              <a:rPr lang="en-US" sz="1900" dirty="0" err="1"/>
              <a:t>chắn</a:t>
            </a:r>
            <a:r>
              <a:rPr lang="en-US" sz="1900" dirty="0"/>
              <a:t> </a:t>
            </a:r>
            <a:r>
              <a:rPr lang="en-US" sz="1900" dirty="0" err="1"/>
              <a:t>gió</a:t>
            </a:r>
            <a:endParaRPr lang="en-US" sz="1900" dirty="0"/>
          </a:p>
        </p:txBody>
      </p:sp>
      <p:sp>
        <p:nvSpPr>
          <p:cNvPr id="11" name="Rectangle 10"/>
          <p:cNvSpPr/>
          <p:nvPr/>
        </p:nvSpPr>
        <p:spPr>
          <a:xfrm>
            <a:off x="2957994" y="5562598"/>
            <a:ext cx="1955166" cy="110680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l"/>
            <a:r>
              <a:rPr lang="en-US" sz="1900" dirty="0" err="1"/>
              <a:t>Người</a:t>
            </a:r>
            <a:r>
              <a:rPr lang="en-US" sz="1900" dirty="0"/>
              <a:t> </a:t>
            </a:r>
            <a:r>
              <a:rPr lang="en-US" sz="1900" dirty="0" err="1"/>
              <a:t>đàn</a:t>
            </a:r>
            <a:r>
              <a:rPr lang="en-US" sz="1900" dirty="0"/>
              <a:t> </a:t>
            </a:r>
            <a:r>
              <a:rPr lang="en-US" sz="1900" dirty="0" err="1"/>
              <a:t>ông</a:t>
            </a:r>
            <a:r>
              <a:rPr lang="en-US" sz="1900" dirty="0"/>
              <a:t> kiểm </a:t>
            </a:r>
            <a:r>
              <a:rPr lang="en-US" sz="1900" dirty="0" err="1"/>
              <a:t>tra</a:t>
            </a:r>
            <a:r>
              <a:rPr lang="en-US" sz="1900" dirty="0"/>
              <a:t> </a:t>
            </a:r>
            <a:r>
              <a:rPr lang="en-US" sz="1900" dirty="0" err="1"/>
              <a:t>thấy</a:t>
            </a:r>
            <a:r>
              <a:rPr lang="en-US" sz="1900" dirty="0"/>
              <a:t> </a:t>
            </a:r>
            <a:r>
              <a:rPr lang="en-US" sz="1900" dirty="0" err="1"/>
              <a:t>thiếu</a:t>
            </a:r>
            <a:r>
              <a:rPr lang="en-US" sz="1900" dirty="0"/>
              <a:t> </a:t>
            </a:r>
            <a:r>
              <a:rPr lang="en-US" sz="1900" dirty="0" err="1"/>
              <a:t>gạt</a:t>
            </a:r>
            <a:r>
              <a:rPr lang="en-US" sz="1900" dirty="0"/>
              <a:t> </a:t>
            </a:r>
            <a:r>
              <a:rPr lang="en-US" sz="1900" dirty="0" err="1"/>
              <a:t>nước</a:t>
            </a:r>
            <a:r>
              <a:rPr lang="en-US" sz="1900" dirty="0"/>
              <a:t> </a:t>
            </a:r>
            <a:r>
              <a:rPr lang="en-US" sz="1900" dirty="0" err="1"/>
              <a:t>khi</a:t>
            </a:r>
            <a:r>
              <a:rPr lang="en-US" sz="1900" dirty="0"/>
              <a:t> nhận </a:t>
            </a:r>
            <a:r>
              <a:rPr lang="en-US" sz="1900" dirty="0" err="1"/>
              <a:t>xe</a:t>
            </a:r>
            <a:endParaRPr lang="en-US" sz="1900" dirty="0"/>
          </a:p>
        </p:txBody>
      </p:sp>
      <p:sp>
        <p:nvSpPr>
          <p:cNvPr id="12" name="Rectangle 11"/>
          <p:cNvSpPr/>
          <p:nvPr/>
        </p:nvSpPr>
        <p:spPr>
          <a:xfrm>
            <a:off x="5121038" y="5556418"/>
            <a:ext cx="1759515" cy="110680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l"/>
            <a:r>
              <a:rPr lang="en-US" sz="1900" dirty="0"/>
              <a:t>Tai </a:t>
            </a:r>
            <a:r>
              <a:rPr lang="en-US" sz="1900" dirty="0" err="1"/>
              <a:t>nạn</a:t>
            </a:r>
            <a:r>
              <a:rPr lang="en-US" sz="1900" dirty="0"/>
              <a:t> </a:t>
            </a:r>
            <a:r>
              <a:rPr lang="en-US" sz="1900" dirty="0" err="1"/>
              <a:t>xảy</a:t>
            </a:r>
            <a:r>
              <a:rPr lang="en-US" sz="1900" dirty="0"/>
              <a:t> </a:t>
            </a:r>
            <a:r>
              <a:rPr lang="en-US" sz="1900" dirty="0" err="1"/>
              <a:t>ra</a:t>
            </a:r>
            <a:r>
              <a:rPr lang="en-US" sz="1900" dirty="0"/>
              <a:t> </a:t>
            </a:r>
            <a:r>
              <a:rPr lang="en-US" sz="1900" dirty="0" err="1"/>
              <a:t>khi</a:t>
            </a:r>
            <a:r>
              <a:rPr lang="en-US" sz="1900" dirty="0"/>
              <a:t> </a:t>
            </a:r>
            <a:r>
              <a:rPr lang="en-US" sz="1900" dirty="0" err="1"/>
              <a:t>không</a:t>
            </a:r>
            <a:r>
              <a:rPr lang="en-US" sz="1900" dirty="0"/>
              <a:t> </a:t>
            </a:r>
            <a:r>
              <a:rPr lang="en-US" sz="1900" dirty="0" err="1"/>
              <a:t>có</a:t>
            </a:r>
            <a:r>
              <a:rPr lang="en-US" sz="1900" dirty="0"/>
              <a:t> </a:t>
            </a:r>
            <a:r>
              <a:rPr lang="en-US" sz="1900" dirty="0" err="1"/>
              <a:t>gạt</a:t>
            </a:r>
            <a:r>
              <a:rPr lang="en-US" sz="1900" dirty="0"/>
              <a:t> </a:t>
            </a:r>
            <a:r>
              <a:rPr lang="en-US" sz="1900" dirty="0" err="1"/>
              <a:t>nước</a:t>
            </a:r>
            <a:r>
              <a:rPr lang="en-US" sz="1900" dirty="0"/>
              <a:t> </a:t>
            </a:r>
            <a:r>
              <a:rPr lang="en-US" sz="1900" dirty="0" err="1"/>
              <a:t>kính</a:t>
            </a:r>
            <a:r>
              <a:rPr lang="en-US" sz="1900" dirty="0"/>
              <a:t> </a:t>
            </a:r>
            <a:r>
              <a:rPr lang="en-US" sz="1900" dirty="0" err="1"/>
              <a:t>chắn</a:t>
            </a:r>
            <a:r>
              <a:rPr lang="en-US" sz="1900" dirty="0"/>
              <a:t> </a:t>
            </a:r>
            <a:r>
              <a:rPr lang="en-US" sz="1900" dirty="0" err="1"/>
              <a:t>gió</a:t>
            </a:r>
            <a:endParaRPr lang="en-US" sz="1900" dirty="0"/>
          </a:p>
        </p:txBody>
      </p:sp>
      <p:sp>
        <p:nvSpPr>
          <p:cNvPr id="8" name="Content Placeholder 2"/>
          <p:cNvSpPr>
            <a:spLocks noGrp="1"/>
          </p:cNvSpPr>
          <p:nvPr>
            <p:ph sz="half" idx="1"/>
          </p:nvPr>
        </p:nvSpPr>
        <p:spPr>
          <a:xfrm>
            <a:off x="381000" y="838200"/>
            <a:ext cx="8610600" cy="3124199"/>
          </a:xfrm>
        </p:spPr>
        <p:txBody>
          <a:bodyPr>
            <a:noAutofit/>
          </a:bodyPr>
          <a:lstStyle/>
          <a:p>
            <a:pPr algn="just">
              <a:buFont typeface="Wingdings" panose="05000000000000000000" pitchFamily="2" charset="2"/>
              <a:buChar char="v"/>
            </a:pPr>
            <a:r>
              <a:rPr lang="en-US" sz="1900" b="1" i="1" u="sng" dirty="0"/>
              <a:t>Các </a:t>
            </a:r>
            <a:r>
              <a:rPr lang="en-US" sz="1900" b="1" i="1" u="sng" dirty="0" err="1"/>
              <a:t>thuật</a:t>
            </a:r>
            <a:r>
              <a:rPr lang="en-US" sz="1900" b="1" i="1" u="sng" dirty="0"/>
              <a:t> </a:t>
            </a:r>
            <a:r>
              <a:rPr lang="en-US" sz="1900" b="1" i="1" u="sng" dirty="0" err="1"/>
              <a:t>ngữ</a:t>
            </a:r>
            <a:r>
              <a:rPr lang="en-US" sz="1900" b="1" i="1" u="sng" dirty="0"/>
              <a:t> error, defect, fault, bug, failure, mistake</a:t>
            </a:r>
            <a:endParaRPr lang="en-GB" sz="1900" b="1" i="1" u="sng" dirty="0"/>
          </a:p>
          <a:p>
            <a:pPr marL="724535" lvl="1" algn="just">
              <a:buFont typeface="Wingdings" panose="05000000000000000000" pitchFamily="2" charset="2"/>
              <a:buChar char="ü"/>
            </a:pPr>
            <a:r>
              <a:rPr lang="vi-VN" sz="1600" dirty="0">
                <a:solidFill>
                  <a:schemeClr val="bg2">
                    <a:lumMod val="90000"/>
                    <a:lumOff val="10000"/>
                  </a:schemeClr>
                </a:solidFill>
                <a:latin typeface="Arial (Body)"/>
                <a:cs typeface="Times New Roman" panose="02020603050405020304" pitchFamily="18" charset="0"/>
              </a:rPr>
              <a:t>Mistake/error: Là một sự nhầm lẫn </a:t>
            </a:r>
            <a:r>
              <a:rPr lang="en-US" sz="1600" dirty="0" err="1">
                <a:solidFill>
                  <a:schemeClr val="bg2">
                    <a:lumMod val="90000"/>
                    <a:lumOff val="10000"/>
                  </a:schemeClr>
                </a:solidFill>
                <a:latin typeface="Arial (Body)"/>
                <a:cs typeface="Times New Roman" panose="02020603050405020304" pitchFamily="18" charset="0"/>
              </a:rPr>
              <a:t>hoặc</a:t>
            </a:r>
            <a:r>
              <a:rPr lang="en-US" sz="1600" dirty="0">
                <a:solidFill>
                  <a:schemeClr val="bg2">
                    <a:lumMod val="90000"/>
                    <a:lumOff val="10000"/>
                  </a:schemeClr>
                </a:solidFill>
                <a:latin typeface="Arial (Body)"/>
                <a:cs typeface="Times New Roman" panose="02020603050405020304" pitchFamily="18" charset="0"/>
              </a:rPr>
              <a:t> </a:t>
            </a:r>
            <a:r>
              <a:rPr lang="vi-VN" sz="1600" dirty="0">
                <a:solidFill>
                  <a:schemeClr val="bg2">
                    <a:lumMod val="90000"/>
                    <a:lumOff val="10000"/>
                  </a:schemeClr>
                </a:solidFill>
                <a:latin typeface="Arial (Body)"/>
                <a:cs typeface="Times New Roman" panose="02020603050405020304" pitchFamily="18" charset="0"/>
              </a:rPr>
              <a:t>hiểu sai trong quá trình phát triển</a:t>
            </a:r>
            <a:r>
              <a:rPr lang="en-US" sz="1600" dirty="0">
                <a:solidFill>
                  <a:schemeClr val="bg2">
                    <a:lumMod val="90000"/>
                    <a:lumOff val="10000"/>
                  </a:schemeClr>
                </a:solidFill>
                <a:latin typeface="Arial (Body)"/>
                <a:cs typeface="Times New Roman" panose="02020603050405020304" pitchFamily="18" charset="0"/>
              </a:rPr>
              <a:t>. </a:t>
            </a:r>
            <a:r>
              <a:rPr lang="en-US" sz="1600" dirty="0" err="1">
                <a:solidFill>
                  <a:schemeClr val="bg2">
                    <a:lumMod val="90000"/>
                    <a:lumOff val="10000"/>
                  </a:schemeClr>
                </a:solidFill>
                <a:latin typeface="Arial (Body)"/>
                <a:cs typeface="Times New Roman" panose="02020603050405020304" pitchFamily="18" charset="0"/>
              </a:rPr>
              <a:t>Gọi</a:t>
            </a:r>
            <a:r>
              <a:rPr lang="en-US" sz="1600" dirty="0">
                <a:solidFill>
                  <a:schemeClr val="bg2">
                    <a:lumMod val="90000"/>
                    <a:lumOff val="10000"/>
                  </a:schemeClr>
                </a:solidFill>
                <a:latin typeface="Arial (Body)"/>
                <a:cs typeface="Times New Roman" panose="02020603050405020304" pitchFamily="18" charset="0"/>
              </a:rPr>
              <a:t> </a:t>
            </a:r>
            <a:r>
              <a:rPr lang="en-US" sz="1600" dirty="0" err="1">
                <a:solidFill>
                  <a:schemeClr val="bg2">
                    <a:lumMod val="90000"/>
                    <a:lumOff val="10000"/>
                  </a:schemeClr>
                </a:solidFill>
                <a:latin typeface="Arial (Body)"/>
                <a:cs typeface="Times New Roman" panose="02020603050405020304" pitchFamily="18" charset="0"/>
              </a:rPr>
              <a:t>chung</a:t>
            </a:r>
            <a:r>
              <a:rPr lang="vi-VN" sz="1600" dirty="0">
                <a:solidFill>
                  <a:schemeClr val="bg2">
                    <a:lumMod val="90000"/>
                    <a:lumOff val="10000"/>
                  </a:schemeClr>
                </a:solidFill>
                <a:latin typeface="Arial (Body)"/>
                <a:cs typeface="Times New Roman" panose="02020603050405020304" pitchFamily="18" charset="0"/>
              </a:rPr>
              <a:t> là Error.</a:t>
            </a:r>
            <a:endParaRPr lang="en-US" sz="1600" dirty="0">
              <a:solidFill>
                <a:schemeClr val="bg2">
                  <a:lumMod val="90000"/>
                  <a:lumOff val="10000"/>
                </a:schemeClr>
              </a:solidFill>
              <a:latin typeface="Arial (Body)"/>
              <a:cs typeface="Times New Roman" panose="02020603050405020304" pitchFamily="18" charset="0"/>
            </a:endParaRPr>
          </a:p>
          <a:p>
            <a:pPr marL="724535" lvl="1" algn="just">
              <a:buFont typeface="Wingdings" panose="05000000000000000000" pitchFamily="2" charset="2"/>
              <a:buChar char="ü"/>
            </a:pPr>
            <a:r>
              <a:rPr lang="vi-VN" sz="1600" dirty="0">
                <a:solidFill>
                  <a:schemeClr val="bg2">
                    <a:lumMod val="90000"/>
                    <a:lumOff val="10000"/>
                  </a:schemeClr>
                </a:solidFill>
                <a:latin typeface="Arial (Body)"/>
                <a:cs typeface="Times New Roman" panose="02020603050405020304" pitchFamily="18" charset="0"/>
              </a:rPr>
              <a:t>Fault/Defect/Bug: Là sự thiếu sót trong một thành phần hoặc hệ thống </a:t>
            </a:r>
            <a:r>
              <a:rPr lang="en-US" sz="1600" dirty="0">
                <a:solidFill>
                  <a:schemeClr val="bg2">
                    <a:lumMod val="90000"/>
                    <a:lumOff val="10000"/>
                  </a:schemeClr>
                </a:solidFill>
                <a:latin typeface="Arial (Body)"/>
                <a:cs typeface="Times New Roman" panose="02020603050405020304" pitchFamily="18" charset="0"/>
              </a:rPr>
              <a:t>k</a:t>
            </a:r>
            <a:r>
              <a:rPr lang="vi-VN" sz="1600" dirty="0">
                <a:solidFill>
                  <a:schemeClr val="bg2">
                    <a:lumMod val="90000"/>
                    <a:lumOff val="10000"/>
                  </a:schemeClr>
                </a:solidFill>
                <a:latin typeface="Arial (Body)"/>
                <a:cs typeface="Times New Roman" panose="02020603050405020304" pitchFamily="18" charset="0"/>
              </a:rPr>
              <a:t>hiến thành phần hoặc hệ thống không thể thực hiện được chức năng như yêu cầu. Nó xuất hiện trong phần mềm như là kết quả của một error. </a:t>
            </a:r>
            <a:r>
              <a:rPr lang="en-US" sz="1600" dirty="0" err="1">
                <a:solidFill>
                  <a:schemeClr val="bg2">
                    <a:lumMod val="90000"/>
                    <a:lumOff val="10000"/>
                  </a:schemeClr>
                </a:solidFill>
                <a:latin typeface="Arial (Body)"/>
                <a:cs typeface="Times New Roman" panose="02020603050405020304" pitchFamily="18" charset="0"/>
              </a:rPr>
              <a:t>Gọi</a:t>
            </a:r>
            <a:r>
              <a:rPr lang="en-US" sz="1600" dirty="0">
                <a:solidFill>
                  <a:schemeClr val="bg2">
                    <a:lumMod val="90000"/>
                    <a:lumOff val="10000"/>
                  </a:schemeClr>
                </a:solidFill>
                <a:latin typeface="Arial (Body)"/>
                <a:cs typeface="Times New Roman" panose="02020603050405020304" pitchFamily="18" charset="0"/>
              </a:rPr>
              <a:t> </a:t>
            </a:r>
            <a:r>
              <a:rPr lang="en-US" sz="1600" dirty="0" err="1">
                <a:solidFill>
                  <a:schemeClr val="bg2">
                    <a:lumMod val="90000"/>
                    <a:lumOff val="10000"/>
                  </a:schemeClr>
                </a:solidFill>
                <a:latin typeface="Arial (Body)"/>
                <a:cs typeface="Times New Roman" panose="02020603050405020304" pitchFamily="18" charset="0"/>
              </a:rPr>
              <a:t>chung</a:t>
            </a:r>
            <a:r>
              <a:rPr lang="vi-VN" sz="1600" dirty="0">
                <a:solidFill>
                  <a:schemeClr val="bg2">
                    <a:lumMod val="90000"/>
                    <a:lumOff val="10000"/>
                  </a:schemeClr>
                </a:solidFill>
                <a:latin typeface="Arial (Body)"/>
                <a:cs typeface="Times New Roman" panose="02020603050405020304" pitchFamily="18" charset="0"/>
              </a:rPr>
              <a:t> là </a:t>
            </a:r>
            <a:r>
              <a:rPr lang="en-US" sz="1600" dirty="0">
                <a:solidFill>
                  <a:schemeClr val="bg2">
                    <a:lumMod val="90000"/>
                    <a:lumOff val="10000"/>
                  </a:schemeClr>
                </a:solidFill>
                <a:latin typeface="Arial (Body)"/>
                <a:cs typeface="Times New Roman" panose="02020603050405020304" pitchFamily="18" charset="0"/>
              </a:rPr>
              <a:t>b</a:t>
            </a:r>
            <a:r>
              <a:rPr lang="vi-VN" sz="1600" dirty="0">
                <a:solidFill>
                  <a:schemeClr val="bg2">
                    <a:lumMod val="90000"/>
                    <a:lumOff val="10000"/>
                  </a:schemeClr>
                </a:solidFill>
                <a:latin typeface="Arial (Body)"/>
                <a:cs typeface="Times New Roman" panose="02020603050405020304" pitchFamily="18" charset="0"/>
              </a:rPr>
              <a:t>ug</a:t>
            </a:r>
            <a:r>
              <a:rPr lang="en-US" altLang="vi-VN" sz="1600" dirty="0">
                <a:solidFill>
                  <a:schemeClr val="bg2">
                    <a:lumMod val="90000"/>
                    <a:lumOff val="10000"/>
                  </a:schemeClr>
                </a:solidFill>
                <a:latin typeface="Arial (Body)"/>
                <a:cs typeface="Times New Roman" panose="02020603050405020304" pitchFamily="18" charset="0"/>
              </a:rPr>
              <a:t>.</a:t>
            </a:r>
          </a:p>
          <a:p>
            <a:pPr marL="724535" lvl="1" algn="just">
              <a:buFont typeface="Wingdings" panose="05000000000000000000" pitchFamily="2" charset="2"/>
              <a:buChar char="ü"/>
            </a:pPr>
            <a:r>
              <a:rPr lang="vi-VN" sz="1600" dirty="0">
                <a:solidFill>
                  <a:schemeClr val="bg2">
                    <a:lumMod val="90000"/>
                    <a:lumOff val="10000"/>
                  </a:schemeClr>
                </a:solidFill>
                <a:latin typeface="Arial (Body)"/>
                <a:cs typeface="Times New Roman" panose="02020603050405020304" pitchFamily="18" charset="0"/>
              </a:rPr>
              <a:t>Failure: Là kết quả của bug mà làm cho chương trình không hoạt động được hoặc hoạt động không như mong muốn của khách hàng</a:t>
            </a:r>
            <a:r>
              <a:rPr lang="en-US" sz="1600" dirty="0">
                <a:solidFill>
                  <a:schemeClr val="bg2">
                    <a:lumMod val="90000"/>
                    <a:lumOff val="10000"/>
                  </a:schemeClr>
                </a:solidFill>
                <a:latin typeface="Arial (Body)"/>
                <a:cs typeface="Times New Roman" panose="02020603050405020304" pitchFamily="18" charset="0"/>
              </a:rPr>
              <a:t>.</a:t>
            </a:r>
            <a:endParaRPr lang="en-GB" sz="1700" dirty="0"/>
          </a:p>
          <a:p>
            <a:pPr algn="just">
              <a:buFont typeface="Wingdings" panose="05000000000000000000" pitchFamily="2" charset="2"/>
              <a:buChar char="v"/>
            </a:pP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 name="Content Placeholder 7"/>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66800" y="3124200"/>
            <a:ext cx="7734299" cy="3825238"/>
          </a:xfrm>
        </p:spPr>
      </p:pic>
      <p:sp>
        <p:nvSpPr>
          <p:cNvPr id="2" name="Title 1"/>
          <p:cNvSpPr>
            <a:spLocks noGrp="1"/>
          </p:cNvSpPr>
          <p:nvPr>
            <p:ph type="title"/>
          </p:nvPr>
        </p:nvSpPr>
        <p:spPr>
          <a:xfrm>
            <a:off x="347662" y="-4119"/>
            <a:ext cx="8524875" cy="675926"/>
          </a:xfrm>
        </p:spPr>
        <p:txBody>
          <a:bodyPr/>
          <a:lstStyle/>
          <a:p>
            <a:r>
              <a:rPr lang="en-US" dirty="0"/>
              <a:t>III. Test </a:t>
            </a:r>
            <a:r>
              <a:rPr lang="en-US" dirty="0" err="1"/>
              <a:t>là</a:t>
            </a:r>
            <a:r>
              <a:rPr lang="en-US" dirty="0"/>
              <a:t> </a:t>
            </a:r>
            <a:r>
              <a:rPr lang="en-US" dirty="0" err="1"/>
              <a:t>gì</a:t>
            </a:r>
            <a:r>
              <a:rPr lang="en-US" dirty="0"/>
              <a:t>?</a:t>
            </a:r>
          </a:p>
        </p:txBody>
      </p:sp>
      <p:sp>
        <p:nvSpPr>
          <p:cNvPr id="5" name="Content Placeholder 4"/>
          <p:cNvSpPr>
            <a:spLocks noGrp="1"/>
          </p:cNvSpPr>
          <p:nvPr>
            <p:ph sz="half" idx="2"/>
          </p:nvPr>
        </p:nvSpPr>
        <p:spPr>
          <a:xfrm>
            <a:off x="0" y="609600"/>
            <a:ext cx="9144001" cy="2443336"/>
          </a:xfrm>
        </p:spPr>
        <p:txBody>
          <a:bodyPr>
            <a:noAutofit/>
          </a:bodyPr>
          <a:lstStyle/>
          <a:p>
            <a:pPr algn="just">
              <a:spcBef>
                <a:spcPts val="50"/>
              </a:spcBef>
              <a:spcAft>
                <a:spcPts val="50"/>
              </a:spcAft>
              <a:buFont typeface="Wingdings" panose="05000000000000000000" pitchFamily="2" charset="2"/>
              <a:buChar char="v"/>
            </a:pPr>
            <a:r>
              <a:rPr lang="en-US" sz="1600" b="1" i="1" u="sng" dirty="0"/>
              <a:t>Test </a:t>
            </a:r>
            <a:r>
              <a:rPr lang="en-US" sz="1600" b="1" i="1" u="sng" dirty="0" err="1"/>
              <a:t>trong</a:t>
            </a:r>
            <a:r>
              <a:rPr lang="en-US" sz="1600" b="1" i="1" u="sng" dirty="0"/>
              <a:t> </a:t>
            </a:r>
            <a:r>
              <a:rPr lang="en-US" sz="1600" b="1" i="1" u="sng" dirty="0" err="1"/>
              <a:t>vòng</a:t>
            </a:r>
            <a:r>
              <a:rPr lang="en-US" sz="1600" b="1" i="1" u="sng" dirty="0"/>
              <a:t> </a:t>
            </a:r>
            <a:r>
              <a:rPr lang="en-US" sz="1600" b="1" i="1" u="sng" dirty="0" err="1"/>
              <a:t>đời</a:t>
            </a:r>
            <a:r>
              <a:rPr lang="en-US" sz="1600" b="1" i="1" u="sng" dirty="0"/>
              <a:t> </a:t>
            </a:r>
            <a:r>
              <a:rPr lang="en-US" sz="1600" b="1" i="1" u="sng" dirty="0" err="1"/>
              <a:t>phát</a:t>
            </a:r>
            <a:r>
              <a:rPr lang="en-US" sz="1600" b="1" i="1" u="sng" dirty="0"/>
              <a:t> </a:t>
            </a:r>
            <a:r>
              <a:rPr lang="en-US" sz="1600" b="1" i="1" u="sng" dirty="0" err="1"/>
              <a:t>triển</a:t>
            </a:r>
            <a:r>
              <a:rPr lang="en-US" sz="1600" b="1" i="1" u="sng" dirty="0"/>
              <a:t> </a:t>
            </a:r>
            <a:r>
              <a:rPr lang="en-US" sz="1600" b="1" i="1" u="sng" dirty="0" err="1"/>
              <a:t>phần</a:t>
            </a:r>
            <a:r>
              <a:rPr lang="en-US" sz="1600" b="1" i="1" u="sng" dirty="0"/>
              <a:t> </a:t>
            </a:r>
            <a:r>
              <a:rPr lang="en-US" sz="1600" b="1" i="1" u="sng" dirty="0" err="1"/>
              <a:t>mềm</a:t>
            </a:r>
            <a:endParaRPr lang="en-US" sz="1600" b="1" i="1" u="sng" dirty="0"/>
          </a:p>
          <a:p>
            <a:pPr lvl="1" algn="just">
              <a:spcBef>
                <a:spcPts val="50"/>
              </a:spcBef>
              <a:spcAft>
                <a:spcPts val="50"/>
              </a:spcAft>
              <a:buFont typeface="Wingdings" panose="05000000000000000000" pitchFamily="2" charset="2"/>
              <a:buChar char="ü"/>
            </a:pPr>
            <a:r>
              <a:rPr lang="en-US" sz="1600" dirty="0"/>
              <a:t>Test</a:t>
            </a:r>
            <a:r>
              <a:rPr lang="vi-VN" sz="1600" dirty="0"/>
              <a:t> không phải là một hoạt động độc lập. Nó </a:t>
            </a:r>
            <a:r>
              <a:rPr lang="en-US" sz="1600" dirty="0" err="1"/>
              <a:t>là</a:t>
            </a:r>
            <a:r>
              <a:rPr lang="en-US" sz="1600" dirty="0"/>
              <a:t> </a:t>
            </a:r>
            <a:r>
              <a:rPr lang="en-US" sz="1600" dirty="0" err="1"/>
              <a:t>một</a:t>
            </a:r>
            <a:r>
              <a:rPr lang="en-US" sz="1600" dirty="0"/>
              <a:t> </a:t>
            </a:r>
            <a:r>
              <a:rPr lang="en-US" sz="1600" dirty="0" err="1"/>
              <a:t>giai</a:t>
            </a:r>
            <a:r>
              <a:rPr lang="en-US" sz="1600" dirty="0"/>
              <a:t> </a:t>
            </a:r>
            <a:r>
              <a:rPr lang="en-US" sz="1600" dirty="0" err="1"/>
              <a:t>đoạn</a:t>
            </a:r>
            <a:r>
              <a:rPr lang="en-US" sz="1600" dirty="0"/>
              <a:t> </a:t>
            </a:r>
            <a:r>
              <a:rPr lang="vi-VN" sz="1600" dirty="0"/>
              <a:t>trong vòng đời phát triển phần mềm</a:t>
            </a:r>
            <a:r>
              <a:rPr lang="en-US" sz="1600" dirty="0"/>
              <a:t>. </a:t>
            </a:r>
            <a:r>
              <a:rPr lang="en-US" sz="1600" dirty="0" err="1"/>
              <a:t>Với</a:t>
            </a:r>
            <a:r>
              <a:rPr lang="en-US" sz="1600" dirty="0"/>
              <a:t> </a:t>
            </a:r>
            <a:r>
              <a:rPr lang="en-US" sz="1600" dirty="0" err="1"/>
              <a:t>mỗi</a:t>
            </a:r>
            <a:r>
              <a:rPr lang="en-US" sz="1600" dirty="0"/>
              <a:t> </a:t>
            </a:r>
            <a:r>
              <a:rPr lang="en-US" sz="1600" dirty="0" err="1"/>
              <a:t>dự</a:t>
            </a:r>
            <a:r>
              <a:rPr lang="en-US" sz="1600" dirty="0"/>
              <a:t> </a:t>
            </a:r>
            <a:r>
              <a:rPr lang="en-US" sz="1600" dirty="0" err="1"/>
              <a:t>án</a:t>
            </a:r>
            <a:r>
              <a:rPr lang="en-US" sz="1600" dirty="0"/>
              <a:t> </a:t>
            </a:r>
            <a:r>
              <a:rPr lang="en-US" sz="1600" dirty="0" err="1"/>
              <a:t>tùy</a:t>
            </a:r>
            <a:r>
              <a:rPr lang="en-US" sz="1600" dirty="0"/>
              <a:t> </a:t>
            </a:r>
            <a:r>
              <a:rPr lang="en-US" sz="1600" dirty="0" err="1"/>
              <a:t>thuộc</a:t>
            </a:r>
            <a:r>
              <a:rPr lang="en-US" sz="1600" dirty="0"/>
              <a:t> </a:t>
            </a:r>
            <a:r>
              <a:rPr lang="en-US" sz="1600" dirty="0" err="1"/>
              <a:t>vào</a:t>
            </a:r>
            <a:r>
              <a:rPr lang="en-US" sz="1600" dirty="0"/>
              <a:t> </a:t>
            </a:r>
            <a:r>
              <a:rPr lang="en-US" sz="1600" dirty="0" err="1"/>
              <a:t>mục</a:t>
            </a:r>
            <a:r>
              <a:rPr lang="en-US" sz="1600" dirty="0"/>
              <a:t> </a:t>
            </a:r>
            <a:r>
              <a:rPr lang="en-US" sz="1600" dirty="0" err="1"/>
              <a:t>đích</a:t>
            </a:r>
            <a:r>
              <a:rPr lang="en-US" sz="1600" dirty="0"/>
              <a:t> </a:t>
            </a:r>
            <a:r>
              <a:rPr lang="en-US" sz="1600" dirty="0" err="1"/>
              <a:t>và</a:t>
            </a:r>
            <a:r>
              <a:rPr lang="en-US" sz="1600" dirty="0"/>
              <a:t> </a:t>
            </a:r>
            <a:r>
              <a:rPr lang="en-US" sz="1600" dirty="0" err="1"/>
              <a:t>mục</a:t>
            </a:r>
            <a:r>
              <a:rPr lang="en-US" sz="1600" dirty="0"/>
              <a:t> </a:t>
            </a:r>
            <a:r>
              <a:rPr lang="en-US" sz="1600" dirty="0" err="1"/>
              <a:t>tiêu</a:t>
            </a:r>
            <a:r>
              <a:rPr lang="en-US" sz="1600" dirty="0"/>
              <a:t> </a:t>
            </a:r>
            <a:r>
              <a:rPr lang="en-US" sz="1600" dirty="0" err="1"/>
              <a:t>dự</a:t>
            </a:r>
            <a:r>
              <a:rPr lang="en-US" sz="1600" dirty="0"/>
              <a:t> </a:t>
            </a:r>
            <a:r>
              <a:rPr lang="en-US" sz="1600" dirty="0" err="1"/>
              <a:t>án</a:t>
            </a:r>
            <a:r>
              <a:rPr lang="en-US" sz="1600" dirty="0"/>
              <a:t> </a:t>
            </a:r>
            <a:r>
              <a:rPr lang="en-US" sz="1600" dirty="0" err="1"/>
              <a:t>sẽ</a:t>
            </a:r>
            <a:r>
              <a:rPr lang="en-US" sz="1600" dirty="0"/>
              <a:t> </a:t>
            </a:r>
            <a:r>
              <a:rPr lang="en-US" sz="1600" dirty="0" err="1"/>
              <a:t>áp</a:t>
            </a:r>
            <a:r>
              <a:rPr lang="en-US" sz="1600" dirty="0"/>
              <a:t> </a:t>
            </a:r>
            <a:r>
              <a:rPr lang="en-US" sz="1600" dirty="0" err="1"/>
              <a:t>dụng</a:t>
            </a:r>
            <a:r>
              <a:rPr lang="en-US" sz="1600" dirty="0"/>
              <a:t> </a:t>
            </a:r>
            <a:r>
              <a:rPr lang="en-US" sz="1600" dirty="0" err="1"/>
              <a:t>các</a:t>
            </a:r>
            <a:r>
              <a:rPr lang="en-US" sz="1600" dirty="0"/>
              <a:t> </a:t>
            </a:r>
            <a:r>
              <a:rPr lang="vi-VN" sz="1600" dirty="0"/>
              <a:t>mô hình</a:t>
            </a:r>
            <a:r>
              <a:rPr lang="en-US" sz="1600" dirty="0"/>
              <a:t> </a:t>
            </a:r>
            <a:r>
              <a:rPr lang="en-US" sz="1600" dirty="0" err="1"/>
              <a:t>phát</a:t>
            </a:r>
            <a:r>
              <a:rPr lang="en-US" sz="1600" dirty="0"/>
              <a:t> </a:t>
            </a:r>
            <a:r>
              <a:rPr lang="en-US" sz="1600" dirty="0" err="1"/>
              <a:t>triển</a:t>
            </a:r>
            <a:r>
              <a:rPr lang="en-US" sz="1600" dirty="0"/>
              <a:t> </a:t>
            </a:r>
            <a:r>
              <a:rPr lang="en-US" sz="1600" dirty="0" err="1"/>
              <a:t>phần</a:t>
            </a:r>
            <a:r>
              <a:rPr lang="en-US" sz="1600" dirty="0"/>
              <a:t> </a:t>
            </a:r>
            <a:r>
              <a:rPr lang="en-US" sz="1600" dirty="0" err="1"/>
              <a:t>mềm</a:t>
            </a:r>
            <a:r>
              <a:rPr lang="en-US" sz="1600" dirty="0"/>
              <a:t> khác nhau và </a:t>
            </a:r>
            <a:r>
              <a:rPr lang="en-US" sz="1600" dirty="0" err="1"/>
              <a:t>giai</a:t>
            </a:r>
            <a:r>
              <a:rPr lang="en-US" sz="1600" dirty="0"/>
              <a:t> </a:t>
            </a:r>
            <a:r>
              <a:rPr lang="en-US" sz="1600" dirty="0" err="1"/>
              <a:t>đoạn</a:t>
            </a:r>
            <a:r>
              <a:rPr lang="en-US" sz="1600" dirty="0"/>
              <a:t> test sẽ được </a:t>
            </a:r>
            <a:r>
              <a:rPr lang="en-US" sz="1600" dirty="0" err="1"/>
              <a:t>thực</a:t>
            </a:r>
            <a:r>
              <a:rPr lang="en-US" sz="1600" dirty="0"/>
              <a:t> hiện khác nhau để </a:t>
            </a:r>
            <a:r>
              <a:rPr lang="en-US" sz="1600" dirty="0" err="1"/>
              <a:t>phù</a:t>
            </a:r>
            <a:r>
              <a:rPr lang="en-US" sz="1600" dirty="0"/>
              <a:t> </a:t>
            </a:r>
            <a:r>
              <a:rPr lang="en-US" sz="1600" dirty="0" err="1"/>
              <a:t>hợp</a:t>
            </a:r>
            <a:r>
              <a:rPr lang="en-US" sz="1600" dirty="0"/>
              <a:t> với </a:t>
            </a:r>
            <a:r>
              <a:rPr lang="en-US" sz="1600" dirty="0" err="1"/>
              <a:t>dự</a:t>
            </a:r>
            <a:r>
              <a:rPr lang="en-US" sz="1600" dirty="0"/>
              <a:t> án.</a:t>
            </a:r>
          </a:p>
          <a:p>
            <a:pPr lvl="1" algn="just">
              <a:spcBef>
                <a:spcPts val="50"/>
              </a:spcBef>
              <a:spcAft>
                <a:spcPts val="50"/>
              </a:spcAft>
              <a:buFont typeface="Wingdings" panose="05000000000000000000" pitchFamily="2" charset="2"/>
              <a:buChar char="ü"/>
            </a:pPr>
            <a:r>
              <a:rPr lang="en-US" sz="1600" dirty="0"/>
              <a:t>VD: </a:t>
            </a:r>
            <a:r>
              <a:rPr lang="vi-VN" sz="1600" dirty="0"/>
              <a:t>Mô hình chữ W (W-model) </a:t>
            </a:r>
            <a:r>
              <a:rPr lang="en-US" sz="1600" dirty="0" err="1"/>
              <a:t>dưới</a:t>
            </a:r>
            <a:r>
              <a:rPr lang="en-US" sz="1600" dirty="0"/>
              <a:t> </a:t>
            </a:r>
            <a:r>
              <a:rPr lang="en-US" sz="1600" dirty="0" err="1"/>
              <a:t>đây</a:t>
            </a:r>
            <a:r>
              <a:rPr lang="en-US" sz="1600" dirty="0"/>
              <a:t> ta </a:t>
            </a:r>
            <a:r>
              <a:rPr lang="en-US" sz="1600" dirty="0" err="1"/>
              <a:t>ta</a:t>
            </a:r>
            <a:r>
              <a:rPr lang="en-US" sz="1600" dirty="0"/>
              <a:t> </a:t>
            </a:r>
            <a:r>
              <a:rPr lang="en-US" sz="1600" dirty="0" err="1"/>
              <a:t>thấy</a:t>
            </a:r>
            <a:r>
              <a:rPr lang="en-US" sz="1600" dirty="0"/>
              <a:t> </a:t>
            </a:r>
            <a:r>
              <a:rPr lang="en-US" sz="1600" dirty="0" err="1"/>
              <a:t>mỗi</a:t>
            </a:r>
            <a:r>
              <a:rPr lang="vi-VN" sz="1600" dirty="0"/>
              <a:t> hoạt động của quá trình phát triển phần mềm</a:t>
            </a:r>
            <a:r>
              <a:rPr lang="en-US" sz="1600" dirty="0"/>
              <a:t> </a:t>
            </a:r>
            <a:r>
              <a:rPr lang="en-US" sz="1600" dirty="0" err="1"/>
              <a:t>đều</a:t>
            </a:r>
            <a:r>
              <a:rPr lang="vi-VN" sz="1600" dirty="0"/>
              <a:t> ánh xạ đến một hoạt động test</a:t>
            </a:r>
            <a:r>
              <a:rPr lang="en-US" sz="1600" dirty="0"/>
              <a:t>. K</a:t>
            </a:r>
            <a:r>
              <a:rPr lang="vi-VN" sz="1600" dirty="0"/>
              <a:t>ỹ thuật </a:t>
            </a:r>
            <a:r>
              <a:rPr lang="en-US" sz="1600" dirty="0"/>
              <a:t>test </a:t>
            </a:r>
            <a:r>
              <a:rPr lang="vi-VN" sz="1600" dirty="0"/>
              <a:t>tĩnh </a:t>
            </a:r>
            <a:r>
              <a:rPr lang="en-US" sz="1600" dirty="0"/>
              <a:t>(static testing) </a:t>
            </a:r>
            <a:r>
              <a:rPr lang="vi-VN" sz="1600" dirty="0"/>
              <a:t>được áp dụng trong đoạn đầu của sự phát triển.</a:t>
            </a:r>
            <a:r>
              <a:rPr lang="en-US" sz="1600" dirty="0"/>
              <a:t> </a:t>
            </a:r>
            <a:r>
              <a:rPr lang="en-US" sz="1600" dirty="0" err="1"/>
              <a:t>Kỹ</a:t>
            </a:r>
            <a:r>
              <a:rPr lang="en-US" sz="1600" dirty="0"/>
              <a:t> </a:t>
            </a:r>
            <a:r>
              <a:rPr lang="en-US" sz="1600" dirty="0" err="1"/>
              <a:t>thuật</a:t>
            </a:r>
            <a:r>
              <a:rPr lang="en-US" sz="1600" dirty="0"/>
              <a:t> test </a:t>
            </a:r>
            <a:r>
              <a:rPr lang="en-US" sz="1600" dirty="0" err="1"/>
              <a:t>động</a:t>
            </a:r>
            <a:r>
              <a:rPr lang="en-US" sz="1600" dirty="0"/>
              <a:t> (dynamic testing) được </a:t>
            </a:r>
            <a:r>
              <a:rPr lang="en-US" sz="1600" dirty="0" err="1"/>
              <a:t>áp</a:t>
            </a:r>
            <a:r>
              <a:rPr lang="en-US" sz="1600" dirty="0"/>
              <a:t> </a:t>
            </a:r>
            <a:r>
              <a:rPr lang="en-US" sz="1600" dirty="0" err="1"/>
              <a:t>dụng</a:t>
            </a:r>
            <a:r>
              <a:rPr lang="en-US" sz="1600" dirty="0"/>
              <a:t> </a:t>
            </a:r>
            <a:r>
              <a:rPr lang="en-US" sz="1600" dirty="0" err="1"/>
              <a:t>vào</a:t>
            </a:r>
            <a:r>
              <a:rPr lang="en-US" sz="1600" dirty="0"/>
              <a:t> </a:t>
            </a:r>
            <a:r>
              <a:rPr lang="en-US" sz="1600" dirty="0" err="1"/>
              <a:t>giai</a:t>
            </a:r>
            <a:r>
              <a:rPr lang="en-US" sz="1600" dirty="0"/>
              <a:t> </a:t>
            </a:r>
            <a:r>
              <a:rPr lang="en-US" sz="1600" dirty="0" err="1"/>
              <a:t>đoạn</a:t>
            </a:r>
            <a:r>
              <a:rPr lang="en-US" sz="1600" dirty="0"/>
              <a:t> </a:t>
            </a:r>
            <a:r>
              <a:rPr lang="en-US" sz="1600" dirty="0" err="1"/>
              <a:t>sau</a:t>
            </a:r>
            <a:r>
              <a:rPr lang="en-US" sz="1600" dirty="0"/>
              <a:t> của </a:t>
            </a:r>
            <a:r>
              <a:rPr lang="en-US" sz="1600" dirty="0" err="1"/>
              <a:t>sự</a:t>
            </a:r>
            <a:r>
              <a:rPr lang="en-US" sz="1600" dirty="0"/>
              <a:t> </a:t>
            </a:r>
            <a:r>
              <a:rPr lang="en-US" sz="1600" dirty="0" err="1"/>
              <a:t>phát</a:t>
            </a:r>
            <a:r>
              <a:rPr lang="en-US" sz="1600" dirty="0"/>
              <a:t> </a:t>
            </a:r>
            <a:r>
              <a:rPr lang="en-US" sz="1600" dirty="0" err="1"/>
              <a:t>triển</a:t>
            </a:r>
            <a:r>
              <a:rPr lang="en-US" sz="1600" dirty="0"/>
              <a:t>.</a:t>
            </a:r>
            <a:endParaRPr lang="vi-VN" sz="1600" dirty="0"/>
          </a:p>
          <a:p>
            <a:pPr>
              <a:spcBef>
                <a:spcPts val="50"/>
              </a:spcBef>
              <a:spcAft>
                <a:spcPts val="50"/>
              </a:spcAft>
              <a:buFont typeface="Wingdings" panose="05000000000000000000" pitchFamily="2" charset="2"/>
              <a:buChar char="v"/>
            </a:pP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76200"/>
            <a:ext cx="6172200" cy="799306"/>
          </a:xfrm>
        </p:spPr>
        <p:txBody>
          <a:bodyPr/>
          <a:lstStyle/>
          <a:p>
            <a:r>
              <a:rPr lang="en-US" dirty="0"/>
              <a:t>III. Test </a:t>
            </a:r>
            <a:r>
              <a:rPr lang="en-US" dirty="0" err="1"/>
              <a:t>là</a:t>
            </a:r>
            <a:r>
              <a:rPr lang="en-US" dirty="0"/>
              <a:t> </a:t>
            </a:r>
            <a:r>
              <a:rPr lang="en-US" dirty="0" err="1"/>
              <a:t>gì</a:t>
            </a:r>
            <a:r>
              <a:rPr lang="en-US" dirty="0"/>
              <a:t>?</a:t>
            </a:r>
          </a:p>
        </p:txBody>
      </p:sp>
      <p:sp>
        <p:nvSpPr>
          <p:cNvPr id="6" name="Content Placeholder 2"/>
          <p:cNvSpPr txBox="1">
            <a:spLocks/>
          </p:cNvSpPr>
          <p:nvPr/>
        </p:nvSpPr>
        <p:spPr>
          <a:xfrm>
            <a:off x="381000" y="875506"/>
            <a:ext cx="8229600" cy="5456379"/>
          </a:xfrm>
          <a:prstGeom prst="rect">
            <a:avLst/>
          </a:prstGeom>
        </p:spPr>
        <p:txBody>
          <a:bodyPr vert="horz" anchor="t">
            <a:normAutofit/>
          </a:bodyPr>
          <a:lstStyle>
            <a:lvl1pPr marL="448310" indent="-384175" algn="l" rtl="0" eaLnBrk="1" latinLnBrk="0" hangingPunct="1">
              <a:spcBef>
                <a:spcPct val="20000"/>
              </a:spcBef>
              <a:spcAft>
                <a:spcPts val="1000"/>
              </a:spcAft>
              <a:buClr>
                <a:schemeClr val="accent1"/>
              </a:buClr>
              <a:buSzPct val="80000"/>
              <a:buFont typeface="Arial" panose="020B0604020202020204" pitchFamily="34" charset="0"/>
              <a:buChar char="•"/>
              <a:defRPr sz="20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1800" kern="1200">
                <a:solidFill>
                  <a:schemeClr val="bg2"/>
                </a:solidFill>
                <a:latin typeface="+mn-lt"/>
                <a:ea typeface="+mn-ea"/>
                <a:cs typeface="+mn-cs"/>
              </a:defRPr>
            </a:lvl2pPr>
            <a:lvl3pPr marL="1106170" indent="-228600"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3pPr>
            <a:lvl4pPr marL="13716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185"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185" algn="l" rtl="0" eaLnBrk="1" latinLnBrk="0" hangingPunct="1">
              <a:spcBef>
                <a:spcPct val="20000"/>
              </a:spcBef>
              <a:buClr>
                <a:schemeClr val="accent1">
                  <a:tint val="75000"/>
                </a:schemeClr>
              </a:buClr>
              <a:buFont typeface="Wingdings 2" panose="05020102010507070707"/>
              <a:buChar char=""/>
              <a:defRPr sz="1800" kern="1200">
                <a:solidFill>
                  <a:schemeClr val="tx1"/>
                </a:solidFill>
                <a:latin typeface="+mn-lt"/>
                <a:ea typeface="+mn-ea"/>
                <a:cs typeface="+mn-cs"/>
              </a:defRPr>
            </a:lvl6pPr>
            <a:lvl7pPr marL="2084705" indent="-210185"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panose="05020102010507070707"/>
              <a:buChar char=""/>
              <a:defRPr sz="1600" kern="1200">
                <a:solidFill>
                  <a:schemeClr val="tx1"/>
                </a:solidFill>
                <a:latin typeface="+mn-lt"/>
                <a:ea typeface="+mn-ea"/>
                <a:cs typeface="+mn-cs"/>
              </a:defRPr>
            </a:lvl9pPr>
          </a:lstStyle>
          <a:p>
            <a:pPr>
              <a:buFont typeface="Wingdings" panose="05000000000000000000" pitchFamily="2" charset="2"/>
              <a:buChar char="v"/>
            </a:pPr>
            <a:r>
              <a:rPr lang="en-US" sz="1900" b="1" i="1" u="sng" dirty="0"/>
              <a:t>Các </a:t>
            </a:r>
            <a:r>
              <a:rPr lang="en-US" sz="1900" b="1" i="1" u="sng" dirty="0" err="1"/>
              <a:t>mục</a:t>
            </a:r>
            <a:r>
              <a:rPr lang="en-US" sz="1900" b="1" i="1" u="sng" dirty="0"/>
              <a:t> </a:t>
            </a:r>
            <a:r>
              <a:rPr lang="en-US" sz="1900" b="1" i="1" u="sng" dirty="0" err="1"/>
              <a:t>đích</a:t>
            </a:r>
            <a:r>
              <a:rPr lang="en-US" sz="1900" b="1" i="1" u="sng" dirty="0"/>
              <a:t> cơ </a:t>
            </a:r>
            <a:r>
              <a:rPr lang="en-US" sz="1900" b="1" i="1" u="sng" dirty="0" err="1"/>
              <a:t>bản</a:t>
            </a:r>
            <a:r>
              <a:rPr lang="en-US" sz="1900" b="1" i="1" u="sng" dirty="0"/>
              <a:t> của test</a:t>
            </a:r>
            <a:endParaRPr lang="en-GB" sz="1900" b="1" i="1" u="sng" dirty="0"/>
          </a:p>
          <a:p>
            <a:pPr lvl="1">
              <a:buFont typeface="Wingdings" panose="05000000000000000000" pitchFamily="2" charset="2"/>
              <a:buChar char="ü"/>
            </a:pPr>
            <a:r>
              <a:rPr lang="en-US" sz="1900" b="1" dirty="0" err="1"/>
              <a:t>Phát</a:t>
            </a:r>
            <a:r>
              <a:rPr lang="en-US" sz="1900" b="1" dirty="0"/>
              <a:t> </a:t>
            </a:r>
            <a:r>
              <a:rPr lang="en-US" sz="1900" b="1" dirty="0" err="1"/>
              <a:t>hiện</a:t>
            </a:r>
            <a:r>
              <a:rPr lang="en-US" sz="1900" b="1" dirty="0"/>
              <a:t> </a:t>
            </a:r>
            <a:r>
              <a:rPr lang="en-US" sz="1900" b="1" dirty="0" err="1"/>
              <a:t>lỗi</a:t>
            </a:r>
            <a:r>
              <a:rPr lang="en-US" sz="1900" dirty="0"/>
              <a:t>, </a:t>
            </a:r>
            <a:r>
              <a:rPr lang="en-US" sz="1900" dirty="0" err="1"/>
              <a:t>cung</a:t>
            </a:r>
            <a:r>
              <a:rPr lang="en-US" sz="1900" dirty="0"/>
              <a:t> </a:t>
            </a:r>
            <a:r>
              <a:rPr lang="en-US" sz="1900" dirty="0" err="1"/>
              <a:t>cấp</a:t>
            </a:r>
            <a:r>
              <a:rPr lang="en-US" sz="1900" dirty="0"/>
              <a:t> </a:t>
            </a:r>
            <a:r>
              <a:rPr lang="en-US" sz="1900" dirty="0" err="1"/>
              <a:t>thông</a:t>
            </a:r>
            <a:r>
              <a:rPr lang="en-US" sz="1900" dirty="0"/>
              <a:t> tin </a:t>
            </a:r>
            <a:r>
              <a:rPr lang="en-US" sz="1900" dirty="0" err="1"/>
              <a:t>giúp</a:t>
            </a:r>
            <a:r>
              <a:rPr lang="en-US" sz="1900" dirty="0"/>
              <a:t> </a:t>
            </a:r>
            <a:r>
              <a:rPr lang="en-US" sz="1900" dirty="0" err="1"/>
              <a:t>đội</a:t>
            </a:r>
            <a:r>
              <a:rPr lang="en-US" sz="1900" dirty="0"/>
              <a:t> </a:t>
            </a:r>
            <a:r>
              <a:rPr lang="en-US" sz="1900" dirty="0" err="1"/>
              <a:t>phát</a:t>
            </a:r>
            <a:r>
              <a:rPr lang="en-US" sz="1900" dirty="0"/>
              <a:t> </a:t>
            </a:r>
            <a:r>
              <a:rPr lang="en-US" sz="1900" dirty="0" err="1"/>
              <a:t>triển</a:t>
            </a:r>
            <a:r>
              <a:rPr lang="en-US" sz="1900" dirty="0"/>
              <a:t> </a:t>
            </a:r>
            <a:r>
              <a:rPr lang="en-US" sz="1900" dirty="0" err="1"/>
              <a:t>có</a:t>
            </a:r>
            <a:r>
              <a:rPr lang="en-US" sz="1900" dirty="0"/>
              <a:t> </a:t>
            </a:r>
            <a:r>
              <a:rPr lang="en-US" sz="1900" dirty="0" err="1"/>
              <a:t>thể</a:t>
            </a:r>
            <a:r>
              <a:rPr lang="en-US" sz="1900" dirty="0"/>
              <a:t> </a:t>
            </a:r>
            <a:r>
              <a:rPr lang="en-US" sz="1900" dirty="0" err="1"/>
              <a:t>sửa</a:t>
            </a:r>
            <a:r>
              <a:rPr lang="en-US" sz="1900" dirty="0"/>
              <a:t> </a:t>
            </a:r>
            <a:r>
              <a:rPr lang="en-US" sz="1900" dirty="0" err="1"/>
              <a:t>lỗi</a:t>
            </a:r>
            <a:r>
              <a:rPr lang="en-US" sz="1900" dirty="0"/>
              <a:t>.</a:t>
            </a:r>
          </a:p>
          <a:p>
            <a:pPr lvl="1" algn="just">
              <a:buFont typeface="Wingdings" panose="05000000000000000000" pitchFamily="2" charset="2"/>
              <a:buChar char="ü"/>
            </a:pPr>
            <a:r>
              <a:rPr lang="en-US" sz="1900" dirty="0" err="1"/>
              <a:t>Tăng</a:t>
            </a:r>
            <a:r>
              <a:rPr lang="en-US" sz="1900" dirty="0"/>
              <a:t> </a:t>
            </a:r>
            <a:r>
              <a:rPr lang="en-US" sz="1900" dirty="0" err="1"/>
              <a:t>độ</a:t>
            </a:r>
            <a:r>
              <a:rPr lang="en-US" sz="1900" dirty="0"/>
              <a:t> tin </a:t>
            </a:r>
            <a:r>
              <a:rPr lang="en-US" sz="1900" dirty="0" err="1"/>
              <a:t>cậy</a:t>
            </a:r>
            <a:r>
              <a:rPr lang="en-US" sz="1900" dirty="0"/>
              <a:t> </a:t>
            </a:r>
            <a:r>
              <a:rPr lang="en-US" sz="1900" dirty="0" err="1"/>
              <a:t>về</a:t>
            </a:r>
            <a:r>
              <a:rPr lang="en-US" sz="1900" dirty="0"/>
              <a:t> </a:t>
            </a:r>
            <a:r>
              <a:rPr lang="en-US" sz="1900" b="1" dirty="0" err="1"/>
              <a:t>chất</a:t>
            </a:r>
            <a:r>
              <a:rPr lang="en-US" sz="1900" b="1" dirty="0"/>
              <a:t> </a:t>
            </a:r>
            <a:r>
              <a:rPr lang="en-US" sz="1900" b="1" dirty="0" err="1"/>
              <a:t>lượng</a:t>
            </a:r>
            <a:r>
              <a:rPr lang="en-US" sz="1900" b="1" dirty="0"/>
              <a:t> </a:t>
            </a:r>
            <a:r>
              <a:rPr lang="en-US" sz="1900" b="1" dirty="0" err="1"/>
              <a:t>sản</a:t>
            </a:r>
            <a:r>
              <a:rPr lang="en-US" sz="1900" b="1" dirty="0"/>
              <a:t> </a:t>
            </a:r>
            <a:r>
              <a:rPr lang="en-US" sz="1900" b="1" dirty="0" err="1"/>
              <a:t>phẩm</a:t>
            </a:r>
            <a:r>
              <a:rPr lang="en-US" sz="1900" b="1" dirty="0"/>
              <a:t>. </a:t>
            </a:r>
          </a:p>
          <a:p>
            <a:pPr lvl="1" algn="just">
              <a:buFont typeface="Wingdings" panose="05000000000000000000" pitchFamily="2" charset="2"/>
              <a:buChar char="ü"/>
            </a:pPr>
            <a:r>
              <a:rPr lang="en-US" b="1" dirty="0"/>
              <a:t>G</a:t>
            </a:r>
            <a:r>
              <a:rPr lang="vi-VN" b="1" dirty="0"/>
              <a:t>iảm thiểu những vấn đề</a:t>
            </a:r>
            <a:r>
              <a:rPr lang="en-US" b="1" dirty="0"/>
              <a:t>,</a:t>
            </a:r>
            <a:r>
              <a:rPr lang="vi-VN" b="1" dirty="0"/>
              <a:t> </a:t>
            </a:r>
            <a:r>
              <a:rPr lang="vi-VN" dirty="0"/>
              <a:t>rủi ro xảy ra trong quá trình vận hành</a:t>
            </a:r>
            <a:r>
              <a:rPr lang="en-US" dirty="0"/>
              <a:t>.</a:t>
            </a:r>
            <a:endParaRPr lang="en-US" sz="1900" b="1" dirty="0"/>
          </a:p>
          <a:p>
            <a:pPr lvl="1">
              <a:buFont typeface="Wingdings" panose="05000000000000000000" pitchFamily="2" charset="2"/>
              <a:buChar char="ü"/>
            </a:pPr>
            <a:r>
              <a:rPr lang="en-US" sz="1900" b="1" dirty="0" err="1"/>
              <a:t>Ngăn</a:t>
            </a:r>
            <a:r>
              <a:rPr lang="en-US" sz="1900" b="1" dirty="0"/>
              <a:t> </a:t>
            </a:r>
            <a:r>
              <a:rPr lang="en-US" sz="1900" b="1" dirty="0" err="1"/>
              <a:t>ngừa</a:t>
            </a:r>
            <a:r>
              <a:rPr lang="en-US" sz="1900" b="1" dirty="0"/>
              <a:t> </a:t>
            </a:r>
            <a:r>
              <a:rPr lang="en-US" sz="1900" b="1" dirty="0" err="1"/>
              <a:t>lỗi</a:t>
            </a:r>
            <a:r>
              <a:rPr lang="en-US" sz="1900" b="1" dirty="0"/>
              <a:t> </a:t>
            </a:r>
            <a:r>
              <a:rPr lang="en-US" sz="1900" dirty="0" err="1"/>
              <a:t>bằng</a:t>
            </a:r>
            <a:r>
              <a:rPr lang="en-US" sz="1900" dirty="0"/>
              <a:t> </a:t>
            </a:r>
            <a:r>
              <a:rPr lang="en-US" sz="1900" dirty="0" err="1"/>
              <a:t>cách</a:t>
            </a:r>
            <a:r>
              <a:rPr lang="en-US" sz="1900" dirty="0"/>
              <a:t> </a:t>
            </a:r>
            <a:r>
              <a:rPr lang="en-US" sz="1900" dirty="0" err="1"/>
              <a:t>tham</a:t>
            </a:r>
            <a:r>
              <a:rPr lang="en-US" sz="1900" dirty="0"/>
              <a:t> </a:t>
            </a:r>
            <a:r>
              <a:rPr lang="en-US" sz="1900" dirty="0" err="1"/>
              <a:t>gia</a:t>
            </a:r>
            <a:r>
              <a:rPr lang="en-US" sz="1900" dirty="0"/>
              <a:t> </a:t>
            </a:r>
            <a:r>
              <a:rPr lang="en-US" sz="1900" dirty="0" err="1"/>
              <a:t>sớm</a:t>
            </a:r>
            <a:r>
              <a:rPr lang="en-US" sz="1900" dirty="0"/>
              <a:t> </a:t>
            </a:r>
            <a:r>
              <a:rPr lang="en-US" sz="1900" dirty="0" err="1"/>
              <a:t>vào</a:t>
            </a:r>
            <a:r>
              <a:rPr lang="en-US" sz="1900" dirty="0"/>
              <a:t> </a:t>
            </a:r>
            <a:r>
              <a:rPr lang="en-US" sz="1900" dirty="0" err="1"/>
              <a:t>việc</a:t>
            </a:r>
            <a:r>
              <a:rPr lang="en-US" sz="1900" dirty="0"/>
              <a:t> review </a:t>
            </a:r>
            <a:r>
              <a:rPr lang="en-US" sz="1900" dirty="0" err="1"/>
              <a:t>và</a:t>
            </a:r>
            <a:r>
              <a:rPr lang="en-US" sz="1900" dirty="0"/>
              <a:t> </a:t>
            </a:r>
            <a:r>
              <a:rPr lang="en-US" sz="1900" dirty="0" err="1"/>
              <a:t>thiết</a:t>
            </a:r>
            <a:r>
              <a:rPr lang="en-US" sz="1900" dirty="0"/>
              <a:t> </a:t>
            </a:r>
            <a:r>
              <a:rPr lang="en-US" sz="1900" dirty="0" err="1"/>
              <a:t>kế</a:t>
            </a:r>
            <a:r>
              <a:rPr lang="en-US" sz="1900" dirty="0"/>
              <a:t> Test cases </a:t>
            </a:r>
            <a:r>
              <a:rPr lang="en-US" sz="1900" dirty="0" err="1"/>
              <a:t>trong</a:t>
            </a:r>
            <a:r>
              <a:rPr lang="en-US" sz="1900" dirty="0"/>
              <a:t> </a:t>
            </a:r>
            <a:r>
              <a:rPr lang="en-US" sz="1900" dirty="0" err="1"/>
              <a:t>quá</a:t>
            </a:r>
            <a:r>
              <a:rPr lang="en-US" sz="1900" dirty="0"/>
              <a:t> </a:t>
            </a:r>
            <a:r>
              <a:rPr lang="en-US" sz="1900" dirty="0" err="1"/>
              <a:t>trình</a:t>
            </a:r>
            <a:r>
              <a:rPr lang="en-US" sz="1900" dirty="0"/>
              <a:t> </a:t>
            </a:r>
            <a:r>
              <a:rPr lang="en-US" sz="1900" dirty="0" err="1"/>
              <a:t>phát</a:t>
            </a:r>
            <a:r>
              <a:rPr lang="en-US" sz="1900" dirty="0"/>
              <a:t> </a:t>
            </a:r>
            <a:r>
              <a:rPr lang="en-US" sz="1900" dirty="0" err="1"/>
              <a:t>triển</a:t>
            </a:r>
            <a:r>
              <a:rPr lang="en-US" sz="1900" dirty="0"/>
              <a:t>.</a:t>
            </a:r>
          </a:p>
          <a:p>
            <a:pPr lvl="1">
              <a:buFont typeface="Wingdings" panose="05000000000000000000" pitchFamily="2" charset="2"/>
              <a:buChar char="ü"/>
            </a:pPr>
            <a:r>
              <a:rPr lang="en-US" sz="1900" dirty="0" err="1"/>
              <a:t>Cung</a:t>
            </a:r>
            <a:r>
              <a:rPr lang="en-US" sz="1900" dirty="0"/>
              <a:t> </a:t>
            </a:r>
            <a:r>
              <a:rPr lang="en-US" sz="1900" dirty="0" err="1"/>
              <a:t>cấp</a:t>
            </a:r>
            <a:r>
              <a:rPr lang="en-US" sz="1900" dirty="0"/>
              <a:t> </a:t>
            </a:r>
            <a:r>
              <a:rPr lang="en-US" sz="1900" dirty="0" err="1"/>
              <a:t>thông</a:t>
            </a:r>
            <a:r>
              <a:rPr lang="en-US" sz="1900" dirty="0"/>
              <a:t> tin </a:t>
            </a:r>
            <a:r>
              <a:rPr lang="en-US" sz="1900" dirty="0" err="1"/>
              <a:t>liên</a:t>
            </a:r>
            <a:r>
              <a:rPr lang="en-US" sz="1900" dirty="0"/>
              <a:t> </a:t>
            </a:r>
            <a:r>
              <a:rPr lang="en-US" sz="1900" dirty="0" err="1"/>
              <a:t>quan</a:t>
            </a:r>
            <a:r>
              <a:rPr lang="en-US" sz="1900" dirty="0"/>
              <a:t> </a:t>
            </a:r>
            <a:r>
              <a:rPr lang="en-US" sz="1900" dirty="0" err="1"/>
              <a:t>đến</a:t>
            </a:r>
            <a:r>
              <a:rPr lang="en-US" sz="1900" dirty="0"/>
              <a:t> </a:t>
            </a:r>
            <a:r>
              <a:rPr lang="en-US" sz="1900" dirty="0" err="1"/>
              <a:t>các</a:t>
            </a:r>
            <a:r>
              <a:rPr lang="en-US" sz="1900" dirty="0"/>
              <a:t> </a:t>
            </a:r>
            <a:r>
              <a:rPr lang="en-US" sz="1900" dirty="0" err="1"/>
              <a:t>khía</a:t>
            </a:r>
            <a:r>
              <a:rPr lang="en-US" sz="1900" dirty="0"/>
              <a:t> </a:t>
            </a:r>
            <a:r>
              <a:rPr lang="en-US" sz="1900" dirty="0" err="1"/>
              <a:t>cạnh</a:t>
            </a:r>
            <a:r>
              <a:rPr lang="en-US" sz="1900" dirty="0"/>
              <a:t> </a:t>
            </a:r>
            <a:r>
              <a:rPr lang="en-US" sz="1900" dirty="0" err="1"/>
              <a:t>quan</a:t>
            </a:r>
            <a:r>
              <a:rPr lang="en-US" sz="1900" dirty="0"/>
              <a:t> </a:t>
            </a:r>
            <a:r>
              <a:rPr lang="en-US" sz="1900" dirty="0" err="1"/>
              <a:t>trong</a:t>
            </a:r>
            <a:r>
              <a:rPr lang="en-US" sz="1900" dirty="0"/>
              <a:t> </a:t>
            </a:r>
            <a:r>
              <a:rPr lang="en-US" sz="1900" dirty="0" err="1"/>
              <a:t>nhất</a:t>
            </a:r>
            <a:r>
              <a:rPr lang="en-US" sz="1900" dirty="0"/>
              <a:t> </a:t>
            </a:r>
            <a:r>
              <a:rPr lang="en-US" sz="1900" dirty="0" err="1"/>
              <a:t>về</a:t>
            </a:r>
            <a:r>
              <a:rPr lang="en-US" sz="1900" dirty="0"/>
              <a:t> </a:t>
            </a:r>
            <a:r>
              <a:rPr lang="en-US" sz="1900" b="1" dirty="0" err="1"/>
              <a:t>chất</a:t>
            </a:r>
            <a:r>
              <a:rPr lang="en-US" sz="1900" b="1" dirty="0"/>
              <a:t> </a:t>
            </a:r>
            <a:r>
              <a:rPr lang="en-US" sz="1900" b="1" dirty="0" err="1"/>
              <a:t>lượng</a:t>
            </a:r>
            <a:r>
              <a:rPr lang="en-US" sz="1900" b="1" dirty="0"/>
              <a:t> </a:t>
            </a:r>
            <a:r>
              <a:rPr lang="en-US" sz="1900" b="1" dirty="0" err="1"/>
              <a:t>hệ</a:t>
            </a:r>
            <a:r>
              <a:rPr lang="en-US" sz="1900" b="1" dirty="0"/>
              <a:t> </a:t>
            </a:r>
            <a:r>
              <a:rPr lang="en-US" sz="1900" b="1" dirty="0" err="1"/>
              <a:t>thống</a:t>
            </a:r>
            <a:r>
              <a:rPr lang="en-US" sz="1900" b="1" dirty="0"/>
              <a:t> </a:t>
            </a:r>
            <a:r>
              <a:rPr lang="en-US" sz="1900" dirty="0" err="1"/>
              <a:t>được</a:t>
            </a:r>
            <a:r>
              <a:rPr lang="en-US" sz="1900" dirty="0"/>
              <a:t> </a:t>
            </a:r>
            <a:r>
              <a:rPr lang="en-US" sz="1900" dirty="0" err="1"/>
              <a:t>kiểm</a:t>
            </a:r>
            <a:r>
              <a:rPr lang="en-US" sz="1900" dirty="0"/>
              <a:t> </a:t>
            </a:r>
            <a:r>
              <a:rPr lang="en-US" sz="1900" dirty="0" err="1"/>
              <a:t>tra</a:t>
            </a:r>
            <a:r>
              <a:rPr lang="en-US" sz="1900" dirty="0"/>
              <a:t>.</a:t>
            </a:r>
          </a:p>
          <a:p>
            <a:pPr lvl="1">
              <a:buFont typeface="Wingdings" panose="05000000000000000000" pitchFamily="2" charset="2"/>
              <a:buChar char="ü"/>
            </a:pPr>
            <a:endParaRPr lang="en-US" sz="1900" dirty="0"/>
          </a:p>
        </p:txBody>
      </p:sp>
    </p:spTree>
    <p:extLst>
      <p:ext uri="{BB962C8B-B14F-4D97-AF65-F5344CB8AC3E}">
        <p14:creationId xmlns:p14="http://schemas.microsoft.com/office/powerpoint/2010/main" val="969583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799306"/>
          </a:xfrm>
        </p:spPr>
        <p:txBody>
          <a:bodyPr/>
          <a:lstStyle/>
          <a:p>
            <a:r>
              <a:rPr lang="en-US" dirty="0"/>
              <a:t>VI. </a:t>
            </a:r>
            <a:r>
              <a:rPr lang="en-US" dirty="0" err="1"/>
              <a:t>Phân</a:t>
            </a:r>
            <a:r>
              <a:rPr lang="en-US" dirty="0"/>
              <a:t> </a:t>
            </a:r>
            <a:r>
              <a:rPr lang="en-US" dirty="0" err="1"/>
              <a:t>loại</a:t>
            </a:r>
            <a:r>
              <a:rPr lang="en-US" dirty="0"/>
              <a:t> test (Testing types)</a:t>
            </a:r>
          </a:p>
        </p:txBody>
      </p:sp>
      <p:sp>
        <p:nvSpPr>
          <p:cNvPr id="3" name="Content Placeholder 2"/>
          <p:cNvSpPr>
            <a:spLocks noGrp="1"/>
          </p:cNvSpPr>
          <p:nvPr>
            <p:ph idx="1"/>
          </p:nvPr>
        </p:nvSpPr>
        <p:spPr>
          <a:xfrm>
            <a:off x="457200" y="951707"/>
            <a:ext cx="8229600" cy="5830094"/>
          </a:xfrm>
        </p:spPr>
        <p:txBody>
          <a:bodyPr>
            <a:noAutofit/>
          </a:bodyPr>
          <a:lstStyle/>
          <a:p>
            <a:pPr marL="64135" indent="0">
              <a:buNone/>
            </a:pPr>
            <a:r>
              <a:rPr lang="vi-VN" sz="1900" dirty="0"/>
              <a:t>T</a:t>
            </a:r>
            <a:r>
              <a:rPr lang="en-US" sz="1900" dirty="0" err="1"/>
              <a:t>est</a:t>
            </a:r>
            <a:r>
              <a:rPr lang="en-US" sz="1900" dirty="0"/>
              <a:t> </a:t>
            </a:r>
            <a:r>
              <a:rPr lang="en-US" sz="1900" dirty="0" err="1"/>
              <a:t>tất</a:t>
            </a:r>
            <a:r>
              <a:rPr lang="en-US" sz="1900" dirty="0"/>
              <a:t> </a:t>
            </a:r>
            <a:r>
              <a:rPr lang="en-US" sz="1900" dirty="0" err="1"/>
              <a:t>cả</a:t>
            </a:r>
            <a:r>
              <a:rPr lang="en-US" sz="1900" dirty="0"/>
              <a:t> </a:t>
            </a:r>
            <a:r>
              <a:rPr lang="en-US" sz="1900" dirty="0" err="1"/>
              <a:t>mọi</a:t>
            </a:r>
            <a:r>
              <a:rPr lang="en-US" sz="1900" dirty="0"/>
              <a:t> </a:t>
            </a:r>
            <a:r>
              <a:rPr lang="en-US" sz="1900" dirty="0" err="1"/>
              <a:t>thứ</a:t>
            </a:r>
            <a:r>
              <a:rPr lang="en-US" sz="1900" dirty="0"/>
              <a:t> </a:t>
            </a:r>
            <a:r>
              <a:rPr lang="vi-VN" sz="1900" dirty="0"/>
              <a:t>gần như là không thể nhưng </a:t>
            </a:r>
            <a:r>
              <a:rPr lang="en-US" sz="1900" dirty="0" err="1"/>
              <a:t>chúng</a:t>
            </a:r>
            <a:r>
              <a:rPr lang="en-US" sz="1900" dirty="0"/>
              <a:t> ta </a:t>
            </a:r>
            <a:r>
              <a:rPr lang="en-US" sz="1900" dirty="0" err="1"/>
              <a:t>có</a:t>
            </a:r>
            <a:r>
              <a:rPr lang="en-US" sz="1900" dirty="0"/>
              <a:t> </a:t>
            </a:r>
            <a:r>
              <a:rPr lang="en-US" sz="1900" dirty="0" err="1"/>
              <a:t>thể</a:t>
            </a:r>
            <a:r>
              <a:rPr lang="en-US" sz="1900" dirty="0"/>
              <a:t> </a:t>
            </a:r>
            <a:r>
              <a:rPr lang="en-US" sz="1900" dirty="0" err="1"/>
              <a:t>tiến</a:t>
            </a:r>
            <a:r>
              <a:rPr lang="en-US" sz="1900" dirty="0"/>
              <a:t> </a:t>
            </a:r>
            <a:r>
              <a:rPr lang="en-US" sz="1900" dirty="0" err="1"/>
              <a:t>gần</a:t>
            </a:r>
            <a:r>
              <a:rPr lang="en-US" sz="1900" dirty="0"/>
              <a:t> </a:t>
            </a:r>
            <a:r>
              <a:rPr lang="en-US" sz="1900" dirty="0" err="1"/>
              <a:t>tới</a:t>
            </a:r>
            <a:r>
              <a:rPr lang="en-US" sz="1900" dirty="0"/>
              <a:t> </a:t>
            </a:r>
            <a:r>
              <a:rPr lang="en-US" sz="1900" dirty="0" err="1"/>
              <a:t>việc</a:t>
            </a:r>
            <a:r>
              <a:rPr lang="en-US" sz="1900" dirty="0"/>
              <a:t> </a:t>
            </a:r>
            <a:r>
              <a:rPr lang="en-US" sz="1900" dirty="0" err="1"/>
              <a:t>đó</a:t>
            </a:r>
            <a:r>
              <a:rPr lang="en-US" sz="1900" dirty="0"/>
              <a:t> </a:t>
            </a:r>
            <a:r>
              <a:rPr lang="en-US" sz="1900" dirty="0" err="1"/>
              <a:t>bằng</a:t>
            </a:r>
            <a:r>
              <a:rPr lang="en-US" sz="1900" dirty="0"/>
              <a:t> </a:t>
            </a:r>
            <a:r>
              <a:rPr lang="en-US" sz="1900" dirty="0" err="1"/>
              <a:t>những</a:t>
            </a:r>
            <a:r>
              <a:rPr lang="en-US" sz="1900" dirty="0"/>
              <a:t> </a:t>
            </a:r>
            <a:r>
              <a:rPr lang="en-US" sz="1900" dirty="0" err="1"/>
              <a:t>loại</a:t>
            </a:r>
            <a:r>
              <a:rPr lang="en-US" sz="1900" dirty="0"/>
              <a:t> test </a:t>
            </a:r>
            <a:r>
              <a:rPr lang="en-US" sz="1900" dirty="0" err="1"/>
              <a:t>khác</a:t>
            </a:r>
            <a:r>
              <a:rPr lang="en-US" sz="1900" dirty="0"/>
              <a:t> </a:t>
            </a:r>
            <a:r>
              <a:rPr lang="en-US" sz="1900" dirty="0" err="1"/>
              <a:t>nhau</a:t>
            </a:r>
            <a:r>
              <a:rPr lang="en-US" sz="1900" dirty="0"/>
              <a:t> </a:t>
            </a:r>
            <a:r>
              <a:rPr lang="en-US" sz="1900" dirty="0" err="1"/>
              <a:t>để</a:t>
            </a:r>
            <a:r>
              <a:rPr lang="en-US" sz="1900" dirty="0"/>
              <a:t> </a:t>
            </a:r>
            <a:r>
              <a:rPr lang="en-US" sz="1900" dirty="0" err="1"/>
              <a:t>thực</a:t>
            </a:r>
            <a:r>
              <a:rPr lang="en-US" sz="1900" dirty="0"/>
              <a:t> </a:t>
            </a:r>
            <a:r>
              <a:rPr lang="en-US" sz="1900" dirty="0" err="1"/>
              <a:t>hiện</a:t>
            </a:r>
            <a:r>
              <a:rPr lang="en-US" sz="1900" dirty="0"/>
              <a:t> </a:t>
            </a:r>
            <a:r>
              <a:rPr lang="en-US" sz="1900" dirty="0" err="1"/>
              <a:t>với</a:t>
            </a:r>
            <a:r>
              <a:rPr lang="en-US" sz="1900" dirty="0"/>
              <a:t> </a:t>
            </a:r>
            <a:r>
              <a:rPr lang="en-US" sz="1900" dirty="0" err="1"/>
              <a:t>những</a:t>
            </a:r>
            <a:r>
              <a:rPr lang="en-US" sz="1900" dirty="0"/>
              <a:t> </a:t>
            </a:r>
            <a:r>
              <a:rPr lang="en-US" sz="1900" dirty="0" err="1"/>
              <a:t>mục</a:t>
            </a:r>
            <a:r>
              <a:rPr lang="en-US" sz="1900" dirty="0"/>
              <a:t> </a:t>
            </a:r>
            <a:r>
              <a:rPr lang="en-US" sz="1900" dirty="0" err="1"/>
              <a:t>đích</a:t>
            </a:r>
            <a:r>
              <a:rPr lang="en-US" sz="1900" dirty="0"/>
              <a:t> </a:t>
            </a:r>
            <a:r>
              <a:rPr lang="en-US" sz="1900" dirty="0" err="1"/>
              <a:t>khác</a:t>
            </a:r>
            <a:r>
              <a:rPr lang="en-US" sz="1900" dirty="0"/>
              <a:t> </a:t>
            </a:r>
            <a:r>
              <a:rPr lang="en-US" sz="1900" dirty="0" err="1"/>
              <a:t>nhau</a:t>
            </a:r>
            <a:endParaRPr lang="en-US" sz="1900" dirty="0"/>
          </a:p>
          <a:p>
            <a:pPr marL="64135" indent="0">
              <a:buNone/>
            </a:pPr>
            <a:r>
              <a:rPr lang="en-US" sz="1900" dirty="0"/>
              <a:t>1. Test </a:t>
            </a:r>
            <a:r>
              <a:rPr lang="en-US" sz="1900" dirty="0" err="1"/>
              <a:t>chức</a:t>
            </a:r>
            <a:r>
              <a:rPr lang="en-US" sz="1900" dirty="0"/>
              <a:t> </a:t>
            </a:r>
            <a:r>
              <a:rPr lang="en-US" sz="1900" dirty="0" err="1"/>
              <a:t>năng</a:t>
            </a:r>
            <a:r>
              <a:rPr lang="en-US" sz="1900" dirty="0"/>
              <a:t> (functional testing)</a:t>
            </a:r>
          </a:p>
          <a:p>
            <a:pPr lvl="1">
              <a:buFont typeface="Wingdings" panose="05000000000000000000" pitchFamily="2" charset="2"/>
              <a:buChar char="v"/>
            </a:pPr>
            <a:r>
              <a:rPr lang="en-US" sz="1900" dirty="0"/>
              <a:t>L</a:t>
            </a:r>
            <a:r>
              <a:rPr lang="vi-VN" sz="1900" dirty="0"/>
              <a:t>à test các chức năng của phần mềm dựa theo yêu cầu của khách hàng, các tester nhập data và kiểm tra kết quả trên màn hình.</a:t>
            </a:r>
            <a:endParaRPr lang="en-US" sz="1900" dirty="0"/>
          </a:p>
          <a:p>
            <a:pPr lvl="1">
              <a:buFont typeface="Wingdings" panose="05000000000000000000" pitchFamily="2" charset="2"/>
              <a:buChar char="v"/>
            </a:pPr>
            <a:r>
              <a:rPr lang="en-US" sz="1900" dirty="0" err="1"/>
              <a:t>Là</a:t>
            </a:r>
            <a:r>
              <a:rPr lang="en-US" sz="1900" dirty="0"/>
              <a:t> </a:t>
            </a:r>
            <a:r>
              <a:rPr lang="en-US" sz="1900" dirty="0" err="1"/>
              <a:t>một</a:t>
            </a:r>
            <a:r>
              <a:rPr lang="en-US" sz="1900" dirty="0"/>
              <a:t> </a:t>
            </a:r>
            <a:r>
              <a:rPr lang="en-US" sz="1900" dirty="0" err="1"/>
              <a:t>loại</a:t>
            </a:r>
            <a:r>
              <a:rPr lang="en-US" sz="1900" dirty="0"/>
              <a:t> Test </a:t>
            </a:r>
            <a:r>
              <a:rPr lang="en-US" sz="1900" dirty="0" err="1"/>
              <a:t>hộp</a:t>
            </a:r>
            <a:r>
              <a:rPr lang="en-US" sz="1900" dirty="0"/>
              <a:t> </a:t>
            </a:r>
            <a:r>
              <a:rPr lang="en-US" sz="1900" dirty="0" err="1"/>
              <a:t>đen</a:t>
            </a:r>
            <a:r>
              <a:rPr lang="en-US" sz="1900" dirty="0"/>
              <a:t> (black box). </a:t>
            </a:r>
          </a:p>
          <a:p>
            <a:pPr lvl="1">
              <a:buFont typeface="Wingdings" panose="05000000000000000000" pitchFamily="2" charset="2"/>
              <a:buChar char="v"/>
            </a:pPr>
            <a:r>
              <a:rPr lang="en-US" sz="1900" dirty="0" err="1"/>
              <a:t>Có</a:t>
            </a:r>
            <a:r>
              <a:rPr lang="en-US" sz="1900" dirty="0"/>
              <a:t> </a:t>
            </a:r>
            <a:r>
              <a:rPr lang="en-US" sz="1900" dirty="0" err="1"/>
              <a:t>thể</a:t>
            </a:r>
            <a:r>
              <a:rPr lang="en-US" sz="1900" dirty="0"/>
              <a:t> </a:t>
            </a:r>
            <a:r>
              <a:rPr lang="en-US" sz="1900" dirty="0" err="1"/>
              <a:t>được</a:t>
            </a:r>
            <a:r>
              <a:rPr lang="en-US" sz="1900" dirty="0"/>
              <a:t> </a:t>
            </a:r>
            <a:r>
              <a:rPr lang="en-US" sz="1900" dirty="0" err="1"/>
              <a:t>thực</a:t>
            </a:r>
            <a:r>
              <a:rPr lang="en-US" sz="1900" dirty="0"/>
              <a:t> </a:t>
            </a:r>
            <a:r>
              <a:rPr lang="en-US" sz="1900" dirty="0" err="1"/>
              <a:t>hiện</a:t>
            </a:r>
            <a:r>
              <a:rPr lang="en-US" sz="1900" dirty="0"/>
              <a:t> ở </a:t>
            </a:r>
            <a:r>
              <a:rPr lang="en-US" sz="1900" dirty="0" err="1"/>
              <a:t>tất</a:t>
            </a:r>
            <a:r>
              <a:rPr lang="en-US" sz="1900" dirty="0"/>
              <a:t> </a:t>
            </a:r>
            <a:r>
              <a:rPr lang="en-US" sz="1900" dirty="0" err="1"/>
              <a:t>cả</a:t>
            </a:r>
            <a:r>
              <a:rPr lang="en-US" sz="1900" dirty="0"/>
              <a:t> </a:t>
            </a:r>
            <a:r>
              <a:rPr lang="en-US" sz="1900" dirty="0" err="1"/>
              <a:t>các</a:t>
            </a:r>
            <a:r>
              <a:rPr lang="en-US" sz="1900" dirty="0"/>
              <a:t> </a:t>
            </a:r>
            <a:r>
              <a:rPr lang="en-US" sz="1900" dirty="0" err="1"/>
              <a:t>giai</a:t>
            </a:r>
            <a:r>
              <a:rPr lang="en-US" sz="1900" dirty="0"/>
              <a:t> </a:t>
            </a:r>
            <a:r>
              <a:rPr lang="en-US" sz="1900" dirty="0" err="1"/>
              <a:t>đoạn</a:t>
            </a:r>
            <a:r>
              <a:rPr lang="en-US" sz="1900" dirty="0"/>
              <a:t> test</a:t>
            </a:r>
          </a:p>
          <a:p>
            <a:pPr marL="64135" indent="0">
              <a:buNone/>
            </a:pPr>
            <a:r>
              <a:rPr lang="en-US" sz="1900" dirty="0"/>
              <a:t>2. Test </a:t>
            </a:r>
            <a:r>
              <a:rPr lang="en-US" sz="1900" dirty="0" err="1"/>
              <a:t>cấu</a:t>
            </a:r>
            <a:r>
              <a:rPr lang="en-US" sz="1900" dirty="0"/>
              <a:t> </a:t>
            </a:r>
            <a:r>
              <a:rPr lang="en-US" sz="1900" dirty="0" err="1"/>
              <a:t>trúc</a:t>
            </a:r>
            <a:r>
              <a:rPr lang="en-US" sz="1900" dirty="0"/>
              <a:t> (structural testing) </a:t>
            </a:r>
          </a:p>
          <a:p>
            <a:pPr lvl="1">
              <a:buFont typeface="Wingdings" panose="05000000000000000000" pitchFamily="2" charset="2"/>
              <a:buChar char="v"/>
            </a:pPr>
            <a:r>
              <a:rPr lang="en-US" sz="1900" dirty="0" err="1"/>
              <a:t>Là</a:t>
            </a:r>
            <a:r>
              <a:rPr lang="en-US" sz="1900" dirty="0"/>
              <a:t> test </a:t>
            </a:r>
            <a:r>
              <a:rPr lang="en-US" sz="1900" dirty="0" err="1"/>
              <a:t>xem</a:t>
            </a:r>
            <a:r>
              <a:rPr lang="en-US" sz="1900" dirty="0"/>
              <a:t> source code</a:t>
            </a:r>
            <a:r>
              <a:rPr lang="vi-VN" sz="1900" dirty="0"/>
              <a:t> vận hành như thế nào</a:t>
            </a:r>
            <a:r>
              <a:rPr lang="en-US" sz="1900" dirty="0"/>
              <a:t> </a:t>
            </a:r>
            <a:r>
              <a:rPr lang="en-US" sz="1900" dirty="0" err="1"/>
              <a:t>và</a:t>
            </a:r>
            <a:r>
              <a:rPr lang="en-US" sz="1900" dirty="0"/>
              <a:t> </a:t>
            </a:r>
            <a:r>
              <a:rPr lang="en-US" sz="1900" dirty="0" err="1"/>
              <a:t>có</a:t>
            </a:r>
            <a:r>
              <a:rPr lang="en-US" sz="1900" dirty="0"/>
              <a:t> </a:t>
            </a:r>
            <a:r>
              <a:rPr lang="en-US" sz="1900" dirty="0" err="1"/>
              <a:t>đúng</a:t>
            </a:r>
            <a:r>
              <a:rPr lang="en-US" sz="1900" dirty="0"/>
              <a:t> </a:t>
            </a:r>
            <a:r>
              <a:rPr lang="en-US" sz="1900" dirty="0" err="1"/>
              <a:t>như</a:t>
            </a:r>
            <a:r>
              <a:rPr lang="en-US" sz="1900" dirty="0"/>
              <a:t> developer </a:t>
            </a:r>
            <a:r>
              <a:rPr lang="en-US" sz="1900" dirty="0" err="1"/>
              <a:t>dự</a:t>
            </a:r>
            <a:r>
              <a:rPr lang="en-US" sz="1900" dirty="0"/>
              <a:t> </a:t>
            </a:r>
            <a:r>
              <a:rPr lang="en-US" sz="1900" dirty="0" err="1"/>
              <a:t>kiến</a:t>
            </a:r>
            <a:r>
              <a:rPr lang="en-US" sz="1900" dirty="0"/>
              <a:t> </a:t>
            </a:r>
            <a:r>
              <a:rPr lang="en-US" sz="1900" dirty="0" err="1"/>
              <a:t>không</a:t>
            </a:r>
            <a:r>
              <a:rPr lang="en-US" sz="1900" dirty="0"/>
              <a:t>. Nó </a:t>
            </a:r>
            <a:r>
              <a:rPr lang="en-US" sz="1900" dirty="0" err="1"/>
              <a:t>dựa</a:t>
            </a:r>
            <a:r>
              <a:rPr lang="en-US" sz="1900" dirty="0"/>
              <a:t> </a:t>
            </a:r>
            <a:r>
              <a:rPr lang="en-US" sz="1900" dirty="0" err="1"/>
              <a:t>vào</a:t>
            </a:r>
            <a:r>
              <a:rPr lang="en-US" sz="1900" dirty="0"/>
              <a:t> </a:t>
            </a:r>
            <a:r>
              <a:rPr lang="en-US" sz="1900" dirty="0" err="1"/>
              <a:t>cấu</a:t>
            </a:r>
            <a:r>
              <a:rPr lang="en-US" sz="1900" dirty="0"/>
              <a:t> </a:t>
            </a:r>
            <a:r>
              <a:rPr lang="en-US" sz="1900" dirty="0" err="1"/>
              <a:t>trúc</a:t>
            </a:r>
            <a:r>
              <a:rPr lang="en-US" sz="1900" dirty="0"/>
              <a:t> </a:t>
            </a:r>
            <a:r>
              <a:rPr lang="en-US" sz="1900" dirty="0" err="1"/>
              <a:t>thuật</a:t>
            </a:r>
            <a:r>
              <a:rPr lang="en-US" sz="1900" dirty="0"/>
              <a:t> </a:t>
            </a:r>
            <a:r>
              <a:rPr lang="en-US" sz="1900" dirty="0" err="1"/>
              <a:t>toán</a:t>
            </a:r>
            <a:r>
              <a:rPr lang="en-US" sz="1900" dirty="0"/>
              <a:t> của source code </a:t>
            </a:r>
            <a:r>
              <a:rPr lang="en-US" sz="1900" dirty="0" err="1"/>
              <a:t>chương</a:t>
            </a:r>
            <a:r>
              <a:rPr lang="en-US" sz="1900" dirty="0"/>
              <a:t> </a:t>
            </a:r>
            <a:r>
              <a:rPr lang="en-US" sz="1900" dirty="0" err="1"/>
              <a:t>trình</a:t>
            </a:r>
            <a:endParaRPr lang="en-US" sz="1900" dirty="0"/>
          </a:p>
          <a:p>
            <a:pPr lvl="1">
              <a:buFont typeface="Wingdings" panose="05000000000000000000" pitchFamily="2" charset="2"/>
              <a:buChar char="v"/>
            </a:pPr>
            <a:r>
              <a:rPr lang="en-US" sz="1900" dirty="0"/>
              <a:t>Là </a:t>
            </a:r>
            <a:r>
              <a:rPr lang="en-US" sz="1900" dirty="0" err="1"/>
              <a:t>một</a:t>
            </a:r>
            <a:r>
              <a:rPr lang="en-US" sz="1900" dirty="0"/>
              <a:t> </a:t>
            </a:r>
            <a:r>
              <a:rPr lang="en-US" sz="1900" dirty="0" err="1"/>
              <a:t>loại</a:t>
            </a:r>
            <a:r>
              <a:rPr lang="en-US" sz="1900" dirty="0"/>
              <a:t> test </a:t>
            </a:r>
            <a:r>
              <a:rPr lang="en-US" sz="1900" dirty="0" err="1"/>
              <a:t>hộp</a:t>
            </a:r>
            <a:r>
              <a:rPr lang="en-US" sz="1900" dirty="0"/>
              <a:t> </a:t>
            </a:r>
            <a:r>
              <a:rPr lang="en-US" sz="1900" dirty="0" err="1"/>
              <a:t>trắng</a:t>
            </a:r>
            <a:r>
              <a:rPr lang="en-US" sz="1900" dirty="0"/>
              <a:t> (white box)</a:t>
            </a:r>
          </a:p>
          <a:p>
            <a:pPr lvl="1">
              <a:buFont typeface="Wingdings" panose="05000000000000000000" pitchFamily="2" charset="2"/>
              <a:buChar char="v"/>
            </a:pPr>
            <a:r>
              <a:rPr lang="en-US" sz="1900" dirty="0" err="1"/>
              <a:t>Thực</a:t>
            </a:r>
            <a:r>
              <a:rPr lang="en-US" sz="1900" dirty="0"/>
              <a:t> hiện ở </a:t>
            </a:r>
            <a:r>
              <a:rPr lang="en-US" sz="1900" dirty="0" err="1"/>
              <a:t>giai</a:t>
            </a:r>
            <a:r>
              <a:rPr lang="en-US" sz="1900" dirty="0"/>
              <a:t> </a:t>
            </a:r>
            <a:r>
              <a:rPr lang="en-US" sz="1900" dirty="0" err="1"/>
              <a:t>đoạn</a:t>
            </a:r>
            <a:r>
              <a:rPr lang="en-US" sz="1900" dirty="0"/>
              <a:t> test unit và </a:t>
            </a:r>
            <a:r>
              <a:rPr lang="en-US" sz="1900" dirty="0" err="1"/>
              <a:t>tích</a:t>
            </a:r>
            <a:r>
              <a:rPr lang="en-US" sz="1900" dirty="0"/>
              <a:t> </a:t>
            </a:r>
            <a:r>
              <a:rPr lang="en-US" sz="1900" dirty="0" err="1"/>
              <a:t>hợp</a:t>
            </a:r>
            <a:r>
              <a:rPr lang="en-US" sz="1900" dirty="0"/>
              <a:t> các unit</a:t>
            </a:r>
            <a:endParaRPr lang="en-US" dirty="0"/>
          </a:p>
          <a:p>
            <a:pPr lvl="2">
              <a:buFont typeface="Wingdings" panose="05000000000000000000" pitchFamily="2" charset="2"/>
              <a:buChar char="ü"/>
            </a:pPr>
            <a:endParaRPr lang="en-US" sz="1900" dirty="0"/>
          </a:p>
          <a:p>
            <a:pPr algn="just">
              <a:buFont typeface="Wingdings" panose="05000000000000000000" pitchFamily="2" charset="2"/>
              <a:buChar char="v"/>
            </a:pPr>
            <a:endParaRPr lang="en-US" sz="1900" dirty="0"/>
          </a:p>
          <a:p>
            <a:pPr marL="64135" indent="0" algn="just">
              <a:buNone/>
            </a:pPr>
            <a:endParaRPr lang="en-US" sz="1900" dirty="0"/>
          </a:p>
        </p:txBody>
      </p:sp>
    </p:spTree>
    <p:extLst>
      <p:ext uri="{BB962C8B-B14F-4D97-AF65-F5344CB8AC3E}">
        <p14:creationId xmlns:p14="http://schemas.microsoft.com/office/powerpoint/2010/main" val="1987051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7467600" cy="799306"/>
          </a:xfrm>
        </p:spPr>
        <p:txBody>
          <a:bodyPr/>
          <a:lstStyle/>
          <a:p>
            <a:r>
              <a:rPr lang="en-US" dirty="0"/>
              <a:t>VI. </a:t>
            </a:r>
            <a:r>
              <a:rPr lang="en-US" dirty="0" err="1"/>
              <a:t>Phân</a:t>
            </a:r>
            <a:r>
              <a:rPr lang="en-US" dirty="0"/>
              <a:t> </a:t>
            </a:r>
            <a:r>
              <a:rPr lang="en-US" dirty="0" err="1"/>
              <a:t>loại</a:t>
            </a:r>
            <a:r>
              <a:rPr lang="en-US" dirty="0"/>
              <a:t> test (Testing types)</a:t>
            </a:r>
          </a:p>
        </p:txBody>
      </p:sp>
      <p:sp>
        <p:nvSpPr>
          <p:cNvPr id="3" name="Content Placeholder 2"/>
          <p:cNvSpPr>
            <a:spLocks noGrp="1"/>
          </p:cNvSpPr>
          <p:nvPr>
            <p:ph idx="1"/>
          </p:nvPr>
        </p:nvSpPr>
        <p:spPr>
          <a:xfrm>
            <a:off x="479854" y="799306"/>
            <a:ext cx="8229600" cy="4839494"/>
          </a:xfrm>
        </p:spPr>
        <p:txBody>
          <a:bodyPr>
            <a:normAutofit/>
          </a:bodyPr>
          <a:lstStyle/>
          <a:p>
            <a:pPr marL="64135" indent="0">
              <a:buNone/>
            </a:pPr>
            <a:r>
              <a:rPr lang="en-US" sz="1900" dirty="0"/>
              <a:t>3. Test phi </a:t>
            </a:r>
            <a:r>
              <a:rPr lang="en-US" sz="1900" dirty="0" err="1"/>
              <a:t>chức</a:t>
            </a:r>
            <a:r>
              <a:rPr lang="en-US" sz="1900" dirty="0"/>
              <a:t> </a:t>
            </a:r>
            <a:r>
              <a:rPr lang="en-US" sz="1900" dirty="0" err="1"/>
              <a:t>năng</a:t>
            </a:r>
            <a:r>
              <a:rPr lang="en-US" sz="1900" dirty="0"/>
              <a:t> (non-functional testing)</a:t>
            </a:r>
          </a:p>
          <a:p>
            <a:pPr lvl="1" algn="just">
              <a:buFont typeface="Wingdings" panose="05000000000000000000" pitchFamily="2" charset="2"/>
              <a:buChar char="v"/>
            </a:pPr>
            <a:r>
              <a:rPr lang="en-US" sz="1900" dirty="0" err="1"/>
              <a:t>Là</a:t>
            </a:r>
            <a:r>
              <a:rPr lang="en-US" sz="1900" dirty="0"/>
              <a:t> t</a:t>
            </a:r>
            <a:r>
              <a:rPr lang="vi-VN" sz="1900" dirty="0"/>
              <a:t>est</a:t>
            </a:r>
            <a:r>
              <a:rPr lang="en-US" sz="1900" dirty="0"/>
              <a:t> </a:t>
            </a:r>
            <a:r>
              <a:rPr lang="en-US" sz="1900" dirty="0" err="1"/>
              <a:t>các</a:t>
            </a:r>
            <a:r>
              <a:rPr lang="en-US" sz="1900" dirty="0"/>
              <a:t> </a:t>
            </a:r>
            <a:r>
              <a:rPr lang="en-US" sz="1900" dirty="0" err="1"/>
              <a:t>đặc</a:t>
            </a:r>
            <a:r>
              <a:rPr lang="en-US" sz="1900" dirty="0"/>
              <a:t> </a:t>
            </a:r>
            <a:r>
              <a:rPr lang="en-US" sz="1900" dirty="0" err="1"/>
              <a:t>tính</a:t>
            </a:r>
            <a:r>
              <a:rPr lang="en-US" sz="1900" dirty="0"/>
              <a:t> </a:t>
            </a:r>
            <a:r>
              <a:rPr lang="en-US" sz="1900" dirty="0" err="1"/>
              <a:t>chất</a:t>
            </a:r>
            <a:r>
              <a:rPr lang="en-US" sz="1900" dirty="0"/>
              <a:t> </a:t>
            </a:r>
            <a:r>
              <a:rPr lang="en-US" sz="1900" dirty="0" err="1"/>
              <a:t>lượng</a:t>
            </a:r>
            <a:r>
              <a:rPr lang="en-US" sz="1900" dirty="0"/>
              <a:t> hay </a:t>
            </a:r>
            <a:r>
              <a:rPr lang="en-US" sz="1900" dirty="0" err="1"/>
              <a:t>đặc</a:t>
            </a:r>
            <a:r>
              <a:rPr lang="en-US" sz="1900" dirty="0"/>
              <a:t> </a:t>
            </a:r>
            <a:r>
              <a:rPr lang="en-US" sz="1900" dirty="0" err="1"/>
              <a:t>tính</a:t>
            </a:r>
            <a:r>
              <a:rPr lang="vi-VN" sz="1900" dirty="0"/>
              <a:t> phi chức năng của phần mềm. </a:t>
            </a:r>
            <a:r>
              <a:rPr lang="en-US" sz="1900" dirty="0" err="1"/>
              <a:t>Chúng</a:t>
            </a:r>
            <a:r>
              <a:rPr lang="en-US" sz="1900" dirty="0"/>
              <a:t> ta </a:t>
            </a:r>
            <a:r>
              <a:rPr lang="en-US" sz="1900" dirty="0" err="1"/>
              <a:t>sẽ</a:t>
            </a:r>
            <a:r>
              <a:rPr lang="en-US" sz="1900" dirty="0"/>
              <a:t> </a:t>
            </a:r>
            <a:r>
              <a:rPr lang="vi-VN" sz="1900" dirty="0"/>
              <a:t>xem xét </a:t>
            </a:r>
            <a:r>
              <a:rPr lang="en-US" sz="1900" dirty="0" err="1"/>
              <a:t>đến</a:t>
            </a:r>
            <a:r>
              <a:rPr lang="en-US" sz="1900" dirty="0"/>
              <a:t> </a:t>
            </a:r>
            <a:r>
              <a:rPr lang="en-US" sz="1900" dirty="0" err="1"/>
              <a:t>việc</a:t>
            </a:r>
            <a:r>
              <a:rPr lang="en-US" sz="1900" dirty="0"/>
              <a:t> </a:t>
            </a:r>
            <a:r>
              <a:rPr lang="en-US" sz="1900" dirty="0" err="1"/>
              <a:t>hoạt</a:t>
            </a:r>
            <a:r>
              <a:rPr lang="en-US" sz="1900" dirty="0"/>
              <a:t> </a:t>
            </a:r>
            <a:r>
              <a:rPr lang="en-US" sz="1900" dirty="0" err="1"/>
              <a:t>động</a:t>
            </a:r>
            <a:r>
              <a:rPr lang="en-US" sz="1900" dirty="0"/>
              <a:t> </a:t>
            </a:r>
            <a:r>
              <a:rPr lang="en-US" sz="1900" dirty="0" err="1"/>
              <a:t>tốt</a:t>
            </a:r>
            <a:r>
              <a:rPr lang="en-US" sz="1900" dirty="0"/>
              <a:t> </a:t>
            </a:r>
            <a:r>
              <a:rPr lang="en-US" sz="1900" dirty="0" err="1"/>
              <a:t>ra</a:t>
            </a:r>
            <a:r>
              <a:rPr lang="en-US" sz="1900" dirty="0"/>
              <a:t> </a:t>
            </a:r>
            <a:r>
              <a:rPr lang="en-US" sz="1900" dirty="0" err="1"/>
              <a:t>sao</a:t>
            </a:r>
            <a:r>
              <a:rPr lang="en-US" sz="1900" dirty="0"/>
              <a:t>, </a:t>
            </a:r>
            <a:r>
              <a:rPr lang="en-US" sz="1900" dirty="0" err="1"/>
              <a:t>nhanh</a:t>
            </a:r>
            <a:r>
              <a:rPr lang="en-US" sz="1900" dirty="0"/>
              <a:t> </a:t>
            </a:r>
            <a:r>
              <a:rPr lang="en-US" sz="1900" dirty="0" err="1"/>
              <a:t>thế</a:t>
            </a:r>
            <a:r>
              <a:rPr lang="en-US" sz="1900" dirty="0"/>
              <a:t> </a:t>
            </a:r>
            <a:r>
              <a:rPr lang="en-US" sz="1900" dirty="0" err="1"/>
              <a:t>nào</a:t>
            </a:r>
            <a:r>
              <a:rPr lang="en-US" sz="1900" dirty="0"/>
              <a:t>…? Chúng ta sẽ </a:t>
            </a:r>
            <a:r>
              <a:rPr lang="en-US" sz="1900" dirty="0" err="1"/>
              <a:t>kiểm</a:t>
            </a:r>
            <a:r>
              <a:rPr lang="en-US" sz="1900" dirty="0"/>
              <a:t> </a:t>
            </a:r>
            <a:r>
              <a:rPr lang="en-US" sz="1900" dirty="0" err="1"/>
              <a:t>tra</a:t>
            </a:r>
            <a:r>
              <a:rPr lang="en-US" sz="1900" dirty="0"/>
              <a:t> những </a:t>
            </a:r>
            <a:r>
              <a:rPr lang="en-US" sz="1900" dirty="0" err="1"/>
              <a:t>thứ</a:t>
            </a:r>
            <a:r>
              <a:rPr lang="en-US" sz="1900" dirty="0"/>
              <a:t> cần phải </a:t>
            </a:r>
            <a:r>
              <a:rPr lang="en-US" sz="1900" dirty="0" err="1"/>
              <a:t>đo</a:t>
            </a:r>
            <a:r>
              <a:rPr lang="en-US" sz="1900" dirty="0"/>
              <a:t> </a:t>
            </a:r>
            <a:r>
              <a:rPr lang="en-US" sz="1900" dirty="0" err="1"/>
              <a:t>lường</a:t>
            </a:r>
            <a:r>
              <a:rPr lang="en-US" sz="1900" dirty="0"/>
              <a:t> như thời </a:t>
            </a:r>
            <a:r>
              <a:rPr lang="en-US" sz="1900" dirty="0" err="1"/>
              <a:t>gian</a:t>
            </a:r>
            <a:r>
              <a:rPr lang="en-US" sz="1900" dirty="0"/>
              <a:t> </a:t>
            </a:r>
            <a:r>
              <a:rPr lang="en-US" sz="1900" dirty="0" err="1"/>
              <a:t>phản</a:t>
            </a:r>
            <a:r>
              <a:rPr lang="en-US" sz="1900" dirty="0"/>
              <a:t> hồi.</a:t>
            </a:r>
          </a:p>
          <a:p>
            <a:pPr lvl="1" algn="just">
              <a:buFont typeface="Wingdings" panose="05000000000000000000" pitchFamily="2" charset="2"/>
              <a:buChar char="v"/>
            </a:pPr>
            <a:r>
              <a:rPr lang="en-US" sz="1900" dirty="0"/>
              <a:t>Bao </a:t>
            </a:r>
            <a:r>
              <a:rPr lang="en-US" sz="1900" dirty="0" err="1"/>
              <a:t>gồm</a:t>
            </a:r>
            <a:r>
              <a:rPr lang="en-US" sz="1900" dirty="0"/>
              <a:t> :</a:t>
            </a:r>
          </a:p>
          <a:p>
            <a:pPr lvl="2">
              <a:buFont typeface="Wingdings" panose="05000000000000000000" pitchFamily="2" charset="2"/>
              <a:buChar char="ü"/>
            </a:pPr>
            <a:r>
              <a:rPr lang="en-US" sz="1900" dirty="0" err="1"/>
              <a:t>Hiệu</a:t>
            </a:r>
            <a:r>
              <a:rPr lang="en-US" sz="1900" dirty="0"/>
              <a:t> </a:t>
            </a:r>
            <a:r>
              <a:rPr lang="en-US" sz="1900" dirty="0" err="1"/>
              <a:t>suất</a:t>
            </a:r>
            <a:r>
              <a:rPr lang="en-US" sz="1900" dirty="0"/>
              <a:t> (performance testing).</a:t>
            </a:r>
          </a:p>
          <a:p>
            <a:pPr lvl="2">
              <a:buFont typeface="Wingdings" panose="05000000000000000000" pitchFamily="2" charset="2"/>
              <a:buChar char="ü"/>
            </a:pPr>
            <a:r>
              <a:rPr lang="en-US" sz="1900" dirty="0" err="1"/>
              <a:t>Khả</a:t>
            </a:r>
            <a:r>
              <a:rPr lang="en-US" sz="1900" dirty="0"/>
              <a:t> </a:t>
            </a:r>
            <a:r>
              <a:rPr lang="en-US" sz="1900" dirty="0" err="1"/>
              <a:t>năng</a:t>
            </a:r>
            <a:r>
              <a:rPr lang="en-US" sz="1900" dirty="0"/>
              <a:t> </a:t>
            </a:r>
            <a:r>
              <a:rPr lang="en-US" sz="1900" dirty="0" err="1"/>
              <a:t>chịu</a:t>
            </a:r>
            <a:r>
              <a:rPr lang="en-US" sz="1900" dirty="0"/>
              <a:t> </a:t>
            </a:r>
            <a:r>
              <a:rPr lang="en-US" sz="1900" dirty="0" err="1"/>
              <a:t>tải</a:t>
            </a:r>
            <a:r>
              <a:rPr lang="en-US" sz="1900" dirty="0"/>
              <a:t> (load testing), </a:t>
            </a:r>
            <a:r>
              <a:rPr lang="en-US" sz="1900" dirty="0" err="1"/>
              <a:t>khả</a:t>
            </a:r>
            <a:r>
              <a:rPr lang="en-US" sz="1900" dirty="0"/>
              <a:t> </a:t>
            </a:r>
            <a:r>
              <a:rPr lang="en-US" sz="1900" dirty="0" err="1"/>
              <a:t>năng</a:t>
            </a:r>
            <a:r>
              <a:rPr lang="en-US" sz="1900" dirty="0"/>
              <a:t> </a:t>
            </a:r>
            <a:r>
              <a:rPr lang="en-US" sz="1900" dirty="0" err="1"/>
              <a:t>ổn</a:t>
            </a:r>
            <a:r>
              <a:rPr lang="en-US" sz="1900" dirty="0"/>
              <a:t> </a:t>
            </a:r>
            <a:r>
              <a:rPr lang="en-US" sz="1900" dirty="0" err="1"/>
              <a:t>định</a:t>
            </a:r>
            <a:r>
              <a:rPr lang="en-US" sz="1900" dirty="0"/>
              <a:t> stress testing.</a:t>
            </a:r>
          </a:p>
          <a:p>
            <a:pPr lvl="2">
              <a:buFont typeface="Wingdings" panose="05000000000000000000" pitchFamily="2" charset="2"/>
              <a:buChar char="ü"/>
            </a:pPr>
            <a:r>
              <a:rPr lang="en-US" sz="1900" dirty="0" err="1"/>
              <a:t>Khả</a:t>
            </a:r>
            <a:r>
              <a:rPr lang="en-US" sz="1900" dirty="0"/>
              <a:t> </a:t>
            </a:r>
            <a:r>
              <a:rPr lang="en-US" sz="1900" dirty="0" err="1"/>
              <a:t>năng</a:t>
            </a:r>
            <a:r>
              <a:rPr lang="en-US" sz="1900" dirty="0"/>
              <a:t> </a:t>
            </a:r>
            <a:r>
              <a:rPr lang="en-US" sz="1900" dirty="0" err="1"/>
              <a:t>bảo</a:t>
            </a:r>
            <a:r>
              <a:rPr lang="en-US" sz="1900" dirty="0"/>
              <a:t> </a:t>
            </a:r>
            <a:r>
              <a:rPr lang="en-US" sz="1900" dirty="0" err="1"/>
              <a:t>trì</a:t>
            </a:r>
            <a:r>
              <a:rPr lang="en-US" sz="1900" dirty="0"/>
              <a:t> (maintainability testing). </a:t>
            </a:r>
          </a:p>
          <a:p>
            <a:pPr marL="64135" indent="0">
              <a:buNone/>
            </a:pPr>
            <a:endParaRPr lang="en-US" sz="1900" dirty="0"/>
          </a:p>
        </p:txBody>
      </p:sp>
    </p:spTree>
    <p:extLst>
      <p:ext uri="{BB962C8B-B14F-4D97-AF65-F5344CB8AC3E}">
        <p14:creationId xmlns:p14="http://schemas.microsoft.com/office/powerpoint/2010/main" val="2289520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724" y="76200"/>
            <a:ext cx="6696076" cy="675926"/>
          </a:xfrm>
        </p:spPr>
        <p:txBody>
          <a:bodyPr/>
          <a:lstStyle/>
          <a:p>
            <a:r>
              <a:rPr lang="en-US" dirty="0"/>
              <a:t>V. Các mức </a:t>
            </a:r>
            <a:r>
              <a:rPr lang="en-US" dirty="0" err="1"/>
              <a:t>độ</a:t>
            </a:r>
            <a:r>
              <a:rPr lang="en-US" dirty="0"/>
              <a:t> test (Test levels)</a:t>
            </a:r>
          </a:p>
        </p:txBody>
      </p:sp>
      <p:sp>
        <p:nvSpPr>
          <p:cNvPr id="3" name="Content Placeholder 2"/>
          <p:cNvSpPr>
            <a:spLocks noGrp="1"/>
          </p:cNvSpPr>
          <p:nvPr>
            <p:ph sz="half" idx="1"/>
          </p:nvPr>
        </p:nvSpPr>
        <p:spPr>
          <a:xfrm>
            <a:off x="381000" y="752126"/>
            <a:ext cx="8305800" cy="2832719"/>
          </a:xfrm>
        </p:spPr>
        <p:txBody>
          <a:bodyPr>
            <a:normAutofit/>
          </a:bodyPr>
          <a:lstStyle/>
          <a:p>
            <a:pPr marL="64135" indent="0" algn="just">
              <a:buNone/>
            </a:pPr>
            <a:r>
              <a:rPr lang="vi-VN" sz="1800" dirty="0"/>
              <a:t>Dựa trên các công đoạn phát triển phần mềm mà người ta thường chia thành các </a:t>
            </a:r>
            <a:r>
              <a:rPr lang="en-US" sz="1800" dirty="0"/>
              <a:t>m</a:t>
            </a:r>
            <a:r>
              <a:rPr lang="vi-VN" sz="1800" dirty="0"/>
              <a:t>ức độ </a:t>
            </a:r>
            <a:r>
              <a:rPr lang="en-US" sz="1800" dirty="0"/>
              <a:t>test. </a:t>
            </a:r>
            <a:r>
              <a:rPr lang="en-US" sz="1800" dirty="0" err="1"/>
              <a:t>Mỗi</a:t>
            </a:r>
            <a:r>
              <a:rPr lang="en-US" sz="1800" dirty="0"/>
              <a:t> </a:t>
            </a:r>
            <a:r>
              <a:rPr lang="en-US" sz="1800" dirty="0" err="1"/>
              <a:t>mức</a:t>
            </a:r>
            <a:r>
              <a:rPr lang="en-US" sz="1800" dirty="0"/>
              <a:t> </a:t>
            </a:r>
            <a:r>
              <a:rPr lang="en-US" sz="1800" dirty="0" err="1"/>
              <a:t>độ</a:t>
            </a:r>
            <a:r>
              <a:rPr lang="en-US" sz="1800" dirty="0"/>
              <a:t> test </a:t>
            </a:r>
            <a:r>
              <a:rPr lang="en-US" sz="1800" dirty="0" err="1"/>
              <a:t>có</a:t>
            </a:r>
            <a:r>
              <a:rPr lang="en-US" sz="1800" dirty="0"/>
              <a:t> </a:t>
            </a:r>
            <a:r>
              <a:rPr lang="en-US" sz="1800" dirty="0" err="1"/>
              <a:t>một</a:t>
            </a:r>
            <a:r>
              <a:rPr lang="en-US" sz="1800" dirty="0"/>
              <a:t> </a:t>
            </a:r>
            <a:r>
              <a:rPr lang="en-US" sz="1800" dirty="0" err="1"/>
              <a:t>mục</a:t>
            </a:r>
            <a:r>
              <a:rPr lang="en-US" sz="1800" dirty="0"/>
              <a:t> </a:t>
            </a:r>
            <a:r>
              <a:rPr lang="en-US" sz="1800" dirty="0" err="1"/>
              <a:t>đích</a:t>
            </a:r>
            <a:r>
              <a:rPr lang="en-US" sz="1800" dirty="0"/>
              <a:t> </a:t>
            </a:r>
            <a:r>
              <a:rPr lang="en-US" sz="1800" dirty="0" err="1"/>
              <a:t>cụ</a:t>
            </a:r>
            <a:r>
              <a:rPr lang="en-US" sz="1800" dirty="0"/>
              <a:t> </a:t>
            </a:r>
            <a:r>
              <a:rPr lang="en-US" sz="1800" dirty="0" err="1"/>
              <a:t>thể</a:t>
            </a:r>
            <a:r>
              <a:rPr lang="en-US" sz="1800" dirty="0"/>
              <a:t>. </a:t>
            </a:r>
            <a:r>
              <a:rPr lang="en-US" sz="1800" dirty="0" err="1"/>
              <a:t>Các</a:t>
            </a:r>
            <a:r>
              <a:rPr lang="en-US" sz="1800" dirty="0"/>
              <a:t> </a:t>
            </a:r>
            <a:r>
              <a:rPr lang="en-US" sz="1800" dirty="0" err="1"/>
              <a:t>mức</a:t>
            </a:r>
            <a:r>
              <a:rPr lang="en-US" sz="1800" dirty="0"/>
              <a:t> </a:t>
            </a:r>
            <a:r>
              <a:rPr lang="en-US" sz="1800" dirty="0" err="1"/>
              <a:t>độ</a:t>
            </a:r>
            <a:r>
              <a:rPr lang="en-US" sz="1800" dirty="0"/>
              <a:t> test </a:t>
            </a:r>
            <a:r>
              <a:rPr lang="en-US" sz="1800" dirty="0" err="1"/>
              <a:t>như</a:t>
            </a:r>
            <a:r>
              <a:rPr lang="en-US" sz="1800" dirty="0"/>
              <a:t> </a:t>
            </a:r>
            <a:r>
              <a:rPr lang="en-US" sz="1800" dirty="0" err="1"/>
              <a:t>sau</a:t>
            </a:r>
            <a:r>
              <a:rPr lang="en-US" sz="1800" dirty="0"/>
              <a:t>: </a:t>
            </a:r>
            <a:endParaRPr lang="en-US" sz="1900" dirty="0"/>
          </a:p>
          <a:p>
            <a:pPr marL="521335" indent="-457200" algn="just">
              <a:buFont typeface="+mj-lt"/>
              <a:buAutoNum type="arabicPeriod"/>
            </a:pPr>
            <a:r>
              <a:rPr lang="vi-VN" sz="1900" dirty="0"/>
              <a:t>Test </a:t>
            </a:r>
            <a:r>
              <a:rPr lang="en-US" sz="1900" dirty="0" err="1">
                <a:solidFill>
                  <a:schemeClr val="bg1"/>
                </a:solidFill>
              </a:rPr>
              <a:t>đơn</a:t>
            </a:r>
            <a:r>
              <a:rPr lang="en-US" sz="1900" dirty="0">
                <a:solidFill>
                  <a:schemeClr val="bg1"/>
                </a:solidFill>
              </a:rPr>
              <a:t> </a:t>
            </a:r>
            <a:r>
              <a:rPr lang="en-US" sz="1900" dirty="0" err="1">
                <a:solidFill>
                  <a:schemeClr val="bg1"/>
                </a:solidFill>
              </a:rPr>
              <a:t>vị</a:t>
            </a:r>
            <a:r>
              <a:rPr lang="en-US" sz="1900" dirty="0"/>
              <a:t> </a:t>
            </a:r>
            <a:r>
              <a:rPr lang="vi-VN" sz="1900" dirty="0"/>
              <a:t>(</a:t>
            </a:r>
            <a:r>
              <a:rPr lang="en-US" sz="1900" dirty="0"/>
              <a:t>Unit Testing</a:t>
            </a:r>
            <a:r>
              <a:rPr lang="vi-VN" sz="1900" dirty="0"/>
              <a:t>)</a:t>
            </a:r>
            <a:endParaRPr lang="en-US" sz="1900" dirty="0"/>
          </a:p>
          <a:p>
            <a:pPr marL="521335" indent="-457200">
              <a:buFont typeface="+mj-lt"/>
              <a:buAutoNum type="arabicPeriod"/>
            </a:pPr>
            <a:r>
              <a:rPr lang="en-US" sz="1900" dirty="0"/>
              <a:t>Test tích hợp (Integration Testing)</a:t>
            </a:r>
          </a:p>
          <a:p>
            <a:pPr marL="521335" indent="-457200">
              <a:buFont typeface="+mj-lt"/>
              <a:buAutoNum type="arabicPeriod"/>
            </a:pPr>
            <a:r>
              <a:rPr lang="en-US" sz="1900" dirty="0"/>
              <a:t>Test hệ thống (System Testing)</a:t>
            </a:r>
          </a:p>
          <a:p>
            <a:pPr marL="521335" indent="-457200">
              <a:buFont typeface="+mj-lt"/>
              <a:buAutoNum type="arabicPeriod"/>
            </a:pPr>
            <a:r>
              <a:rPr lang="en-US" sz="1900" dirty="0"/>
              <a:t>Test chấp nhận sản phẩm (Acceptance Testing)</a:t>
            </a:r>
          </a:p>
        </p:txBody>
      </p:sp>
      <p:pic>
        <p:nvPicPr>
          <p:cNvPr id="4" name="Content Placeholder 7"/>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19200" y="3733800"/>
            <a:ext cx="5781181" cy="2859263"/>
          </a:xfrm>
        </p:spPr>
      </p:pic>
    </p:spTree>
    <p:extLst>
      <p:ext uri="{BB962C8B-B14F-4D97-AF65-F5344CB8AC3E}">
        <p14:creationId xmlns:p14="http://schemas.microsoft.com/office/powerpoint/2010/main" val="2717657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8001000" cy="701405"/>
          </a:xfrm>
        </p:spPr>
        <p:txBody>
          <a:bodyPr/>
          <a:lstStyle/>
          <a:p>
            <a:r>
              <a:rPr lang="en-US" dirty="0"/>
              <a:t>V. Các mức </a:t>
            </a:r>
            <a:r>
              <a:rPr lang="en-US" dirty="0" err="1"/>
              <a:t>độ</a:t>
            </a:r>
            <a:r>
              <a:rPr lang="en-US" dirty="0"/>
              <a:t> test (Test levels)</a:t>
            </a:r>
          </a:p>
        </p:txBody>
      </p:sp>
      <p:sp>
        <p:nvSpPr>
          <p:cNvPr id="3" name="Content Placeholder 2"/>
          <p:cNvSpPr>
            <a:spLocks noGrp="1"/>
          </p:cNvSpPr>
          <p:nvPr>
            <p:ph idx="1"/>
          </p:nvPr>
        </p:nvSpPr>
        <p:spPr>
          <a:xfrm>
            <a:off x="76200" y="1099751"/>
            <a:ext cx="5334000" cy="5257800"/>
          </a:xfrm>
        </p:spPr>
        <p:txBody>
          <a:bodyPr>
            <a:normAutofit/>
          </a:bodyPr>
          <a:lstStyle/>
          <a:p>
            <a:pPr marL="64135" indent="0">
              <a:buNone/>
            </a:pPr>
            <a:r>
              <a:rPr lang="en-US" altLang="en-GB" sz="1900" b="1" dirty="0"/>
              <a:t>1. </a:t>
            </a:r>
            <a:r>
              <a:rPr lang="en-GB" sz="1900" b="1" dirty="0"/>
              <a:t>Test </a:t>
            </a:r>
            <a:r>
              <a:rPr lang="en-US" sz="1900" b="1" dirty="0">
                <a:solidFill>
                  <a:schemeClr val="bg1"/>
                </a:solidFill>
              </a:rPr>
              <a:t>đơn vị</a:t>
            </a:r>
            <a:r>
              <a:rPr lang="en-US" sz="1900" dirty="0"/>
              <a:t> </a:t>
            </a:r>
            <a:r>
              <a:rPr lang="vi-VN" sz="1900" dirty="0"/>
              <a:t>(</a:t>
            </a:r>
            <a:r>
              <a:rPr lang="en-US" sz="1900" dirty="0"/>
              <a:t>Unit Testing</a:t>
            </a:r>
            <a:r>
              <a:rPr lang="vi-VN" sz="1900" dirty="0"/>
              <a:t>)</a:t>
            </a:r>
            <a:r>
              <a:rPr lang="en-GB" sz="1900" b="1" dirty="0"/>
              <a:t>:</a:t>
            </a:r>
            <a:r>
              <a:rPr lang="en-GB" sz="1900" dirty="0"/>
              <a:t> </a:t>
            </a:r>
          </a:p>
          <a:p>
            <a:pPr marL="724535" lvl="1">
              <a:buFont typeface="Wingdings" panose="05000000000000000000" pitchFamily="2" charset="2"/>
              <a:buChar char="ü"/>
            </a:pPr>
            <a:r>
              <a:rPr lang="en-GB" sz="1900" dirty="0"/>
              <a:t>Là </a:t>
            </a:r>
            <a:r>
              <a:rPr lang="en-GB" sz="1900" dirty="0" err="1"/>
              <a:t>quá</a:t>
            </a:r>
            <a:r>
              <a:rPr lang="en-GB" sz="1900" dirty="0"/>
              <a:t> </a:t>
            </a:r>
            <a:r>
              <a:rPr lang="en-GB" sz="1900" dirty="0" err="1"/>
              <a:t>trình</a:t>
            </a:r>
            <a:r>
              <a:rPr lang="en-GB" sz="1900" dirty="0"/>
              <a:t> </a:t>
            </a:r>
            <a:r>
              <a:rPr lang="en-GB" sz="1900" dirty="0" err="1"/>
              <a:t>xác</a:t>
            </a:r>
            <a:r>
              <a:rPr lang="en-GB" sz="1900" dirty="0"/>
              <a:t> </a:t>
            </a:r>
            <a:r>
              <a:rPr lang="en-GB" sz="1900" dirty="0" err="1"/>
              <a:t>nhận</a:t>
            </a:r>
            <a:r>
              <a:rPr lang="en-GB" sz="1900" dirty="0"/>
              <a:t> </a:t>
            </a:r>
            <a:r>
              <a:rPr lang="en-GB" sz="1900" dirty="0" err="1"/>
              <a:t>sự</a:t>
            </a:r>
            <a:r>
              <a:rPr lang="en-GB" sz="1900" dirty="0"/>
              <a:t> </a:t>
            </a:r>
            <a:r>
              <a:rPr lang="en-GB" sz="1900" dirty="0" err="1"/>
              <a:t>hoạt</a:t>
            </a:r>
            <a:r>
              <a:rPr lang="en-GB" sz="1900" dirty="0"/>
              <a:t> </a:t>
            </a:r>
            <a:r>
              <a:rPr lang="en-GB" sz="1900" dirty="0" err="1"/>
              <a:t>động</a:t>
            </a:r>
            <a:r>
              <a:rPr lang="en-GB" sz="1900" dirty="0"/>
              <a:t> </a:t>
            </a:r>
            <a:r>
              <a:rPr lang="en-GB" sz="1900" dirty="0" err="1"/>
              <a:t>đúng</a:t>
            </a:r>
            <a:r>
              <a:rPr lang="en-GB" sz="1900" dirty="0"/>
              <a:t> </a:t>
            </a:r>
            <a:r>
              <a:rPr lang="en-GB" sz="1900" dirty="0" err="1"/>
              <a:t>đắn</a:t>
            </a:r>
            <a:r>
              <a:rPr lang="en-GB" sz="1900" dirty="0"/>
              <a:t> </a:t>
            </a:r>
            <a:r>
              <a:rPr lang="en-GB" sz="1900" dirty="0" err="1"/>
              <a:t>của</a:t>
            </a:r>
            <a:r>
              <a:rPr lang="en-GB" sz="1900" dirty="0"/>
              <a:t> </a:t>
            </a:r>
            <a:r>
              <a:rPr lang="en-GB" sz="1900" dirty="0" err="1"/>
              <a:t>những</a:t>
            </a:r>
            <a:r>
              <a:rPr lang="en-GB" sz="1900" dirty="0"/>
              <a:t> unit </a:t>
            </a:r>
            <a:r>
              <a:rPr lang="en-GB" sz="1900" dirty="0" err="1"/>
              <a:t>độc</a:t>
            </a:r>
            <a:r>
              <a:rPr lang="en-GB" sz="1900" dirty="0"/>
              <a:t> </a:t>
            </a:r>
            <a:r>
              <a:rPr lang="en-GB" sz="1900" dirty="0" err="1"/>
              <a:t>lập</a:t>
            </a:r>
            <a:r>
              <a:rPr lang="en-US" altLang="en-GB" sz="1900" dirty="0" err="1"/>
              <a:t>.</a:t>
            </a:r>
            <a:endParaRPr lang="en-GB" sz="1900" dirty="0"/>
          </a:p>
          <a:p>
            <a:pPr marL="724535" lvl="1">
              <a:buFont typeface="Wingdings" panose="05000000000000000000" pitchFamily="2" charset="2"/>
              <a:buChar char="ü"/>
            </a:pPr>
            <a:r>
              <a:rPr lang="vi-VN" sz="1900" dirty="0"/>
              <a:t>Mục đích là để kiểm tra từng phần của phần mềm có </a:t>
            </a:r>
            <a:r>
              <a:rPr lang="en-US" sz="1900" dirty="0" err="1"/>
              <a:t>hoạt</a:t>
            </a:r>
            <a:r>
              <a:rPr lang="en-US" sz="1900" dirty="0"/>
              <a:t> </a:t>
            </a:r>
            <a:r>
              <a:rPr lang="en-US" sz="1900" dirty="0" err="1"/>
              <a:t>động</a:t>
            </a:r>
            <a:r>
              <a:rPr lang="en-US" sz="1900" dirty="0"/>
              <a:t> </a:t>
            </a:r>
            <a:r>
              <a:rPr lang="en-US" sz="1900" dirty="0" err="1"/>
              <a:t>đúng</a:t>
            </a:r>
            <a:r>
              <a:rPr lang="en-US" sz="1900" dirty="0"/>
              <a:t> </a:t>
            </a:r>
            <a:r>
              <a:rPr lang="vi-VN" sz="1900" dirty="0"/>
              <a:t>chức năng hay không. </a:t>
            </a:r>
            <a:endParaRPr lang="en-US" sz="1900" dirty="0"/>
          </a:p>
          <a:p>
            <a:pPr marL="724535" lvl="1">
              <a:buFont typeface="Wingdings" panose="05000000000000000000" pitchFamily="2" charset="2"/>
              <a:buChar char="ü"/>
            </a:pPr>
            <a:r>
              <a:rPr lang="en-GB" sz="1900" dirty="0" err="1"/>
              <a:t>Một</a:t>
            </a:r>
            <a:r>
              <a:rPr lang="en-GB" sz="1900" b="1" dirty="0"/>
              <a:t> unit</a:t>
            </a:r>
            <a:r>
              <a:rPr lang="en-GB" sz="1900" dirty="0"/>
              <a:t> </a:t>
            </a:r>
            <a:r>
              <a:rPr lang="en-GB" sz="1900" dirty="0" err="1"/>
              <a:t>là</a:t>
            </a:r>
            <a:r>
              <a:rPr lang="en-GB" sz="1900" dirty="0"/>
              <a:t> </a:t>
            </a:r>
            <a:r>
              <a:rPr lang="en-GB" sz="1900" dirty="0" err="1"/>
              <a:t>một</a:t>
            </a:r>
            <a:r>
              <a:rPr lang="en-GB" sz="1900" dirty="0"/>
              <a:t> </a:t>
            </a:r>
            <a:r>
              <a:rPr lang="en-GB" sz="1900" dirty="0" err="1"/>
              <a:t>thành</a:t>
            </a:r>
            <a:r>
              <a:rPr lang="en-GB" sz="1900" dirty="0"/>
              <a:t> </a:t>
            </a:r>
            <a:r>
              <a:rPr lang="en-GB" sz="1900" dirty="0" err="1"/>
              <a:t>phần</a:t>
            </a:r>
            <a:r>
              <a:rPr lang="en-GB" sz="1900" dirty="0"/>
              <a:t> </a:t>
            </a:r>
            <a:r>
              <a:rPr lang="en-GB" sz="1900" dirty="0" err="1"/>
              <a:t>độc</a:t>
            </a:r>
            <a:r>
              <a:rPr lang="en-GB" sz="1900" dirty="0"/>
              <a:t> </a:t>
            </a:r>
            <a:r>
              <a:rPr lang="en-GB" sz="1900" dirty="0" err="1"/>
              <a:t>lập</a:t>
            </a:r>
            <a:r>
              <a:rPr lang="en-GB" sz="1900" dirty="0"/>
              <a:t> </a:t>
            </a:r>
            <a:r>
              <a:rPr lang="en-US" sz="1900" dirty="0" err="1"/>
              <a:t>như</a:t>
            </a:r>
            <a:r>
              <a:rPr lang="en-US" sz="1900" dirty="0"/>
              <a:t> </a:t>
            </a:r>
            <a:r>
              <a:rPr lang="en-US" sz="1900" dirty="0" err="1"/>
              <a:t>các</a:t>
            </a:r>
            <a:r>
              <a:rPr lang="en-US" sz="1900" dirty="0"/>
              <a:t> </a:t>
            </a:r>
            <a:r>
              <a:rPr lang="en-US" sz="1900" dirty="0" err="1"/>
              <a:t>phương</a:t>
            </a:r>
            <a:r>
              <a:rPr lang="en-US" sz="1900" dirty="0"/>
              <a:t> </a:t>
            </a:r>
            <a:r>
              <a:rPr lang="en-US" sz="1900" dirty="0" err="1"/>
              <a:t>thức</a:t>
            </a:r>
            <a:r>
              <a:rPr lang="en-US" sz="1900" dirty="0"/>
              <a:t> (Method), </a:t>
            </a:r>
            <a:r>
              <a:rPr lang="en-US" sz="1900" dirty="0" err="1"/>
              <a:t>lớp</a:t>
            </a:r>
            <a:r>
              <a:rPr lang="en-US" sz="1900" dirty="0"/>
              <a:t> (Class).</a:t>
            </a:r>
          </a:p>
          <a:p>
            <a:pPr marL="724535" lvl="1">
              <a:buFont typeface="Wingdings" panose="05000000000000000000" pitchFamily="2" charset="2"/>
              <a:buChar char="ü"/>
            </a:pPr>
            <a:r>
              <a:rPr lang="en-US" sz="1900" dirty="0" err="1">
                <a:solidFill>
                  <a:schemeClr val="bg1"/>
                </a:solidFill>
              </a:rPr>
              <a:t>Tại</a:t>
            </a:r>
            <a:r>
              <a:rPr lang="en-US" sz="1900" dirty="0">
                <a:solidFill>
                  <a:schemeClr val="bg1"/>
                </a:solidFill>
              </a:rPr>
              <a:t> </a:t>
            </a:r>
            <a:r>
              <a:rPr lang="en-US" sz="1900" dirty="0" err="1">
                <a:solidFill>
                  <a:schemeClr val="bg1"/>
                </a:solidFill>
              </a:rPr>
              <a:t>Luvina</a:t>
            </a:r>
            <a:r>
              <a:rPr lang="en-US" sz="1900" dirty="0">
                <a:solidFill>
                  <a:schemeClr val="bg1"/>
                </a:solidFill>
              </a:rPr>
              <a:t> </a:t>
            </a:r>
            <a:r>
              <a:rPr lang="en-US" sz="1900" dirty="0" err="1">
                <a:solidFill>
                  <a:schemeClr val="bg1"/>
                </a:solidFill>
              </a:rPr>
              <a:t>với</a:t>
            </a:r>
            <a:r>
              <a:rPr lang="en-US" sz="1900" dirty="0">
                <a:solidFill>
                  <a:schemeClr val="bg1"/>
                </a:solidFill>
              </a:rPr>
              <a:t> Unit test </a:t>
            </a:r>
            <a:r>
              <a:rPr lang="en-US" sz="1900" dirty="0" err="1">
                <a:solidFill>
                  <a:schemeClr val="bg1"/>
                </a:solidFill>
              </a:rPr>
              <a:t>có</a:t>
            </a:r>
            <a:r>
              <a:rPr lang="en-US" sz="1900" dirty="0">
                <a:solidFill>
                  <a:schemeClr val="bg1"/>
                </a:solidFill>
              </a:rPr>
              <a:t> </a:t>
            </a:r>
            <a:r>
              <a:rPr lang="en-US" sz="1900" dirty="0" err="1">
                <a:solidFill>
                  <a:schemeClr val="bg1"/>
                </a:solidFill>
              </a:rPr>
              <a:t>thể</a:t>
            </a:r>
            <a:r>
              <a:rPr lang="en-US" sz="1900" dirty="0">
                <a:solidFill>
                  <a:schemeClr val="bg1"/>
                </a:solidFill>
              </a:rPr>
              <a:t> </a:t>
            </a:r>
            <a:r>
              <a:rPr lang="en-US" sz="1900" dirty="0" err="1">
                <a:solidFill>
                  <a:schemeClr val="bg1"/>
                </a:solidFill>
              </a:rPr>
              <a:t>hiểu</a:t>
            </a:r>
            <a:r>
              <a:rPr lang="en-US" sz="1900" dirty="0">
                <a:solidFill>
                  <a:schemeClr val="bg1"/>
                </a:solidFill>
              </a:rPr>
              <a:t> </a:t>
            </a:r>
            <a:r>
              <a:rPr lang="en-US" sz="1900" dirty="0" err="1">
                <a:solidFill>
                  <a:schemeClr val="bg1"/>
                </a:solidFill>
              </a:rPr>
              <a:t>theo</a:t>
            </a:r>
            <a:r>
              <a:rPr lang="en-US" sz="1900" dirty="0">
                <a:solidFill>
                  <a:schemeClr val="bg1"/>
                </a:solidFill>
              </a:rPr>
              <a:t> 2 </a:t>
            </a:r>
            <a:r>
              <a:rPr lang="en-US" sz="1900" dirty="0" err="1">
                <a:solidFill>
                  <a:schemeClr val="bg1"/>
                </a:solidFill>
              </a:rPr>
              <a:t>nghĩa</a:t>
            </a:r>
            <a:r>
              <a:rPr lang="en-US" sz="1900" dirty="0">
                <a:solidFill>
                  <a:schemeClr val="bg1"/>
                </a:solidFill>
              </a:rPr>
              <a:t>:</a:t>
            </a:r>
          </a:p>
          <a:p>
            <a:pPr marL="1122045" lvl="2" indent="-342900"/>
            <a:r>
              <a:rPr lang="en-US" sz="1900" dirty="0" err="1">
                <a:solidFill>
                  <a:schemeClr val="bg1"/>
                </a:solidFill>
              </a:rPr>
              <a:t>Thực</a:t>
            </a:r>
            <a:r>
              <a:rPr lang="en-US" sz="1900" dirty="0">
                <a:solidFill>
                  <a:schemeClr val="bg1"/>
                </a:solidFill>
              </a:rPr>
              <a:t> </a:t>
            </a:r>
            <a:r>
              <a:rPr lang="en-US" sz="1900" dirty="0" err="1">
                <a:solidFill>
                  <a:schemeClr val="bg1"/>
                </a:solidFill>
              </a:rPr>
              <a:t>hiển</a:t>
            </a:r>
            <a:r>
              <a:rPr lang="en-US" sz="1900" dirty="0">
                <a:solidFill>
                  <a:schemeClr val="bg1"/>
                </a:solidFill>
              </a:rPr>
              <a:t> </a:t>
            </a:r>
            <a:r>
              <a:rPr lang="en-US" sz="1900" dirty="0" err="1">
                <a:solidFill>
                  <a:schemeClr val="bg1"/>
                </a:solidFill>
              </a:rPr>
              <a:t>bởi</a:t>
            </a:r>
            <a:r>
              <a:rPr lang="en-US" sz="1900" dirty="0">
                <a:solidFill>
                  <a:schemeClr val="bg1"/>
                </a:solidFill>
              </a:rPr>
              <a:t> coder </a:t>
            </a:r>
            <a:r>
              <a:rPr lang="en-US" sz="1900" dirty="0" err="1">
                <a:solidFill>
                  <a:schemeClr val="bg1"/>
                </a:solidFill>
              </a:rPr>
              <a:t>và</a:t>
            </a:r>
            <a:r>
              <a:rPr lang="en-US" sz="1900" dirty="0">
                <a:solidFill>
                  <a:schemeClr val="bg1"/>
                </a:solidFill>
              </a:rPr>
              <a:t> test </a:t>
            </a:r>
            <a:r>
              <a:rPr lang="en-US" sz="1900" dirty="0" err="1">
                <a:solidFill>
                  <a:schemeClr val="bg1"/>
                </a:solidFill>
              </a:rPr>
              <a:t>cho</a:t>
            </a:r>
            <a:r>
              <a:rPr lang="en-US" sz="1900" dirty="0">
                <a:solidFill>
                  <a:schemeClr val="bg1"/>
                </a:solidFill>
              </a:rPr>
              <a:t> </a:t>
            </a:r>
            <a:r>
              <a:rPr lang="en-US" sz="1900" dirty="0" err="1">
                <a:solidFill>
                  <a:schemeClr val="bg1"/>
                </a:solidFill>
              </a:rPr>
              <a:t>các</a:t>
            </a:r>
            <a:r>
              <a:rPr lang="en-US" sz="1900" dirty="0">
                <a:solidFill>
                  <a:schemeClr val="bg1"/>
                </a:solidFill>
              </a:rPr>
              <a:t> method, class …</a:t>
            </a:r>
          </a:p>
          <a:p>
            <a:pPr marL="1122045" lvl="2" indent="-342900"/>
            <a:r>
              <a:rPr lang="en-US" sz="1900" dirty="0" err="1">
                <a:solidFill>
                  <a:schemeClr val="bg1"/>
                </a:solidFill>
              </a:rPr>
              <a:t>Thực</a:t>
            </a:r>
            <a:r>
              <a:rPr lang="en-US" sz="1900" dirty="0">
                <a:solidFill>
                  <a:schemeClr val="bg1"/>
                </a:solidFill>
              </a:rPr>
              <a:t> hiện </a:t>
            </a:r>
            <a:r>
              <a:rPr lang="en-US" sz="1900" dirty="0" err="1">
                <a:solidFill>
                  <a:schemeClr val="bg1"/>
                </a:solidFill>
              </a:rPr>
              <a:t>bởi</a:t>
            </a:r>
            <a:r>
              <a:rPr lang="en-US" sz="1900" dirty="0">
                <a:solidFill>
                  <a:schemeClr val="bg1"/>
                </a:solidFill>
              </a:rPr>
              <a:t> tester và test </a:t>
            </a:r>
            <a:r>
              <a:rPr lang="en-US" sz="1900" dirty="0" err="1">
                <a:solidFill>
                  <a:schemeClr val="bg1"/>
                </a:solidFill>
              </a:rPr>
              <a:t>theo</a:t>
            </a:r>
            <a:r>
              <a:rPr lang="en-US" sz="1900" dirty="0">
                <a:solidFill>
                  <a:schemeClr val="bg1"/>
                </a:solidFill>
              </a:rPr>
              <a:t> </a:t>
            </a:r>
            <a:r>
              <a:rPr lang="en-US" sz="1900" dirty="0" err="1">
                <a:solidFill>
                  <a:schemeClr val="bg1"/>
                </a:solidFill>
              </a:rPr>
              <a:t>thiết</a:t>
            </a:r>
            <a:r>
              <a:rPr lang="en-US" sz="1900" dirty="0">
                <a:solidFill>
                  <a:schemeClr val="bg1"/>
                </a:solidFill>
              </a:rPr>
              <a:t> </a:t>
            </a:r>
            <a:r>
              <a:rPr lang="en-US" sz="1900" dirty="0" err="1">
                <a:solidFill>
                  <a:schemeClr val="bg1"/>
                </a:solidFill>
              </a:rPr>
              <a:t>kế</a:t>
            </a:r>
            <a:r>
              <a:rPr lang="en-US" sz="1900" dirty="0">
                <a:solidFill>
                  <a:schemeClr val="bg1"/>
                </a:solidFill>
              </a:rPr>
              <a:t> của </a:t>
            </a:r>
            <a:r>
              <a:rPr lang="en-US" sz="1900" dirty="0" err="1">
                <a:solidFill>
                  <a:schemeClr val="bg1"/>
                </a:solidFill>
              </a:rPr>
              <a:t>màn</a:t>
            </a:r>
            <a:r>
              <a:rPr lang="en-US" sz="1900" dirty="0">
                <a:solidFill>
                  <a:schemeClr val="bg1"/>
                </a:solidFill>
              </a:rPr>
              <a:t> </a:t>
            </a:r>
            <a:r>
              <a:rPr lang="en-US" sz="1900" dirty="0" err="1">
                <a:solidFill>
                  <a:schemeClr val="bg1"/>
                </a:solidFill>
              </a:rPr>
              <a:t>hình</a:t>
            </a:r>
            <a:r>
              <a:rPr lang="en-US" sz="1900" dirty="0">
                <a:solidFill>
                  <a:schemeClr val="bg1"/>
                </a:solidFill>
              </a:rPr>
              <a:t>.</a:t>
            </a:r>
          </a:p>
        </p:txBody>
      </p:sp>
      <p:pic>
        <p:nvPicPr>
          <p:cNvPr id="7" name="Picture 6"/>
          <p:cNvPicPr>
            <a:picLocks noChangeAspect="1"/>
          </p:cNvPicPr>
          <p:nvPr/>
        </p:nvPicPr>
        <p:blipFill>
          <a:blip r:embed="rId2"/>
          <a:stretch>
            <a:fillRect/>
          </a:stretch>
        </p:blipFill>
        <p:spPr>
          <a:xfrm>
            <a:off x="5181600" y="1524000"/>
            <a:ext cx="3504762" cy="3952381"/>
          </a:xfrm>
          <a:prstGeom prst="rect">
            <a:avLst/>
          </a:prstGeom>
        </p:spPr>
      </p:pic>
    </p:spTree>
    <p:extLst>
      <p:ext uri="{BB962C8B-B14F-4D97-AF65-F5344CB8AC3E}">
        <p14:creationId xmlns:p14="http://schemas.microsoft.com/office/powerpoint/2010/main" val="2536108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3938" y="764142"/>
            <a:ext cx="4048125" cy="3015560"/>
          </a:xfrm>
          <a:prstGeom prst="rect">
            <a:avLst/>
          </a:prstGeom>
        </p:spPr>
      </p:pic>
      <p:sp>
        <p:nvSpPr>
          <p:cNvPr id="2" name="Title 1"/>
          <p:cNvSpPr>
            <a:spLocks noGrp="1"/>
          </p:cNvSpPr>
          <p:nvPr>
            <p:ph type="title"/>
          </p:nvPr>
        </p:nvSpPr>
        <p:spPr>
          <a:xfrm>
            <a:off x="381000" y="152400"/>
            <a:ext cx="8001000" cy="701405"/>
          </a:xfrm>
        </p:spPr>
        <p:txBody>
          <a:bodyPr/>
          <a:lstStyle/>
          <a:p>
            <a:r>
              <a:rPr lang="en-US" dirty="0"/>
              <a:t>V. Các mức </a:t>
            </a:r>
            <a:r>
              <a:rPr lang="en-US" dirty="0" err="1"/>
              <a:t>độ</a:t>
            </a:r>
            <a:r>
              <a:rPr lang="en-US" dirty="0"/>
              <a:t> test (Test levels)</a:t>
            </a:r>
          </a:p>
        </p:txBody>
      </p:sp>
      <p:sp>
        <p:nvSpPr>
          <p:cNvPr id="3" name="Content Placeholder 2"/>
          <p:cNvSpPr>
            <a:spLocks noGrp="1"/>
          </p:cNvSpPr>
          <p:nvPr>
            <p:ph idx="1"/>
          </p:nvPr>
        </p:nvSpPr>
        <p:spPr>
          <a:xfrm>
            <a:off x="185736" y="694038"/>
            <a:ext cx="5072063" cy="6019800"/>
          </a:xfrm>
        </p:spPr>
        <p:txBody>
          <a:bodyPr>
            <a:noAutofit/>
          </a:bodyPr>
          <a:lstStyle/>
          <a:p>
            <a:pPr marL="64135" indent="0" algn="just">
              <a:buNone/>
            </a:pPr>
            <a:r>
              <a:rPr lang="en-GB" sz="1900" b="1" dirty="0"/>
              <a:t>2 . </a:t>
            </a:r>
            <a:r>
              <a:rPr lang="en-US" sz="1900" b="1" dirty="0"/>
              <a:t>Test tích hợp (Integration Testing)</a:t>
            </a:r>
          </a:p>
          <a:p>
            <a:pPr>
              <a:buFont typeface="Wingdings" panose="05000000000000000000" pitchFamily="2" charset="2"/>
              <a:buChar char="v"/>
            </a:pPr>
            <a:r>
              <a:rPr lang="en-GB" sz="1900" dirty="0"/>
              <a:t>Là </a:t>
            </a:r>
            <a:r>
              <a:rPr lang="en-GB" sz="1900" dirty="0" err="1"/>
              <a:t>kiểm</a:t>
            </a:r>
            <a:r>
              <a:rPr lang="en-GB" sz="1900" dirty="0"/>
              <a:t> </a:t>
            </a:r>
            <a:r>
              <a:rPr lang="en-GB" sz="1900" dirty="0" err="1"/>
              <a:t>tra</a:t>
            </a:r>
            <a:r>
              <a:rPr lang="en-GB" sz="1900" dirty="0"/>
              <a:t> </a:t>
            </a:r>
            <a:r>
              <a:rPr lang="en-GB" sz="1900" dirty="0" err="1"/>
              <a:t>các</a:t>
            </a:r>
            <a:r>
              <a:rPr lang="en-GB" sz="1900" dirty="0"/>
              <a:t> </a:t>
            </a:r>
            <a:r>
              <a:rPr lang="en-GB" sz="1900" dirty="0" err="1"/>
              <a:t>giao</a:t>
            </a:r>
            <a:r>
              <a:rPr lang="en-GB" sz="1900" dirty="0"/>
              <a:t> </a:t>
            </a:r>
            <a:r>
              <a:rPr lang="en-GB" sz="1900" dirty="0" err="1"/>
              <a:t>tiếp</a:t>
            </a:r>
            <a:r>
              <a:rPr lang="en-GB" sz="1900" dirty="0"/>
              <a:t> </a:t>
            </a:r>
            <a:r>
              <a:rPr lang="en-GB" sz="1900" dirty="0" err="1"/>
              <a:t>giữa</a:t>
            </a:r>
            <a:r>
              <a:rPr lang="en-GB" sz="1900" dirty="0"/>
              <a:t> </a:t>
            </a:r>
            <a:r>
              <a:rPr lang="en-GB" sz="1900" dirty="0" err="1"/>
              <a:t>các</a:t>
            </a:r>
            <a:r>
              <a:rPr lang="en-GB" sz="1900" dirty="0"/>
              <a:t> unit, </a:t>
            </a:r>
            <a:r>
              <a:rPr lang="en-GB" sz="1900" dirty="0" err="1"/>
              <a:t>các</a:t>
            </a:r>
            <a:r>
              <a:rPr lang="en-GB" sz="1900" dirty="0"/>
              <a:t> </a:t>
            </a:r>
            <a:r>
              <a:rPr lang="en-GB" sz="1900" dirty="0" err="1"/>
              <a:t>thành</a:t>
            </a:r>
            <a:r>
              <a:rPr lang="en-GB" sz="1900" dirty="0"/>
              <a:t> </a:t>
            </a:r>
            <a:r>
              <a:rPr lang="en-GB" sz="1900" dirty="0" err="1"/>
              <a:t>phần</a:t>
            </a:r>
            <a:r>
              <a:rPr lang="en-GB" sz="1900" dirty="0"/>
              <a:t> </a:t>
            </a:r>
            <a:r>
              <a:rPr lang="en-GB" sz="1900" dirty="0" err="1"/>
              <a:t>khác</a:t>
            </a:r>
            <a:r>
              <a:rPr lang="en-GB" sz="1900" dirty="0"/>
              <a:t> </a:t>
            </a:r>
            <a:r>
              <a:rPr lang="en-GB" sz="1900" dirty="0" err="1"/>
              <a:t>nhau</a:t>
            </a:r>
            <a:r>
              <a:rPr lang="en-GB" sz="1900" dirty="0"/>
              <a:t> </a:t>
            </a:r>
            <a:r>
              <a:rPr lang="en-GB" sz="1900" dirty="0" err="1"/>
              <a:t>trong</a:t>
            </a:r>
            <a:r>
              <a:rPr lang="en-GB" sz="1900" dirty="0"/>
              <a:t> </a:t>
            </a:r>
            <a:r>
              <a:rPr lang="en-GB" sz="1900" dirty="0" err="1"/>
              <a:t>hệ</a:t>
            </a:r>
            <a:r>
              <a:rPr lang="en-GB" sz="1900" dirty="0"/>
              <a:t> </a:t>
            </a:r>
            <a:r>
              <a:rPr lang="en-GB" sz="1900" dirty="0" err="1"/>
              <a:t>thống</a:t>
            </a:r>
            <a:r>
              <a:rPr lang="en-GB" sz="1900" dirty="0"/>
              <a:t>. </a:t>
            </a:r>
          </a:p>
          <a:p>
            <a:pPr algn="just">
              <a:buFont typeface="Wingdings" panose="05000000000000000000" pitchFamily="2" charset="2"/>
              <a:buChar char="v"/>
            </a:pPr>
            <a:r>
              <a:rPr lang="vi-VN" sz="1800" dirty="0"/>
              <a:t>Kiểm thử tích hợp xảy ra sau kiểm thử đơn vị (Unit Test) và trước kiểm thử xác nhận</a:t>
            </a:r>
            <a:endParaRPr lang="en-US" sz="1900" dirty="0"/>
          </a:p>
          <a:p>
            <a:pPr algn="just">
              <a:buFont typeface="Wingdings" panose="05000000000000000000" pitchFamily="2" charset="2"/>
              <a:buChar char="v"/>
            </a:pPr>
            <a:r>
              <a:rPr lang="en-US" sz="2100" dirty="0" err="1"/>
              <a:t>Thông</a:t>
            </a:r>
            <a:r>
              <a:rPr lang="en-US" sz="2100" dirty="0"/>
              <a:t> </a:t>
            </a:r>
            <a:r>
              <a:rPr lang="en-US" sz="2100" dirty="0" err="1"/>
              <a:t>thường</a:t>
            </a:r>
            <a:r>
              <a:rPr lang="en-US" sz="2100" dirty="0"/>
              <a:t> </a:t>
            </a:r>
            <a:r>
              <a:rPr lang="en-US" sz="2100" dirty="0" err="1"/>
              <a:t>sẽ</a:t>
            </a:r>
            <a:r>
              <a:rPr lang="en-US" sz="2100" dirty="0"/>
              <a:t> </a:t>
            </a:r>
            <a:r>
              <a:rPr lang="en-US" sz="2100" dirty="0" err="1"/>
              <a:t>có</a:t>
            </a:r>
            <a:r>
              <a:rPr lang="en-US" sz="2100" dirty="0"/>
              <a:t> </a:t>
            </a:r>
            <a:r>
              <a:rPr lang="en-US" sz="2100" dirty="0" err="1"/>
              <a:t>các</a:t>
            </a:r>
            <a:r>
              <a:rPr lang="en-US" sz="2100" dirty="0"/>
              <a:t> </a:t>
            </a:r>
            <a:r>
              <a:rPr lang="en-US" sz="2100" dirty="0" err="1"/>
              <a:t>chiến</a:t>
            </a:r>
            <a:r>
              <a:rPr lang="en-US" sz="2100" dirty="0"/>
              <a:t> </a:t>
            </a:r>
            <a:r>
              <a:rPr lang="en-US" sz="2100" dirty="0" err="1"/>
              <a:t>lược</a:t>
            </a:r>
            <a:r>
              <a:rPr lang="en-US" sz="2100" dirty="0"/>
              <a:t> test </a:t>
            </a:r>
            <a:r>
              <a:rPr lang="en-US" sz="2100" dirty="0" err="1"/>
              <a:t>như</a:t>
            </a:r>
            <a:r>
              <a:rPr lang="en-US" sz="2100" dirty="0"/>
              <a:t> </a:t>
            </a:r>
            <a:r>
              <a:rPr lang="en-US" sz="2100" dirty="0" err="1"/>
              <a:t>sau</a:t>
            </a:r>
            <a:r>
              <a:rPr lang="en-US" sz="2100" dirty="0"/>
              <a:t>:</a:t>
            </a:r>
          </a:p>
          <a:p>
            <a:pPr lvl="1" algn="just">
              <a:buFont typeface="Wingdings" panose="05000000000000000000" pitchFamily="2" charset="2"/>
              <a:buChar char="ü"/>
            </a:pPr>
            <a:r>
              <a:rPr lang="en-US" sz="1700" b="1" i="1" dirty="0"/>
              <a:t>Test </a:t>
            </a:r>
            <a:r>
              <a:rPr lang="en-US" sz="1700" b="1" i="1" dirty="0" err="1"/>
              <a:t>tích</a:t>
            </a:r>
            <a:r>
              <a:rPr lang="en-US" sz="1700" b="1" i="1" dirty="0"/>
              <a:t> </a:t>
            </a:r>
            <a:r>
              <a:rPr lang="en-US" sz="1700" b="1" i="1" dirty="0" err="1"/>
              <a:t>hợp</a:t>
            </a:r>
            <a:r>
              <a:rPr lang="en-US" sz="1700" b="1" i="1" dirty="0"/>
              <a:t> </a:t>
            </a:r>
            <a:r>
              <a:rPr lang="en-US" sz="1700" b="1" i="1" dirty="0" err="1"/>
              <a:t>kiểu</a:t>
            </a:r>
            <a:r>
              <a:rPr lang="en-US" sz="1700" b="1" i="1" dirty="0"/>
              <a:t> Big-bang:</a:t>
            </a:r>
            <a:r>
              <a:rPr lang="en-US" sz="1700" dirty="0"/>
              <a:t> </a:t>
            </a:r>
            <a:r>
              <a:rPr lang="en-US" sz="1700" dirty="0" err="1"/>
              <a:t>Thực</a:t>
            </a:r>
            <a:r>
              <a:rPr lang="en-US" sz="1700" dirty="0"/>
              <a:t> </a:t>
            </a:r>
            <a:r>
              <a:rPr lang="en-US" sz="1700" dirty="0" err="1"/>
              <a:t>hiện</a:t>
            </a:r>
            <a:r>
              <a:rPr lang="en-US" sz="1700" dirty="0"/>
              <a:t> test </a:t>
            </a:r>
            <a:r>
              <a:rPr lang="en-US" sz="1700" dirty="0" err="1"/>
              <a:t>tổng</a:t>
            </a:r>
            <a:r>
              <a:rPr lang="en-US" sz="1700" dirty="0"/>
              <a:t> </a:t>
            </a:r>
            <a:r>
              <a:rPr lang="en-US" sz="1700" dirty="0" err="1"/>
              <a:t>thể</a:t>
            </a:r>
            <a:r>
              <a:rPr lang="en-US" sz="1700" dirty="0"/>
              <a:t> </a:t>
            </a:r>
            <a:r>
              <a:rPr lang="en-US" sz="1700" dirty="0" err="1"/>
              <a:t>luôn</a:t>
            </a:r>
            <a:r>
              <a:rPr lang="en-US" sz="1700" dirty="0"/>
              <a:t> </a:t>
            </a:r>
            <a:r>
              <a:rPr lang="en-US" sz="1700" dirty="0" err="1"/>
              <a:t>một</a:t>
            </a:r>
            <a:r>
              <a:rPr lang="en-US" sz="1700" dirty="0"/>
              <a:t> </a:t>
            </a:r>
            <a:r>
              <a:rPr lang="en-US" sz="1700" dirty="0" err="1"/>
              <a:t>lần</a:t>
            </a:r>
            <a:r>
              <a:rPr lang="en-US" sz="1700" dirty="0"/>
              <a:t> </a:t>
            </a:r>
            <a:r>
              <a:rPr lang="en-US" sz="1700" dirty="0" err="1"/>
              <a:t>sau</a:t>
            </a:r>
            <a:r>
              <a:rPr lang="en-US" sz="1700" dirty="0"/>
              <a:t> </a:t>
            </a:r>
            <a:r>
              <a:rPr lang="en-US" sz="1700" dirty="0" err="1"/>
              <a:t>khi</a:t>
            </a:r>
            <a:r>
              <a:rPr lang="en-US" sz="1700" dirty="0"/>
              <a:t> </a:t>
            </a:r>
            <a:r>
              <a:rPr lang="en-US" sz="1700" dirty="0" err="1"/>
              <a:t>đã</a:t>
            </a:r>
            <a:r>
              <a:rPr lang="en-US" sz="1700" dirty="0"/>
              <a:t> </a:t>
            </a:r>
            <a:r>
              <a:rPr lang="en-US" sz="1700" dirty="0" err="1"/>
              <a:t>tích</a:t>
            </a:r>
            <a:r>
              <a:rPr lang="en-US" sz="1700" dirty="0"/>
              <a:t> </a:t>
            </a:r>
            <a:r>
              <a:rPr lang="en-US" sz="1700" dirty="0" err="1"/>
              <a:t>hợp</a:t>
            </a:r>
            <a:r>
              <a:rPr lang="en-US" sz="1700" dirty="0"/>
              <a:t> </a:t>
            </a:r>
            <a:r>
              <a:rPr lang="en-US" sz="1700" dirty="0" err="1"/>
              <a:t>toàn</a:t>
            </a:r>
            <a:r>
              <a:rPr lang="en-US" sz="1700" dirty="0"/>
              <a:t> </a:t>
            </a:r>
            <a:r>
              <a:rPr lang="en-US" sz="1700" dirty="0" err="1"/>
              <a:t>bộ</a:t>
            </a:r>
            <a:r>
              <a:rPr lang="en-US" sz="1700" dirty="0"/>
              <a:t> </a:t>
            </a:r>
            <a:r>
              <a:rPr lang="en-US" sz="1700" dirty="0" err="1"/>
              <a:t>thành</a:t>
            </a:r>
            <a:r>
              <a:rPr lang="en-US" sz="1700" dirty="0"/>
              <a:t> </a:t>
            </a:r>
            <a:r>
              <a:rPr lang="en-US" sz="1700" dirty="0" err="1"/>
              <a:t>phần</a:t>
            </a:r>
            <a:r>
              <a:rPr lang="en-US" sz="1700" dirty="0"/>
              <a:t> </a:t>
            </a:r>
            <a:r>
              <a:rPr lang="en-US" sz="1700" dirty="0" err="1"/>
              <a:t>của</a:t>
            </a:r>
            <a:r>
              <a:rPr lang="en-US" sz="1700" dirty="0"/>
              <a:t> </a:t>
            </a:r>
            <a:r>
              <a:rPr lang="en-US" sz="1700" dirty="0" err="1"/>
              <a:t>phần</a:t>
            </a:r>
            <a:r>
              <a:rPr lang="en-US" sz="1700" dirty="0"/>
              <a:t> </a:t>
            </a:r>
            <a:r>
              <a:rPr lang="en-US" sz="1700" dirty="0" err="1"/>
              <a:t>mềm</a:t>
            </a:r>
            <a:r>
              <a:rPr lang="en-US" sz="1700" dirty="0"/>
              <a:t> hay </a:t>
            </a:r>
            <a:r>
              <a:rPr lang="en-US" sz="1700" dirty="0" err="1"/>
              <a:t>toàn</a:t>
            </a:r>
            <a:r>
              <a:rPr lang="en-US" sz="1700" dirty="0"/>
              <a:t> </a:t>
            </a:r>
            <a:r>
              <a:rPr lang="en-US" sz="1700" dirty="0" err="1"/>
              <a:t>bộ</a:t>
            </a:r>
            <a:r>
              <a:rPr lang="en-US" sz="1700" dirty="0"/>
              <a:t> </a:t>
            </a:r>
            <a:r>
              <a:rPr lang="en-US" sz="1700" dirty="0" err="1"/>
              <a:t>hệ</a:t>
            </a:r>
            <a:r>
              <a:rPr lang="en-US" sz="1700" dirty="0"/>
              <a:t> </a:t>
            </a:r>
            <a:r>
              <a:rPr lang="en-US" sz="1700" dirty="0" err="1"/>
              <a:t>thống</a:t>
            </a:r>
            <a:r>
              <a:rPr lang="en-US" sz="1700" dirty="0"/>
              <a:t>.</a:t>
            </a:r>
          </a:p>
          <a:p>
            <a:pPr lvl="1" algn="just">
              <a:buFont typeface="Wingdings" panose="05000000000000000000" pitchFamily="2" charset="2"/>
              <a:buChar char="ü"/>
            </a:pPr>
            <a:r>
              <a:rPr lang="en-US" sz="1600" b="1" i="1" dirty="0"/>
              <a:t>Test </a:t>
            </a:r>
            <a:r>
              <a:rPr lang="en-US" sz="1600" b="1" i="1" dirty="0" err="1"/>
              <a:t>tích</a:t>
            </a:r>
            <a:r>
              <a:rPr lang="en-US" sz="1600" b="1" i="1" dirty="0"/>
              <a:t> </a:t>
            </a:r>
            <a:r>
              <a:rPr lang="en-US" sz="1600" b="1" i="1" dirty="0" err="1"/>
              <a:t>hợp</a:t>
            </a:r>
            <a:r>
              <a:rPr lang="en-US" sz="1600" b="1" i="1" dirty="0"/>
              <a:t> </a:t>
            </a:r>
            <a:r>
              <a:rPr lang="en-US" sz="1600" b="1" i="1" dirty="0" err="1"/>
              <a:t>kiểu</a:t>
            </a:r>
            <a:r>
              <a:rPr lang="en-US" sz="1600" b="1" i="1" dirty="0"/>
              <a:t> </a:t>
            </a:r>
            <a:r>
              <a:rPr lang="en-US" sz="1600" b="1" i="1" dirty="0" err="1"/>
              <a:t>tuần</a:t>
            </a:r>
            <a:r>
              <a:rPr lang="en-US" sz="1600" b="1" i="1" dirty="0"/>
              <a:t> </a:t>
            </a:r>
            <a:r>
              <a:rPr lang="en-US" sz="1600" b="1" i="1" dirty="0" err="1"/>
              <a:t>tự</a:t>
            </a:r>
            <a:r>
              <a:rPr lang="en-US" sz="1600" b="1" i="1" dirty="0"/>
              <a:t> (incremental testing):</a:t>
            </a:r>
            <a:r>
              <a:rPr lang="en-US" sz="1600" dirty="0"/>
              <a:t> </a:t>
            </a:r>
            <a:r>
              <a:rPr lang="en-US" sz="1600" dirty="0" err="1"/>
              <a:t>Thực</a:t>
            </a:r>
            <a:r>
              <a:rPr lang="en-US" sz="1600" dirty="0"/>
              <a:t> </a:t>
            </a:r>
            <a:r>
              <a:rPr lang="en-US" sz="1600" dirty="0" err="1"/>
              <a:t>hiện</a:t>
            </a:r>
            <a:r>
              <a:rPr lang="en-US" sz="1600" dirty="0"/>
              <a:t> test </a:t>
            </a:r>
            <a:r>
              <a:rPr lang="en-US" sz="1600" dirty="0" err="1"/>
              <a:t>tích</a:t>
            </a:r>
            <a:r>
              <a:rPr lang="en-US" sz="1600" dirty="0"/>
              <a:t> </a:t>
            </a:r>
            <a:r>
              <a:rPr lang="en-US" sz="1600" dirty="0" err="1"/>
              <a:t>hợp</a:t>
            </a:r>
            <a:r>
              <a:rPr lang="en-US" sz="1600" dirty="0"/>
              <a:t> </a:t>
            </a:r>
            <a:r>
              <a:rPr lang="en-US" sz="1600" dirty="0" err="1"/>
              <a:t>sau</a:t>
            </a:r>
            <a:r>
              <a:rPr lang="en-US" sz="1600" dirty="0"/>
              <a:t> </a:t>
            </a:r>
            <a:r>
              <a:rPr lang="en-US" sz="1600" dirty="0" err="1"/>
              <a:t>khi</a:t>
            </a:r>
            <a:r>
              <a:rPr lang="en-US" sz="1600" dirty="0"/>
              <a:t> </a:t>
            </a:r>
            <a:r>
              <a:rPr lang="en-US" sz="1600" dirty="0" err="1"/>
              <a:t>tích</a:t>
            </a:r>
            <a:r>
              <a:rPr lang="en-US" sz="1600" dirty="0"/>
              <a:t> </a:t>
            </a:r>
            <a:r>
              <a:rPr lang="en-US" sz="1600" dirty="0" err="1"/>
              <a:t>hợp</a:t>
            </a:r>
            <a:r>
              <a:rPr lang="en-US" sz="1600" dirty="0"/>
              <a:t> </a:t>
            </a:r>
            <a:r>
              <a:rPr lang="en-US" sz="1600" dirty="0" err="1"/>
              <a:t>từng</a:t>
            </a:r>
            <a:r>
              <a:rPr lang="en-US" sz="1600" dirty="0"/>
              <a:t> </a:t>
            </a:r>
            <a:r>
              <a:rPr lang="en-US" sz="1600" dirty="0" err="1"/>
              <a:t>thành</a:t>
            </a:r>
            <a:r>
              <a:rPr lang="en-US" sz="1600" dirty="0"/>
              <a:t> </a:t>
            </a:r>
            <a:r>
              <a:rPr lang="en-US" sz="1600" dirty="0" err="1"/>
              <a:t>phần</a:t>
            </a:r>
            <a:r>
              <a:rPr lang="en-US" sz="1600" dirty="0"/>
              <a:t> hay </a:t>
            </a:r>
            <a:r>
              <a:rPr lang="en-US" sz="1600" dirty="0" err="1"/>
              <a:t>từng</a:t>
            </a:r>
            <a:r>
              <a:rPr lang="en-US" sz="1600" dirty="0"/>
              <a:t> </a:t>
            </a:r>
            <a:r>
              <a:rPr lang="en-US" sz="1600" dirty="0" err="1"/>
              <a:t>hệ</a:t>
            </a:r>
            <a:r>
              <a:rPr lang="en-US" sz="1600" dirty="0"/>
              <a:t> </a:t>
            </a:r>
            <a:r>
              <a:rPr lang="en-US" sz="1600" dirty="0" err="1"/>
              <a:t>thống</a:t>
            </a:r>
            <a:r>
              <a:rPr lang="en-US" sz="1600" dirty="0"/>
              <a:t> </a:t>
            </a:r>
            <a:r>
              <a:rPr lang="en-US" sz="1600" dirty="0" err="1"/>
              <a:t>một</a:t>
            </a:r>
            <a:r>
              <a:rPr lang="en-US" sz="1600" dirty="0"/>
              <a:t>.</a:t>
            </a:r>
          </a:p>
          <a:p>
            <a:pPr marL="537210" lvl="1" indent="0" algn="just">
              <a:buNone/>
            </a:pPr>
            <a:endParaRPr lang="en-US" sz="1700" dirty="0"/>
          </a:p>
          <a:p>
            <a:pPr algn="just"/>
            <a:endParaRPr lang="en-US" sz="1900" dirty="0"/>
          </a:p>
          <a:p>
            <a:pPr marL="64135" indent="0" algn="just">
              <a:buNone/>
            </a:pPr>
            <a:endParaRPr lang="en-US" sz="19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3796854"/>
            <a:ext cx="1642077" cy="98524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2600" y="4852725"/>
            <a:ext cx="2268631" cy="898378"/>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2600" y="5809372"/>
            <a:ext cx="2892776" cy="918882"/>
          </a:xfrm>
          <a:prstGeom prst="rect">
            <a:avLst/>
          </a:prstGeom>
        </p:spPr>
      </p:pic>
    </p:spTree>
    <p:extLst>
      <p:ext uri="{BB962C8B-B14F-4D97-AF65-F5344CB8AC3E}">
        <p14:creationId xmlns:p14="http://schemas.microsoft.com/office/powerpoint/2010/main" val="3968777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1143000"/>
            <a:ext cx="3859339" cy="25146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1963" y="4572000"/>
            <a:ext cx="3480728" cy="2129699"/>
          </a:xfrm>
          <a:prstGeom prst="rect">
            <a:avLst/>
          </a:prstGeom>
        </p:spPr>
      </p:pic>
      <p:sp>
        <p:nvSpPr>
          <p:cNvPr id="2" name="Title 1"/>
          <p:cNvSpPr>
            <a:spLocks noGrp="1"/>
          </p:cNvSpPr>
          <p:nvPr>
            <p:ph type="title"/>
          </p:nvPr>
        </p:nvSpPr>
        <p:spPr>
          <a:xfrm>
            <a:off x="228600" y="76200"/>
            <a:ext cx="8001000" cy="701405"/>
          </a:xfrm>
        </p:spPr>
        <p:txBody>
          <a:bodyPr/>
          <a:lstStyle/>
          <a:p>
            <a:r>
              <a:rPr lang="en-US" dirty="0"/>
              <a:t>V. Các mức </a:t>
            </a:r>
            <a:r>
              <a:rPr lang="en-US" dirty="0" err="1"/>
              <a:t>độ</a:t>
            </a:r>
            <a:r>
              <a:rPr lang="en-US" dirty="0"/>
              <a:t> test (Test levels)</a:t>
            </a:r>
          </a:p>
        </p:txBody>
      </p:sp>
      <p:sp>
        <p:nvSpPr>
          <p:cNvPr id="3" name="Content Placeholder 2"/>
          <p:cNvSpPr>
            <a:spLocks noGrp="1"/>
          </p:cNvSpPr>
          <p:nvPr>
            <p:ph idx="1"/>
          </p:nvPr>
        </p:nvSpPr>
        <p:spPr>
          <a:xfrm>
            <a:off x="228601" y="685800"/>
            <a:ext cx="5181600" cy="6172200"/>
          </a:xfrm>
        </p:spPr>
        <p:txBody>
          <a:bodyPr>
            <a:normAutofit fontScale="92500"/>
          </a:bodyPr>
          <a:lstStyle/>
          <a:p>
            <a:pPr marL="64135" indent="0" algn="just">
              <a:buNone/>
            </a:pPr>
            <a:r>
              <a:rPr lang="en-GB" sz="1900" b="1" dirty="0"/>
              <a:t>3 . </a:t>
            </a:r>
            <a:r>
              <a:rPr lang="en-US" sz="1900" b="1" dirty="0"/>
              <a:t>Test hệ thống (System Testing)</a:t>
            </a:r>
            <a:r>
              <a:rPr lang="en-US" sz="1900" dirty="0"/>
              <a:t>:</a:t>
            </a:r>
          </a:p>
          <a:p>
            <a:pPr algn="just">
              <a:buFont typeface="Wingdings" panose="05000000000000000000" pitchFamily="2" charset="2"/>
              <a:buChar char="ü"/>
            </a:pPr>
            <a:r>
              <a:rPr lang="en-GB" sz="1900" dirty="0"/>
              <a:t>Là </a:t>
            </a:r>
            <a:r>
              <a:rPr lang="en-GB" sz="1900" dirty="0" err="1"/>
              <a:t>việc</a:t>
            </a:r>
            <a:r>
              <a:rPr lang="en-GB" sz="1900" dirty="0"/>
              <a:t> </a:t>
            </a:r>
            <a:r>
              <a:rPr lang="en-GB" sz="1900" dirty="0" err="1"/>
              <a:t>kiểm</a:t>
            </a:r>
            <a:r>
              <a:rPr lang="en-GB" sz="1900" dirty="0"/>
              <a:t> </a:t>
            </a:r>
            <a:r>
              <a:rPr lang="en-GB" sz="1900" dirty="0" err="1"/>
              <a:t>tra</a:t>
            </a:r>
            <a:r>
              <a:rPr lang="en-GB" sz="1900" dirty="0"/>
              <a:t> </a:t>
            </a:r>
            <a:r>
              <a:rPr lang="en-GB" sz="1900" dirty="0" err="1"/>
              <a:t>hệ</a:t>
            </a:r>
            <a:r>
              <a:rPr lang="en-GB" sz="1900" dirty="0"/>
              <a:t> </a:t>
            </a:r>
            <a:r>
              <a:rPr lang="en-GB" sz="1900" dirty="0" err="1"/>
              <a:t>thống</a:t>
            </a:r>
            <a:r>
              <a:rPr lang="en-GB" sz="1900" dirty="0"/>
              <a:t> (</a:t>
            </a:r>
            <a:r>
              <a:rPr lang="en-GB" sz="1900" dirty="0" err="1"/>
              <a:t>sau</a:t>
            </a:r>
            <a:r>
              <a:rPr lang="en-GB" sz="1900" dirty="0"/>
              <a:t> </a:t>
            </a:r>
            <a:r>
              <a:rPr lang="en-GB" sz="1900" dirty="0" err="1"/>
              <a:t>khi</a:t>
            </a:r>
            <a:r>
              <a:rPr lang="en-GB" sz="1900" dirty="0"/>
              <a:t> </a:t>
            </a:r>
            <a:r>
              <a:rPr lang="en-GB" sz="1900" dirty="0" err="1"/>
              <a:t>tích</a:t>
            </a:r>
            <a:r>
              <a:rPr lang="en-GB" sz="1900" dirty="0"/>
              <a:t> </a:t>
            </a:r>
            <a:r>
              <a:rPr lang="en-GB" sz="1900" dirty="0" err="1"/>
              <a:t>hợp</a:t>
            </a:r>
            <a:r>
              <a:rPr lang="en-GB" sz="1900" dirty="0"/>
              <a:t>) </a:t>
            </a:r>
            <a:r>
              <a:rPr lang="en-GB" sz="1900" dirty="0" err="1"/>
              <a:t>có</a:t>
            </a:r>
            <a:r>
              <a:rPr lang="en-GB" sz="1900" dirty="0"/>
              <a:t> </a:t>
            </a:r>
            <a:r>
              <a:rPr lang="en-GB" sz="1900" dirty="0" err="1"/>
              <a:t>đáp</a:t>
            </a:r>
            <a:r>
              <a:rPr lang="en-GB" sz="1900" dirty="0"/>
              <a:t> </a:t>
            </a:r>
            <a:r>
              <a:rPr lang="en-GB" sz="1900" dirty="0" err="1"/>
              <a:t>ứng</a:t>
            </a:r>
            <a:r>
              <a:rPr lang="en-GB" sz="1900" dirty="0"/>
              <a:t> </a:t>
            </a:r>
            <a:r>
              <a:rPr lang="en-GB" sz="1900" dirty="0" err="1"/>
              <a:t>yêu</a:t>
            </a:r>
            <a:r>
              <a:rPr lang="en-GB" sz="1900" dirty="0"/>
              <a:t> </a:t>
            </a:r>
            <a:r>
              <a:rPr lang="en-GB" sz="1900" dirty="0" err="1"/>
              <a:t>cầu</a:t>
            </a:r>
            <a:r>
              <a:rPr lang="en-GB" sz="1900" dirty="0"/>
              <a:t> </a:t>
            </a:r>
            <a:r>
              <a:rPr lang="en-GB" sz="1900" dirty="0" err="1"/>
              <a:t>đặt</a:t>
            </a:r>
            <a:r>
              <a:rPr lang="en-GB" sz="1900" dirty="0"/>
              <a:t> </a:t>
            </a:r>
            <a:r>
              <a:rPr lang="en-GB" sz="1900" dirty="0" err="1"/>
              <a:t>ra</a:t>
            </a:r>
            <a:r>
              <a:rPr lang="en-GB" sz="1900" dirty="0"/>
              <a:t> hay </a:t>
            </a:r>
            <a:r>
              <a:rPr lang="en-GB" sz="1900" dirty="0" err="1"/>
              <a:t>không</a:t>
            </a:r>
            <a:r>
              <a:rPr lang="en-GB" sz="1900" dirty="0"/>
              <a:t>. </a:t>
            </a:r>
          </a:p>
          <a:p>
            <a:pPr algn="just">
              <a:buFont typeface="Wingdings" panose="05000000000000000000" pitchFamily="2" charset="2"/>
              <a:buChar char="ü"/>
            </a:pPr>
            <a:r>
              <a:rPr lang="en-US" sz="1900" dirty="0"/>
              <a:t>Test hệ thống </a:t>
            </a:r>
            <a:r>
              <a:rPr lang="en-US" sz="1900" dirty="0" err="1"/>
              <a:t>tập</a:t>
            </a:r>
            <a:r>
              <a:rPr lang="en-US" sz="1900" dirty="0"/>
              <a:t> </a:t>
            </a:r>
            <a:r>
              <a:rPr lang="en-US" sz="1900" dirty="0" err="1"/>
              <a:t>trung</a:t>
            </a:r>
            <a:r>
              <a:rPr lang="en-US" sz="1900" dirty="0"/>
              <a:t> </a:t>
            </a:r>
            <a:r>
              <a:rPr lang="en-US" sz="1900" dirty="0" err="1"/>
              <a:t>sự</a:t>
            </a:r>
            <a:r>
              <a:rPr lang="en-US" sz="1900" dirty="0"/>
              <a:t> </a:t>
            </a:r>
            <a:r>
              <a:rPr lang="en-US" sz="1900" dirty="0" err="1"/>
              <a:t>tương</a:t>
            </a:r>
            <a:r>
              <a:rPr lang="en-US" sz="1900" dirty="0"/>
              <a:t> </a:t>
            </a:r>
            <a:r>
              <a:rPr lang="en-US" sz="1900" dirty="0" err="1"/>
              <a:t>tác</a:t>
            </a:r>
            <a:r>
              <a:rPr lang="en-US" sz="1900" dirty="0"/>
              <a:t> </a:t>
            </a:r>
            <a:r>
              <a:rPr lang="en-US" sz="1900" dirty="0" err="1"/>
              <a:t>tổng</a:t>
            </a:r>
            <a:r>
              <a:rPr lang="en-US" sz="1900" dirty="0"/>
              <a:t> </a:t>
            </a:r>
            <a:r>
              <a:rPr lang="en-US" sz="1900" dirty="0" err="1"/>
              <a:t>thể</a:t>
            </a:r>
            <a:r>
              <a:rPr lang="en-US" sz="1900" dirty="0"/>
              <a:t> </a:t>
            </a:r>
            <a:r>
              <a:rPr lang="en-US" sz="1900" dirty="0" err="1"/>
              <a:t>của</a:t>
            </a:r>
            <a:r>
              <a:rPr lang="en-US" sz="1900" dirty="0"/>
              <a:t> </a:t>
            </a:r>
            <a:r>
              <a:rPr lang="en-US" sz="1900" dirty="0" err="1"/>
              <a:t>các</a:t>
            </a:r>
            <a:r>
              <a:rPr lang="en-US" sz="1900" dirty="0"/>
              <a:t> </a:t>
            </a:r>
            <a:r>
              <a:rPr lang="en-US" sz="1900" dirty="0" err="1"/>
              <a:t>thành</a:t>
            </a:r>
            <a:r>
              <a:rPr lang="en-US" sz="1900" dirty="0"/>
              <a:t> </a:t>
            </a:r>
            <a:r>
              <a:rPr lang="en-US" sz="1900" dirty="0" err="1"/>
              <a:t>phần</a:t>
            </a:r>
            <a:r>
              <a:rPr lang="en-US" sz="1900" dirty="0"/>
              <a:t> </a:t>
            </a:r>
            <a:r>
              <a:rPr lang="en-US" sz="1900" dirty="0" err="1"/>
              <a:t>của</a:t>
            </a:r>
            <a:r>
              <a:rPr lang="en-US" sz="1900" dirty="0"/>
              <a:t> </a:t>
            </a:r>
            <a:r>
              <a:rPr lang="en-US" sz="1900" dirty="0" err="1"/>
              <a:t>toàn</a:t>
            </a:r>
            <a:r>
              <a:rPr lang="en-US" sz="1900" dirty="0"/>
              <a:t> </a:t>
            </a:r>
            <a:r>
              <a:rPr lang="en-US" sz="1900" dirty="0" err="1"/>
              <a:t>bộ</a:t>
            </a:r>
            <a:r>
              <a:rPr lang="en-US" sz="1900" dirty="0"/>
              <a:t> hệ thống.</a:t>
            </a:r>
          </a:p>
          <a:p>
            <a:pPr algn="just">
              <a:buFont typeface="Wingdings" panose="05000000000000000000" pitchFamily="2" charset="2"/>
              <a:buChar char="ü"/>
            </a:pPr>
            <a:r>
              <a:rPr lang="en-US" sz="1900" dirty="0" err="1"/>
              <a:t>Thường</a:t>
            </a:r>
            <a:r>
              <a:rPr lang="en-US" sz="1900" dirty="0"/>
              <a:t> </a:t>
            </a:r>
            <a:r>
              <a:rPr lang="en-US" sz="1900" dirty="0" err="1"/>
              <a:t>được</a:t>
            </a:r>
            <a:r>
              <a:rPr lang="en-US" sz="1900" dirty="0"/>
              <a:t> </a:t>
            </a:r>
            <a:r>
              <a:rPr lang="en-US" sz="1900" dirty="0" err="1"/>
              <a:t>thực</a:t>
            </a:r>
            <a:r>
              <a:rPr lang="en-US" sz="1900" dirty="0"/>
              <a:t> </a:t>
            </a:r>
            <a:r>
              <a:rPr lang="en-US" sz="1900" dirty="0" err="1"/>
              <a:t>hiện</a:t>
            </a:r>
            <a:r>
              <a:rPr lang="en-US" sz="1900" dirty="0"/>
              <a:t> </a:t>
            </a:r>
            <a:r>
              <a:rPr lang="en-US" sz="1900" dirty="0" err="1"/>
              <a:t>bởi</a:t>
            </a:r>
            <a:r>
              <a:rPr lang="en-US" sz="1900" dirty="0"/>
              <a:t> </a:t>
            </a:r>
            <a:r>
              <a:rPr lang="en-US" sz="1900" dirty="0" err="1"/>
              <a:t>người</a:t>
            </a:r>
            <a:r>
              <a:rPr lang="en-US" sz="1900" dirty="0"/>
              <a:t> </a:t>
            </a:r>
            <a:r>
              <a:rPr lang="en-US" sz="1900" dirty="0" err="1"/>
              <a:t>phát</a:t>
            </a:r>
            <a:r>
              <a:rPr lang="en-US" sz="1900" dirty="0"/>
              <a:t> </a:t>
            </a:r>
            <a:r>
              <a:rPr lang="en-US" sz="1900" dirty="0" err="1"/>
              <a:t>triển</a:t>
            </a:r>
            <a:r>
              <a:rPr lang="en-US" sz="1900" dirty="0"/>
              <a:t> </a:t>
            </a:r>
            <a:r>
              <a:rPr lang="en-US" sz="1900" dirty="0" err="1"/>
              <a:t>và</a:t>
            </a:r>
            <a:r>
              <a:rPr lang="en-US" sz="1900" dirty="0"/>
              <a:t> tester. </a:t>
            </a:r>
          </a:p>
          <a:p>
            <a:pPr algn="just">
              <a:buFont typeface="Wingdings" panose="05000000000000000000" pitchFamily="2" charset="2"/>
              <a:buChar char="ü"/>
            </a:pPr>
            <a:r>
              <a:rPr lang="en-US" sz="1900" dirty="0" err="1"/>
              <a:t>Dữ</a:t>
            </a:r>
            <a:r>
              <a:rPr lang="en-US" sz="1900" dirty="0"/>
              <a:t> </a:t>
            </a:r>
            <a:r>
              <a:rPr lang="en-US" sz="1900" dirty="0" err="1"/>
              <a:t>liệu</a:t>
            </a:r>
            <a:r>
              <a:rPr lang="en-US" sz="1900" dirty="0"/>
              <a:t> </a:t>
            </a:r>
            <a:r>
              <a:rPr lang="en-US" sz="1900" dirty="0" err="1"/>
              <a:t>sử</a:t>
            </a:r>
            <a:r>
              <a:rPr lang="en-US" sz="1900" dirty="0"/>
              <a:t> </a:t>
            </a:r>
            <a:r>
              <a:rPr lang="en-US" sz="1900" dirty="0" err="1"/>
              <a:t>dụng</a:t>
            </a:r>
            <a:r>
              <a:rPr lang="en-US" sz="1900" dirty="0"/>
              <a:t> </a:t>
            </a:r>
            <a:r>
              <a:rPr lang="en-US" sz="1900" dirty="0" err="1"/>
              <a:t>không</a:t>
            </a:r>
            <a:r>
              <a:rPr lang="en-US" sz="1900" dirty="0"/>
              <a:t> </a:t>
            </a:r>
            <a:r>
              <a:rPr lang="en-US" sz="1900" dirty="0" err="1"/>
              <a:t>phải</a:t>
            </a:r>
            <a:r>
              <a:rPr lang="en-US" sz="1900" dirty="0"/>
              <a:t> </a:t>
            </a:r>
            <a:r>
              <a:rPr lang="en-US" sz="1900" dirty="0" err="1"/>
              <a:t>là</a:t>
            </a:r>
            <a:r>
              <a:rPr lang="en-US" sz="1900" dirty="0"/>
              <a:t> </a:t>
            </a:r>
            <a:r>
              <a:rPr lang="en-US" sz="1900" dirty="0" err="1"/>
              <a:t>dữ</a:t>
            </a:r>
            <a:r>
              <a:rPr lang="en-US" sz="1900" dirty="0"/>
              <a:t> </a:t>
            </a:r>
            <a:r>
              <a:rPr lang="en-US" sz="1900" dirty="0" err="1"/>
              <a:t>liệu</a:t>
            </a:r>
            <a:r>
              <a:rPr lang="en-US" sz="1900" dirty="0"/>
              <a:t> </a:t>
            </a:r>
            <a:r>
              <a:rPr lang="en-US" sz="1900" dirty="0" err="1"/>
              <a:t>thực</a:t>
            </a:r>
            <a:r>
              <a:rPr lang="en-US" sz="1900" dirty="0"/>
              <a:t> </a:t>
            </a:r>
            <a:r>
              <a:rPr lang="en-US" sz="1900" dirty="0" err="1"/>
              <a:t>tế</a:t>
            </a:r>
            <a:r>
              <a:rPr lang="en-US" sz="1900" dirty="0"/>
              <a:t>.</a:t>
            </a:r>
          </a:p>
          <a:p>
            <a:pPr marL="64135" indent="0" algn="just">
              <a:buNone/>
            </a:pPr>
            <a:r>
              <a:rPr lang="en-GB" sz="1900" b="1" dirty="0">
                <a:sym typeface="+mn-ea"/>
              </a:rPr>
              <a:t>4 . </a:t>
            </a:r>
            <a:r>
              <a:rPr lang="en-US" sz="1900" b="1" dirty="0">
                <a:sym typeface="+mn-ea"/>
              </a:rPr>
              <a:t>Test chấp nhận sản phẩm (Acceptance Testing)</a:t>
            </a:r>
            <a:endParaRPr lang="en-US" sz="1900" b="1" dirty="0"/>
          </a:p>
          <a:p>
            <a:pPr algn="just">
              <a:buFont typeface="Wingdings" panose="05000000000000000000" pitchFamily="2" charset="2"/>
              <a:buChar char="ü"/>
            </a:pPr>
            <a:r>
              <a:rPr lang="en-GB" sz="1900" dirty="0" err="1">
                <a:sym typeface="+mn-ea"/>
              </a:rPr>
              <a:t>Được</a:t>
            </a:r>
            <a:r>
              <a:rPr lang="en-GB" sz="1900" dirty="0">
                <a:sym typeface="+mn-ea"/>
              </a:rPr>
              <a:t> </a:t>
            </a:r>
            <a:r>
              <a:rPr lang="en-GB" sz="1900" dirty="0" err="1">
                <a:sym typeface="+mn-ea"/>
              </a:rPr>
              <a:t>thực</a:t>
            </a:r>
            <a:r>
              <a:rPr lang="en-GB" sz="1900" dirty="0">
                <a:sym typeface="+mn-ea"/>
              </a:rPr>
              <a:t> </a:t>
            </a:r>
            <a:r>
              <a:rPr lang="en-GB" sz="1900" dirty="0" err="1">
                <a:sym typeface="+mn-ea"/>
              </a:rPr>
              <a:t>hiện</a:t>
            </a:r>
            <a:r>
              <a:rPr lang="en-GB" sz="1900" dirty="0">
                <a:sym typeface="+mn-ea"/>
              </a:rPr>
              <a:t> </a:t>
            </a:r>
            <a:r>
              <a:rPr lang="en-GB" sz="1900" dirty="0" err="1">
                <a:sym typeface="+mn-ea"/>
              </a:rPr>
              <a:t>bởi</a:t>
            </a:r>
            <a:r>
              <a:rPr lang="en-GB" sz="1900" dirty="0">
                <a:sym typeface="+mn-ea"/>
              </a:rPr>
              <a:t> </a:t>
            </a:r>
            <a:r>
              <a:rPr lang="en-GB" sz="1900" dirty="0" err="1">
                <a:sym typeface="+mn-ea"/>
              </a:rPr>
              <a:t>khách</a:t>
            </a:r>
            <a:r>
              <a:rPr lang="en-GB" sz="1900" dirty="0">
                <a:sym typeface="+mn-ea"/>
              </a:rPr>
              <a:t> </a:t>
            </a:r>
            <a:r>
              <a:rPr lang="en-GB" sz="1900" dirty="0" err="1">
                <a:sym typeface="+mn-ea"/>
              </a:rPr>
              <a:t>hàng</a:t>
            </a:r>
            <a:r>
              <a:rPr lang="en-GB" sz="1900" dirty="0">
                <a:sym typeface="+mn-ea"/>
              </a:rPr>
              <a:t>, </a:t>
            </a:r>
            <a:r>
              <a:rPr lang="en-GB" sz="1900" dirty="0" err="1">
                <a:sym typeface="+mn-ea"/>
              </a:rPr>
              <a:t>người</a:t>
            </a:r>
            <a:r>
              <a:rPr lang="en-GB" sz="1900" dirty="0">
                <a:sym typeface="+mn-ea"/>
              </a:rPr>
              <a:t> </a:t>
            </a:r>
            <a:r>
              <a:rPr lang="en-GB" sz="1900" dirty="0" err="1">
                <a:sym typeface="+mn-ea"/>
              </a:rPr>
              <a:t>dùng</a:t>
            </a:r>
            <a:r>
              <a:rPr lang="en-GB" sz="1900" dirty="0">
                <a:sym typeface="+mn-ea"/>
              </a:rPr>
              <a:t> </a:t>
            </a:r>
            <a:r>
              <a:rPr lang="en-GB" sz="1900" dirty="0" err="1">
                <a:sym typeface="+mn-ea"/>
              </a:rPr>
              <a:t>hoặc</a:t>
            </a:r>
            <a:r>
              <a:rPr lang="en-GB" sz="1900" dirty="0">
                <a:sym typeface="+mn-ea"/>
              </a:rPr>
              <a:t> </a:t>
            </a:r>
            <a:r>
              <a:rPr lang="en-GB" sz="1900" dirty="0" err="1">
                <a:sym typeface="+mn-ea"/>
              </a:rPr>
              <a:t>nhóm</a:t>
            </a:r>
            <a:r>
              <a:rPr lang="en-GB" sz="1900" dirty="0">
                <a:sym typeface="+mn-ea"/>
              </a:rPr>
              <a:t> </a:t>
            </a:r>
            <a:r>
              <a:rPr lang="en-GB" sz="1900" dirty="0" err="1">
                <a:sym typeface="+mn-ea"/>
              </a:rPr>
              <a:t>thứ</a:t>
            </a:r>
            <a:r>
              <a:rPr lang="en-GB" sz="1900" dirty="0">
                <a:sym typeface="+mn-ea"/>
              </a:rPr>
              <a:t> </a:t>
            </a:r>
            <a:r>
              <a:rPr lang="en-GB" sz="1900" dirty="0" err="1">
                <a:sym typeface="+mn-ea"/>
              </a:rPr>
              <a:t>ba</a:t>
            </a:r>
            <a:r>
              <a:rPr lang="en-GB" sz="1900" dirty="0">
                <a:sym typeface="+mn-ea"/>
              </a:rPr>
              <a:t> </a:t>
            </a:r>
            <a:r>
              <a:rPr lang="en-GB" sz="1900" dirty="0" err="1">
                <a:sym typeface="+mn-ea"/>
              </a:rPr>
              <a:t>thực</a:t>
            </a:r>
            <a:r>
              <a:rPr lang="en-GB" sz="1900" dirty="0">
                <a:sym typeface="+mn-ea"/>
              </a:rPr>
              <a:t> </a:t>
            </a:r>
            <a:r>
              <a:rPr lang="en-GB" sz="1900" dirty="0" err="1">
                <a:sym typeface="+mn-ea"/>
              </a:rPr>
              <a:t>hiện</a:t>
            </a:r>
            <a:r>
              <a:rPr lang="en-US" altLang="en-GB" sz="1900" dirty="0" err="1">
                <a:sym typeface="+mn-ea"/>
              </a:rPr>
              <a:t>.</a:t>
            </a:r>
            <a:endParaRPr lang="en-GB" sz="1900" dirty="0"/>
          </a:p>
          <a:p>
            <a:pPr algn="just">
              <a:buFont typeface="Wingdings" panose="05000000000000000000" pitchFamily="2" charset="2"/>
              <a:buChar char="ü"/>
            </a:pPr>
            <a:r>
              <a:rPr lang="en-GB" sz="1900" dirty="0">
                <a:sym typeface="+mn-ea"/>
              </a:rPr>
              <a:t>Test </a:t>
            </a:r>
            <a:r>
              <a:rPr lang="en-GB" sz="1900" dirty="0" err="1">
                <a:sym typeface="+mn-ea"/>
              </a:rPr>
              <a:t>dựa</a:t>
            </a:r>
            <a:r>
              <a:rPr lang="en-GB" sz="1900" dirty="0">
                <a:sym typeface="+mn-ea"/>
              </a:rPr>
              <a:t> </a:t>
            </a:r>
            <a:r>
              <a:rPr lang="en-GB" sz="1900" dirty="0" err="1">
                <a:sym typeface="+mn-ea"/>
              </a:rPr>
              <a:t>trên</a:t>
            </a:r>
            <a:r>
              <a:rPr lang="en-GB" sz="1900" dirty="0">
                <a:sym typeface="+mn-ea"/>
              </a:rPr>
              <a:t> </a:t>
            </a:r>
            <a:r>
              <a:rPr lang="en-GB" sz="1900" dirty="0" err="1">
                <a:sym typeface="+mn-ea"/>
              </a:rPr>
              <a:t>nghiệp</a:t>
            </a:r>
            <a:r>
              <a:rPr lang="en-GB" sz="1900" dirty="0">
                <a:sym typeface="+mn-ea"/>
              </a:rPr>
              <a:t> </a:t>
            </a:r>
            <a:r>
              <a:rPr lang="en-GB" sz="1900" dirty="0" err="1">
                <a:sym typeface="+mn-ea"/>
              </a:rPr>
              <a:t>vụ</a:t>
            </a:r>
            <a:r>
              <a:rPr lang="en-GB" sz="1900" dirty="0">
                <a:sym typeface="+mn-ea"/>
              </a:rPr>
              <a:t> </a:t>
            </a:r>
            <a:r>
              <a:rPr lang="en-GB" sz="1900" dirty="0" err="1">
                <a:sym typeface="+mn-ea"/>
              </a:rPr>
              <a:t>của</a:t>
            </a:r>
            <a:r>
              <a:rPr lang="en-GB" sz="1900" dirty="0">
                <a:sym typeface="+mn-ea"/>
              </a:rPr>
              <a:t> </a:t>
            </a:r>
            <a:r>
              <a:rPr lang="en-GB" sz="1900" dirty="0" err="1">
                <a:sym typeface="+mn-ea"/>
              </a:rPr>
              <a:t>hệ</a:t>
            </a:r>
            <a:r>
              <a:rPr lang="en-GB" sz="1900" dirty="0">
                <a:sym typeface="+mn-ea"/>
              </a:rPr>
              <a:t> </a:t>
            </a:r>
            <a:r>
              <a:rPr lang="en-GB" sz="1900" dirty="0" err="1">
                <a:sym typeface="+mn-ea"/>
              </a:rPr>
              <a:t>thống</a:t>
            </a:r>
            <a:r>
              <a:rPr lang="en-GB" sz="1900" dirty="0">
                <a:sym typeface="+mn-ea"/>
              </a:rPr>
              <a:t> </a:t>
            </a:r>
            <a:r>
              <a:rPr lang="en-GB" sz="1900" dirty="0" err="1">
                <a:sym typeface="+mn-ea"/>
              </a:rPr>
              <a:t>và</a:t>
            </a:r>
            <a:r>
              <a:rPr lang="en-GB" sz="1900" dirty="0">
                <a:sym typeface="+mn-ea"/>
              </a:rPr>
              <a:t> </a:t>
            </a:r>
            <a:r>
              <a:rPr lang="en-GB" sz="1900" dirty="0" err="1">
                <a:sym typeface="+mn-ea"/>
              </a:rPr>
              <a:t>thực</a:t>
            </a:r>
            <a:r>
              <a:rPr lang="en-GB" sz="1900" dirty="0">
                <a:sym typeface="+mn-ea"/>
              </a:rPr>
              <a:t> </a:t>
            </a:r>
            <a:r>
              <a:rPr lang="en-GB" sz="1900" dirty="0" err="1">
                <a:sym typeface="+mn-ea"/>
              </a:rPr>
              <a:t>hiện</a:t>
            </a:r>
            <a:r>
              <a:rPr lang="en-GB" sz="1900" dirty="0">
                <a:sym typeface="+mn-ea"/>
              </a:rPr>
              <a:t> </a:t>
            </a:r>
            <a:r>
              <a:rPr lang="en-GB" sz="1900" dirty="0" err="1">
                <a:sym typeface="+mn-ea"/>
              </a:rPr>
              <a:t>sau</a:t>
            </a:r>
            <a:r>
              <a:rPr lang="en-GB" sz="1900" dirty="0">
                <a:sym typeface="+mn-ea"/>
              </a:rPr>
              <a:t> </a:t>
            </a:r>
            <a:r>
              <a:rPr lang="en-GB" sz="1900" dirty="0" err="1">
                <a:sym typeface="+mn-ea"/>
              </a:rPr>
              <a:t>khi</a:t>
            </a:r>
            <a:r>
              <a:rPr lang="en-GB" sz="1900" dirty="0">
                <a:sym typeface="+mn-ea"/>
              </a:rPr>
              <a:t> </a:t>
            </a:r>
            <a:r>
              <a:rPr lang="en-US" sz="1900" dirty="0" err="1">
                <a:sym typeface="+mn-ea"/>
              </a:rPr>
              <a:t>nhóm</a:t>
            </a:r>
            <a:r>
              <a:rPr lang="en-US" sz="1900" dirty="0">
                <a:sym typeface="+mn-ea"/>
              </a:rPr>
              <a:t> </a:t>
            </a:r>
            <a:r>
              <a:rPr lang="en-US" sz="1900" dirty="0" err="1">
                <a:sym typeface="+mn-ea"/>
              </a:rPr>
              <a:t>phát</a:t>
            </a:r>
            <a:r>
              <a:rPr lang="en-US" sz="1900" dirty="0">
                <a:sym typeface="+mn-ea"/>
              </a:rPr>
              <a:t> </a:t>
            </a:r>
            <a:r>
              <a:rPr lang="en-US" sz="1900" dirty="0" err="1">
                <a:sym typeface="+mn-ea"/>
              </a:rPr>
              <a:t>triển</a:t>
            </a:r>
            <a:r>
              <a:rPr lang="en-US" sz="1900" dirty="0">
                <a:sym typeface="+mn-ea"/>
              </a:rPr>
              <a:t> </a:t>
            </a:r>
            <a:r>
              <a:rPr lang="en-US" sz="1900" dirty="0" err="1">
                <a:sym typeface="+mn-ea"/>
              </a:rPr>
              <a:t>đã</a:t>
            </a:r>
            <a:r>
              <a:rPr lang="en-US" sz="1900" dirty="0">
                <a:sym typeface="+mn-ea"/>
              </a:rPr>
              <a:t> </a:t>
            </a:r>
            <a:r>
              <a:rPr lang="en-US" sz="1900" dirty="0" err="1">
                <a:sym typeface="+mn-ea"/>
              </a:rPr>
              <a:t>hoàn</a:t>
            </a:r>
            <a:r>
              <a:rPr lang="en-US" sz="1900" dirty="0">
                <a:sym typeface="+mn-ea"/>
              </a:rPr>
              <a:t> thành phần test </a:t>
            </a:r>
            <a:r>
              <a:rPr lang="en-US" sz="1900" dirty="0" err="1">
                <a:sym typeface="+mn-ea"/>
              </a:rPr>
              <a:t>và</a:t>
            </a:r>
            <a:r>
              <a:rPr lang="en-US" sz="1900" dirty="0">
                <a:sym typeface="+mn-ea"/>
              </a:rPr>
              <a:t> </a:t>
            </a:r>
            <a:r>
              <a:rPr lang="en-US" sz="1900" dirty="0" err="1">
                <a:sym typeface="+mn-ea"/>
              </a:rPr>
              <a:t>sửa</a:t>
            </a:r>
            <a:r>
              <a:rPr lang="en-US" sz="1900" dirty="0">
                <a:sym typeface="+mn-ea"/>
              </a:rPr>
              <a:t> </a:t>
            </a:r>
            <a:r>
              <a:rPr lang="en-US" sz="1900" dirty="0" err="1">
                <a:sym typeface="+mn-ea"/>
              </a:rPr>
              <a:t>lỗi</a:t>
            </a:r>
            <a:r>
              <a:rPr lang="en-US" sz="1900" dirty="0">
                <a:sym typeface="+mn-ea"/>
              </a:rPr>
              <a:t> hệ thống.</a:t>
            </a:r>
            <a:endParaRPr lang="en-US" sz="1900" dirty="0"/>
          </a:p>
          <a:p>
            <a:pPr marL="64135" indent="0" algn="just">
              <a:buNone/>
            </a:pPr>
            <a:endParaRPr lang="en-US" sz="1900" dirty="0"/>
          </a:p>
        </p:txBody>
      </p:sp>
    </p:spTree>
    <p:extLst>
      <p:ext uri="{BB962C8B-B14F-4D97-AF65-F5344CB8AC3E}">
        <p14:creationId xmlns:p14="http://schemas.microsoft.com/office/powerpoint/2010/main" val="2068711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152400"/>
            <a:ext cx="6747510" cy="675640"/>
          </a:xfrm>
        </p:spPr>
        <p:txBody>
          <a:bodyPr/>
          <a:lstStyle/>
          <a:p>
            <a:r>
              <a:rPr lang="en-US" dirty="0"/>
              <a:t>VI. Quy </a:t>
            </a:r>
            <a:r>
              <a:rPr lang="en-US" dirty="0" err="1"/>
              <a:t>trình</a:t>
            </a:r>
            <a:r>
              <a:rPr lang="en-US" dirty="0"/>
              <a:t> test </a:t>
            </a:r>
            <a:r>
              <a:rPr lang="en-US" dirty="0" err="1"/>
              <a:t>cơ</a:t>
            </a:r>
            <a:r>
              <a:rPr lang="en-US" dirty="0"/>
              <a:t> </a:t>
            </a:r>
            <a:r>
              <a:rPr lang="en-US" dirty="0" err="1"/>
              <a:t>bản</a:t>
            </a:r>
            <a:endParaRPr lang="en-US" dirty="0"/>
          </a:p>
        </p:txBody>
      </p:sp>
      <p:sp>
        <p:nvSpPr>
          <p:cNvPr id="3" name="Content Placeholder 2"/>
          <p:cNvSpPr>
            <a:spLocks noGrp="1"/>
          </p:cNvSpPr>
          <p:nvPr>
            <p:ph sz="half" idx="1"/>
          </p:nvPr>
        </p:nvSpPr>
        <p:spPr>
          <a:xfrm>
            <a:off x="455930" y="865110"/>
            <a:ext cx="7816215" cy="802640"/>
          </a:xfrm>
        </p:spPr>
        <p:txBody>
          <a:bodyPr>
            <a:normAutofit fontScale="92500" lnSpcReduction="10000"/>
          </a:bodyPr>
          <a:lstStyle/>
          <a:p>
            <a:pPr marL="64135" indent="0">
              <a:buNone/>
            </a:pPr>
            <a:r>
              <a:rPr lang="en-US" sz="1800" b="1" dirty="0"/>
              <a:t>Test</a:t>
            </a:r>
            <a:r>
              <a:rPr lang="vi-VN" sz="1800" b="1" dirty="0"/>
              <a:t> là một quá trình</a:t>
            </a:r>
            <a:r>
              <a:rPr lang="vi-VN" sz="1800" dirty="0"/>
              <a:t> chứ không phải là một hoạt động đơn lẻ. Quá trình này bắt đầu từ việc lập kế hoạch, sau đó thiết kế </a:t>
            </a:r>
            <a:r>
              <a:rPr lang="en-US" sz="1800" dirty="0" err="1"/>
              <a:t>kịch</a:t>
            </a:r>
            <a:r>
              <a:rPr lang="en-US" sz="1800" dirty="0"/>
              <a:t> </a:t>
            </a:r>
            <a:r>
              <a:rPr lang="en-US" sz="1800" dirty="0" err="1"/>
              <a:t>bản</a:t>
            </a:r>
            <a:r>
              <a:rPr lang="en-US" sz="1800" dirty="0"/>
              <a:t> test,</a:t>
            </a:r>
            <a:r>
              <a:rPr lang="vi-VN" sz="1800" dirty="0"/>
              <a:t> </a:t>
            </a:r>
            <a:r>
              <a:rPr lang="en-US" sz="1800" dirty="0" err="1"/>
              <a:t>thực</a:t>
            </a:r>
            <a:r>
              <a:rPr lang="en-US" sz="1800" dirty="0"/>
              <a:t> </a:t>
            </a:r>
            <a:r>
              <a:rPr lang="en-US" sz="1800" dirty="0" err="1"/>
              <a:t>hiện</a:t>
            </a:r>
            <a:r>
              <a:rPr lang="en-US" sz="1800" dirty="0"/>
              <a:t> test </a:t>
            </a:r>
            <a:r>
              <a:rPr lang="vi-VN" sz="1800" dirty="0"/>
              <a:t>và </a:t>
            </a:r>
            <a:r>
              <a:rPr lang="en-US" sz="1800" dirty="0" err="1"/>
              <a:t>và</a:t>
            </a:r>
            <a:r>
              <a:rPr lang="en-US" sz="1800" dirty="0"/>
              <a:t> </a:t>
            </a:r>
            <a:r>
              <a:rPr lang="en-US" sz="1800" dirty="0" err="1"/>
              <a:t>báo</a:t>
            </a:r>
            <a:r>
              <a:rPr lang="en-US" sz="1800" dirty="0"/>
              <a:t> </a:t>
            </a:r>
            <a:r>
              <a:rPr lang="en-US" sz="1800" dirty="0" err="1"/>
              <a:t>cáo</a:t>
            </a:r>
            <a:r>
              <a:rPr lang="en-US" sz="1800" dirty="0"/>
              <a:t> </a:t>
            </a:r>
            <a:r>
              <a:rPr lang="en-US" sz="1800" dirty="0" err="1"/>
              <a:t>phân</a:t>
            </a:r>
            <a:r>
              <a:rPr lang="en-US" sz="1800" dirty="0"/>
              <a:t> </a:t>
            </a:r>
            <a:r>
              <a:rPr lang="en-US" sz="1800" dirty="0" err="1"/>
              <a:t>tích</a:t>
            </a:r>
            <a:r>
              <a:rPr lang="en-US" sz="1800" dirty="0"/>
              <a:t> test</a:t>
            </a:r>
            <a:endParaRPr lang="en-US" sz="1900" dirty="0"/>
          </a:p>
        </p:txBody>
      </p:sp>
      <p:pic>
        <p:nvPicPr>
          <p:cNvPr id="4" name="Picture 3"/>
          <p:cNvPicPr>
            <a:picLocks noChangeAspect="1"/>
          </p:cNvPicPr>
          <p:nvPr/>
        </p:nvPicPr>
        <p:blipFill>
          <a:blip r:embed="rId3"/>
          <a:stretch>
            <a:fillRect/>
          </a:stretch>
        </p:blipFill>
        <p:spPr>
          <a:xfrm>
            <a:off x="1219200" y="1836626"/>
            <a:ext cx="6781800" cy="478112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001000" cy="79930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idx="1"/>
          </p:nvPr>
        </p:nvSpPr>
        <p:spPr>
          <a:xfrm>
            <a:off x="457200" y="685800"/>
            <a:ext cx="8229600" cy="6019800"/>
          </a:xfrm>
        </p:spPr>
        <p:txBody>
          <a:bodyPr>
            <a:noAutofit/>
          </a:bodyPr>
          <a:lstStyle/>
          <a:p>
            <a:pPr marL="285750" indent="-285750">
              <a:buFont typeface="Wingdings" panose="05000000000000000000" pitchFamily="2" charset="2"/>
              <a:buChar char="v"/>
            </a:pPr>
            <a:r>
              <a:rPr lang="en-US" sz="1600" dirty="0" err="1"/>
              <a:t>Đau</a:t>
            </a:r>
            <a:r>
              <a:rPr lang="en-US" sz="1600" dirty="0"/>
              <a:t> </a:t>
            </a:r>
            <a:r>
              <a:rPr lang="en-US" sz="1600" dirty="0" err="1"/>
              <a:t>đầu</a:t>
            </a:r>
            <a:r>
              <a:rPr lang="en-US" sz="1600" dirty="0"/>
              <a:t> </a:t>
            </a:r>
            <a:r>
              <a:rPr lang="en-US" sz="1600" dirty="0" err="1"/>
              <a:t>lớn</a:t>
            </a:r>
            <a:r>
              <a:rPr lang="en-US" sz="1600" dirty="0"/>
              <a:t> </a:t>
            </a:r>
            <a:r>
              <a:rPr lang="en-US" sz="1600" dirty="0" err="1"/>
              <a:t>nhất</a:t>
            </a:r>
            <a:r>
              <a:rPr lang="en-US" sz="1600" dirty="0"/>
              <a:t> </a:t>
            </a:r>
            <a:r>
              <a:rPr lang="en-US" sz="1600" dirty="0" err="1"/>
              <a:t>của</a:t>
            </a:r>
            <a:r>
              <a:rPr lang="en-US" sz="1600" dirty="0"/>
              <a:t> tester </a:t>
            </a:r>
            <a:r>
              <a:rPr lang="en-US" sz="1600" dirty="0" err="1"/>
              <a:t>chính</a:t>
            </a:r>
            <a:r>
              <a:rPr lang="en-US" sz="1600" dirty="0"/>
              <a:t> </a:t>
            </a:r>
            <a:r>
              <a:rPr lang="en-US" sz="1600" dirty="0" err="1"/>
              <a:t>là</a:t>
            </a:r>
            <a:r>
              <a:rPr lang="en-US" sz="1600" dirty="0"/>
              <a:t> </a:t>
            </a:r>
            <a:r>
              <a:rPr lang="en-US" sz="1600" dirty="0" err="1"/>
              <a:t>tìm</a:t>
            </a:r>
            <a:r>
              <a:rPr lang="en-US" sz="1600" dirty="0"/>
              <a:t> </a:t>
            </a:r>
            <a:r>
              <a:rPr lang="en-US" sz="1600" dirty="0" err="1"/>
              <a:t>những</a:t>
            </a:r>
            <a:r>
              <a:rPr lang="en-US" sz="1600" dirty="0"/>
              <a:t> bug </a:t>
            </a:r>
            <a:r>
              <a:rPr lang="en-US" sz="1600" dirty="0" err="1"/>
              <a:t>tìm</a:t>
            </a:r>
            <a:r>
              <a:rPr lang="en-US" sz="1600" dirty="0"/>
              <a:t> </a:t>
            </a:r>
            <a:r>
              <a:rPr lang="en-US" sz="1600" dirty="0" err="1"/>
              <a:t>ẩn</a:t>
            </a:r>
            <a:r>
              <a:rPr lang="en-US" sz="1600" dirty="0"/>
              <a:t>. </a:t>
            </a:r>
            <a:r>
              <a:rPr lang="en-US" sz="1600" dirty="0" err="1"/>
              <a:t>Làm</a:t>
            </a:r>
            <a:r>
              <a:rPr lang="en-US" sz="1600" dirty="0"/>
              <a:t> </a:t>
            </a:r>
            <a:r>
              <a:rPr lang="en-US" sz="1600" dirty="0" err="1"/>
              <a:t>thế</a:t>
            </a:r>
            <a:r>
              <a:rPr lang="en-US" sz="1600" dirty="0"/>
              <a:t> </a:t>
            </a:r>
            <a:r>
              <a:rPr lang="en-US" sz="1600" dirty="0" err="1"/>
              <a:t>nào</a:t>
            </a:r>
            <a:r>
              <a:rPr lang="en-US" sz="1600" dirty="0"/>
              <a:t> </a:t>
            </a:r>
            <a:r>
              <a:rPr lang="en-US" sz="1600" dirty="0" err="1"/>
              <a:t>để</a:t>
            </a:r>
            <a:r>
              <a:rPr lang="en-US" sz="1600" dirty="0"/>
              <a:t> </a:t>
            </a:r>
            <a:r>
              <a:rPr lang="en-US" sz="1600" dirty="0" err="1"/>
              <a:t>tìm</a:t>
            </a:r>
            <a:r>
              <a:rPr lang="en-US" sz="1600" dirty="0"/>
              <a:t> ra </a:t>
            </a:r>
            <a:r>
              <a:rPr lang="en-US" sz="1600" dirty="0" err="1"/>
              <a:t>những</a:t>
            </a:r>
            <a:r>
              <a:rPr lang="en-US" sz="1600" dirty="0"/>
              <a:t> bug </a:t>
            </a:r>
            <a:r>
              <a:rPr lang="en-US" sz="1600" dirty="0" err="1"/>
              <a:t>gây</a:t>
            </a:r>
            <a:r>
              <a:rPr lang="en-US" sz="1600" dirty="0"/>
              <a:t> </a:t>
            </a:r>
            <a:r>
              <a:rPr lang="en-US" sz="1600" dirty="0" err="1"/>
              <a:t>khó</a:t>
            </a:r>
            <a:r>
              <a:rPr lang="en-US" sz="1600" dirty="0"/>
              <a:t> </a:t>
            </a:r>
            <a:r>
              <a:rPr lang="en-US" sz="1600" dirty="0" err="1"/>
              <a:t>chịu</a:t>
            </a:r>
            <a:r>
              <a:rPr lang="en-US" sz="1600" dirty="0"/>
              <a:t> </a:t>
            </a:r>
            <a:r>
              <a:rPr lang="en-US" sz="1600" dirty="0" err="1"/>
              <a:t>cho</a:t>
            </a:r>
            <a:r>
              <a:rPr lang="en-US" sz="1600" dirty="0"/>
              <a:t> </a:t>
            </a:r>
            <a:r>
              <a:rPr lang="en-US" sz="1600" dirty="0" err="1"/>
              <a:t>người</a:t>
            </a:r>
            <a:r>
              <a:rPr lang="en-US" sz="1600" dirty="0"/>
              <a:t> </a:t>
            </a:r>
            <a:r>
              <a:rPr lang="en-US" sz="1600" dirty="0" err="1"/>
              <a:t>dùng</a:t>
            </a:r>
            <a:endParaRPr lang="en-US" sz="1600" dirty="0"/>
          </a:p>
          <a:p>
            <a:pPr marL="285750" indent="-285750">
              <a:buFont typeface="Wingdings" panose="05000000000000000000" pitchFamily="2" charset="2"/>
              <a:buChar char="v"/>
            </a:pPr>
            <a:r>
              <a:rPr lang="vi-VN" sz="1600" dirty="0"/>
              <a:t>Trong </a:t>
            </a:r>
            <a:r>
              <a:rPr lang="en-US" sz="1600" dirty="0"/>
              <a:t>test </a:t>
            </a:r>
            <a:r>
              <a:rPr lang="vi-VN" sz="1600" dirty="0"/>
              <a:t>phần mềm có </a:t>
            </a:r>
            <a:r>
              <a:rPr lang="en-US" sz="1600" dirty="0"/>
              <a:t>6</a:t>
            </a:r>
            <a:r>
              <a:rPr lang="vi-VN" sz="1600" dirty="0"/>
              <a:t> nguyên tắc kiểm thử</a:t>
            </a:r>
            <a:r>
              <a:rPr lang="en-US" sz="1600" dirty="0"/>
              <a:t>, </a:t>
            </a:r>
            <a:r>
              <a:rPr lang="en-US" sz="1600" dirty="0" err="1"/>
              <a:t>Nó</a:t>
            </a:r>
            <a:r>
              <a:rPr lang="en-US" sz="1600" dirty="0"/>
              <a:t> </a:t>
            </a:r>
            <a:r>
              <a:rPr lang="vi-VN" sz="1600" dirty="0"/>
              <a:t>giúp tiết kiệm thời gian cũng như công sức </a:t>
            </a:r>
            <a:r>
              <a:rPr lang="en-US" sz="1600" dirty="0" err="1"/>
              <a:t>tìm</a:t>
            </a:r>
            <a:r>
              <a:rPr lang="en-US" sz="1600" dirty="0"/>
              <a:t> ra</a:t>
            </a:r>
            <a:r>
              <a:rPr lang="vi-VN" sz="1600" dirty="0"/>
              <a:t> bug ẩn trong các ứng dụng</a:t>
            </a:r>
            <a:r>
              <a:rPr lang="en-US" sz="1600" dirty="0"/>
              <a:t>. </a:t>
            </a:r>
          </a:p>
          <a:p>
            <a:pPr marL="374650" lvl="1" indent="0">
              <a:buNone/>
            </a:pPr>
            <a:r>
              <a:rPr lang="en-US" sz="1600" dirty="0"/>
              <a:t>(N</a:t>
            </a:r>
            <a:r>
              <a:rPr lang="vi-VN" sz="1600" dirty="0"/>
              <a:t>guyên tắc chính là những quy định hoặc là luật mà chúng ta phải tuân theo. Việc bỏ qua bất kỳ nguyên tắc nào cũng có thể làm giảm hiệu quả của việc thực hiện hệ thống.</a:t>
            </a:r>
            <a:r>
              <a:rPr lang="en-US" sz="1600" dirty="0"/>
              <a:t>)</a:t>
            </a:r>
          </a:p>
          <a:p>
            <a:pPr marL="285750" indent="-285750">
              <a:buFont typeface="Wingdings" panose="05000000000000000000" pitchFamily="2" charset="2"/>
              <a:buChar char="v"/>
            </a:pPr>
            <a:r>
              <a:rPr lang="vi-VN" sz="1600" dirty="0"/>
              <a:t> </a:t>
            </a:r>
            <a:r>
              <a:rPr lang="en-US" sz="1600" dirty="0"/>
              <a:t>6</a:t>
            </a:r>
            <a:r>
              <a:rPr lang="vi-VN" sz="1600" dirty="0"/>
              <a:t> nguyên tắc</a:t>
            </a:r>
            <a:r>
              <a:rPr lang="en-US" sz="1600" dirty="0"/>
              <a:t> như </a:t>
            </a:r>
            <a:r>
              <a:rPr lang="en-US" sz="1600" dirty="0" err="1"/>
              <a:t>sau</a:t>
            </a:r>
            <a:endParaRPr lang="en-US" sz="1600" dirty="0"/>
          </a:p>
          <a:p>
            <a:pPr marL="603250" lvl="1" indent="-228600">
              <a:buAutoNum type="arabicPeriod"/>
            </a:pPr>
            <a:r>
              <a:rPr lang="en-US" sz="1600" dirty="0">
                <a:solidFill>
                  <a:schemeClr val="bg1"/>
                </a:solidFill>
              </a:rPr>
              <a:t>Test </a:t>
            </a:r>
            <a:r>
              <a:rPr lang="en-US" sz="1600" dirty="0" err="1">
                <a:solidFill>
                  <a:schemeClr val="bg1"/>
                </a:solidFill>
              </a:rPr>
              <a:t>đưa</a:t>
            </a:r>
            <a:r>
              <a:rPr lang="en-US" sz="1600" dirty="0">
                <a:solidFill>
                  <a:schemeClr val="bg1"/>
                </a:solidFill>
              </a:rPr>
              <a:t> </a:t>
            </a:r>
            <a:r>
              <a:rPr lang="en-US" sz="1600" dirty="0" err="1">
                <a:solidFill>
                  <a:schemeClr val="bg1"/>
                </a:solidFill>
              </a:rPr>
              <a:t>ra</a:t>
            </a:r>
            <a:r>
              <a:rPr lang="en-US" sz="1600" dirty="0">
                <a:solidFill>
                  <a:schemeClr val="bg1"/>
                </a:solidFill>
              </a:rPr>
              <a:t> </a:t>
            </a:r>
            <a:r>
              <a:rPr lang="en-US" sz="1600" dirty="0" err="1">
                <a:solidFill>
                  <a:schemeClr val="bg1"/>
                </a:solidFill>
              </a:rPr>
              <a:t>lỗi</a:t>
            </a:r>
            <a:endParaRPr lang="en-US" sz="1600" dirty="0">
              <a:solidFill>
                <a:schemeClr val="bg1"/>
              </a:solidFill>
            </a:endParaRPr>
          </a:p>
          <a:p>
            <a:pPr marL="603250" lvl="1" indent="-228600">
              <a:buAutoNum type="arabicPeriod"/>
            </a:pPr>
            <a:r>
              <a:rPr lang="en-US" sz="1600" dirty="0">
                <a:solidFill>
                  <a:schemeClr val="bg1"/>
                </a:solidFill>
              </a:rPr>
              <a:t>Test </a:t>
            </a:r>
            <a:r>
              <a:rPr lang="en-US" sz="1600" dirty="0" err="1">
                <a:solidFill>
                  <a:schemeClr val="bg1"/>
                </a:solidFill>
              </a:rPr>
              <a:t>toàn</a:t>
            </a:r>
            <a:r>
              <a:rPr lang="en-US" sz="1600" dirty="0">
                <a:solidFill>
                  <a:schemeClr val="bg1"/>
                </a:solidFill>
              </a:rPr>
              <a:t> </a:t>
            </a:r>
            <a:r>
              <a:rPr lang="en-US" sz="1600" dirty="0" err="1">
                <a:solidFill>
                  <a:schemeClr val="bg1"/>
                </a:solidFill>
              </a:rPr>
              <a:t>bộ</a:t>
            </a:r>
            <a:r>
              <a:rPr lang="en-US" sz="1600" dirty="0">
                <a:solidFill>
                  <a:schemeClr val="bg1"/>
                </a:solidFill>
              </a:rPr>
              <a:t> </a:t>
            </a:r>
            <a:r>
              <a:rPr lang="en-US" sz="1600" dirty="0" err="1">
                <a:solidFill>
                  <a:schemeClr val="bg1"/>
                </a:solidFill>
              </a:rPr>
              <a:t>là</a:t>
            </a:r>
            <a:r>
              <a:rPr lang="en-US" sz="1600" dirty="0">
                <a:solidFill>
                  <a:schemeClr val="bg1"/>
                </a:solidFill>
              </a:rPr>
              <a:t> </a:t>
            </a:r>
            <a:r>
              <a:rPr lang="en-US" sz="1600" dirty="0" err="1">
                <a:solidFill>
                  <a:schemeClr val="bg1"/>
                </a:solidFill>
              </a:rPr>
              <a:t>không</a:t>
            </a:r>
            <a:r>
              <a:rPr lang="en-US" sz="1600" dirty="0">
                <a:solidFill>
                  <a:schemeClr val="bg1"/>
                </a:solidFill>
              </a:rPr>
              <a:t> </a:t>
            </a:r>
            <a:r>
              <a:rPr lang="en-US" sz="1600" dirty="0" err="1">
                <a:solidFill>
                  <a:schemeClr val="bg1"/>
                </a:solidFill>
              </a:rPr>
              <a:t>thể</a:t>
            </a:r>
            <a:r>
              <a:rPr lang="vi-VN" sz="1600" dirty="0">
                <a:solidFill>
                  <a:schemeClr val="bg1"/>
                </a:solidFill>
              </a:rPr>
              <a:t> (</a:t>
            </a:r>
            <a:r>
              <a:rPr lang="en-US" sz="1600" dirty="0" err="1">
                <a:solidFill>
                  <a:schemeClr val="bg1"/>
                </a:solidFill>
              </a:rPr>
              <a:t>Trừ</a:t>
            </a:r>
            <a:r>
              <a:rPr lang="en-US" sz="1600" dirty="0">
                <a:solidFill>
                  <a:schemeClr val="bg1"/>
                </a:solidFill>
              </a:rPr>
              <a:t> </a:t>
            </a:r>
            <a:r>
              <a:rPr lang="vi-VN" sz="1600" dirty="0">
                <a:solidFill>
                  <a:schemeClr val="bg1"/>
                </a:solidFill>
              </a:rPr>
              <a:t>trường hợp </a:t>
            </a:r>
            <a:r>
              <a:rPr lang="en-US" sz="1600" dirty="0" err="1">
                <a:solidFill>
                  <a:schemeClr val="bg1"/>
                </a:solidFill>
              </a:rPr>
              <a:t>ít</a:t>
            </a:r>
            <a:r>
              <a:rPr lang="en-US" sz="1600" dirty="0">
                <a:solidFill>
                  <a:schemeClr val="bg1"/>
                </a:solidFill>
              </a:rPr>
              <a:t> </a:t>
            </a:r>
            <a:r>
              <a:rPr lang="vi-VN" sz="1600" dirty="0">
                <a:solidFill>
                  <a:schemeClr val="bg1"/>
                </a:solidFill>
              </a:rPr>
              <a:t>tổ hợ</a:t>
            </a:r>
            <a:r>
              <a:rPr lang="en-US" sz="1600" dirty="0">
                <a:solidFill>
                  <a:schemeClr val="bg1"/>
                </a:solidFill>
              </a:rPr>
              <a:t>p</a:t>
            </a:r>
            <a:r>
              <a:rPr lang="vi-VN" sz="1600" dirty="0">
                <a:solidFill>
                  <a:schemeClr val="bg1"/>
                </a:solidFill>
              </a:rPr>
              <a:t>)</a:t>
            </a:r>
            <a:r>
              <a:rPr lang="en-US" sz="1600" dirty="0">
                <a:solidFill>
                  <a:schemeClr val="bg1"/>
                </a:solidFill>
              </a:rPr>
              <a:t>.</a:t>
            </a:r>
          </a:p>
          <a:p>
            <a:pPr marL="603250" lvl="1" indent="-228600">
              <a:buAutoNum type="arabicPeriod"/>
            </a:pPr>
            <a:r>
              <a:rPr lang="en-US" sz="1600" dirty="0">
                <a:solidFill>
                  <a:schemeClr val="bg1"/>
                </a:solidFill>
              </a:rPr>
              <a:t>Test </a:t>
            </a:r>
            <a:r>
              <a:rPr lang="en-US" sz="1600" dirty="0" err="1">
                <a:solidFill>
                  <a:schemeClr val="bg1"/>
                </a:solidFill>
              </a:rPr>
              <a:t>sớm</a:t>
            </a:r>
            <a:r>
              <a:rPr lang="en-US" sz="1600" dirty="0">
                <a:solidFill>
                  <a:schemeClr val="bg1"/>
                </a:solidFill>
              </a:rPr>
              <a:t> </a:t>
            </a:r>
            <a:r>
              <a:rPr lang="en-US" sz="1600" dirty="0" err="1">
                <a:solidFill>
                  <a:schemeClr val="bg1"/>
                </a:solidFill>
              </a:rPr>
              <a:t>giúp</a:t>
            </a:r>
            <a:r>
              <a:rPr lang="en-US" sz="1600" dirty="0">
                <a:solidFill>
                  <a:schemeClr val="bg1"/>
                </a:solidFill>
              </a:rPr>
              <a:t> </a:t>
            </a:r>
            <a:r>
              <a:rPr lang="en-US" sz="1600" dirty="0" err="1">
                <a:solidFill>
                  <a:schemeClr val="bg1"/>
                </a:solidFill>
              </a:rPr>
              <a:t>tiết</a:t>
            </a:r>
            <a:r>
              <a:rPr lang="en-US" sz="1600" dirty="0">
                <a:solidFill>
                  <a:schemeClr val="bg1"/>
                </a:solidFill>
              </a:rPr>
              <a:t> </a:t>
            </a:r>
            <a:r>
              <a:rPr lang="en-US" sz="1600" dirty="0" err="1">
                <a:solidFill>
                  <a:schemeClr val="bg1"/>
                </a:solidFill>
              </a:rPr>
              <a:t>kiệm</a:t>
            </a:r>
            <a:r>
              <a:rPr lang="en-US" sz="1600" dirty="0">
                <a:solidFill>
                  <a:schemeClr val="bg1"/>
                </a:solidFill>
              </a:rPr>
              <a:t> </a:t>
            </a:r>
            <a:r>
              <a:rPr lang="en-US" sz="1600" dirty="0" err="1">
                <a:solidFill>
                  <a:schemeClr val="bg1"/>
                </a:solidFill>
              </a:rPr>
              <a:t>thời</a:t>
            </a:r>
            <a:r>
              <a:rPr lang="en-US" sz="1600" dirty="0">
                <a:solidFill>
                  <a:schemeClr val="bg1"/>
                </a:solidFill>
              </a:rPr>
              <a:t> </a:t>
            </a:r>
            <a:r>
              <a:rPr lang="en-US" sz="1600" dirty="0" err="1">
                <a:solidFill>
                  <a:schemeClr val="bg1"/>
                </a:solidFill>
              </a:rPr>
              <a:t>gian</a:t>
            </a:r>
            <a:r>
              <a:rPr lang="en-US" sz="1600" dirty="0">
                <a:solidFill>
                  <a:schemeClr val="bg1"/>
                </a:solidFill>
              </a:rPr>
              <a:t> </a:t>
            </a:r>
            <a:r>
              <a:rPr lang="en-US" sz="1600" dirty="0" err="1">
                <a:solidFill>
                  <a:schemeClr val="bg1"/>
                </a:solidFill>
              </a:rPr>
              <a:t>và</a:t>
            </a:r>
            <a:r>
              <a:rPr lang="en-US" sz="1600" dirty="0">
                <a:solidFill>
                  <a:schemeClr val="bg1"/>
                </a:solidFill>
              </a:rPr>
              <a:t> </a:t>
            </a:r>
            <a:r>
              <a:rPr lang="en-US" sz="1600" dirty="0" err="1">
                <a:solidFill>
                  <a:schemeClr val="bg1"/>
                </a:solidFill>
              </a:rPr>
              <a:t>tiền</a:t>
            </a:r>
            <a:r>
              <a:rPr lang="en-US" sz="1600" dirty="0">
                <a:solidFill>
                  <a:schemeClr val="bg1"/>
                </a:solidFill>
              </a:rPr>
              <a:t> </a:t>
            </a:r>
            <a:r>
              <a:rPr lang="en-US" sz="1600" dirty="0" err="1">
                <a:solidFill>
                  <a:schemeClr val="bg1"/>
                </a:solidFill>
              </a:rPr>
              <a:t>bạc</a:t>
            </a:r>
            <a:r>
              <a:rPr lang="en-US" sz="1600" dirty="0">
                <a:solidFill>
                  <a:schemeClr val="bg1"/>
                </a:solidFill>
              </a:rPr>
              <a:t>.</a:t>
            </a:r>
          </a:p>
          <a:p>
            <a:pPr marL="603250" lvl="1" indent="-228600">
              <a:buAutoNum type="arabicPeriod"/>
            </a:pPr>
            <a:r>
              <a:rPr lang="en-US" sz="1600" dirty="0" err="1">
                <a:solidFill>
                  <a:schemeClr val="bg1"/>
                </a:solidFill>
              </a:rPr>
              <a:t>Sự</a:t>
            </a:r>
            <a:r>
              <a:rPr lang="en-US" sz="1600" dirty="0">
                <a:solidFill>
                  <a:schemeClr val="bg1"/>
                </a:solidFill>
              </a:rPr>
              <a:t> </a:t>
            </a:r>
            <a:r>
              <a:rPr lang="en-US" sz="1600" dirty="0" err="1">
                <a:solidFill>
                  <a:schemeClr val="bg1"/>
                </a:solidFill>
              </a:rPr>
              <a:t>tập</a:t>
            </a:r>
            <a:r>
              <a:rPr lang="en-US" sz="1600" dirty="0">
                <a:solidFill>
                  <a:schemeClr val="bg1"/>
                </a:solidFill>
              </a:rPr>
              <a:t> </a:t>
            </a:r>
            <a:r>
              <a:rPr lang="en-US" sz="1600" dirty="0" err="1">
                <a:solidFill>
                  <a:schemeClr val="bg1"/>
                </a:solidFill>
              </a:rPr>
              <a:t>trung</a:t>
            </a:r>
            <a:r>
              <a:rPr lang="en-US" sz="1600" dirty="0">
                <a:solidFill>
                  <a:schemeClr val="bg1"/>
                </a:solidFill>
              </a:rPr>
              <a:t> </a:t>
            </a:r>
            <a:r>
              <a:rPr lang="en-US" sz="1600" dirty="0" err="1">
                <a:solidFill>
                  <a:schemeClr val="bg1"/>
                </a:solidFill>
              </a:rPr>
              <a:t>của</a:t>
            </a:r>
            <a:r>
              <a:rPr lang="en-US" sz="1600" dirty="0">
                <a:solidFill>
                  <a:schemeClr val="bg1"/>
                </a:solidFill>
              </a:rPr>
              <a:t> </a:t>
            </a:r>
            <a:r>
              <a:rPr lang="en-US" sz="1600" dirty="0" err="1">
                <a:solidFill>
                  <a:schemeClr val="bg1"/>
                </a:solidFill>
              </a:rPr>
              <a:t>lỗi</a:t>
            </a:r>
            <a:r>
              <a:rPr lang="en-US" sz="1600" dirty="0">
                <a:solidFill>
                  <a:schemeClr val="bg1"/>
                </a:solidFill>
              </a:rPr>
              <a:t>.</a:t>
            </a:r>
          </a:p>
          <a:p>
            <a:pPr marL="603250" lvl="1" indent="-228600">
              <a:buAutoNum type="arabicPeriod"/>
            </a:pPr>
            <a:r>
              <a:rPr lang="en-US" sz="1600" dirty="0" err="1">
                <a:solidFill>
                  <a:schemeClr val="bg1"/>
                </a:solidFill>
              </a:rPr>
              <a:t>Đề</a:t>
            </a:r>
            <a:r>
              <a:rPr lang="en-US" sz="1600" dirty="0">
                <a:solidFill>
                  <a:schemeClr val="bg1"/>
                </a:solidFill>
              </a:rPr>
              <a:t> </a:t>
            </a:r>
            <a:r>
              <a:rPr lang="en-US" sz="1600" dirty="0" err="1">
                <a:solidFill>
                  <a:schemeClr val="bg1"/>
                </a:solidFill>
              </a:rPr>
              <a:t>phòng</a:t>
            </a:r>
            <a:r>
              <a:rPr lang="en-US" sz="1600" dirty="0">
                <a:solidFill>
                  <a:schemeClr val="bg1"/>
                </a:solidFill>
              </a:rPr>
              <a:t> </a:t>
            </a:r>
            <a:r>
              <a:rPr lang="en-US" sz="1600" dirty="0" err="1">
                <a:solidFill>
                  <a:schemeClr val="bg1"/>
                </a:solidFill>
              </a:rPr>
              <a:t>nghịch</a:t>
            </a:r>
            <a:r>
              <a:rPr lang="en-US" sz="1600" dirty="0">
                <a:solidFill>
                  <a:schemeClr val="bg1"/>
                </a:solidFill>
              </a:rPr>
              <a:t> </a:t>
            </a:r>
            <a:r>
              <a:rPr lang="en-US" sz="1600" dirty="0" err="1">
                <a:solidFill>
                  <a:schemeClr val="bg1"/>
                </a:solidFill>
              </a:rPr>
              <a:t>lý</a:t>
            </a:r>
            <a:r>
              <a:rPr lang="en-US" sz="1600" dirty="0">
                <a:solidFill>
                  <a:schemeClr val="bg1"/>
                </a:solidFill>
              </a:rPr>
              <a:t> </a:t>
            </a:r>
            <a:r>
              <a:rPr lang="en-US" sz="1600" dirty="0" err="1">
                <a:solidFill>
                  <a:schemeClr val="bg1"/>
                </a:solidFill>
              </a:rPr>
              <a:t>thuốc</a:t>
            </a:r>
            <a:r>
              <a:rPr lang="en-US" sz="1600" dirty="0">
                <a:solidFill>
                  <a:schemeClr val="bg1"/>
                </a:solidFill>
              </a:rPr>
              <a:t> </a:t>
            </a:r>
            <a:r>
              <a:rPr lang="en-US" sz="1600" dirty="0" err="1">
                <a:solidFill>
                  <a:schemeClr val="bg1"/>
                </a:solidFill>
              </a:rPr>
              <a:t>trừ</a:t>
            </a:r>
            <a:r>
              <a:rPr lang="en-US" sz="1600" dirty="0">
                <a:solidFill>
                  <a:schemeClr val="bg1"/>
                </a:solidFill>
              </a:rPr>
              <a:t> </a:t>
            </a:r>
            <a:r>
              <a:rPr lang="en-US" sz="1600" dirty="0" err="1">
                <a:solidFill>
                  <a:schemeClr val="bg1"/>
                </a:solidFill>
              </a:rPr>
              <a:t>sâu</a:t>
            </a:r>
            <a:r>
              <a:rPr lang="en-US" sz="1600" dirty="0">
                <a:solidFill>
                  <a:schemeClr val="bg1"/>
                </a:solidFill>
              </a:rPr>
              <a:t>.</a:t>
            </a:r>
          </a:p>
          <a:p>
            <a:pPr marL="603250" lvl="1" indent="-228600">
              <a:buAutoNum type="arabicPeriod"/>
            </a:pPr>
            <a:r>
              <a:rPr lang="en-US" sz="1600" dirty="0">
                <a:solidFill>
                  <a:schemeClr val="bg1"/>
                </a:solidFill>
              </a:rPr>
              <a:t>Test </a:t>
            </a:r>
            <a:r>
              <a:rPr lang="en-US" sz="1600" dirty="0" err="1">
                <a:solidFill>
                  <a:schemeClr val="bg1"/>
                </a:solidFill>
              </a:rPr>
              <a:t>phụ</a:t>
            </a:r>
            <a:r>
              <a:rPr lang="en-US" sz="1600" dirty="0">
                <a:solidFill>
                  <a:schemeClr val="bg1"/>
                </a:solidFill>
              </a:rPr>
              <a:t> </a:t>
            </a:r>
            <a:r>
              <a:rPr lang="en-US" sz="1600" dirty="0" err="1">
                <a:solidFill>
                  <a:schemeClr val="bg1"/>
                </a:solidFill>
              </a:rPr>
              <a:t>thuộc</a:t>
            </a:r>
            <a:r>
              <a:rPr lang="en-US" sz="1600" dirty="0">
                <a:solidFill>
                  <a:schemeClr val="bg1"/>
                </a:solidFill>
              </a:rPr>
              <a:t> </a:t>
            </a:r>
            <a:r>
              <a:rPr lang="en-US" sz="1600" dirty="0" err="1">
                <a:solidFill>
                  <a:schemeClr val="bg1"/>
                </a:solidFill>
              </a:rPr>
              <a:t>vào</a:t>
            </a:r>
            <a:r>
              <a:rPr lang="en-US" sz="1600" dirty="0">
                <a:solidFill>
                  <a:schemeClr val="bg1"/>
                </a:solidFill>
              </a:rPr>
              <a:t> </a:t>
            </a:r>
            <a:r>
              <a:rPr lang="en-US" sz="1600" dirty="0" err="1">
                <a:solidFill>
                  <a:schemeClr val="bg1"/>
                </a:solidFill>
              </a:rPr>
              <a:t>ngữ</a:t>
            </a:r>
            <a:r>
              <a:rPr lang="en-US" sz="1600" dirty="0">
                <a:solidFill>
                  <a:schemeClr val="bg1"/>
                </a:solidFill>
              </a:rPr>
              <a:t> </a:t>
            </a:r>
            <a:r>
              <a:rPr lang="en-US" sz="1600" dirty="0" err="1">
                <a:solidFill>
                  <a:schemeClr val="bg1"/>
                </a:solidFill>
              </a:rPr>
              <a:t>cảnh</a:t>
            </a:r>
            <a:r>
              <a:rPr lang="en-US" sz="1600" dirty="0">
                <a:solidFill>
                  <a:schemeClr val="bg1"/>
                </a:solidFill>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178"/>
            <a:ext cx="8305800" cy="79930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idx="1"/>
          </p:nvPr>
        </p:nvSpPr>
        <p:spPr>
          <a:xfrm>
            <a:off x="457200" y="914400"/>
            <a:ext cx="8229600" cy="5257800"/>
          </a:xfrm>
        </p:spPr>
        <p:txBody>
          <a:bodyPr>
            <a:normAutofit/>
          </a:bodyPr>
          <a:lstStyle/>
          <a:p>
            <a:pPr marL="64135" indent="0">
              <a:buNone/>
            </a:pPr>
            <a:r>
              <a:rPr lang="en-US" sz="1900" b="1" dirty="0"/>
              <a:t>1. Test </a:t>
            </a:r>
            <a:r>
              <a:rPr lang="en-US" sz="1900" b="1" dirty="0" err="1"/>
              <a:t>đưa</a:t>
            </a:r>
            <a:r>
              <a:rPr lang="en-US" sz="1900" b="1" dirty="0"/>
              <a:t> </a:t>
            </a:r>
            <a:r>
              <a:rPr lang="en-US" sz="1900" b="1" dirty="0" err="1"/>
              <a:t>ra</a:t>
            </a:r>
            <a:r>
              <a:rPr lang="en-US" sz="1900" b="1" dirty="0"/>
              <a:t> </a:t>
            </a:r>
            <a:r>
              <a:rPr lang="en-US" sz="1900" b="1" dirty="0" err="1"/>
              <a:t>lỗi</a:t>
            </a:r>
            <a:r>
              <a:rPr lang="en-US" sz="1900" b="1" dirty="0"/>
              <a:t>:</a:t>
            </a:r>
            <a:endParaRPr lang="en-US" sz="1900" b="1" i="1" dirty="0"/>
          </a:p>
          <a:p>
            <a:pPr marL="64135" indent="0" algn="just">
              <a:buNone/>
            </a:pPr>
            <a:r>
              <a:rPr lang="en-US" sz="1900" dirty="0"/>
              <a:t>Test </a:t>
            </a:r>
            <a:r>
              <a:rPr lang="en-US" sz="1900" dirty="0" err="1"/>
              <a:t>chỉ</a:t>
            </a:r>
            <a:r>
              <a:rPr lang="en-US" sz="1900" dirty="0"/>
              <a:t> </a:t>
            </a:r>
            <a:r>
              <a:rPr lang="en-US" sz="1900" dirty="0" err="1"/>
              <a:t>có</a:t>
            </a:r>
            <a:r>
              <a:rPr lang="en-US" sz="1900" dirty="0"/>
              <a:t> </a:t>
            </a:r>
            <a:r>
              <a:rPr lang="en-US" sz="1900" dirty="0" err="1"/>
              <a:t>thể</a:t>
            </a:r>
            <a:r>
              <a:rPr lang="en-US" sz="1900" dirty="0"/>
              <a:t> </a:t>
            </a:r>
            <a:r>
              <a:rPr lang="en-US" sz="1900" dirty="0" err="1"/>
              <a:t>cho</a:t>
            </a:r>
            <a:r>
              <a:rPr lang="en-US" sz="1900" dirty="0"/>
              <a:t> </a:t>
            </a:r>
            <a:r>
              <a:rPr lang="en-US" sz="1900" dirty="0" err="1"/>
              <a:t>thấy</a:t>
            </a:r>
            <a:r>
              <a:rPr lang="en-US" sz="1900" dirty="0"/>
              <a:t> </a:t>
            </a:r>
            <a:r>
              <a:rPr lang="en-US" sz="1900" dirty="0" err="1"/>
              <a:t>phần</a:t>
            </a:r>
            <a:r>
              <a:rPr lang="en-US" sz="1900" dirty="0"/>
              <a:t> </a:t>
            </a:r>
            <a:r>
              <a:rPr lang="en-US" sz="1900" dirty="0" err="1"/>
              <a:t>mềm</a:t>
            </a:r>
            <a:r>
              <a:rPr lang="en-US" sz="1900" dirty="0"/>
              <a:t> </a:t>
            </a:r>
            <a:r>
              <a:rPr lang="en-US" sz="1900" dirty="0" err="1"/>
              <a:t>đang</a:t>
            </a:r>
            <a:r>
              <a:rPr lang="en-US" sz="1900" dirty="0"/>
              <a:t> </a:t>
            </a:r>
            <a:r>
              <a:rPr lang="en-US" sz="1900" dirty="0" err="1"/>
              <a:t>có</a:t>
            </a:r>
            <a:r>
              <a:rPr lang="en-US" sz="1900" dirty="0"/>
              <a:t> </a:t>
            </a:r>
            <a:r>
              <a:rPr lang="en-US" sz="1900" dirty="0" err="1"/>
              <a:t>lỗi</a:t>
            </a:r>
            <a:r>
              <a:rPr lang="en-US" sz="1900" dirty="0"/>
              <a:t> </a:t>
            </a:r>
            <a:r>
              <a:rPr lang="en-US" sz="1900" dirty="0" err="1"/>
              <a:t>nhưng</a:t>
            </a:r>
            <a:r>
              <a:rPr lang="en-US" sz="1900" dirty="0"/>
              <a:t> </a:t>
            </a:r>
            <a:r>
              <a:rPr lang="en-US" sz="1900" dirty="0" err="1"/>
              <a:t>không</a:t>
            </a:r>
            <a:r>
              <a:rPr lang="en-US" sz="1900" dirty="0"/>
              <a:t> </a:t>
            </a:r>
            <a:r>
              <a:rPr lang="en-US" sz="1900" dirty="0" err="1"/>
              <a:t>thể</a:t>
            </a:r>
            <a:r>
              <a:rPr lang="en-US" sz="1900" dirty="0"/>
              <a:t> </a:t>
            </a:r>
            <a:r>
              <a:rPr lang="en-US" sz="1900" dirty="0" err="1"/>
              <a:t>chứng</a:t>
            </a:r>
            <a:r>
              <a:rPr lang="en-US" sz="1900" dirty="0"/>
              <a:t> minh phần </a:t>
            </a:r>
            <a:r>
              <a:rPr lang="en-US" sz="1900" dirty="0" err="1"/>
              <a:t>mềm</a:t>
            </a:r>
            <a:r>
              <a:rPr lang="en-US" sz="1900" dirty="0"/>
              <a:t> </a:t>
            </a:r>
            <a:r>
              <a:rPr lang="en-US" sz="1900" dirty="0" err="1"/>
              <a:t>không</a:t>
            </a:r>
            <a:r>
              <a:rPr lang="en-US" sz="1900" dirty="0"/>
              <a:t> </a:t>
            </a:r>
            <a:r>
              <a:rPr lang="en-US" sz="1900" dirty="0" err="1"/>
              <a:t>còn</a:t>
            </a:r>
            <a:r>
              <a:rPr lang="en-US" sz="1900" dirty="0"/>
              <a:t> </a:t>
            </a:r>
            <a:r>
              <a:rPr lang="en-US" sz="1900" dirty="0" err="1"/>
              <a:t>lỗi</a:t>
            </a:r>
            <a:r>
              <a:rPr lang="en-US" sz="1900" dirty="0"/>
              <a:t>. </a:t>
            </a:r>
            <a:r>
              <a:rPr lang="vi-VN" sz="1900" dirty="0"/>
              <a:t>Test làm giảm xác suất lỗi chưa tìm thấy vẫn còn trong phần mềm. Vì vậy cần tìm được càng nhiều lỗi càng tốt.</a:t>
            </a:r>
            <a:endParaRPr lang="en-US" sz="1900" dirty="0"/>
          </a:p>
          <a:p>
            <a:pPr marL="64135" indent="0" algn="just">
              <a:buNone/>
            </a:pPr>
            <a:r>
              <a:rPr lang="en-US" sz="1900" dirty="0"/>
              <a:t>VD: </a:t>
            </a:r>
          </a:p>
          <a:p>
            <a:pPr lvl="1">
              <a:buFont typeface="Wingdings" panose="05000000000000000000" pitchFamily="2" charset="2"/>
              <a:buChar char="ü"/>
            </a:pPr>
            <a:r>
              <a:rPr lang="en-US" sz="1900" dirty="0"/>
              <a:t>Bạn test </a:t>
            </a:r>
            <a:r>
              <a:rPr lang="en-US" sz="1900" dirty="0" err="1"/>
              <a:t>phần</a:t>
            </a:r>
            <a:r>
              <a:rPr lang="en-US" sz="1900" dirty="0"/>
              <a:t> </a:t>
            </a:r>
            <a:r>
              <a:rPr lang="en-US" sz="1900" dirty="0" err="1"/>
              <a:t>mềm</a:t>
            </a:r>
            <a:r>
              <a:rPr lang="en-US" sz="1900" dirty="0"/>
              <a:t> </a:t>
            </a:r>
            <a:r>
              <a:rPr lang="en-US" sz="1900" dirty="0" err="1"/>
              <a:t>không</a:t>
            </a:r>
            <a:r>
              <a:rPr lang="en-US" sz="1900" dirty="0"/>
              <a:t> thấy </a:t>
            </a:r>
            <a:r>
              <a:rPr lang="en-US" sz="1900" dirty="0" err="1"/>
              <a:t>lỗi</a:t>
            </a:r>
            <a:r>
              <a:rPr lang="en-US" sz="1900" dirty="0"/>
              <a:t>, bạn </a:t>
            </a:r>
            <a:r>
              <a:rPr lang="en-US" sz="1900" dirty="0" err="1"/>
              <a:t>không</a:t>
            </a:r>
            <a:r>
              <a:rPr lang="en-US" sz="1900" dirty="0"/>
              <a:t> </a:t>
            </a:r>
            <a:r>
              <a:rPr lang="en-US" sz="1900" dirty="0" err="1"/>
              <a:t>thể</a:t>
            </a:r>
            <a:r>
              <a:rPr lang="en-US" sz="1900" dirty="0"/>
              <a:t> nói “</a:t>
            </a:r>
            <a:r>
              <a:rPr lang="en-US" sz="1900" dirty="0" err="1"/>
              <a:t>Phần</a:t>
            </a:r>
            <a:r>
              <a:rPr lang="en-US" sz="1900" dirty="0"/>
              <a:t> </a:t>
            </a:r>
            <a:r>
              <a:rPr lang="en-US" sz="1900" dirty="0" err="1"/>
              <a:t>mềm</a:t>
            </a:r>
            <a:r>
              <a:rPr lang="en-US" sz="1900" dirty="0"/>
              <a:t> </a:t>
            </a:r>
            <a:r>
              <a:rPr lang="en-US" sz="1900" dirty="0" err="1"/>
              <a:t>không</a:t>
            </a:r>
            <a:r>
              <a:rPr lang="en-US" sz="1900" dirty="0"/>
              <a:t> có </a:t>
            </a:r>
            <a:r>
              <a:rPr lang="en-US" sz="1900" dirty="0" err="1"/>
              <a:t>lỗi</a:t>
            </a:r>
            <a:r>
              <a:rPr lang="en-US" sz="1900" dirty="0"/>
              <a:t>”.</a:t>
            </a:r>
          </a:p>
          <a:p>
            <a:pPr lvl="1">
              <a:buFont typeface="Wingdings" panose="05000000000000000000" pitchFamily="2" charset="2"/>
              <a:buChar char="ü"/>
            </a:pPr>
            <a:r>
              <a:rPr lang="en-US" sz="1900" dirty="0" err="1"/>
              <a:t>Bạn</a:t>
            </a:r>
            <a:r>
              <a:rPr lang="en-US" sz="1900" dirty="0"/>
              <a:t> test </a:t>
            </a:r>
            <a:r>
              <a:rPr lang="en-US" sz="1900" dirty="0" err="1"/>
              <a:t>phần</a:t>
            </a:r>
            <a:r>
              <a:rPr lang="en-US" sz="1900" dirty="0"/>
              <a:t> </a:t>
            </a:r>
            <a:r>
              <a:rPr lang="en-US" sz="1900" dirty="0" err="1"/>
              <a:t>mềm</a:t>
            </a:r>
            <a:r>
              <a:rPr lang="en-US" sz="1900" dirty="0"/>
              <a:t> </a:t>
            </a:r>
            <a:r>
              <a:rPr lang="en-US" sz="1900" dirty="0" err="1"/>
              <a:t>có</a:t>
            </a:r>
            <a:r>
              <a:rPr lang="en-US" sz="1900" dirty="0"/>
              <a:t> 1 </a:t>
            </a:r>
            <a:r>
              <a:rPr lang="en-US" sz="1900" dirty="0" err="1"/>
              <a:t>lỗi</a:t>
            </a:r>
            <a:r>
              <a:rPr lang="en-US" sz="1900" dirty="0"/>
              <a:t>, </a:t>
            </a:r>
            <a:r>
              <a:rPr lang="en-US" sz="1900" dirty="0" err="1"/>
              <a:t>bạn</a:t>
            </a:r>
            <a:r>
              <a:rPr lang="en-US" sz="1900" dirty="0"/>
              <a:t> </a:t>
            </a:r>
            <a:r>
              <a:rPr lang="en-US" sz="1900" dirty="0" err="1"/>
              <a:t>có</a:t>
            </a:r>
            <a:r>
              <a:rPr lang="en-US" sz="1900" dirty="0"/>
              <a:t> </a:t>
            </a:r>
            <a:r>
              <a:rPr lang="en-US" sz="1900" dirty="0" err="1"/>
              <a:t>thể</a:t>
            </a:r>
            <a:r>
              <a:rPr lang="en-US" sz="1900" dirty="0"/>
              <a:t> </a:t>
            </a:r>
            <a:r>
              <a:rPr lang="en-US" sz="1900" dirty="0" err="1"/>
              <a:t>nói</a:t>
            </a:r>
            <a:r>
              <a:rPr lang="en-US" sz="1900" dirty="0"/>
              <a:t>: “</a:t>
            </a:r>
            <a:r>
              <a:rPr lang="en-US" sz="1900" dirty="0" err="1"/>
              <a:t>Phần</a:t>
            </a:r>
            <a:r>
              <a:rPr lang="en-US" sz="1900" dirty="0"/>
              <a:t> </a:t>
            </a:r>
            <a:r>
              <a:rPr lang="en-US" sz="1900" dirty="0" err="1"/>
              <a:t>mềm</a:t>
            </a:r>
            <a:r>
              <a:rPr lang="en-US" sz="1900" dirty="0"/>
              <a:t> </a:t>
            </a:r>
            <a:r>
              <a:rPr lang="en-US" sz="1900" dirty="0" err="1"/>
              <a:t>có</a:t>
            </a:r>
            <a:r>
              <a:rPr lang="en-US" sz="1900" dirty="0"/>
              <a:t> </a:t>
            </a:r>
            <a:r>
              <a:rPr lang="en-US" sz="1900" dirty="0" err="1"/>
              <a:t>lỗi</a:t>
            </a:r>
            <a:r>
              <a:rPr lang="en-US" sz="1900" dirty="0"/>
              <a:t>”.</a:t>
            </a:r>
          </a:p>
          <a:p>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2"/>
          </p:nvPr>
        </p:nvPicPr>
        <p:blipFill>
          <a:blip r:embed="rId2"/>
          <a:stretch>
            <a:fillRect/>
          </a:stretch>
        </p:blipFill>
        <p:spPr>
          <a:xfrm>
            <a:off x="6172200" y="2057400"/>
            <a:ext cx="2857500" cy="2143125"/>
          </a:xfrm>
          <a:prstGeom prst="rect">
            <a:avLst/>
          </a:prstGeom>
        </p:spPr>
      </p:pic>
      <p:sp>
        <p:nvSpPr>
          <p:cNvPr id="2" name="Title 1"/>
          <p:cNvSpPr>
            <a:spLocks noGrp="1"/>
          </p:cNvSpPr>
          <p:nvPr>
            <p:ph type="title"/>
          </p:nvPr>
        </p:nvSpPr>
        <p:spPr>
          <a:xfrm>
            <a:off x="381000" y="76200"/>
            <a:ext cx="8067675" cy="67592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sz="half" idx="1"/>
          </p:nvPr>
        </p:nvSpPr>
        <p:spPr>
          <a:xfrm>
            <a:off x="304800" y="914400"/>
            <a:ext cx="5715000" cy="5486400"/>
          </a:xfrm>
        </p:spPr>
        <p:txBody>
          <a:bodyPr>
            <a:noAutofit/>
          </a:bodyPr>
          <a:lstStyle/>
          <a:p>
            <a:pPr marL="64135" indent="0" algn="just">
              <a:buNone/>
            </a:pPr>
            <a:r>
              <a:rPr lang="en-US" sz="1900" b="1" dirty="0"/>
              <a:t>2. Test toàn </a:t>
            </a:r>
            <a:r>
              <a:rPr lang="en-US" sz="1900" b="1" dirty="0" err="1"/>
              <a:t>bộ</a:t>
            </a:r>
            <a:r>
              <a:rPr lang="en-US" sz="1900" b="1" dirty="0"/>
              <a:t> là </a:t>
            </a:r>
            <a:r>
              <a:rPr lang="en-US" sz="1900" b="1" dirty="0" err="1"/>
              <a:t>không</a:t>
            </a:r>
            <a:r>
              <a:rPr lang="en-US" sz="1900" b="1" dirty="0"/>
              <a:t> </a:t>
            </a:r>
            <a:r>
              <a:rPr lang="en-US" sz="1900" b="1" dirty="0" err="1"/>
              <a:t>thể</a:t>
            </a:r>
            <a:endParaRPr lang="en-US" sz="1900" b="1" i="1" dirty="0"/>
          </a:p>
          <a:p>
            <a:pPr algn="just">
              <a:buFont typeface="Wingdings" panose="05000000000000000000" pitchFamily="2" charset="2"/>
              <a:buChar char="ü"/>
            </a:pPr>
            <a:r>
              <a:rPr lang="en-US" sz="1900" dirty="0"/>
              <a:t>Test </a:t>
            </a:r>
            <a:r>
              <a:rPr lang="en-US" sz="1900" dirty="0" err="1"/>
              <a:t>tất</a:t>
            </a:r>
            <a:r>
              <a:rPr lang="en-US" sz="1900" dirty="0"/>
              <a:t> </a:t>
            </a:r>
            <a:r>
              <a:rPr lang="en-US" sz="1900" dirty="0" err="1"/>
              <a:t>cả</a:t>
            </a:r>
            <a:r>
              <a:rPr lang="en-US" sz="1900" dirty="0"/>
              <a:t> </a:t>
            </a:r>
            <a:r>
              <a:rPr lang="en-US" sz="1900" dirty="0" err="1"/>
              <a:t>các</a:t>
            </a:r>
            <a:r>
              <a:rPr lang="en-US" sz="1900" dirty="0"/>
              <a:t> </a:t>
            </a:r>
            <a:r>
              <a:rPr lang="en-US" sz="1900" dirty="0" err="1"/>
              <a:t>trường</a:t>
            </a:r>
            <a:r>
              <a:rPr lang="en-US" sz="1900" dirty="0"/>
              <a:t> </a:t>
            </a:r>
            <a:r>
              <a:rPr lang="en-US" sz="1900" dirty="0" err="1"/>
              <a:t>hợp</a:t>
            </a:r>
            <a:r>
              <a:rPr lang="en-US" sz="1900" dirty="0"/>
              <a:t> </a:t>
            </a:r>
            <a:r>
              <a:rPr lang="en-US" sz="1900" dirty="0" err="1"/>
              <a:t>là</a:t>
            </a:r>
            <a:r>
              <a:rPr lang="en-US" sz="1900" dirty="0"/>
              <a:t> </a:t>
            </a:r>
            <a:r>
              <a:rPr lang="en-US" sz="1900" dirty="0" err="1"/>
              <a:t>không</a:t>
            </a:r>
            <a:r>
              <a:rPr lang="en-US" sz="1900" dirty="0"/>
              <a:t> </a:t>
            </a:r>
            <a:r>
              <a:rPr lang="en-US" sz="1900" dirty="0" err="1"/>
              <a:t>thể</a:t>
            </a:r>
            <a:r>
              <a:rPr lang="en-US" sz="1900" dirty="0"/>
              <a:t> do </a:t>
            </a:r>
            <a:r>
              <a:rPr lang="en-US" sz="1900" dirty="0" err="1"/>
              <a:t>yếu</a:t>
            </a:r>
            <a:r>
              <a:rPr lang="en-US" sz="1900" dirty="0"/>
              <a:t> </a:t>
            </a:r>
            <a:r>
              <a:rPr lang="en-US" sz="1900" dirty="0" err="1"/>
              <a:t>tố</a:t>
            </a:r>
            <a:r>
              <a:rPr lang="en-US" sz="1900" dirty="0"/>
              <a:t> </a:t>
            </a:r>
            <a:r>
              <a:rPr lang="en-US" sz="1900" dirty="0" err="1"/>
              <a:t>thời</a:t>
            </a:r>
            <a:r>
              <a:rPr lang="en-US" sz="1900" dirty="0"/>
              <a:t> </a:t>
            </a:r>
            <a:r>
              <a:rPr lang="en-US" sz="1900" dirty="0" err="1"/>
              <a:t>gian</a:t>
            </a:r>
            <a:r>
              <a:rPr lang="en-US" sz="1900" dirty="0"/>
              <a:t> </a:t>
            </a:r>
            <a:r>
              <a:rPr lang="en-US" sz="1900" dirty="0" err="1"/>
              <a:t>và</a:t>
            </a:r>
            <a:r>
              <a:rPr lang="en-US" sz="1900" dirty="0"/>
              <a:t> chi </a:t>
            </a:r>
            <a:r>
              <a:rPr lang="en-US" sz="1900" dirty="0" err="1"/>
              <a:t>phí</a:t>
            </a:r>
            <a:r>
              <a:rPr lang="en-US" sz="1900" dirty="0"/>
              <a:t> (</a:t>
            </a:r>
            <a:r>
              <a:rPr lang="vi-VN" sz="1900" dirty="0"/>
              <a:t>trừ phi nó chỉ bao gồm ít trường hợp tổ hợp thì có thể test toàn bộ được).</a:t>
            </a:r>
            <a:endParaRPr lang="en-US" sz="1900" dirty="0"/>
          </a:p>
          <a:p>
            <a:pPr>
              <a:buFont typeface="Wingdings" panose="05000000000000000000" pitchFamily="2" charset="2"/>
              <a:buChar char="ü"/>
            </a:pPr>
            <a:r>
              <a:rPr lang="vi-VN" sz="1900" dirty="0"/>
              <a:t>Thay vì cố gắng kiểm tra toàn diện, </a:t>
            </a:r>
            <a:r>
              <a:rPr lang="en-US" sz="1900" dirty="0" err="1"/>
              <a:t>Nên</a:t>
            </a:r>
            <a:r>
              <a:rPr lang="en-US" sz="1900" dirty="0"/>
              <a:t> </a:t>
            </a:r>
            <a:r>
              <a:rPr lang="vi-VN" sz="1900" dirty="0"/>
              <a:t>phân tích rủi ro, </a:t>
            </a:r>
            <a:r>
              <a:rPr lang="en-US" sz="1900" dirty="0" err="1"/>
              <a:t>áp</a:t>
            </a:r>
            <a:r>
              <a:rPr lang="en-US" sz="1900" dirty="0"/>
              <a:t> </a:t>
            </a:r>
            <a:r>
              <a:rPr lang="en-US" sz="1900" dirty="0" err="1"/>
              <a:t>dụng</a:t>
            </a:r>
            <a:r>
              <a:rPr lang="en-US" sz="1900" dirty="0"/>
              <a:t> </a:t>
            </a:r>
            <a:r>
              <a:rPr lang="vi-VN" sz="1900" dirty="0"/>
              <a:t>kỹ thuật kiểm tra và phân độ ưu tiên </a:t>
            </a:r>
            <a:r>
              <a:rPr lang="en-US" sz="1900" dirty="0" err="1"/>
              <a:t>để</a:t>
            </a:r>
            <a:r>
              <a:rPr lang="en-US" sz="1900" dirty="0"/>
              <a:t> </a:t>
            </a:r>
            <a:r>
              <a:rPr lang="vi-VN" sz="1900" dirty="0"/>
              <a:t>tập trung việc </a:t>
            </a:r>
            <a:r>
              <a:rPr lang="en-US" sz="1900" dirty="0"/>
              <a:t>t</a:t>
            </a:r>
            <a:r>
              <a:rPr lang="vi-VN" sz="1900" dirty="0"/>
              <a:t>est vào một số điểm cần thiết và có nguy cơ lỗi cao hơn.</a:t>
            </a:r>
            <a:r>
              <a:rPr lang="en-US" sz="1900" dirty="0"/>
              <a:t> </a:t>
            </a:r>
          </a:p>
          <a:p>
            <a:pPr algn="just">
              <a:buFont typeface="Wingdings" panose="05000000000000000000" pitchFamily="2" charset="2"/>
              <a:buChar char="ü"/>
            </a:pPr>
            <a:r>
              <a:rPr lang="en-US" sz="1900" dirty="0"/>
              <a:t>VD: 1 </a:t>
            </a:r>
            <a:r>
              <a:rPr lang="en-US" sz="1900" dirty="0" err="1"/>
              <a:t>màn</a:t>
            </a:r>
            <a:r>
              <a:rPr lang="en-US" sz="1900" dirty="0"/>
              <a:t> </a:t>
            </a:r>
            <a:r>
              <a:rPr lang="en-US" sz="1900" dirty="0" err="1"/>
              <a:t>hình</a:t>
            </a:r>
            <a:r>
              <a:rPr lang="en-US" sz="1900" dirty="0"/>
              <a:t> </a:t>
            </a:r>
            <a:r>
              <a:rPr lang="en-US" sz="1900" dirty="0" err="1"/>
              <a:t>có</a:t>
            </a:r>
            <a:r>
              <a:rPr lang="en-US" sz="1900" dirty="0"/>
              <a:t> 15 </a:t>
            </a:r>
            <a:r>
              <a:rPr lang="en-US" sz="1900" dirty="0" err="1"/>
              <a:t>trường</a:t>
            </a:r>
            <a:r>
              <a:rPr lang="en-US" sz="1900" dirty="0"/>
              <a:t>, </a:t>
            </a:r>
            <a:r>
              <a:rPr lang="en-US" sz="1900" dirty="0" err="1"/>
              <a:t>mỗi</a:t>
            </a:r>
            <a:r>
              <a:rPr lang="en-US" sz="1900" dirty="0"/>
              <a:t> </a:t>
            </a:r>
            <a:r>
              <a:rPr lang="en-US" sz="1900" dirty="0" err="1"/>
              <a:t>trường</a:t>
            </a:r>
            <a:r>
              <a:rPr lang="en-US" sz="1900" dirty="0"/>
              <a:t> </a:t>
            </a:r>
            <a:r>
              <a:rPr lang="en-US" sz="1900" dirty="0" err="1"/>
              <a:t>có</a:t>
            </a:r>
            <a:r>
              <a:rPr lang="en-US" sz="1900" dirty="0"/>
              <a:t> 5 </a:t>
            </a:r>
            <a:r>
              <a:rPr lang="en-US" sz="1900" dirty="0" err="1"/>
              <a:t>giá</a:t>
            </a:r>
            <a:r>
              <a:rPr lang="en-US" sz="1900" dirty="0"/>
              <a:t> </a:t>
            </a:r>
            <a:r>
              <a:rPr lang="en-US" sz="1900" dirty="0" err="1"/>
              <a:t>trị</a:t>
            </a:r>
            <a:r>
              <a:rPr lang="en-US" sz="1900" dirty="0"/>
              <a:t> </a:t>
            </a:r>
            <a:r>
              <a:rPr lang="en-US" sz="1900" dirty="0" err="1"/>
              <a:t>đầu</a:t>
            </a:r>
            <a:r>
              <a:rPr lang="en-US" sz="1900" dirty="0"/>
              <a:t> </a:t>
            </a:r>
            <a:r>
              <a:rPr lang="en-US" sz="1900" dirty="0" err="1"/>
              <a:t>vào</a:t>
            </a:r>
            <a:r>
              <a:rPr lang="en-US" sz="1900" dirty="0"/>
              <a:t> </a:t>
            </a:r>
            <a:r>
              <a:rPr lang="en-US" sz="1900" dirty="0" err="1"/>
              <a:t>nếu</a:t>
            </a:r>
            <a:r>
              <a:rPr lang="en-US" sz="1900" dirty="0"/>
              <a:t> test </a:t>
            </a:r>
            <a:r>
              <a:rPr lang="en-US" sz="1900" dirty="0" err="1"/>
              <a:t>đầy</a:t>
            </a:r>
            <a:r>
              <a:rPr lang="en-US" sz="1900" dirty="0"/>
              <a:t> </a:t>
            </a:r>
            <a:r>
              <a:rPr lang="en-US" sz="1900" dirty="0" err="1"/>
              <a:t>đủ</a:t>
            </a:r>
            <a:r>
              <a:rPr lang="en-US" sz="1900" dirty="0"/>
              <a:t> </a:t>
            </a:r>
            <a:r>
              <a:rPr lang="en-US" sz="1900" dirty="0" err="1"/>
              <a:t>thi</a:t>
            </a:r>
            <a:r>
              <a:rPr lang="en-US" sz="1900" dirty="0"/>
              <a:t> </a:t>
            </a:r>
            <a:r>
              <a:rPr lang="en-US" sz="1900" dirty="0" err="1"/>
              <a:t>sẽ</a:t>
            </a:r>
            <a:r>
              <a:rPr lang="en-US" sz="1900" dirty="0"/>
              <a:t> </a:t>
            </a:r>
            <a:r>
              <a:rPr lang="en-US" sz="1900" dirty="0" err="1"/>
              <a:t>phải</a:t>
            </a:r>
            <a:r>
              <a:rPr lang="en-US" sz="1900" dirty="0"/>
              <a:t> </a:t>
            </a:r>
            <a:r>
              <a:rPr lang="en-US" sz="1900" dirty="0" err="1"/>
              <a:t>thực</a:t>
            </a:r>
            <a:r>
              <a:rPr lang="en-US" sz="1900" dirty="0"/>
              <a:t> </a:t>
            </a:r>
            <a:r>
              <a:rPr lang="en-US" sz="1900" dirty="0" err="1"/>
              <a:t>hiện</a:t>
            </a:r>
            <a:r>
              <a:rPr lang="en-US" sz="1900" dirty="0"/>
              <a:t> 5</a:t>
            </a:r>
            <a:r>
              <a:rPr lang="en-US" sz="1900" baseline="30000" dirty="0"/>
              <a:t>15</a:t>
            </a:r>
            <a:r>
              <a:rPr lang="en-US" sz="1900" dirty="0"/>
              <a:t> (=30 517 578 125) case test &gt;&gt; </a:t>
            </a:r>
            <a:r>
              <a:rPr lang="en-US" sz="1900" dirty="0" err="1"/>
              <a:t>điều</a:t>
            </a:r>
            <a:r>
              <a:rPr lang="en-US" sz="1900" dirty="0"/>
              <a:t> </a:t>
            </a:r>
            <a:r>
              <a:rPr lang="en-US" sz="1900" dirty="0" err="1"/>
              <a:t>này</a:t>
            </a:r>
            <a:r>
              <a:rPr lang="en-US" sz="1900" dirty="0"/>
              <a:t> </a:t>
            </a:r>
            <a:r>
              <a:rPr lang="en-US" sz="1900" dirty="0" err="1"/>
              <a:t>trong</a:t>
            </a:r>
            <a:r>
              <a:rPr lang="en-US" sz="1900" dirty="0"/>
              <a:t> 1 </a:t>
            </a:r>
            <a:r>
              <a:rPr lang="en-US" sz="1900" dirty="0" err="1"/>
              <a:t>dự</a:t>
            </a:r>
            <a:r>
              <a:rPr lang="en-US" sz="1900" dirty="0"/>
              <a:t> </a:t>
            </a:r>
            <a:r>
              <a:rPr lang="en-US" sz="1900" dirty="0" err="1"/>
              <a:t>án</a:t>
            </a:r>
            <a:r>
              <a:rPr lang="en-US" sz="1900" dirty="0"/>
              <a:t> </a:t>
            </a:r>
            <a:r>
              <a:rPr lang="en-US" sz="1900" dirty="0" err="1"/>
              <a:t>thực</a:t>
            </a:r>
            <a:r>
              <a:rPr lang="en-US" sz="1900" dirty="0"/>
              <a:t> </a:t>
            </a:r>
            <a:r>
              <a:rPr lang="en-US" sz="1900" dirty="0" err="1"/>
              <a:t>tế</a:t>
            </a:r>
            <a:r>
              <a:rPr lang="en-US" sz="1900" dirty="0"/>
              <a:t> </a:t>
            </a:r>
            <a:r>
              <a:rPr lang="en-US" sz="1900" dirty="0" err="1"/>
              <a:t>không</a:t>
            </a:r>
            <a:r>
              <a:rPr lang="en-US" sz="1900" dirty="0"/>
              <a:t> </a:t>
            </a:r>
            <a:r>
              <a:rPr lang="en-US" sz="1900" dirty="0" err="1"/>
              <a:t>thể</a:t>
            </a:r>
            <a:r>
              <a:rPr lang="en-US" sz="1900" dirty="0"/>
              <a:t> </a:t>
            </a:r>
            <a:r>
              <a:rPr lang="en-US" sz="1900" dirty="0" err="1"/>
              <a:t>làm</a:t>
            </a:r>
            <a:r>
              <a:rPr lang="en-US" sz="1900" dirty="0"/>
              <a:t> </a:t>
            </a:r>
            <a:r>
              <a:rPr lang="en-US" sz="1900" dirty="0" err="1"/>
              <a:t>được</a:t>
            </a:r>
            <a:r>
              <a:rPr lang="en-US" sz="1900" dirty="0"/>
              <a:t>.</a:t>
            </a:r>
          </a:p>
          <a:p>
            <a:pPr marL="64135" indent="0" algn="just">
              <a:buNone/>
            </a:pP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2"/>
          </p:nvPr>
        </p:nvPicPr>
        <p:blipFill>
          <a:blip r:embed="rId2"/>
          <a:stretch>
            <a:fillRect/>
          </a:stretch>
        </p:blipFill>
        <p:spPr>
          <a:xfrm>
            <a:off x="4636547" y="2185352"/>
            <a:ext cx="4038600" cy="3401695"/>
          </a:xfrm>
          <a:prstGeom prst="rect">
            <a:avLst/>
          </a:prstGeom>
        </p:spPr>
      </p:pic>
      <p:sp>
        <p:nvSpPr>
          <p:cNvPr id="2" name="Title 1"/>
          <p:cNvSpPr>
            <a:spLocks noGrp="1"/>
          </p:cNvSpPr>
          <p:nvPr>
            <p:ph type="title"/>
          </p:nvPr>
        </p:nvSpPr>
        <p:spPr>
          <a:xfrm>
            <a:off x="381000" y="111139"/>
            <a:ext cx="7839075" cy="67592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sz="half" idx="1"/>
          </p:nvPr>
        </p:nvSpPr>
        <p:spPr>
          <a:xfrm>
            <a:off x="459259" y="1066800"/>
            <a:ext cx="8217947" cy="4983163"/>
          </a:xfrm>
        </p:spPr>
        <p:txBody>
          <a:bodyPr>
            <a:normAutofit/>
          </a:bodyPr>
          <a:lstStyle/>
          <a:p>
            <a:pPr marL="64135" indent="0">
              <a:buNone/>
            </a:pPr>
            <a:r>
              <a:rPr lang="en-US" b="1" dirty="0"/>
              <a:t>3. Test </a:t>
            </a:r>
            <a:r>
              <a:rPr lang="en-US" b="1" dirty="0" err="1"/>
              <a:t>sớm</a:t>
            </a:r>
            <a:r>
              <a:rPr lang="en-US" b="1" dirty="0"/>
              <a:t> </a:t>
            </a:r>
            <a:r>
              <a:rPr lang="en-US" b="1" dirty="0" err="1"/>
              <a:t>giúp</a:t>
            </a:r>
            <a:r>
              <a:rPr lang="en-US" b="1" dirty="0"/>
              <a:t> </a:t>
            </a:r>
            <a:r>
              <a:rPr lang="en-US" b="1" dirty="0" err="1"/>
              <a:t>tiết</a:t>
            </a:r>
            <a:r>
              <a:rPr lang="en-US" b="1" dirty="0"/>
              <a:t> </a:t>
            </a:r>
            <a:r>
              <a:rPr lang="en-US" b="1" dirty="0" err="1"/>
              <a:t>kiệm</a:t>
            </a:r>
            <a:r>
              <a:rPr lang="en-US" b="1" dirty="0"/>
              <a:t> </a:t>
            </a:r>
            <a:r>
              <a:rPr lang="en-US" b="1" dirty="0" err="1"/>
              <a:t>thời</a:t>
            </a:r>
            <a:r>
              <a:rPr lang="en-US" b="1" dirty="0"/>
              <a:t> </a:t>
            </a:r>
            <a:r>
              <a:rPr lang="en-US" b="1" dirty="0" err="1"/>
              <a:t>gian</a:t>
            </a:r>
            <a:r>
              <a:rPr lang="en-US" b="1" dirty="0"/>
              <a:t> </a:t>
            </a:r>
            <a:r>
              <a:rPr lang="en-US" b="1" dirty="0" err="1"/>
              <a:t>và</a:t>
            </a:r>
            <a:r>
              <a:rPr lang="en-US" b="1" dirty="0"/>
              <a:t> </a:t>
            </a:r>
            <a:r>
              <a:rPr lang="en-US" b="1" dirty="0" err="1"/>
              <a:t>tiền</a:t>
            </a:r>
            <a:r>
              <a:rPr lang="en-US" b="1" dirty="0"/>
              <a:t> </a:t>
            </a:r>
            <a:r>
              <a:rPr lang="en-US" b="1" dirty="0" err="1"/>
              <a:t>bạc</a:t>
            </a:r>
            <a:endParaRPr lang="en-US" b="1" i="1" dirty="0"/>
          </a:p>
          <a:p>
            <a:pPr marL="64135" indent="0">
              <a:buNone/>
            </a:pPr>
            <a:r>
              <a:rPr lang="en-US" sz="1800" dirty="0"/>
              <a:t> </a:t>
            </a:r>
          </a:p>
          <a:p>
            <a:pPr marL="64135" indent="0">
              <a:buNone/>
            </a:pPr>
            <a:endParaRPr lang="en-US" sz="1800" dirty="0"/>
          </a:p>
        </p:txBody>
      </p:sp>
      <p:cxnSp>
        <p:nvCxnSpPr>
          <p:cNvPr id="5" name="Straight Arrow Connector 4"/>
          <p:cNvCxnSpPr/>
          <p:nvPr/>
        </p:nvCxnSpPr>
        <p:spPr>
          <a:xfrm>
            <a:off x="2345055" y="2652395"/>
            <a:ext cx="56388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3048000" y="3200400"/>
            <a:ext cx="5334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19455" y="2234565"/>
            <a:ext cx="151574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t>Test </a:t>
            </a:r>
            <a:r>
              <a:rPr lang="en-US" sz="1900" dirty="0" err="1"/>
              <a:t>muộn</a:t>
            </a:r>
            <a:endParaRPr lang="en-US" sz="1900" dirty="0"/>
          </a:p>
        </p:txBody>
      </p:sp>
      <p:sp>
        <p:nvSpPr>
          <p:cNvPr id="11" name="Rectangle 10"/>
          <p:cNvSpPr/>
          <p:nvPr/>
        </p:nvSpPr>
        <p:spPr>
          <a:xfrm>
            <a:off x="2980690" y="2234565"/>
            <a:ext cx="151511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err="1"/>
              <a:t>Lỗi</a:t>
            </a:r>
            <a:r>
              <a:rPr lang="en-US" sz="1900" dirty="0"/>
              <a:t> </a:t>
            </a:r>
            <a:r>
              <a:rPr lang="en-US" sz="1900" dirty="0" err="1"/>
              <a:t>phát</a:t>
            </a:r>
            <a:r>
              <a:rPr lang="en-US" sz="1900" dirty="0"/>
              <a:t> </a:t>
            </a:r>
            <a:r>
              <a:rPr lang="en-US" sz="1900" dirty="0" err="1"/>
              <a:t>hiện</a:t>
            </a:r>
            <a:r>
              <a:rPr lang="en-US" sz="1900" dirty="0"/>
              <a:t> </a:t>
            </a:r>
            <a:r>
              <a:rPr lang="en-US" sz="1900" dirty="0" err="1"/>
              <a:t>muộn</a:t>
            </a:r>
            <a:endParaRPr lang="en-US" sz="1900" dirty="0"/>
          </a:p>
        </p:txBody>
      </p:sp>
      <p:sp>
        <p:nvSpPr>
          <p:cNvPr id="12" name="Rectangle 11"/>
          <p:cNvSpPr/>
          <p:nvPr/>
        </p:nvSpPr>
        <p:spPr>
          <a:xfrm>
            <a:off x="1880235" y="4062095"/>
            <a:ext cx="1701165"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t>Chi </a:t>
            </a:r>
            <a:r>
              <a:rPr lang="en-US" sz="1900" dirty="0" err="1"/>
              <a:t>phí</a:t>
            </a:r>
            <a:r>
              <a:rPr lang="en-US" sz="1900" dirty="0"/>
              <a:t> </a:t>
            </a:r>
            <a:r>
              <a:rPr lang="en-US" sz="1900" dirty="0" err="1"/>
              <a:t>khắc</a:t>
            </a:r>
            <a:r>
              <a:rPr lang="en-US" sz="1900" dirty="0"/>
              <a:t> </a:t>
            </a:r>
            <a:r>
              <a:rPr lang="en-US" sz="1900" dirty="0" err="1"/>
              <a:t>phục</a:t>
            </a:r>
            <a:r>
              <a:rPr lang="en-US" sz="1900" dirty="0"/>
              <a:t> </a:t>
            </a:r>
            <a:r>
              <a:rPr lang="en-US" sz="1900" dirty="0" err="1"/>
              <a:t>tăng</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22711"/>
            <a:ext cx="8229600" cy="79930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idx="1"/>
          </p:nvPr>
        </p:nvSpPr>
        <p:spPr>
          <a:xfrm>
            <a:off x="457200" y="990600"/>
            <a:ext cx="8229600" cy="2666999"/>
          </a:xfrm>
        </p:spPr>
        <p:txBody>
          <a:bodyPr>
            <a:noAutofit/>
          </a:bodyPr>
          <a:lstStyle/>
          <a:p>
            <a:pPr marL="64135" indent="0" algn="just">
              <a:buNone/>
            </a:pPr>
            <a:r>
              <a:rPr lang="en-US" sz="1900" b="1" dirty="0"/>
              <a:t>4 . </a:t>
            </a:r>
            <a:r>
              <a:rPr lang="en-US" sz="1900" b="1" dirty="0" err="1"/>
              <a:t>Sự</a:t>
            </a:r>
            <a:r>
              <a:rPr lang="en-US" sz="1900" b="1" dirty="0"/>
              <a:t> </a:t>
            </a:r>
            <a:r>
              <a:rPr lang="en-US" sz="1900" b="1" dirty="0" err="1"/>
              <a:t>tập</a:t>
            </a:r>
            <a:r>
              <a:rPr lang="en-US" sz="1900" b="1" dirty="0"/>
              <a:t> </a:t>
            </a:r>
            <a:r>
              <a:rPr lang="en-US" sz="1900" b="1" dirty="0" err="1"/>
              <a:t>trung</a:t>
            </a:r>
            <a:r>
              <a:rPr lang="en-US" sz="1900" b="1" dirty="0"/>
              <a:t> </a:t>
            </a:r>
            <a:r>
              <a:rPr lang="en-US" sz="1900" b="1" dirty="0" err="1"/>
              <a:t>của</a:t>
            </a:r>
            <a:r>
              <a:rPr lang="en-US" sz="1900" b="1" dirty="0"/>
              <a:t> </a:t>
            </a:r>
            <a:r>
              <a:rPr lang="en-US" sz="1900" b="1" dirty="0" err="1"/>
              <a:t>lỗi</a:t>
            </a:r>
          </a:p>
          <a:p>
            <a:pPr algn="just">
              <a:buFont typeface="Wingdings" panose="05000000000000000000" charset="0"/>
              <a:buChar char="v"/>
            </a:pPr>
            <a:r>
              <a:rPr lang="en-US" sz="1900" dirty="0"/>
              <a:t>Thông thường phần lớn lỗi tập trung vào </a:t>
            </a:r>
            <a:r>
              <a:rPr lang="en-US" sz="1900" dirty="0" err="1"/>
              <a:t>những</a:t>
            </a:r>
            <a:r>
              <a:rPr lang="en-US" sz="1900" dirty="0"/>
              <a:t> module, thành phần chức năng chính của hệ thống. </a:t>
            </a:r>
          </a:p>
          <a:p>
            <a:pPr algn="just">
              <a:buFont typeface="Wingdings" panose="05000000000000000000" pitchFamily="2" charset="2"/>
              <a:buChar char="v"/>
            </a:pPr>
            <a:r>
              <a:rPr lang="en-US" sz="1900" dirty="0"/>
              <a:t>X</a:t>
            </a:r>
            <a:r>
              <a:rPr lang="vi-VN" sz="1900" dirty="0"/>
              <a:t>ác định được điều này</a:t>
            </a:r>
            <a:r>
              <a:rPr lang="en-US" sz="1900" dirty="0"/>
              <a:t>,</a:t>
            </a:r>
            <a:r>
              <a:rPr lang="vi-VN" sz="1900" dirty="0"/>
              <a:t> chúng ta sẽ tập trung vào tìm kiếm lỗi quanh khu vực được xác định. Nó được coi là một trong những cách hiệu quả nhất để thực hiện kiểm tra hiệu quả.</a:t>
            </a:r>
          </a:p>
        </p:txBody>
      </p:sp>
      <p:pic>
        <p:nvPicPr>
          <p:cNvPr id="3074" name="Picture 2" descr="Image result for defect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662" y="3886200"/>
            <a:ext cx="3876675" cy="2381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05800" cy="79930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idx="1"/>
          </p:nvPr>
        </p:nvSpPr>
        <p:spPr>
          <a:xfrm>
            <a:off x="381000" y="1066800"/>
            <a:ext cx="4953000" cy="5791199"/>
          </a:xfrm>
        </p:spPr>
        <p:txBody>
          <a:bodyPr>
            <a:normAutofit/>
          </a:bodyPr>
          <a:lstStyle/>
          <a:p>
            <a:pPr marL="64135" indent="0" algn="just">
              <a:buNone/>
            </a:pPr>
            <a:r>
              <a:rPr lang="en-US" sz="1900" b="1" dirty="0"/>
              <a:t>5. </a:t>
            </a:r>
            <a:r>
              <a:rPr lang="en-US" sz="1900" b="1" dirty="0" err="1"/>
              <a:t>Đề</a:t>
            </a:r>
            <a:r>
              <a:rPr lang="en-US" sz="1900" b="1" dirty="0"/>
              <a:t> </a:t>
            </a:r>
            <a:r>
              <a:rPr lang="en-US" sz="1900" b="1" dirty="0" err="1"/>
              <a:t>phòng</a:t>
            </a:r>
            <a:r>
              <a:rPr lang="en-US" sz="1900" b="1" dirty="0"/>
              <a:t> </a:t>
            </a:r>
            <a:r>
              <a:rPr lang="en-US" sz="1900" b="1" dirty="0" err="1"/>
              <a:t>nghịch</a:t>
            </a:r>
            <a:r>
              <a:rPr lang="en-US" sz="1900" b="1" dirty="0"/>
              <a:t> </a:t>
            </a:r>
            <a:r>
              <a:rPr lang="en-US" sz="1900" b="1" dirty="0" err="1"/>
              <a:t>lý</a:t>
            </a:r>
            <a:r>
              <a:rPr lang="en-US" sz="1900" b="1" dirty="0"/>
              <a:t> </a:t>
            </a:r>
            <a:r>
              <a:rPr lang="en-US" sz="1900" b="1" dirty="0" err="1"/>
              <a:t>thuốc</a:t>
            </a:r>
            <a:r>
              <a:rPr lang="en-US" sz="1900" b="1" dirty="0"/>
              <a:t> trừ sâu - </a:t>
            </a:r>
            <a:r>
              <a:rPr lang="en-US" sz="1900" b="1" dirty="0" err="1"/>
              <a:t>Hiện</a:t>
            </a:r>
            <a:r>
              <a:rPr lang="en-US" sz="1900" b="1" dirty="0"/>
              <a:t> </a:t>
            </a:r>
            <a:r>
              <a:rPr lang="en-US" sz="1900" b="1" dirty="0" err="1"/>
              <a:t>tượng</a:t>
            </a:r>
            <a:r>
              <a:rPr lang="en-US" sz="1900" b="1" dirty="0"/>
              <a:t> “</a:t>
            </a:r>
            <a:r>
              <a:rPr lang="en-US" sz="1900" b="1" dirty="0" err="1"/>
              <a:t>nhờn</a:t>
            </a:r>
            <a:r>
              <a:rPr lang="en-US" sz="1900" b="1" dirty="0"/>
              <a:t> </a:t>
            </a:r>
            <a:r>
              <a:rPr lang="en-US" sz="1900" b="1" dirty="0" err="1"/>
              <a:t>thuốc</a:t>
            </a:r>
            <a:r>
              <a:rPr lang="en-US" sz="1900" b="1" dirty="0"/>
              <a:t>”</a:t>
            </a:r>
          </a:p>
          <a:p>
            <a:pPr algn="just">
              <a:buFont typeface="Wingdings" panose="05000000000000000000" pitchFamily="2" charset="2"/>
              <a:buChar char="v"/>
            </a:pPr>
            <a:r>
              <a:rPr lang="en-US" sz="1900" dirty="0"/>
              <a:t>Có người nói </a:t>
            </a:r>
            <a:r>
              <a:rPr lang="en-US" sz="1900" dirty="0" err="1"/>
              <a:t>vui</a:t>
            </a:r>
            <a:r>
              <a:rPr lang="en-US" sz="1900" dirty="0"/>
              <a:t> </a:t>
            </a:r>
            <a:r>
              <a:rPr lang="en-US" sz="1900" dirty="0" err="1"/>
              <a:t>rằng</a:t>
            </a:r>
            <a:r>
              <a:rPr lang="en-US" sz="1900" dirty="0"/>
              <a:t> </a:t>
            </a:r>
            <a:r>
              <a:rPr lang="en-US" sz="1900" dirty="0" err="1"/>
              <a:t>kiểm</a:t>
            </a:r>
            <a:r>
              <a:rPr lang="en-US" sz="1900" dirty="0"/>
              <a:t> </a:t>
            </a:r>
            <a:r>
              <a:rPr lang="en-US" sz="1900" dirty="0" err="1"/>
              <a:t>thử</a:t>
            </a:r>
            <a:r>
              <a:rPr lang="en-US" sz="1900" dirty="0"/>
              <a:t> là </a:t>
            </a:r>
            <a:r>
              <a:rPr lang="en-US" sz="1900" dirty="0" err="1"/>
              <a:t>một</a:t>
            </a:r>
            <a:r>
              <a:rPr lang="en-US" sz="1900" dirty="0"/>
              <a:t> </a:t>
            </a:r>
            <a:r>
              <a:rPr lang="en-US" sz="1900" dirty="0" err="1"/>
              <a:t>nghệ</a:t>
            </a:r>
            <a:r>
              <a:rPr lang="en-US" sz="1900" dirty="0"/>
              <a:t> </a:t>
            </a:r>
            <a:r>
              <a:rPr lang="en-US" sz="1900" dirty="0" err="1"/>
              <a:t>thuật</a:t>
            </a:r>
            <a:r>
              <a:rPr lang="en-US" sz="1900" dirty="0"/>
              <a:t> (đã là </a:t>
            </a:r>
            <a:r>
              <a:rPr lang="en-US" sz="1900" dirty="0" err="1"/>
              <a:t>nghệ</a:t>
            </a:r>
            <a:r>
              <a:rPr lang="en-US" sz="1900" dirty="0"/>
              <a:t> </a:t>
            </a:r>
            <a:r>
              <a:rPr lang="en-US" sz="1900" dirty="0" err="1"/>
              <a:t>thuật</a:t>
            </a:r>
            <a:r>
              <a:rPr lang="en-US" sz="1900" dirty="0"/>
              <a:t> phải có ý </a:t>
            </a:r>
            <a:r>
              <a:rPr lang="en-US" sz="1900" dirty="0" err="1"/>
              <a:t>tưởng</a:t>
            </a:r>
            <a:r>
              <a:rPr lang="en-US" sz="1900" dirty="0"/>
              <a:t> và </a:t>
            </a:r>
            <a:r>
              <a:rPr lang="en-US" sz="1900" dirty="0" err="1"/>
              <a:t>cảm</a:t>
            </a:r>
            <a:r>
              <a:rPr lang="en-US" sz="1900" dirty="0"/>
              <a:t> </a:t>
            </a:r>
            <a:r>
              <a:rPr lang="en-US" sz="1900" dirty="0" err="1"/>
              <a:t>hứng</a:t>
            </a:r>
            <a:r>
              <a:rPr lang="en-US" sz="1900" dirty="0"/>
              <a:t>) </a:t>
            </a:r>
            <a:r>
              <a:rPr lang="en-US" sz="1900" dirty="0" err="1"/>
              <a:t>đôi</a:t>
            </a:r>
            <a:r>
              <a:rPr lang="en-US" sz="1900" dirty="0"/>
              <a:t> khi, </a:t>
            </a:r>
            <a:r>
              <a:rPr lang="en-US" sz="1900" dirty="0" err="1"/>
              <a:t>cảm</a:t>
            </a:r>
            <a:r>
              <a:rPr lang="en-US" sz="1900" dirty="0"/>
              <a:t> </a:t>
            </a:r>
            <a:r>
              <a:rPr lang="en-US" sz="1900" dirty="0" err="1"/>
              <a:t>hứng</a:t>
            </a:r>
            <a:r>
              <a:rPr lang="en-US" sz="1900" dirty="0"/>
              <a:t> </a:t>
            </a:r>
            <a:r>
              <a:rPr lang="en-US" sz="1900" dirty="0" err="1"/>
              <a:t>cạn</a:t>
            </a:r>
            <a:r>
              <a:rPr lang="en-US" sz="1900" dirty="0"/>
              <a:t> </a:t>
            </a:r>
            <a:r>
              <a:rPr lang="en-US" sz="1900" dirty="0" err="1"/>
              <a:t>kiệt</a:t>
            </a:r>
            <a:r>
              <a:rPr lang="en-US" sz="1900" dirty="0"/>
              <a:t>, </a:t>
            </a:r>
            <a:r>
              <a:rPr lang="en-US" sz="1900" dirty="0" err="1"/>
              <a:t>không</a:t>
            </a:r>
            <a:r>
              <a:rPr lang="en-US" sz="1900" dirty="0"/>
              <a:t> thấy </a:t>
            </a:r>
            <a:r>
              <a:rPr lang="en-US" sz="1900" dirty="0" err="1"/>
              <a:t>lỗi</a:t>
            </a:r>
            <a:r>
              <a:rPr lang="en-US" sz="1900" dirty="0"/>
              <a:t> mới nào với những </a:t>
            </a:r>
            <a:r>
              <a:rPr lang="en-US" sz="1900" dirty="0" err="1"/>
              <a:t>trường</a:t>
            </a:r>
            <a:r>
              <a:rPr lang="en-US" sz="1900" dirty="0"/>
              <a:t> </a:t>
            </a:r>
            <a:r>
              <a:rPr lang="en-US" sz="1900" dirty="0" err="1"/>
              <a:t>hợp</a:t>
            </a:r>
            <a:r>
              <a:rPr lang="en-US" sz="1900" dirty="0"/>
              <a:t> </a:t>
            </a:r>
            <a:r>
              <a:rPr lang="en-US" sz="1900" dirty="0" err="1"/>
              <a:t>kiểm</a:t>
            </a:r>
            <a:r>
              <a:rPr lang="en-US" sz="1900" dirty="0"/>
              <a:t> </a:t>
            </a:r>
            <a:r>
              <a:rPr lang="en-US" sz="1900" dirty="0" err="1"/>
              <a:t>thử</a:t>
            </a:r>
            <a:r>
              <a:rPr lang="en-US" sz="1900" dirty="0"/>
              <a:t> </a:t>
            </a:r>
            <a:r>
              <a:rPr lang="en-US" sz="1900" dirty="0" err="1"/>
              <a:t>thông</a:t>
            </a:r>
            <a:r>
              <a:rPr lang="en-US" sz="1900" dirty="0"/>
              <a:t> </a:t>
            </a:r>
            <a:r>
              <a:rPr lang="en-US" sz="1900" dirty="0" err="1"/>
              <a:t>thường</a:t>
            </a:r>
            <a:r>
              <a:rPr lang="en-US" sz="1900" dirty="0"/>
              <a:t>. </a:t>
            </a:r>
          </a:p>
          <a:p>
            <a:pPr algn="just">
              <a:buFont typeface="Wingdings" panose="05000000000000000000" pitchFamily="2" charset="2"/>
              <a:buChar char="v"/>
            </a:pPr>
            <a:r>
              <a:rPr lang="en-US" sz="1900" dirty="0" err="1"/>
              <a:t>Cũng</a:t>
            </a:r>
            <a:r>
              <a:rPr lang="en-US" sz="1900" dirty="0"/>
              <a:t> </a:t>
            </a:r>
            <a:r>
              <a:rPr lang="en-US" sz="1900" dirty="0" err="1"/>
              <a:t>giống</a:t>
            </a:r>
            <a:r>
              <a:rPr lang="en-US" sz="1900" dirty="0"/>
              <a:t> </a:t>
            </a:r>
            <a:r>
              <a:rPr lang="en-US" sz="1900" dirty="0" err="1"/>
              <a:t>như</a:t>
            </a:r>
            <a:r>
              <a:rPr lang="en-US" sz="1900" dirty="0"/>
              <a:t> </a:t>
            </a:r>
            <a:r>
              <a:rPr lang="en-US" sz="1900" dirty="0" err="1"/>
              <a:t>phun</a:t>
            </a:r>
            <a:r>
              <a:rPr lang="en-US" sz="1900" dirty="0"/>
              <a:t> </a:t>
            </a:r>
            <a:r>
              <a:rPr lang="en-US" sz="1900" dirty="0" err="1"/>
              <a:t>một</a:t>
            </a:r>
            <a:r>
              <a:rPr lang="en-US" sz="1900" dirty="0"/>
              <a:t> </a:t>
            </a:r>
            <a:r>
              <a:rPr lang="en-US" sz="1900" dirty="0" err="1"/>
              <a:t>loại</a:t>
            </a:r>
            <a:r>
              <a:rPr lang="en-US" sz="1900" dirty="0"/>
              <a:t> </a:t>
            </a:r>
            <a:r>
              <a:rPr lang="en-US" sz="1900" dirty="0" err="1"/>
              <a:t>thuốc</a:t>
            </a:r>
            <a:r>
              <a:rPr lang="en-US" sz="1900" dirty="0"/>
              <a:t> </a:t>
            </a:r>
            <a:r>
              <a:rPr lang="en-US" sz="1900" dirty="0" err="1"/>
              <a:t>trừ</a:t>
            </a:r>
            <a:r>
              <a:rPr lang="en-US" sz="1900" dirty="0"/>
              <a:t> </a:t>
            </a:r>
            <a:r>
              <a:rPr lang="en-US" sz="1900" dirty="0" err="1"/>
              <a:t>sâu</a:t>
            </a:r>
            <a:r>
              <a:rPr lang="en-US" sz="1900" dirty="0"/>
              <a:t> </a:t>
            </a:r>
            <a:r>
              <a:rPr lang="en-US" sz="1900" dirty="0" err="1"/>
              <a:t>vơi</a:t>
            </a:r>
            <a:r>
              <a:rPr lang="en-US" sz="1900" dirty="0"/>
              <a:t> </a:t>
            </a:r>
            <a:r>
              <a:rPr lang="en-US" sz="1900" dirty="0" err="1"/>
              <a:t>cùng</a:t>
            </a:r>
            <a:r>
              <a:rPr lang="en-US" sz="1900" dirty="0"/>
              <a:t> </a:t>
            </a:r>
            <a:r>
              <a:rPr lang="en-US" sz="1900" dirty="0" err="1"/>
              <a:t>liều</a:t>
            </a:r>
            <a:r>
              <a:rPr lang="en-US" sz="1900" dirty="0"/>
              <a:t> </a:t>
            </a:r>
            <a:r>
              <a:rPr lang="en-US" sz="1900" dirty="0" err="1"/>
              <a:t>lượng</a:t>
            </a:r>
            <a:r>
              <a:rPr lang="en-US" sz="1900" dirty="0"/>
              <a:t> </a:t>
            </a:r>
            <a:r>
              <a:rPr lang="en-US" sz="1900" dirty="0" err="1"/>
              <a:t>như</a:t>
            </a:r>
            <a:r>
              <a:rPr lang="en-US" sz="1900" dirty="0"/>
              <a:t> </a:t>
            </a:r>
            <a:r>
              <a:rPr lang="en-US" sz="1900" dirty="0" err="1"/>
              <a:t>nhau</a:t>
            </a:r>
            <a:r>
              <a:rPr lang="en-US" sz="1900" dirty="0"/>
              <a:t> </a:t>
            </a:r>
            <a:r>
              <a:rPr lang="en-US" sz="1900" dirty="0" err="1"/>
              <a:t>thì</a:t>
            </a:r>
            <a:r>
              <a:rPr lang="en-US" sz="1900" dirty="0"/>
              <a:t> </a:t>
            </a:r>
            <a:r>
              <a:rPr lang="en-US" sz="1900" dirty="0" err="1"/>
              <a:t>một</a:t>
            </a:r>
            <a:r>
              <a:rPr lang="en-US" sz="1900" dirty="0"/>
              <a:t> </a:t>
            </a:r>
            <a:r>
              <a:rPr lang="en-US" sz="1900" dirty="0" err="1"/>
              <a:t>số</a:t>
            </a:r>
            <a:r>
              <a:rPr lang="en-US" sz="1900" dirty="0"/>
              <a:t> </a:t>
            </a:r>
            <a:r>
              <a:rPr lang="en-US" sz="1900" dirty="0" err="1"/>
              <a:t>loại</a:t>
            </a:r>
            <a:r>
              <a:rPr lang="en-US" sz="1900" dirty="0"/>
              <a:t> </a:t>
            </a:r>
            <a:r>
              <a:rPr lang="en-US" sz="1900" dirty="0" err="1"/>
              <a:t>sâu</a:t>
            </a:r>
            <a:r>
              <a:rPr lang="en-US" sz="1900" dirty="0"/>
              <a:t> </a:t>
            </a:r>
            <a:r>
              <a:rPr lang="en-US" sz="1900" dirty="0" err="1"/>
              <a:t>sẽ</a:t>
            </a:r>
            <a:r>
              <a:rPr lang="en-US" sz="1900" dirty="0"/>
              <a:t> </a:t>
            </a:r>
            <a:r>
              <a:rPr lang="en-US" sz="1900" dirty="0" err="1"/>
              <a:t>nhờn</a:t>
            </a:r>
            <a:r>
              <a:rPr lang="en-US" sz="1900" dirty="0"/>
              <a:t> </a:t>
            </a:r>
            <a:r>
              <a:rPr lang="en-US" sz="1900" dirty="0" err="1"/>
              <a:t>thuốc</a:t>
            </a:r>
            <a:r>
              <a:rPr lang="en-US" sz="1900" dirty="0"/>
              <a:t>, </a:t>
            </a:r>
            <a:r>
              <a:rPr lang="en-US" sz="1900" dirty="0" err="1"/>
              <a:t>không</a:t>
            </a:r>
            <a:r>
              <a:rPr lang="en-US" sz="1900" dirty="0"/>
              <a:t> </a:t>
            </a:r>
            <a:r>
              <a:rPr lang="en-US" sz="1900" dirty="0" err="1"/>
              <a:t>diệt</a:t>
            </a:r>
            <a:r>
              <a:rPr lang="en-US" sz="1900" dirty="0"/>
              <a:t> </a:t>
            </a:r>
            <a:r>
              <a:rPr lang="en-US" sz="1900" dirty="0" err="1"/>
              <a:t>sạch</a:t>
            </a:r>
            <a:r>
              <a:rPr lang="en-US" altLang="vi-VN" sz="1900" dirty="0"/>
              <a:t>.</a:t>
            </a:r>
            <a:endParaRPr lang="en-US" sz="1900" i="1" dirty="0"/>
          </a:p>
          <a:p>
            <a:pPr algn="just">
              <a:buFont typeface="Symbol" panose="05050102010706020507" pitchFamily="18" charset="2"/>
              <a:buChar char="Þ"/>
            </a:pPr>
            <a:r>
              <a:rPr lang="en-US" sz="1900" dirty="0"/>
              <a:t>V</a:t>
            </a:r>
            <a:r>
              <a:rPr lang="vi-VN" sz="1900" dirty="0"/>
              <a:t>ì </a:t>
            </a:r>
            <a:r>
              <a:rPr lang="en-US" sz="1900" dirty="0" err="1"/>
              <a:t>vây</a:t>
            </a:r>
            <a:r>
              <a:rPr lang="en-US" sz="1900" dirty="0"/>
              <a:t> </a:t>
            </a:r>
            <a:r>
              <a:rPr lang="en-US" sz="1900" dirty="0" err="1"/>
              <a:t>phải</a:t>
            </a:r>
            <a:r>
              <a:rPr lang="en-US" sz="1900" dirty="0"/>
              <a:t> </a:t>
            </a:r>
            <a:r>
              <a:rPr lang="en-US" sz="1900" dirty="0" err="1"/>
              <a:t>thường</a:t>
            </a:r>
            <a:r>
              <a:rPr lang="en-US" sz="1900" dirty="0"/>
              <a:t> </a:t>
            </a:r>
            <a:r>
              <a:rPr lang="en-US" sz="1900" dirty="0" err="1"/>
              <a:t>xuyên</a:t>
            </a:r>
            <a:r>
              <a:rPr lang="en-US" sz="1900" dirty="0"/>
              <a:t> </a:t>
            </a:r>
            <a:r>
              <a:rPr lang="en-US" sz="1900" dirty="0" err="1"/>
              <a:t>làm</a:t>
            </a:r>
            <a:r>
              <a:rPr lang="en-US" sz="1900" dirty="0"/>
              <a:t> </a:t>
            </a:r>
            <a:r>
              <a:rPr lang="en-US" sz="1900" dirty="0" err="1"/>
              <a:t>phong</a:t>
            </a:r>
            <a:r>
              <a:rPr lang="en-US" sz="1900" dirty="0"/>
              <a:t> </a:t>
            </a:r>
            <a:r>
              <a:rPr lang="en-US" sz="1900" dirty="0" err="1"/>
              <a:t>phú</a:t>
            </a:r>
            <a:r>
              <a:rPr lang="en-US" sz="1900" dirty="0"/>
              <a:t> </a:t>
            </a:r>
            <a:r>
              <a:rPr lang="en-US" sz="1900" dirty="0" err="1"/>
              <a:t>bộ</a:t>
            </a:r>
            <a:r>
              <a:rPr lang="en-US" sz="1900" dirty="0"/>
              <a:t> test case </a:t>
            </a:r>
            <a:r>
              <a:rPr lang="en-US" sz="1900" dirty="0" err="1"/>
              <a:t>và</a:t>
            </a:r>
            <a:r>
              <a:rPr lang="en-US" sz="1900" dirty="0"/>
              <a:t> </a:t>
            </a:r>
            <a:r>
              <a:rPr lang="en-US" sz="1900" dirty="0" err="1"/>
              <a:t>thực</a:t>
            </a:r>
            <a:r>
              <a:rPr lang="en-US" sz="1900" dirty="0"/>
              <a:t> </a:t>
            </a:r>
            <a:r>
              <a:rPr lang="en-US" sz="1900" dirty="0" err="1"/>
              <a:t>hiện</a:t>
            </a:r>
            <a:r>
              <a:rPr lang="en-US" sz="1900" dirty="0"/>
              <a:t> </a:t>
            </a:r>
            <a:r>
              <a:rPr lang="en-US" sz="1900" dirty="0" err="1"/>
              <a:t>nhiều</a:t>
            </a:r>
            <a:r>
              <a:rPr lang="en-US" sz="1900" dirty="0"/>
              <a:t> </a:t>
            </a:r>
            <a:r>
              <a:rPr lang="en-US" sz="1900" dirty="0" err="1"/>
              <a:t>trường</a:t>
            </a:r>
            <a:r>
              <a:rPr lang="en-US" sz="1900" dirty="0"/>
              <a:t> </a:t>
            </a:r>
            <a:r>
              <a:rPr lang="en-US" sz="1900" dirty="0" err="1"/>
              <a:t>hợp</a:t>
            </a:r>
            <a:r>
              <a:rPr lang="en-US" sz="1900" dirty="0"/>
              <a:t> </a:t>
            </a:r>
            <a:r>
              <a:rPr lang="en-US" sz="1900" dirty="0" err="1"/>
              <a:t>để</a:t>
            </a:r>
            <a:r>
              <a:rPr lang="en-US" sz="1900" dirty="0"/>
              <a:t> </a:t>
            </a:r>
            <a:r>
              <a:rPr lang="en-US" sz="1900" dirty="0" err="1"/>
              <a:t>tránh</a:t>
            </a:r>
            <a:r>
              <a:rPr lang="en-US" sz="1900" dirty="0"/>
              <a:t> </a:t>
            </a:r>
            <a:r>
              <a:rPr lang="en-US" sz="1900" dirty="0" err="1"/>
              <a:t>trường</a:t>
            </a:r>
            <a:r>
              <a:rPr lang="en-US" sz="1900" dirty="0"/>
              <a:t> </a:t>
            </a:r>
            <a:r>
              <a:rPr lang="en-US" sz="1900" dirty="0" err="1"/>
              <a:t>hợp</a:t>
            </a:r>
            <a:r>
              <a:rPr lang="en-US" sz="1900" dirty="0"/>
              <a:t> </a:t>
            </a:r>
            <a:r>
              <a:rPr lang="en-US" sz="1900" dirty="0" err="1"/>
              <a:t>này</a:t>
            </a:r>
            <a:endParaRPr lang="en-US" sz="1900" dirty="0"/>
          </a:p>
        </p:txBody>
      </p:sp>
      <p:pic>
        <p:nvPicPr>
          <p:cNvPr id="4098" name="Picture 2" descr="Image result for nghá»ch lÃ½ thuá»c trá»« sÃ¢u pháº§n má»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057400"/>
            <a:ext cx="3543300" cy="3571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4775"/>
            <a:ext cx="8077200" cy="799306"/>
          </a:xfrm>
        </p:spPr>
        <p:txBody>
          <a:bodyPr/>
          <a:lstStyle/>
          <a:p>
            <a:r>
              <a:rPr lang="en-US" dirty="0"/>
              <a:t>VII. </a:t>
            </a:r>
            <a:r>
              <a:rPr lang="en-US" dirty="0" err="1"/>
              <a:t>Bí</a:t>
            </a:r>
            <a:r>
              <a:rPr lang="en-US" dirty="0"/>
              <a:t> </a:t>
            </a:r>
            <a:r>
              <a:rPr lang="en-US" dirty="0" err="1"/>
              <a:t>Kíp</a:t>
            </a:r>
            <a:r>
              <a:rPr lang="en-US" dirty="0"/>
              <a:t> </a:t>
            </a:r>
            <a:r>
              <a:rPr lang="en-US" dirty="0" err="1"/>
              <a:t>Truy</a:t>
            </a:r>
            <a:r>
              <a:rPr lang="en-US" dirty="0"/>
              <a:t> </a:t>
            </a:r>
            <a:r>
              <a:rPr lang="en-US" dirty="0" err="1"/>
              <a:t>Lùng</a:t>
            </a:r>
            <a:r>
              <a:rPr lang="en-US" dirty="0"/>
              <a:t> Bug</a:t>
            </a:r>
          </a:p>
        </p:txBody>
      </p:sp>
      <p:sp>
        <p:nvSpPr>
          <p:cNvPr id="3" name="Content Placeholder 2"/>
          <p:cNvSpPr>
            <a:spLocks noGrp="1"/>
          </p:cNvSpPr>
          <p:nvPr>
            <p:ph idx="1"/>
          </p:nvPr>
        </p:nvSpPr>
        <p:spPr>
          <a:xfrm>
            <a:off x="372762" y="762000"/>
            <a:ext cx="8229600" cy="5562600"/>
          </a:xfrm>
        </p:spPr>
        <p:txBody>
          <a:bodyPr>
            <a:normAutofit/>
          </a:bodyPr>
          <a:lstStyle/>
          <a:p>
            <a:pPr marL="64135" indent="0" algn="just">
              <a:buNone/>
            </a:pPr>
            <a:r>
              <a:rPr lang="en-US" sz="1900" b="1" dirty="0"/>
              <a:t>6. Test </a:t>
            </a:r>
            <a:r>
              <a:rPr lang="en-US" sz="1900" b="1" dirty="0" err="1"/>
              <a:t>phụ</a:t>
            </a:r>
            <a:r>
              <a:rPr lang="en-US" sz="1900" b="1" dirty="0"/>
              <a:t> </a:t>
            </a:r>
            <a:r>
              <a:rPr lang="en-US" sz="1900" b="1" dirty="0" err="1"/>
              <a:t>thuộc</a:t>
            </a:r>
            <a:r>
              <a:rPr lang="en-US" sz="1900" b="1" dirty="0"/>
              <a:t> </a:t>
            </a:r>
            <a:r>
              <a:rPr lang="en-US" sz="1900" b="1" dirty="0" err="1"/>
              <a:t>vào</a:t>
            </a:r>
            <a:r>
              <a:rPr lang="en-US" sz="1900" b="1" dirty="0"/>
              <a:t> </a:t>
            </a:r>
            <a:r>
              <a:rPr lang="en-US" sz="1900" b="1" dirty="0" err="1"/>
              <a:t>ngữ</a:t>
            </a:r>
            <a:r>
              <a:rPr lang="en-US" sz="1900" b="1" dirty="0"/>
              <a:t> </a:t>
            </a:r>
            <a:r>
              <a:rPr lang="en-US" sz="1900" b="1" dirty="0" err="1"/>
              <a:t>cảnh</a:t>
            </a:r>
            <a:r>
              <a:rPr lang="en-US" sz="1900" b="1" dirty="0"/>
              <a:t> </a:t>
            </a:r>
            <a:endParaRPr lang="en-US" sz="1900" b="1" i="1" dirty="0"/>
          </a:p>
          <a:p>
            <a:pPr marL="64135" indent="0" algn="just">
              <a:buNone/>
            </a:pPr>
            <a:r>
              <a:rPr lang="en-US" sz="1900" dirty="0"/>
              <a:t>Test </a:t>
            </a:r>
            <a:r>
              <a:rPr lang="en-US" sz="1900" dirty="0" err="1"/>
              <a:t>sẽ</a:t>
            </a:r>
            <a:r>
              <a:rPr lang="en-US" sz="1900" dirty="0"/>
              <a:t> </a:t>
            </a:r>
            <a:r>
              <a:rPr lang="en-US" sz="1900" dirty="0" err="1"/>
              <a:t>cho</a:t>
            </a:r>
            <a:r>
              <a:rPr lang="en-US" sz="1900" dirty="0"/>
              <a:t> </a:t>
            </a:r>
            <a:r>
              <a:rPr lang="en-US" sz="1900" dirty="0" err="1"/>
              <a:t>các</a:t>
            </a:r>
            <a:r>
              <a:rPr lang="en-US" sz="1900" dirty="0"/>
              <a:t> </a:t>
            </a:r>
            <a:r>
              <a:rPr lang="en-US" sz="1900" dirty="0" err="1"/>
              <a:t>kết</a:t>
            </a:r>
            <a:r>
              <a:rPr lang="en-US" sz="1900" dirty="0"/>
              <a:t> </a:t>
            </a:r>
            <a:r>
              <a:rPr lang="en-US" sz="1900" dirty="0" err="1"/>
              <a:t>quả</a:t>
            </a:r>
            <a:r>
              <a:rPr lang="en-US" sz="1900" dirty="0"/>
              <a:t> </a:t>
            </a:r>
            <a:r>
              <a:rPr lang="en-US" sz="1900" dirty="0" err="1"/>
              <a:t>khác</a:t>
            </a:r>
            <a:r>
              <a:rPr lang="en-US" sz="1900" dirty="0"/>
              <a:t> </a:t>
            </a:r>
            <a:r>
              <a:rPr lang="en-US" sz="1900" dirty="0" err="1"/>
              <a:t>nhau</a:t>
            </a:r>
            <a:r>
              <a:rPr lang="en-US" sz="1900" dirty="0"/>
              <a:t> </a:t>
            </a:r>
            <a:r>
              <a:rPr lang="en-US" sz="1900" dirty="0" err="1"/>
              <a:t>khi</a:t>
            </a:r>
            <a:r>
              <a:rPr lang="en-US" sz="1900" dirty="0"/>
              <a:t> </a:t>
            </a:r>
            <a:r>
              <a:rPr lang="en-US" sz="1900" dirty="0" err="1"/>
              <a:t>thực</a:t>
            </a:r>
            <a:r>
              <a:rPr lang="en-US" sz="1900" dirty="0"/>
              <a:t> </a:t>
            </a:r>
            <a:r>
              <a:rPr lang="en-US" sz="1900" dirty="0" err="1"/>
              <a:t>hiện</a:t>
            </a:r>
            <a:r>
              <a:rPr lang="en-US" sz="1900" dirty="0"/>
              <a:t> </a:t>
            </a:r>
            <a:r>
              <a:rPr lang="en-US" sz="1900" dirty="0" err="1"/>
              <a:t>trong</a:t>
            </a:r>
            <a:r>
              <a:rPr lang="en-US" sz="1900" dirty="0"/>
              <a:t> </a:t>
            </a:r>
            <a:r>
              <a:rPr lang="en-US" sz="1900" dirty="0" err="1"/>
              <a:t>các</a:t>
            </a:r>
            <a:r>
              <a:rPr lang="en-US" sz="1900" dirty="0"/>
              <a:t> </a:t>
            </a:r>
            <a:r>
              <a:rPr lang="en-US" sz="1900" dirty="0" err="1"/>
              <a:t>hoàn</a:t>
            </a:r>
            <a:r>
              <a:rPr lang="en-US" sz="1900" dirty="0"/>
              <a:t> </a:t>
            </a:r>
            <a:r>
              <a:rPr lang="en-US" sz="1900" dirty="0" err="1"/>
              <a:t>cảnh</a:t>
            </a:r>
            <a:r>
              <a:rPr lang="en-US" sz="1900" dirty="0"/>
              <a:t> </a:t>
            </a:r>
            <a:r>
              <a:rPr lang="en-US" sz="1900" dirty="0" err="1"/>
              <a:t>khác</a:t>
            </a:r>
            <a:r>
              <a:rPr lang="en-US" sz="1900" dirty="0"/>
              <a:t> </a:t>
            </a:r>
            <a:r>
              <a:rPr lang="en-US" sz="1900" dirty="0" err="1"/>
              <a:t>nhau</a:t>
            </a:r>
            <a:r>
              <a:rPr lang="en-US" sz="1900" dirty="0"/>
              <a:t>.</a:t>
            </a:r>
          </a:p>
          <a:p>
            <a:pPr algn="just">
              <a:buFont typeface="Wingdings" panose="05000000000000000000" pitchFamily="2" charset="2"/>
              <a:buChar char="v"/>
            </a:pPr>
            <a:r>
              <a:rPr lang="en-US" sz="1900" dirty="0"/>
              <a:t>VD: 1 phần </a:t>
            </a:r>
            <a:r>
              <a:rPr lang="en-US" sz="1900" dirty="0" err="1"/>
              <a:t>mềm</a:t>
            </a:r>
            <a:r>
              <a:rPr lang="en-US" sz="1900" dirty="0"/>
              <a:t> web application </a:t>
            </a:r>
            <a:r>
              <a:rPr lang="en-US" sz="1900" dirty="0" err="1"/>
              <a:t>khi</a:t>
            </a:r>
            <a:r>
              <a:rPr lang="en-US" sz="1900" dirty="0"/>
              <a:t> </a:t>
            </a:r>
            <a:r>
              <a:rPr lang="en-US" sz="1900" dirty="0" err="1"/>
              <a:t>thực</a:t>
            </a:r>
            <a:r>
              <a:rPr lang="en-US" sz="1900" dirty="0"/>
              <a:t> </a:t>
            </a:r>
            <a:r>
              <a:rPr lang="en-US" sz="1900" dirty="0" err="1"/>
              <a:t>hiện</a:t>
            </a:r>
            <a:r>
              <a:rPr lang="en-US" sz="1900" dirty="0"/>
              <a:t> test </a:t>
            </a:r>
            <a:r>
              <a:rPr lang="en-US" sz="1900" dirty="0" err="1"/>
              <a:t>trên</a:t>
            </a:r>
            <a:r>
              <a:rPr lang="en-US" sz="1900" dirty="0"/>
              <a:t> </a:t>
            </a:r>
            <a:r>
              <a:rPr lang="en-US" sz="1900" dirty="0" err="1"/>
              <a:t>các</a:t>
            </a:r>
            <a:r>
              <a:rPr lang="en-US" sz="1900" dirty="0"/>
              <a:t> browser </a:t>
            </a:r>
            <a:r>
              <a:rPr lang="en-US" sz="1900" dirty="0" err="1"/>
              <a:t>khác</a:t>
            </a:r>
            <a:r>
              <a:rPr lang="en-US" sz="1900" dirty="0"/>
              <a:t> </a:t>
            </a:r>
            <a:r>
              <a:rPr lang="en-US" sz="1900" dirty="0" err="1"/>
              <a:t>nhau</a:t>
            </a:r>
            <a:r>
              <a:rPr lang="en-US" sz="1900" dirty="0"/>
              <a:t> </a:t>
            </a:r>
            <a:r>
              <a:rPr lang="en-US" sz="1900" dirty="0" err="1"/>
              <a:t>như</a:t>
            </a:r>
            <a:r>
              <a:rPr lang="en-US" sz="1900" dirty="0"/>
              <a:t> : IE, FF, Chrome, Safari, Opera, </a:t>
            </a:r>
            <a:r>
              <a:rPr lang="en-US" sz="1900" dirty="0" err="1"/>
              <a:t>iphone</a:t>
            </a:r>
            <a:r>
              <a:rPr lang="en-US" sz="1900" dirty="0"/>
              <a:t>, </a:t>
            </a:r>
            <a:r>
              <a:rPr lang="en-US" sz="1900" dirty="0" err="1"/>
              <a:t>ipad</a:t>
            </a:r>
            <a:r>
              <a:rPr lang="en-US" sz="1900" dirty="0"/>
              <a:t>, </a:t>
            </a:r>
            <a:r>
              <a:rPr lang="en-US" sz="1900" dirty="0" err="1"/>
              <a:t>ipod</a:t>
            </a:r>
            <a:r>
              <a:rPr lang="en-US" sz="1900" dirty="0"/>
              <a:t> </a:t>
            </a:r>
            <a:r>
              <a:rPr lang="en-US" sz="1900" dirty="0" err="1"/>
              <a:t>thì</a:t>
            </a:r>
            <a:r>
              <a:rPr lang="en-US" sz="1900" dirty="0"/>
              <a:t> </a:t>
            </a:r>
            <a:r>
              <a:rPr lang="en-US" sz="1900" dirty="0" err="1"/>
              <a:t>có</a:t>
            </a:r>
            <a:r>
              <a:rPr lang="en-US" sz="1900" dirty="0"/>
              <a:t> </a:t>
            </a:r>
            <a:r>
              <a:rPr lang="en-US" sz="1900" dirty="0" err="1"/>
              <a:t>thể</a:t>
            </a:r>
            <a:r>
              <a:rPr lang="en-US" sz="1900" dirty="0"/>
              <a:t> </a:t>
            </a:r>
            <a:r>
              <a:rPr lang="en-US" sz="1900" dirty="0" err="1"/>
              <a:t>cho</a:t>
            </a:r>
            <a:r>
              <a:rPr lang="en-US" sz="1900" dirty="0"/>
              <a:t> </a:t>
            </a:r>
            <a:r>
              <a:rPr lang="en-US" sz="1900" dirty="0" err="1"/>
              <a:t>các</a:t>
            </a:r>
            <a:r>
              <a:rPr lang="en-US" sz="1900" dirty="0"/>
              <a:t> </a:t>
            </a:r>
            <a:r>
              <a:rPr lang="en-US" sz="1900" dirty="0" err="1"/>
              <a:t>kết</a:t>
            </a:r>
            <a:r>
              <a:rPr lang="en-US" sz="1900" dirty="0"/>
              <a:t> </a:t>
            </a:r>
            <a:r>
              <a:rPr lang="en-US" sz="1900" dirty="0" err="1"/>
              <a:t>quả</a:t>
            </a:r>
            <a:r>
              <a:rPr lang="en-US" sz="1900" dirty="0"/>
              <a:t> </a:t>
            </a:r>
            <a:r>
              <a:rPr lang="en-US" sz="1900" dirty="0" err="1"/>
              <a:t>khác</a:t>
            </a:r>
            <a:r>
              <a:rPr lang="en-US" sz="1900" dirty="0"/>
              <a:t> </a:t>
            </a:r>
            <a:r>
              <a:rPr lang="en-US" sz="1900" dirty="0" err="1"/>
              <a:t>nhau</a:t>
            </a:r>
            <a:r>
              <a:rPr lang="en-US" sz="1900" dirty="0"/>
              <a:t>. </a:t>
            </a:r>
          </a:p>
          <a:p>
            <a:pPr marL="64135" indent="0" algn="just">
              <a:buNone/>
            </a:pP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86400"/>
          </a:xfrm>
        </p:spPr>
        <p:txBody>
          <a:bodyPr>
            <a:normAutofit/>
          </a:bodyPr>
          <a:lstStyle/>
          <a:p>
            <a:pPr marL="64135" indent="0" algn="ctr">
              <a:buNone/>
            </a:pPr>
            <a:endParaRPr lang="en-US" sz="2800" b="1" i="1" dirty="0">
              <a:solidFill>
                <a:srgbClr val="FF0000"/>
              </a:solidFill>
              <a:latin typeface="Baskerville Old Face" panose="02020602080505020303" pitchFamily="18" charset="0"/>
            </a:endParaRPr>
          </a:p>
          <a:p>
            <a:pPr marL="64135" indent="0" algn="ctr">
              <a:buNone/>
            </a:pPr>
            <a:r>
              <a:rPr lang="en-US" sz="3600" b="1" i="1" dirty="0">
                <a:solidFill>
                  <a:srgbClr val="FF0000"/>
                </a:solidFill>
                <a:latin typeface="Arial (Body)" charset="0"/>
                <a:cs typeface="Arial (Body)" charset="0"/>
              </a:rPr>
              <a:t>XIN CẢM ƠN VÌ ĐÃ LẮNG NGHE !</a:t>
            </a:r>
          </a:p>
          <a:p>
            <a:pPr marL="64135" indent="0" algn="ctr">
              <a:buNone/>
            </a:pPr>
            <a:endParaRPr lang="en-US" sz="2800" b="1" i="1" dirty="0">
              <a:solidFill>
                <a:srgbClr val="FF0000"/>
              </a:solidFill>
              <a:latin typeface="Baskerville Old Face" panose="02020602080505020303" pitchFamily="18" charset="0"/>
            </a:endParaRPr>
          </a:p>
          <a:p>
            <a:pPr marL="64135" indent="0" algn="ctr">
              <a:buNone/>
            </a:pPr>
            <a:r>
              <a:rPr lang="en-US" sz="13800" b="1" dirty="0"/>
              <a:t>Q&amp;A?</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Custom 48">
      <a:dk1>
        <a:sysClr val="windowText" lastClr="000000"/>
      </a:dk1>
      <a:lt1>
        <a:sysClr val="window" lastClr="FFFFFF"/>
      </a:lt1>
      <a:dk2>
        <a:srgbClr val="262626"/>
      </a:dk2>
      <a:lt2>
        <a:srgbClr val="F2F2F2"/>
      </a:lt2>
      <a:accent1>
        <a:srgbClr val="C94C25"/>
      </a:accent1>
      <a:accent2>
        <a:srgbClr val="EA8640"/>
      </a:accent2>
      <a:accent3>
        <a:srgbClr val="99D9E7"/>
      </a:accent3>
      <a:accent4>
        <a:srgbClr val="FAB17B"/>
      </a:accent4>
      <a:accent5>
        <a:srgbClr val="21B8B3"/>
      </a:accent5>
      <a:accent6>
        <a:srgbClr val="F3786E"/>
      </a:accent6>
      <a:hlink>
        <a:srgbClr val="646567"/>
      </a:hlink>
      <a:folHlink>
        <a:srgbClr val="646567"/>
      </a:folHlink>
    </a:clrScheme>
    <a:fontScheme name="Custom 27">
      <a:majorFont>
        <a:latin typeface="Segoe UI"/>
        <a:ea typeface=""/>
        <a:cs typeface=""/>
      </a:majorFont>
      <a:minorFont>
        <a:latin typeface="Arial"/>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110000" t="250000" r="110000" b="40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110000" t="250000" r="110000" b="40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70000"/>
                <a:satMod val="130000"/>
              </a:schemeClr>
              <a:schemeClr val="phClr">
                <a:tint val="70000"/>
                <a:satMod val="130000"/>
              </a:schemeClr>
            </a:duotone>
          </a:blip>
          <a:tile tx="0" ty="0" sx="90000" sy="90000" flip="none" algn="t"/>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tf10167107</Template>
  <TotalTime>2768</TotalTime>
  <Words>2454</Words>
  <Application>Microsoft Office PowerPoint</Application>
  <PresentationFormat>On-screen Show (4:3)</PresentationFormat>
  <Paragraphs>146</Paragraphs>
  <Slides>23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 (Body)</vt:lpstr>
      <vt:lpstr>Arial</vt:lpstr>
      <vt:lpstr>Baskerville Old Face</vt:lpstr>
      <vt:lpstr>Calibri</vt:lpstr>
      <vt:lpstr>Segoe UI</vt:lpstr>
      <vt:lpstr>Symbol</vt:lpstr>
      <vt:lpstr>Wingdings</vt:lpstr>
      <vt:lpstr>Wingdings 2</vt:lpstr>
      <vt:lpstr>Verve</vt:lpstr>
      <vt:lpstr>LÝ THUYẾT CHUNG  VỀ TEST</vt:lpstr>
      <vt:lpstr>NỘI DUNG</vt:lpstr>
      <vt:lpstr>I. Tại sao phải test?</vt:lpstr>
      <vt:lpstr>II. Developer thì cần gì phải biết test ?</vt:lpstr>
      <vt:lpstr>III. Test là gì?</vt:lpstr>
      <vt:lpstr>PowerPoint Presentation</vt:lpstr>
      <vt:lpstr>III. Test là gì?</vt:lpstr>
      <vt:lpstr>III. Test là gì?</vt:lpstr>
      <vt:lpstr>VI. Phân loại test (Testing types)</vt:lpstr>
      <vt:lpstr>VI. Phân loại test (Testing types)</vt:lpstr>
      <vt:lpstr>V. Các mức độ test (Test levels)</vt:lpstr>
      <vt:lpstr>V. Các mức độ test (Test levels)</vt:lpstr>
      <vt:lpstr>V. Các mức độ test (Test levels)</vt:lpstr>
      <vt:lpstr>V. Các mức độ test (Test levels)</vt:lpstr>
      <vt:lpstr>VI. Quy trình test cơ bản</vt:lpstr>
      <vt:lpstr>VII. Bí Kíp Truy Lùng Bug</vt:lpstr>
      <vt:lpstr>VII. Bí Kíp Truy Lùng Bug</vt:lpstr>
      <vt:lpstr>VII. Bí Kíp Truy Lùng Bug</vt:lpstr>
      <vt:lpstr>VII. Bí Kíp Truy Lùng Bug</vt:lpstr>
      <vt:lpstr>VII. Bí Kíp Truy Lùng Bug</vt:lpstr>
      <vt:lpstr>VII. Bí Kíp Truy Lùng Bug</vt:lpstr>
      <vt:lpstr>VII. Bí Kíp Truy Lùng Bug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Reporting Progress or Status</dc:title>
  <dc:creator>Duong Thi Hong Diep</dc:creator>
  <cp:lastModifiedBy>Pham Thi Thanh Nga</cp:lastModifiedBy>
  <cp:revision>524</cp:revision>
  <dcterms:created xsi:type="dcterms:W3CDTF">2018-01-16T08:57:00Z</dcterms:created>
  <dcterms:modified xsi:type="dcterms:W3CDTF">2023-04-07T10:25:32Z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1033-10.2.0.7617</vt:lpwstr>
  </property>
</Properties>
</file>