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69" r:id="rId2"/>
    <p:sldId id="268" r:id="rId3"/>
    <p:sldId id="295" r:id="rId4"/>
    <p:sldId id="297" r:id="rId5"/>
    <p:sldId id="299" r:id="rId6"/>
    <p:sldId id="300" r:id="rId7"/>
    <p:sldId id="301" r:id="rId8"/>
    <p:sldId id="29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5004C"/>
    <a:srgbClr val="06014B"/>
    <a:srgbClr val="FF9933"/>
    <a:srgbClr val="FFFFFF"/>
    <a:srgbClr val="FFCC66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01" autoAdjust="0"/>
    <p:restoredTop sz="94660"/>
  </p:normalViewPr>
  <p:slideViewPr>
    <p:cSldViewPr>
      <p:cViewPr varScale="1">
        <p:scale>
          <a:sx n="114" d="100"/>
          <a:sy n="114" d="100"/>
        </p:scale>
        <p:origin x="1788" y="14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925A17EF-115B-4BB9-BF42-426DFD9E898A}" type="datetimeFigureOut">
              <a:rPr lang="en-US" smtClean="0"/>
              <a:t>4/4/2023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7C4E7652-46AF-4259-BAE2-54978EA07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807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12" Type="http://schemas.openxmlformats.org/officeDocument/2006/relationships/image" Target="../media/image6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 userDrawn="1"/>
        </p:nvGrpSpPr>
        <p:grpSpPr>
          <a:xfrm>
            <a:off x="-1" y="-10825"/>
            <a:ext cx="9144002" cy="6515395"/>
            <a:chOff x="-1" y="-10825"/>
            <a:chExt cx="9144002" cy="6515395"/>
          </a:xfrm>
        </p:grpSpPr>
        <p:pic>
          <p:nvPicPr>
            <p:cNvPr id="11" name="Graphic 10"/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7200" y="-10825"/>
              <a:ext cx="3429000" cy="3181546"/>
            </a:xfrm>
            <a:prstGeom prst="rect">
              <a:avLst/>
            </a:prstGeom>
          </p:spPr>
        </p:pic>
        <p:pic>
          <p:nvPicPr>
            <p:cNvPr id="12" name="Graphic 11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95401" y="-10825"/>
              <a:ext cx="7848600" cy="3522243"/>
            </a:xfrm>
            <a:prstGeom prst="rect">
              <a:avLst/>
            </a:prstGeom>
          </p:spPr>
        </p:pic>
        <p:pic>
          <p:nvPicPr>
            <p:cNvPr id="13" name="Graphic 12"/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831825" y="2232482"/>
              <a:ext cx="1282976" cy="1108588"/>
            </a:xfrm>
            <a:prstGeom prst="rect">
              <a:avLst/>
            </a:prstGeom>
          </p:spPr>
        </p:pic>
        <p:pic>
          <p:nvPicPr>
            <p:cNvPr id="14" name="Graphic 13"/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-1" y="2962082"/>
              <a:ext cx="2757625" cy="3542488"/>
            </a:xfrm>
            <a:prstGeom prst="rect">
              <a:avLst/>
            </a:prstGeom>
          </p:spPr>
        </p:pic>
        <p:pic>
          <p:nvPicPr>
            <p:cNvPr id="15" name="Graphic 14"/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" y="2313169"/>
              <a:ext cx="2259131" cy="2895506"/>
            </a:xfrm>
            <a:prstGeom prst="rect">
              <a:avLst/>
            </a:prstGeom>
          </p:spPr>
        </p:pic>
      </p:grp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276600" y="1213332"/>
            <a:ext cx="5326856" cy="1425577"/>
          </a:xfrm>
        </p:spPr>
        <p:txBody>
          <a:bodyPr anchor="b"/>
          <a:lstStyle>
            <a:lvl1pPr algn="r">
              <a:defRPr sz="45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724400" y="3849666"/>
            <a:ext cx="3879056" cy="1234575"/>
          </a:xfrm>
          <a:noFill/>
        </p:spPr>
        <p:txBody>
          <a:bodyPr/>
          <a:lstStyle>
            <a:lvl1pPr marL="0" marR="36830" indent="0" algn="l">
              <a:spcBef>
                <a:spcPts val="0"/>
              </a:spcBef>
              <a:buNone/>
              <a:defRPr>
                <a:ln>
                  <a:noFill/>
                </a:ln>
                <a:solidFill>
                  <a:schemeClr val="bg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12256" y="6111875"/>
            <a:ext cx="5791200" cy="365125"/>
          </a:xfrm>
          <a:prstGeom prst="rect">
            <a:avLst/>
          </a:prstGeom>
        </p:spPr>
        <p:txBody>
          <a:bodyPr tIns="0" bIns="0" anchor="b"/>
          <a:lstStyle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Báo cáo tổng kết 2017 - PMO</a:t>
            </a:r>
            <a:endParaRPr lang="en-US" dirty="0"/>
          </a:p>
        </p:txBody>
      </p:sp>
      <p:pic>
        <p:nvPicPr>
          <p:cNvPr id="2051" name="Picture 1" descr="logo+Luvina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95402" cy="787402"/>
          </a:xfrm>
          <a:prstGeom prst="rect">
            <a:avLst/>
          </a:prstGeom>
          <a:noFill/>
          <a:ln>
            <a:noFill/>
          </a:ln>
          <a:effectLst>
            <a:glow>
              <a:schemeClr val="accent1"/>
            </a:glow>
            <a:outerShdw blurRad="177800" dist="50800" dir="5400000" algn="ctr" rotWithShape="0">
              <a:srgbClr val="000000">
                <a:alpha val="0"/>
              </a:srgbClr>
            </a:outerShd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395"/>
            <a:ext cx="4876800" cy="79930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72000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183880" y="173195"/>
            <a:ext cx="502920" cy="301752"/>
          </a:xfrm>
          <a:prstGeom prst="rect">
            <a:avLst/>
          </a:prstGeom>
        </p:spPr>
        <p:txBody>
          <a:bodyPr/>
          <a:lstStyle/>
          <a:p>
            <a:fld id="{49598980-D22C-4904-9F8F-3DB09B2ECD8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57200" y="1425655"/>
            <a:ext cx="7726680" cy="571500"/>
          </a:xfrm>
        </p:spPr>
        <p:txBody>
          <a:bodyPr>
            <a:normAutofit/>
          </a:bodyPr>
          <a:lstStyle>
            <a:lvl1pPr marL="64135" indent="0">
              <a:buFont typeface="Arial" panose="020B0604020202020204" pitchFamily="34" charset="0"/>
              <a:buNone/>
              <a:defRPr sz="2000"/>
            </a:lvl1pPr>
            <a:lvl2pPr marL="537210" indent="0">
              <a:buNone/>
              <a:defRPr/>
            </a:lvl2pPr>
            <a:lvl3pPr marL="877570" indent="0">
              <a:buNone/>
              <a:defRPr/>
            </a:lvl3pPr>
            <a:lvl4pPr marL="1161415" indent="0">
              <a:buNone/>
              <a:defRPr/>
            </a:lvl4pPr>
            <a:lvl5pPr marL="139001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295400"/>
            <a:ext cx="914400" cy="5015864"/>
          </a:xfrm>
        </p:spPr>
        <p:txBody>
          <a:bodyPr vert="vert270" anchor="b"/>
          <a:lstStyle>
            <a:lvl1pPr marL="0" marR="18415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5856" y="1295400"/>
            <a:ext cx="2438400" cy="5015864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51250" y="1295400"/>
            <a:ext cx="5276088" cy="501396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91596" y="173195"/>
            <a:ext cx="502920" cy="301752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FEA1243F-3000-4347-94A4-FBDEAD3122CB}" type="slidenum">
              <a:rPr lang="en-US" smtClean="0"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5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66725" y="381198"/>
            <a:ext cx="4638674" cy="675926"/>
          </a:xfrm>
          <a:prstGeom prst="rect">
            <a:avLst/>
          </a:prstGeom>
        </p:spPr>
        <p:txBody>
          <a:bodyPr vert="horz" lIns="0" rIns="0" anchor="ctr">
            <a:noAutofit/>
          </a:bodyPr>
          <a:lstStyle/>
          <a:p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566839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1" name="Graphic 20"/>
          <p:cNvPicPr>
            <a:picLocks noChangeAspect="1"/>
          </p:cNvPicPr>
          <p:nvPr userDrawn="1"/>
        </p:nvPicPr>
        <p:blipFill>
          <a:blip r:embed="rId8" cstate="print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0" y="5307178"/>
            <a:ext cx="1219200" cy="1550822"/>
          </a:xfrm>
          <a:prstGeom prst="rect">
            <a:avLst/>
          </a:prstGeom>
        </p:spPr>
      </p:pic>
      <p:pic>
        <p:nvPicPr>
          <p:cNvPr id="27" name="Graphic 26"/>
          <p:cNvPicPr>
            <a:picLocks noChangeAspect="1"/>
          </p:cNvPicPr>
          <p:nvPr userDrawn="1"/>
        </p:nvPicPr>
        <p:blipFill>
          <a:blip r:embed="rId10" cstate="print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16459" y="4545317"/>
            <a:ext cx="1248460" cy="1570328"/>
          </a:xfrm>
          <a:prstGeom prst="rect">
            <a:avLst/>
          </a:prstGeom>
        </p:spPr>
      </p:pic>
      <p:pic>
        <p:nvPicPr>
          <p:cNvPr id="1027" name="Picture 1" descr="logo+Luvina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2591" y="1994"/>
            <a:ext cx="1230913" cy="748202"/>
          </a:xfrm>
          <a:prstGeom prst="rect">
            <a:avLst/>
          </a:prstGeom>
          <a:noFill/>
          <a:ln>
            <a:noFill/>
          </a:ln>
          <a:effectLst>
            <a:outerShdw dist="50800" dir="5400000" algn="ctr" rotWithShape="0">
              <a:srgbClr val="000000">
                <a:alpha val="0"/>
              </a:srgbClr>
            </a:outerShdw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dt="0"/>
  <p:txStyles>
    <p:titleStyle>
      <a:lvl1pPr marL="182880" algn="l" rtl="0" eaLnBrk="1" latinLnBrk="0" hangingPunct="1">
        <a:spcBef>
          <a:spcPct val="0"/>
        </a:spcBef>
        <a:buNone/>
        <a:defRPr sz="3200" b="1" kern="1200">
          <a:ln w="6350">
            <a:noFill/>
          </a:ln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448310" indent="-384175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SzPct val="80000"/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SzPct val="95000"/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2pPr>
      <a:lvl3pPr marL="1106170" indent="-228600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3pPr>
      <a:lvl4pPr marL="1371600" indent="-210185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4pPr>
      <a:lvl5pPr marL="1600200" indent="-210185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5pPr>
      <a:lvl6pPr marL="1828800" indent="-210185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 panose="05020102010507070707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705" indent="-210185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 panose="05020102010507070707"/>
        <a:buChar char="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 panose="05020102010507070707"/>
        <a:buChar char="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 panose="05020102010507070707"/>
        <a:buChar char="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6400" y="914400"/>
            <a:ext cx="8001000" cy="1066800"/>
          </a:xfrm>
        </p:spPr>
        <p:txBody>
          <a:bodyPr/>
          <a:lstStyle/>
          <a:p>
            <a:pPr algn="ctr"/>
            <a:r>
              <a:rPr lang="vi-VN" sz="3600" dirty="0"/>
              <a:t>LẬP DÀN Ý TEST</a:t>
            </a:r>
            <a:r>
              <a:rPr lang="en-US" sz="3600" dirty="0"/>
              <a:t> </a:t>
            </a:r>
            <a:r>
              <a:rPr lang="vi-VN" sz="3600" dirty="0"/>
              <a:t>CASE</a:t>
            </a:r>
            <a:r>
              <a:rPr lang="en-US" sz="3600" dirty="0"/>
              <a:t>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3849666"/>
            <a:ext cx="4488656" cy="123457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Người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: </a:t>
            </a:r>
            <a:r>
              <a:rPr lang="en-US" b="1" dirty="0"/>
              <a:t>TMO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NỘI DUNG</a:t>
            </a:r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1447800" y="1371600"/>
            <a:ext cx="6629400" cy="41910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romanUcPeriod"/>
            </a:pPr>
            <a:r>
              <a:rPr lang="vi-VN" sz="2400" dirty="0"/>
              <a:t>Dàn ý </a:t>
            </a:r>
            <a:r>
              <a:rPr lang="en-US" sz="2400" dirty="0"/>
              <a:t>test cases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gì</a:t>
            </a:r>
            <a:r>
              <a:rPr lang="en-US" sz="2400" dirty="0"/>
              <a:t>?</a:t>
            </a:r>
            <a:endParaRPr lang="vi-VN" sz="2400" dirty="0"/>
          </a:p>
          <a:p>
            <a:pPr marL="514350" indent="-514350">
              <a:buFont typeface="+mj-lt"/>
              <a:buAutoNum type="romanUcPeriod"/>
            </a:pPr>
            <a:r>
              <a:rPr lang="vi-VN" sz="2400" dirty="0"/>
              <a:t>Tại sao phải lập </a:t>
            </a:r>
            <a:r>
              <a:rPr lang="en-US" sz="2400" dirty="0"/>
              <a:t>d</a:t>
            </a:r>
            <a:r>
              <a:rPr lang="vi-VN" sz="2400" dirty="0"/>
              <a:t>àn ý</a:t>
            </a:r>
          </a:p>
          <a:p>
            <a:pPr marL="514350" indent="-514350">
              <a:buFont typeface="+mj-lt"/>
              <a:buAutoNum type="romanUcPeriod"/>
            </a:pPr>
            <a:r>
              <a:rPr lang="vi-VN" sz="2400" dirty="0"/>
              <a:t>Cách lập </a:t>
            </a:r>
            <a:r>
              <a:rPr lang="en-US" sz="2400" dirty="0"/>
              <a:t>d</a:t>
            </a:r>
            <a:r>
              <a:rPr lang="vi-VN" sz="2400" dirty="0"/>
              <a:t>àn ý</a:t>
            </a:r>
            <a:endParaRPr lang="en-US" sz="2400" dirty="0"/>
          </a:p>
          <a:p>
            <a:pPr marL="514350" indent="-514350">
              <a:buFont typeface="+mj-lt"/>
              <a:buAutoNum type="romanUcPeriod"/>
            </a:pPr>
            <a:r>
              <a:rPr lang="en-US" sz="2400" dirty="0" err="1"/>
              <a:t>Ví</a:t>
            </a:r>
            <a:r>
              <a:rPr lang="en-US" sz="2400" dirty="0"/>
              <a:t> </a:t>
            </a:r>
            <a:r>
              <a:rPr lang="en-US" sz="2400" dirty="0" err="1"/>
              <a:t>dụ</a:t>
            </a:r>
            <a:endParaRPr lang="vi-VN" sz="2400" dirty="0"/>
          </a:p>
          <a:p>
            <a:pPr marL="0" indent="0">
              <a:buNone/>
            </a:pPr>
            <a:endParaRPr lang="vi-VN" sz="2400" dirty="0"/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romanUcPeriod"/>
            </a:pP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</a:t>
            </a:r>
            <a:r>
              <a:rPr lang="vi-VN" dirty="0"/>
              <a:t>Dàn ý </a:t>
            </a:r>
            <a:r>
              <a:rPr lang="en-US" dirty="0"/>
              <a:t>test case</a:t>
            </a:r>
            <a:r>
              <a:rPr lang="vi-VN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457200" y="1219200"/>
            <a:ext cx="8534400" cy="5486400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800" dirty="0">
                <a:solidFill>
                  <a:srgbClr val="0000FF"/>
                </a:solidFill>
              </a:rPr>
              <a:t>Dàn ý là toàn bộ </a:t>
            </a:r>
            <a:r>
              <a:rPr lang="en-US" sz="1800" dirty="0">
                <a:solidFill>
                  <a:srgbClr val="0000FF"/>
                </a:solidFill>
              </a:rPr>
              <a:t>các </a:t>
            </a:r>
            <a:r>
              <a:rPr lang="en-US" sz="1800" dirty="0" err="1">
                <a:solidFill>
                  <a:srgbClr val="0000FF"/>
                </a:solidFill>
              </a:rPr>
              <a:t>trường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 err="1">
                <a:solidFill>
                  <a:srgbClr val="0000FF"/>
                </a:solidFill>
              </a:rPr>
              <a:t>hợp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 err="1">
                <a:solidFill>
                  <a:srgbClr val="0000FF"/>
                </a:solidFill>
              </a:rPr>
              <a:t>kiểm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 err="1">
                <a:solidFill>
                  <a:srgbClr val="0000FF"/>
                </a:solidFill>
              </a:rPr>
              <a:t>thử</a:t>
            </a:r>
            <a:r>
              <a:rPr lang="en-US" sz="1800" dirty="0">
                <a:solidFill>
                  <a:srgbClr val="0000FF"/>
                </a:solidFill>
              </a:rPr>
              <a:t> của </a:t>
            </a:r>
            <a:r>
              <a:rPr lang="en-US" sz="1800" dirty="0" err="1">
                <a:solidFill>
                  <a:srgbClr val="0000FF"/>
                </a:solidFill>
              </a:rPr>
              <a:t>hệ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 err="1">
                <a:solidFill>
                  <a:srgbClr val="0000FF"/>
                </a:solidFill>
              </a:rPr>
              <a:t>thống</a:t>
            </a:r>
            <a:r>
              <a:rPr lang="en-US" sz="1800" dirty="0">
                <a:solidFill>
                  <a:srgbClr val="0000FF"/>
                </a:solidFill>
              </a:rPr>
              <a:t> được </a:t>
            </a:r>
            <a:r>
              <a:rPr lang="en-US" sz="1800" dirty="0" err="1">
                <a:solidFill>
                  <a:srgbClr val="0000FF"/>
                </a:solidFill>
              </a:rPr>
              <a:t>sắp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 err="1">
                <a:solidFill>
                  <a:srgbClr val="0000FF"/>
                </a:solidFill>
              </a:rPr>
              <a:t>xếp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 err="1">
                <a:solidFill>
                  <a:srgbClr val="0000FF"/>
                </a:solidFill>
              </a:rPr>
              <a:t>theo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 err="1">
                <a:solidFill>
                  <a:srgbClr val="0000FF"/>
                </a:solidFill>
              </a:rPr>
              <a:t>trình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 err="1">
                <a:solidFill>
                  <a:srgbClr val="0000FF"/>
                </a:solidFill>
              </a:rPr>
              <a:t>tự</a:t>
            </a:r>
            <a:r>
              <a:rPr lang="en-US" sz="1800" dirty="0">
                <a:solidFill>
                  <a:srgbClr val="0000FF"/>
                </a:solidFill>
              </a:rPr>
              <a:t> nhất định.</a:t>
            </a:r>
            <a:endParaRPr lang="en-US" sz="2200" dirty="0">
              <a:solidFill>
                <a:srgbClr val="0000FF"/>
              </a:solidFill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483412" y="2324894"/>
            <a:ext cx="6629400" cy="799306"/>
          </a:xfrm>
          <a:prstGeom prst="rect">
            <a:avLst/>
          </a:prstGeom>
        </p:spPr>
        <p:txBody>
          <a:bodyPr vert="horz" lIns="0" rIns="0" anchor="ctr">
            <a:noAutofit/>
          </a:bodyPr>
          <a:lstStyle>
            <a:lvl1pPr marL="182880" algn="l" rtl="0" eaLnBrk="1" latinLnBrk="0" hangingPunct="1">
              <a:spcBef>
                <a:spcPct val="0"/>
              </a:spcBef>
              <a:buNone/>
              <a:defRPr sz="3200" b="1" kern="1200">
                <a:ln w="6350">
                  <a:noFill/>
                </a:ln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II. </a:t>
            </a:r>
            <a:r>
              <a:rPr lang="vi-VN" dirty="0"/>
              <a:t>Tại sao phải </a:t>
            </a:r>
            <a:r>
              <a:rPr lang="en-US" dirty="0" err="1"/>
              <a:t>lập</a:t>
            </a:r>
            <a:r>
              <a:rPr lang="en-US" dirty="0"/>
              <a:t> d</a:t>
            </a:r>
            <a:r>
              <a:rPr lang="vi-VN" dirty="0"/>
              <a:t>àn ý </a:t>
            </a:r>
            <a:r>
              <a:rPr lang="en-US" dirty="0"/>
              <a:t>test case</a:t>
            </a:r>
          </a:p>
        </p:txBody>
      </p:sp>
      <p:sp>
        <p:nvSpPr>
          <p:cNvPr id="6" name="Content Placeholder 28"/>
          <p:cNvSpPr txBox="1"/>
          <p:nvPr/>
        </p:nvSpPr>
        <p:spPr>
          <a:xfrm>
            <a:off x="469557" y="3124200"/>
            <a:ext cx="8305800" cy="2667000"/>
          </a:xfrm>
          <a:prstGeom prst="rect">
            <a:avLst/>
          </a:prstGeom>
        </p:spPr>
        <p:txBody>
          <a:bodyPr vert="horz" anchor="t">
            <a:normAutofit/>
          </a:bodyPr>
          <a:lstStyle>
            <a:lvl1pPr marL="448310" indent="-384175" algn="l" rtl="0" eaLnBrk="1" latinLnBrk="0" hangingPunct="1">
              <a:spcBef>
                <a:spcPct val="20000"/>
              </a:spcBef>
              <a:spcAft>
                <a:spcPts val="10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822960" indent="-285750" algn="l" rtl="0" eaLnBrk="1" latinLnBrk="0" hangingPunct="1">
              <a:spcBef>
                <a:spcPct val="20000"/>
              </a:spcBef>
              <a:spcAft>
                <a:spcPts val="1000"/>
              </a:spcAft>
              <a:buClr>
                <a:schemeClr val="accent1"/>
              </a:buClr>
              <a:buSzPct val="95000"/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06170" indent="-228600" algn="l" rtl="0" eaLnBrk="1" latinLnBrk="0" hangingPunct="1">
              <a:spcBef>
                <a:spcPct val="20000"/>
              </a:spcBef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-210185" algn="l" rtl="0" eaLnBrk="1" latinLnBrk="0" hangingPunct="1">
              <a:spcBef>
                <a:spcPct val="20000"/>
              </a:spcBef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600200" indent="-210185" algn="l" rtl="0" eaLnBrk="1" latinLnBrk="0" hangingPunct="1">
              <a:spcBef>
                <a:spcPct val="20000"/>
              </a:spcBef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1828800" indent="-210185" algn="l" rtl="0" eaLnBrk="1" latinLnBrk="0" hangingPunct="1">
              <a:spcBef>
                <a:spcPct val="20000"/>
              </a:spcBef>
              <a:buClr>
                <a:schemeClr val="accent1">
                  <a:tint val="75000"/>
                </a:schemeClr>
              </a:buClr>
              <a:buFont typeface="Wingdings 2" panose="05020102010507070707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84705" indent="-210185" algn="l" rtl="0" eaLnBrk="1" latinLnBrk="0" hangingPunct="1">
              <a:spcBef>
                <a:spcPct val="20000"/>
              </a:spcBef>
              <a:buClr>
                <a:schemeClr val="accent1">
                  <a:tint val="75000"/>
                </a:schemeClr>
              </a:buClr>
              <a:buFont typeface="Wingdings 2" panose="05020102010507070707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1">
                  <a:tint val="75000"/>
                </a:schemeClr>
              </a:buClr>
              <a:buFont typeface="Wingdings 2" panose="05020102010507070707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14600" indent="-182880" algn="l" rtl="0" eaLnBrk="1" latinLnBrk="0" hangingPunct="1">
              <a:spcBef>
                <a:spcPct val="20000"/>
              </a:spcBef>
              <a:buClr>
                <a:schemeClr val="accent1">
                  <a:tint val="75000"/>
                </a:schemeClr>
              </a:buClr>
              <a:buFont typeface="Wingdings 2" panose="05020102010507070707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sz="1800" dirty="0"/>
              <a:t>D</a:t>
            </a:r>
            <a:r>
              <a:rPr lang="vi-VN" sz="1800" dirty="0"/>
              <a:t>àn</a:t>
            </a:r>
            <a:r>
              <a:rPr lang="en-US" sz="1800" dirty="0"/>
              <a:t> ý</a:t>
            </a:r>
            <a:r>
              <a:rPr lang="vi-VN" sz="1800" dirty="0"/>
              <a:t> </a:t>
            </a:r>
            <a:r>
              <a:rPr lang="en-US" sz="1800" dirty="0" err="1"/>
              <a:t>giúp</a:t>
            </a:r>
            <a:r>
              <a:rPr lang="en-US" sz="1800" dirty="0"/>
              <a:t> </a:t>
            </a:r>
            <a:r>
              <a:rPr lang="en-US" sz="1800" dirty="0" err="1"/>
              <a:t>cho</a:t>
            </a:r>
            <a:r>
              <a:rPr lang="en-US" sz="1800" dirty="0"/>
              <a:t> test cases </a:t>
            </a:r>
            <a:r>
              <a:rPr lang="vi-VN" sz="1800" dirty="0"/>
              <a:t>của bạn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vi-VN" dirty="0"/>
              <a:t> thiếu hoặc bỏ sót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endParaRPr lang="vi-VN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vi-VN" dirty="0"/>
              <a:t>Bố cục rõ ràng và trình tự sắp xếp liên kết với nhau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vi-VN" dirty="0"/>
              <a:t>Phân chia hợp lý giữa các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test</a:t>
            </a:r>
            <a:endParaRPr lang="vi-V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6934200" cy="799306"/>
          </a:xfrm>
        </p:spPr>
        <p:txBody>
          <a:bodyPr/>
          <a:lstStyle/>
          <a:p>
            <a:r>
              <a:rPr lang="en-US" dirty="0"/>
              <a:t>III. </a:t>
            </a:r>
            <a:r>
              <a:rPr lang="vi-VN" dirty="0"/>
              <a:t>Cách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d</a:t>
            </a:r>
            <a:r>
              <a:rPr lang="vi-VN" dirty="0"/>
              <a:t>àn ý </a:t>
            </a:r>
            <a:r>
              <a:rPr lang="en-US" dirty="0"/>
              <a:t>test cases</a:t>
            </a:r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457200" y="762000"/>
            <a:ext cx="8305800" cy="6248400"/>
          </a:xfrm>
        </p:spPr>
        <p:txBody>
          <a:bodyPr>
            <a:normAutofit/>
          </a:bodyPr>
          <a:lstStyle/>
          <a:p>
            <a:pPr marL="619760" indent="-45720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Input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Requirement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QA </a:t>
            </a:r>
            <a:r>
              <a:rPr lang="en-US" dirty="0" err="1">
                <a:solidFill>
                  <a:schemeClr val="bg1"/>
                </a:solidFill>
              </a:rPr>
              <a:t>phát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sinh</a:t>
            </a:r>
            <a:r>
              <a:rPr lang="en-US" dirty="0">
                <a:solidFill>
                  <a:schemeClr val="bg1"/>
                </a:solidFill>
              </a:rPr>
              <a:t> trong quá </a:t>
            </a:r>
            <a:r>
              <a:rPr lang="en-US" dirty="0" err="1">
                <a:solidFill>
                  <a:schemeClr val="bg1"/>
                </a:solidFill>
              </a:rPr>
              <a:t>trình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lập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dàn</a:t>
            </a:r>
            <a:r>
              <a:rPr lang="en-US" dirty="0">
                <a:solidFill>
                  <a:schemeClr val="bg1"/>
                </a:solidFill>
              </a:rPr>
              <a:t> ý test case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Các ý </a:t>
            </a:r>
            <a:r>
              <a:rPr lang="en-US" dirty="0" err="1">
                <a:solidFill>
                  <a:schemeClr val="bg1"/>
                </a:solidFill>
              </a:rPr>
              <a:t>chính</a:t>
            </a:r>
            <a:r>
              <a:rPr lang="en-US" dirty="0">
                <a:solidFill>
                  <a:schemeClr val="bg1"/>
                </a:solidFill>
              </a:rPr>
              <a:t> của requirement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Quan </a:t>
            </a:r>
            <a:r>
              <a:rPr lang="en-US" dirty="0" err="1">
                <a:solidFill>
                  <a:schemeClr val="bg1"/>
                </a:solidFill>
              </a:rPr>
              <a:t>điểm</a:t>
            </a:r>
            <a:r>
              <a:rPr lang="en-US" dirty="0">
                <a:solidFill>
                  <a:schemeClr val="bg1"/>
                </a:solidFill>
              </a:rPr>
              <a:t> test (Quan </a:t>
            </a:r>
            <a:r>
              <a:rPr lang="en-US" dirty="0" err="1">
                <a:solidFill>
                  <a:schemeClr val="bg1"/>
                </a:solidFill>
              </a:rPr>
              <a:t>điểm</a:t>
            </a:r>
            <a:r>
              <a:rPr lang="en-US" dirty="0">
                <a:solidFill>
                  <a:schemeClr val="bg1"/>
                </a:solidFill>
              </a:rPr>
              <a:t> test </a:t>
            </a:r>
            <a:r>
              <a:rPr lang="en-US" dirty="0" err="1">
                <a:solidFill>
                  <a:schemeClr val="bg1"/>
                </a:solidFill>
              </a:rPr>
              <a:t>tùy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thuộc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dự</a:t>
            </a:r>
            <a:r>
              <a:rPr lang="en-US" dirty="0">
                <a:solidFill>
                  <a:schemeClr val="bg1"/>
                </a:solidFill>
              </a:rPr>
              <a:t> án trong lần này sẽ là Checklist testcase </a:t>
            </a:r>
            <a:r>
              <a:rPr lang="en-US" dirty="0" err="1">
                <a:solidFill>
                  <a:schemeClr val="bg1"/>
                </a:solidFill>
              </a:rPr>
              <a:t>phần</a:t>
            </a:r>
            <a:r>
              <a:rPr lang="en-US" dirty="0">
                <a:solidFill>
                  <a:schemeClr val="bg1"/>
                </a:solidFill>
              </a:rPr>
              <a:t> [Quan </a:t>
            </a:r>
            <a:r>
              <a:rPr lang="en-US" dirty="0" err="1">
                <a:solidFill>
                  <a:schemeClr val="bg1"/>
                </a:solidFill>
              </a:rPr>
              <a:t>điểm</a:t>
            </a:r>
            <a:r>
              <a:rPr lang="en-US" dirty="0">
                <a:solidFill>
                  <a:schemeClr val="bg1"/>
                </a:solidFill>
              </a:rPr>
              <a:t> test]).</a:t>
            </a:r>
          </a:p>
          <a:p>
            <a:pPr marL="505460" indent="-34290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Output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00FF"/>
                </a:solidFill>
              </a:rPr>
              <a:t>File </a:t>
            </a:r>
            <a:r>
              <a:rPr lang="en-US" dirty="0" err="1">
                <a:solidFill>
                  <a:srgbClr val="0000FF"/>
                </a:solidFill>
              </a:rPr>
              <a:t>mindmap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dàn</a:t>
            </a:r>
            <a:r>
              <a:rPr lang="en-US" dirty="0">
                <a:solidFill>
                  <a:srgbClr val="0000FF"/>
                </a:solidFill>
              </a:rPr>
              <a:t> ý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[Quan </a:t>
            </a:r>
            <a:r>
              <a:rPr lang="en-US" dirty="0" err="1">
                <a:solidFill>
                  <a:schemeClr val="bg1"/>
                </a:solidFill>
              </a:rPr>
              <a:t>điểm</a:t>
            </a:r>
            <a:r>
              <a:rPr lang="en-US" dirty="0">
                <a:solidFill>
                  <a:schemeClr val="bg1"/>
                </a:solidFill>
              </a:rPr>
              <a:t> test] được </a:t>
            </a:r>
            <a:r>
              <a:rPr lang="en-US" dirty="0" err="1">
                <a:solidFill>
                  <a:schemeClr val="bg1"/>
                </a:solidFill>
              </a:rPr>
              <a:t>điền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kết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quả</a:t>
            </a:r>
            <a:r>
              <a:rPr lang="en-US" dirty="0">
                <a:solidFill>
                  <a:schemeClr val="bg1"/>
                </a:solidFill>
              </a:rPr>
              <a:t> </a:t>
            </a:r>
            <a:endParaRPr lang="vi-VN" dirty="0">
              <a:solidFill>
                <a:schemeClr val="bg1"/>
              </a:solidFill>
            </a:endParaRPr>
          </a:p>
          <a:p>
            <a:pPr lvl="1">
              <a:buFont typeface="Wingdings" panose="05000000000000000000" pitchFamily="2" charset="2"/>
              <a:buChar char="ü"/>
            </a:pPr>
            <a:endParaRPr lang="en-US" dirty="0">
              <a:solidFill>
                <a:schemeClr val="bg1"/>
              </a:solidFill>
            </a:endParaRPr>
          </a:p>
          <a:p>
            <a:pPr marL="64135" indent="0">
              <a:buNone/>
            </a:pPr>
            <a:endParaRPr lang="en-US" sz="2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6934200" cy="799306"/>
          </a:xfrm>
        </p:spPr>
        <p:txBody>
          <a:bodyPr/>
          <a:lstStyle/>
          <a:p>
            <a:r>
              <a:rPr lang="en-US" dirty="0"/>
              <a:t>III. </a:t>
            </a:r>
            <a:r>
              <a:rPr lang="vi-VN" dirty="0"/>
              <a:t>Cách </a:t>
            </a:r>
            <a:r>
              <a:rPr lang="en-US" dirty="0" err="1"/>
              <a:t>lập</a:t>
            </a:r>
            <a:r>
              <a:rPr lang="en-US" dirty="0"/>
              <a:t> d</a:t>
            </a:r>
            <a:r>
              <a:rPr lang="vi-VN" dirty="0"/>
              <a:t>àn ý </a:t>
            </a:r>
            <a:r>
              <a:rPr lang="en-US" dirty="0"/>
              <a:t>test cases</a:t>
            </a:r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0" y="762000"/>
            <a:ext cx="9144000" cy="6324600"/>
          </a:xfrm>
        </p:spPr>
        <p:txBody>
          <a:bodyPr>
            <a:normAutofit fontScale="92500" lnSpcReduction="10000"/>
          </a:bodyPr>
          <a:lstStyle/>
          <a:p>
            <a:pPr marL="619760" indent="-457200">
              <a:buFont typeface="+mj-lt"/>
              <a:buAutoNum type="arabicPeriod" startAt="3"/>
            </a:pP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bước</a:t>
            </a:r>
            <a:r>
              <a:rPr lang="en-US" b="1" dirty="0"/>
              <a:t> </a:t>
            </a:r>
            <a:r>
              <a:rPr lang="en-US" b="1" dirty="0" err="1"/>
              <a:t>lập</a:t>
            </a:r>
            <a:r>
              <a:rPr lang="en-US" b="1" dirty="0"/>
              <a:t> </a:t>
            </a:r>
            <a:r>
              <a:rPr lang="en-US" b="1" dirty="0" err="1"/>
              <a:t>dàn</a:t>
            </a:r>
            <a:r>
              <a:rPr lang="en-US" b="1" dirty="0"/>
              <a:t> ý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 err="1">
                <a:solidFill>
                  <a:srgbClr val="0000FF"/>
                </a:solidFill>
              </a:rPr>
              <a:t>Xác</a:t>
            </a:r>
            <a:r>
              <a:rPr lang="en-US" dirty="0">
                <a:solidFill>
                  <a:srgbClr val="0000FF"/>
                </a:solidFill>
              </a:rPr>
              <a:t> định tool dùng </a:t>
            </a:r>
            <a:r>
              <a:rPr lang="en-US" dirty="0" err="1">
                <a:solidFill>
                  <a:srgbClr val="0000FF"/>
                </a:solidFill>
              </a:rPr>
              <a:t>viết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dàn</a:t>
            </a:r>
            <a:r>
              <a:rPr lang="en-US" dirty="0">
                <a:solidFill>
                  <a:srgbClr val="0000FF"/>
                </a:solidFill>
              </a:rPr>
              <a:t> ý được </a:t>
            </a:r>
            <a:r>
              <a:rPr lang="en-US" dirty="0" err="1">
                <a:solidFill>
                  <a:srgbClr val="0000FF"/>
                </a:solidFill>
              </a:rPr>
              <a:t>sử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dụng</a:t>
            </a:r>
            <a:r>
              <a:rPr lang="en-US" dirty="0">
                <a:solidFill>
                  <a:srgbClr val="0000FF"/>
                </a:solidFill>
              </a:rPr>
              <a:t> trong </a:t>
            </a:r>
            <a:r>
              <a:rPr lang="en-US" dirty="0" err="1">
                <a:solidFill>
                  <a:srgbClr val="0000FF"/>
                </a:solidFill>
              </a:rPr>
              <a:t>dự</a:t>
            </a:r>
            <a:r>
              <a:rPr lang="en-US" dirty="0">
                <a:solidFill>
                  <a:srgbClr val="0000FF"/>
                </a:solidFill>
              </a:rPr>
              <a:t> án. Trong </a:t>
            </a:r>
            <a:r>
              <a:rPr lang="en-US" dirty="0" err="1">
                <a:solidFill>
                  <a:srgbClr val="0000FF"/>
                </a:solidFill>
              </a:rPr>
              <a:t>khuôn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khổ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khóa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học</a:t>
            </a:r>
            <a:r>
              <a:rPr lang="en-US" dirty="0">
                <a:solidFill>
                  <a:srgbClr val="0000FF"/>
                </a:solidFill>
              </a:rPr>
              <a:t> này là tool </a:t>
            </a:r>
            <a:r>
              <a:rPr lang="en-US" dirty="0" err="1">
                <a:solidFill>
                  <a:srgbClr val="0000FF"/>
                </a:solidFill>
              </a:rPr>
              <a:t>XMind</a:t>
            </a:r>
            <a:r>
              <a:rPr lang="en-US" dirty="0">
                <a:solidFill>
                  <a:srgbClr val="0000FF"/>
                </a:solidFill>
              </a:rPr>
              <a:t>.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 err="1"/>
              <a:t>Phân</a:t>
            </a:r>
            <a:r>
              <a:rPr lang="en-US" dirty="0"/>
              <a:t> chia </a:t>
            </a:r>
            <a:r>
              <a:rPr lang="en-US" dirty="0" err="1"/>
              <a:t>bố</a:t>
            </a:r>
            <a:r>
              <a:rPr lang="en-US" dirty="0"/>
              <a:t> </a:t>
            </a:r>
            <a:r>
              <a:rPr lang="en-US" dirty="0" err="1"/>
              <a:t>cục</a:t>
            </a:r>
            <a:r>
              <a:rPr lang="en-US" dirty="0"/>
              <a:t> và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của </a:t>
            </a:r>
            <a:r>
              <a:rPr lang="en-US" dirty="0" err="1"/>
              <a:t>dàn</a:t>
            </a:r>
            <a:r>
              <a:rPr lang="en-US" dirty="0"/>
              <a:t> ý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vào</a:t>
            </a:r>
            <a:endParaRPr lang="en-US" dirty="0"/>
          </a:p>
          <a:p>
            <a:pPr marL="1266190" lvl="3" indent="-342900">
              <a:buFont typeface="Wingdings" panose="05000000000000000000" pitchFamily="2" charset="2"/>
              <a:buChar char="ü"/>
            </a:pPr>
            <a:r>
              <a:rPr lang="en-US" dirty="0"/>
              <a:t>Các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của requirement (</a:t>
            </a:r>
            <a:r>
              <a:rPr lang="en-US" dirty="0" err="1"/>
              <a:t>ouput</a:t>
            </a:r>
            <a:r>
              <a:rPr lang="en-US" dirty="0"/>
              <a:t> của </a:t>
            </a:r>
            <a:r>
              <a:rPr lang="en-US" dirty="0" err="1"/>
              <a:t>bước</a:t>
            </a:r>
            <a:r>
              <a:rPr lang="en-US" dirty="0"/>
              <a:t> tìm hiểu req) .</a:t>
            </a:r>
          </a:p>
          <a:p>
            <a:pPr marL="1266190" lvl="3" indent="-342900">
              <a:buFont typeface="Wingdings" panose="05000000000000000000" pitchFamily="2" charset="2"/>
              <a:buChar char="ü"/>
            </a:pPr>
            <a:r>
              <a:rPr lang="en-US" dirty="0" err="1">
                <a:solidFill>
                  <a:srgbClr val="0000FF"/>
                </a:solidFill>
              </a:rPr>
              <a:t>Bố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cục</a:t>
            </a:r>
            <a:r>
              <a:rPr lang="en-US" dirty="0">
                <a:solidFill>
                  <a:srgbClr val="0000FF"/>
                </a:solidFill>
              </a:rPr>
              <a:t> được </a:t>
            </a:r>
            <a:r>
              <a:rPr lang="en-US" dirty="0" err="1">
                <a:solidFill>
                  <a:srgbClr val="0000FF"/>
                </a:solidFill>
              </a:rPr>
              <a:t>quy</a:t>
            </a:r>
            <a:r>
              <a:rPr lang="en-US" dirty="0">
                <a:solidFill>
                  <a:srgbClr val="0000FF"/>
                </a:solidFill>
              </a:rPr>
              <a:t> định trong </a:t>
            </a:r>
            <a:r>
              <a:rPr lang="en-US" dirty="0" err="1">
                <a:solidFill>
                  <a:srgbClr val="0000FF"/>
                </a:solidFill>
              </a:rPr>
              <a:t>dự</a:t>
            </a:r>
            <a:r>
              <a:rPr lang="en-US" dirty="0">
                <a:solidFill>
                  <a:srgbClr val="0000FF"/>
                </a:solidFill>
              </a:rPr>
              <a:t> án.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test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dàn</a:t>
            </a:r>
            <a:r>
              <a:rPr lang="en-US" dirty="0"/>
              <a:t> ý : 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dirty="0"/>
              <a:t>Chia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. 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.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vi-VN" dirty="0">
                <a:solidFill>
                  <a:schemeClr val="bg1"/>
                </a:solidFill>
              </a:rPr>
              <a:t>Với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mỗi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nội</a:t>
            </a:r>
            <a:r>
              <a:rPr lang="en-US" dirty="0">
                <a:solidFill>
                  <a:schemeClr val="bg1"/>
                </a:solidFill>
              </a:rPr>
              <a:t> dung </a:t>
            </a:r>
            <a:r>
              <a:rPr lang="en-US" dirty="0" err="1">
                <a:solidFill>
                  <a:schemeClr val="bg1"/>
                </a:solidFill>
              </a:rPr>
              <a:t>cần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kiểm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tra</a:t>
            </a:r>
            <a:r>
              <a:rPr lang="en-US" dirty="0">
                <a:solidFill>
                  <a:schemeClr val="bg1"/>
                </a:solidFill>
              </a:rPr>
              <a:t>:</a:t>
            </a:r>
            <a:r>
              <a:rPr lang="vi-VN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X</a:t>
            </a:r>
            <a:r>
              <a:rPr lang="vi-VN" dirty="0">
                <a:solidFill>
                  <a:schemeClr val="bg1"/>
                </a:solidFill>
              </a:rPr>
              <a:t>ác </a:t>
            </a:r>
            <a:r>
              <a:rPr lang="en-US" dirty="0" err="1">
                <a:solidFill>
                  <a:schemeClr val="bg1"/>
                </a:solidFill>
              </a:rPr>
              <a:t>định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vi-VN" dirty="0">
                <a:solidFill>
                  <a:schemeClr val="bg1"/>
                </a:solidFill>
              </a:rPr>
              <a:t>các </a:t>
            </a:r>
            <a:r>
              <a:rPr lang="en-US" dirty="0" err="1">
                <a:solidFill>
                  <a:schemeClr val="bg1"/>
                </a:solidFill>
              </a:rPr>
              <a:t>trường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hợp</a:t>
            </a:r>
            <a:r>
              <a:rPr lang="en-US" dirty="0">
                <a:solidFill>
                  <a:schemeClr val="bg1"/>
                </a:solidFill>
              </a:rPr>
              <a:t> test </a:t>
            </a:r>
            <a:r>
              <a:rPr lang="vi-VN" dirty="0">
                <a:solidFill>
                  <a:schemeClr val="bg1"/>
                </a:solidFill>
              </a:rPr>
              <a:t>tương ứng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lvl="4" indent="-285750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chemeClr val="bg1"/>
                </a:solidFill>
              </a:rPr>
              <a:t>Các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trường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hợp</a:t>
            </a:r>
            <a:r>
              <a:rPr lang="en-US" dirty="0">
                <a:solidFill>
                  <a:schemeClr val="bg1"/>
                </a:solidFill>
              </a:rPr>
              <a:t> test </a:t>
            </a:r>
            <a:r>
              <a:rPr lang="en-US" dirty="0" err="1">
                <a:solidFill>
                  <a:schemeClr val="bg1"/>
                </a:solidFill>
              </a:rPr>
              <a:t>thông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thường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lvl="4" indent="-285750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chemeClr val="bg1"/>
                </a:solidFill>
              </a:rPr>
              <a:t>Các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trường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hợp</a:t>
            </a:r>
            <a:r>
              <a:rPr lang="en-US" dirty="0">
                <a:solidFill>
                  <a:schemeClr val="bg1"/>
                </a:solidFill>
              </a:rPr>
              <a:t> test </a:t>
            </a:r>
            <a:r>
              <a:rPr lang="en-US" dirty="0" err="1">
                <a:solidFill>
                  <a:schemeClr val="bg1"/>
                </a:solidFill>
              </a:rPr>
              <a:t>biên</a:t>
            </a:r>
            <a:endParaRPr lang="en-US" dirty="0">
              <a:solidFill>
                <a:schemeClr val="bg1"/>
              </a:solidFill>
            </a:endParaRPr>
          </a:p>
          <a:p>
            <a:pPr lvl="4" indent="-285750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chemeClr val="bg1"/>
                </a:solidFill>
              </a:rPr>
              <a:t>Các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trường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hợp</a:t>
            </a:r>
            <a:r>
              <a:rPr lang="en-US" dirty="0">
                <a:solidFill>
                  <a:schemeClr val="bg1"/>
                </a:solidFill>
              </a:rPr>
              <a:t> test </a:t>
            </a:r>
            <a:r>
              <a:rPr lang="en-US" dirty="0" err="1">
                <a:solidFill>
                  <a:schemeClr val="bg1"/>
                </a:solidFill>
              </a:rPr>
              <a:t>bất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thường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và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ngoại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lệ</a:t>
            </a:r>
            <a:endParaRPr lang="en-US" dirty="0">
              <a:solidFill>
                <a:schemeClr val="bg1"/>
              </a:solidFill>
            </a:endParaRPr>
          </a:p>
          <a:p>
            <a:pPr lvl="4" indent="-285750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chemeClr val="bg1"/>
                </a:solidFill>
              </a:rPr>
              <a:t>Các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trường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hợp</a:t>
            </a:r>
            <a:r>
              <a:rPr lang="en-US" dirty="0">
                <a:solidFill>
                  <a:schemeClr val="bg1"/>
                </a:solidFill>
              </a:rPr>
              <a:t> test </a:t>
            </a:r>
            <a:r>
              <a:rPr lang="en-US" dirty="0" err="1">
                <a:solidFill>
                  <a:schemeClr val="bg1"/>
                </a:solidFill>
              </a:rPr>
              <a:t>khác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có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gặp</a:t>
            </a:r>
            <a:r>
              <a:rPr lang="en-US" dirty="0">
                <a:solidFill>
                  <a:schemeClr val="bg1"/>
                </a:solidFill>
              </a:rPr>
              <a:t> (</a:t>
            </a:r>
            <a:r>
              <a:rPr lang="en-US" dirty="0" err="1">
                <a:solidFill>
                  <a:schemeClr val="bg1"/>
                </a:solidFill>
              </a:rPr>
              <a:t>theo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kinh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nghiệm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pPr marL="1314450" lvl="4" indent="0">
              <a:buNone/>
            </a:pPr>
            <a:r>
              <a:rPr lang="en-US" dirty="0">
                <a:solidFill>
                  <a:schemeClr val="bg1"/>
                </a:solidFill>
              </a:rPr>
              <a:t>Note: </a:t>
            </a:r>
            <a:r>
              <a:rPr lang="en-US" dirty="0" err="1">
                <a:solidFill>
                  <a:schemeClr val="bg1"/>
                </a:solidFill>
              </a:rPr>
              <a:t>Sử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dụng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các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kỹ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thuật</a:t>
            </a:r>
            <a:r>
              <a:rPr lang="en-US" dirty="0">
                <a:solidFill>
                  <a:schemeClr val="bg1"/>
                </a:solidFill>
              </a:rPr>
              <a:t> test </a:t>
            </a:r>
            <a:r>
              <a:rPr lang="en-US" dirty="0" err="1">
                <a:solidFill>
                  <a:schemeClr val="bg1"/>
                </a:solidFill>
              </a:rPr>
              <a:t>và</a:t>
            </a:r>
            <a:r>
              <a:rPr lang="en-US" dirty="0">
                <a:solidFill>
                  <a:schemeClr val="bg1"/>
                </a:solidFill>
              </a:rPr>
              <a:t> checklist </a:t>
            </a:r>
            <a:r>
              <a:rPr lang="en-US" dirty="0" err="1">
                <a:solidFill>
                  <a:schemeClr val="bg1"/>
                </a:solidFill>
              </a:rPr>
              <a:t>phần</a:t>
            </a:r>
            <a:r>
              <a:rPr lang="en-US" dirty="0">
                <a:solidFill>
                  <a:schemeClr val="bg1"/>
                </a:solidFill>
              </a:rPr>
              <a:t> [Quan </a:t>
            </a:r>
            <a:r>
              <a:rPr lang="en-US" dirty="0" err="1">
                <a:solidFill>
                  <a:schemeClr val="bg1"/>
                </a:solidFill>
              </a:rPr>
              <a:t>điểm</a:t>
            </a:r>
            <a:r>
              <a:rPr lang="en-US" dirty="0">
                <a:solidFill>
                  <a:schemeClr val="bg1"/>
                </a:solidFill>
              </a:rPr>
              <a:t> test]</a:t>
            </a:r>
            <a:r>
              <a:rPr lang="vi-VN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  <a:p>
            <a:pPr marL="64135" indent="0">
              <a:buNone/>
            </a:pPr>
            <a:endParaRPr lang="en-US" sz="2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724" y="0"/>
            <a:ext cx="6934200" cy="799306"/>
          </a:xfrm>
        </p:spPr>
        <p:txBody>
          <a:bodyPr/>
          <a:lstStyle/>
          <a:p>
            <a:r>
              <a:rPr lang="en-US" dirty="0"/>
              <a:t>IV.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</p:txBody>
      </p:sp>
      <p:sp>
        <p:nvSpPr>
          <p:cNvPr id="7" name="Content Placeholder 28"/>
          <p:cNvSpPr>
            <a:spLocks noGrp="1"/>
          </p:cNvSpPr>
          <p:nvPr>
            <p:ph idx="1"/>
          </p:nvPr>
        </p:nvSpPr>
        <p:spPr>
          <a:xfrm>
            <a:off x="418070" y="685800"/>
            <a:ext cx="8305800" cy="6553200"/>
          </a:xfrm>
        </p:spPr>
        <p:txBody>
          <a:bodyPr>
            <a:normAutofit/>
          </a:bodyPr>
          <a:lstStyle/>
          <a:p>
            <a:pPr marL="64135" indent="0">
              <a:buNone/>
            </a:pPr>
            <a:r>
              <a:rPr lang="en-US" sz="2200" dirty="0" err="1">
                <a:solidFill>
                  <a:srgbClr val="0000FF"/>
                </a:solidFill>
              </a:rPr>
              <a:t>Đề</a:t>
            </a:r>
            <a:r>
              <a:rPr lang="en-US" sz="2200" dirty="0">
                <a:solidFill>
                  <a:srgbClr val="0000FF"/>
                </a:solidFill>
              </a:rPr>
              <a:t> bài: </a:t>
            </a:r>
            <a:r>
              <a:rPr lang="en-US" sz="2200" dirty="0" err="1">
                <a:solidFill>
                  <a:srgbClr val="0000FF"/>
                </a:solidFill>
              </a:rPr>
              <a:t>Viết</a:t>
            </a:r>
            <a:r>
              <a:rPr lang="en-US" sz="2200" dirty="0">
                <a:solidFill>
                  <a:srgbClr val="0000FF"/>
                </a:solidFill>
              </a:rPr>
              <a:t> </a:t>
            </a:r>
            <a:r>
              <a:rPr lang="en-US" sz="2200" dirty="0" err="1">
                <a:solidFill>
                  <a:srgbClr val="0000FF"/>
                </a:solidFill>
              </a:rPr>
              <a:t>dàn</a:t>
            </a:r>
            <a:r>
              <a:rPr lang="en-US" sz="2200" dirty="0">
                <a:solidFill>
                  <a:srgbClr val="0000FF"/>
                </a:solidFill>
              </a:rPr>
              <a:t> ý </a:t>
            </a:r>
            <a:r>
              <a:rPr lang="en-US" sz="2200" dirty="0" err="1">
                <a:solidFill>
                  <a:srgbClr val="0000FF"/>
                </a:solidFill>
              </a:rPr>
              <a:t>cho</a:t>
            </a:r>
            <a:r>
              <a:rPr lang="en-US" sz="2200" dirty="0">
                <a:solidFill>
                  <a:srgbClr val="0000FF"/>
                </a:solidFill>
              </a:rPr>
              <a:t> </a:t>
            </a:r>
            <a:r>
              <a:rPr lang="en-US" sz="2200" dirty="0" err="1">
                <a:solidFill>
                  <a:srgbClr val="0000FF"/>
                </a:solidFill>
              </a:rPr>
              <a:t>màn</a:t>
            </a:r>
            <a:r>
              <a:rPr lang="en-US" sz="2200" dirty="0">
                <a:solidFill>
                  <a:srgbClr val="0000FF"/>
                </a:solidFill>
              </a:rPr>
              <a:t> </a:t>
            </a:r>
            <a:r>
              <a:rPr lang="en-US" sz="2200" dirty="0" err="1">
                <a:solidFill>
                  <a:srgbClr val="0000FF"/>
                </a:solidFill>
              </a:rPr>
              <a:t>hình</a:t>
            </a:r>
            <a:r>
              <a:rPr lang="en-US" sz="2200" dirty="0">
                <a:solidFill>
                  <a:srgbClr val="0000FF"/>
                </a:solidFill>
              </a:rPr>
              <a:t> ADM002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rgbClr val="0000FF"/>
                </a:solidFill>
              </a:rPr>
              <a:t>Input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rgbClr val="0000FF"/>
                </a:solidFill>
              </a:rPr>
              <a:t>Thiết</a:t>
            </a:r>
            <a:r>
              <a:rPr lang="en-US" sz="2000" dirty="0">
                <a:solidFill>
                  <a:srgbClr val="0000FF"/>
                </a:solidFill>
              </a:rPr>
              <a:t> </a:t>
            </a:r>
            <a:r>
              <a:rPr lang="en-US" sz="2000" dirty="0" err="1">
                <a:solidFill>
                  <a:srgbClr val="0000FF"/>
                </a:solidFill>
              </a:rPr>
              <a:t>kế</a:t>
            </a:r>
            <a:r>
              <a:rPr lang="en-US" sz="2000" dirty="0">
                <a:solidFill>
                  <a:srgbClr val="0000FF"/>
                </a:solidFill>
              </a:rPr>
              <a:t> cơ </a:t>
            </a:r>
            <a:r>
              <a:rPr lang="en-US" sz="2000" dirty="0" err="1">
                <a:solidFill>
                  <a:srgbClr val="0000FF"/>
                </a:solidFill>
              </a:rPr>
              <a:t>bản</a:t>
            </a:r>
            <a:endParaRPr lang="en-US" sz="2000" dirty="0">
              <a:solidFill>
                <a:srgbClr val="0000FF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00FF"/>
                </a:solidFill>
              </a:rPr>
              <a:t>	Output của </a:t>
            </a:r>
            <a:r>
              <a:rPr lang="en-US" sz="2000" dirty="0" err="1">
                <a:solidFill>
                  <a:srgbClr val="0000FF"/>
                </a:solidFill>
              </a:rPr>
              <a:t>bước</a:t>
            </a:r>
            <a:r>
              <a:rPr lang="en-US" sz="2000" dirty="0">
                <a:solidFill>
                  <a:srgbClr val="0000FF"/>
                </a:solidFill>
              </a:rPr>
              <a:t> tìm hiểu REQ (bài trước)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00FF"/>
                </a:solidFill>
              </a:rPr>
              <a:t> Quan </a:t>
            </a:r>
            <a:r>
              <a:rPr lang="en-US" sz="2000" dirty="0" err="1">
                <a:solidFill>
                  <a:srgbClr val="0000FF"/>
                </a:solidFill>
              </a:rPr>
              <a:t>điểm</a:t>
            </a:r>
            <a:r>
              <a:rPr lang="en-US" sz="2000" dirty="0">
                <a:solidFill>
                  <a:srgbClr val="0000FF"/>
                </a:solidFill>
              </a:rPr>
              <a:t> test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00FF"/>
                </a:solidFill>
              </a:rPr>
              <a:t>QA </a:t>
            </a:r>
            <a:r>
              <a:rPr lang="en-US" sz="2000" dirty="0" err="1">
                <a:solidFill>
                  <a:srgbClr val="0000FF"/>
                </a:solidFill>
              </a:rPr>
              <a:t>trên</a:t>
            </a:r>
            <a:r>
              <a:rPr lang="en-US" sz="2000" dirty="0">
                <a:solidFill>
                  <a:srgbClr val="0000FF"/>
                </a:solidFill>
              </a:rPr>
              <a:t> </a:t>
            </a:r>
            <a:r>
              <a:rPr lang="en-US" sz="2000" dirty="0" err="1">
                <a:solidFill>
                  <a:srgbClr val="0000FF"/>
                </a:solidFill>
              </a:rPr>
              <a:t>Lupack</a:t>
            </a:r>
            <a:r>
              <a:rPr lang="en-US" sz="2000" dirty="0">
                <a:solidFill>
                  <a:srgbClr val="0000FF"/>
                </a:solidFill>
              </a:rPr>
              <a:t> (Redmine)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200" dirty="0">
              <a:solidFill>
                <a:srgbClr val="0000FF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2200" dirty="0">
              <a:solidFill>
                <a:srgbClr val="0000FF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2200" dirty="0">
              <a:solidFill>
                <a:schemeClr val="bg1"/>
              </a:solidFill>
            </a:endParaRPr>
          </a:p>
          <a:p>
            <a:pPr marL="64135" indent="0">
              <a:buNone/>
            </a:pPr>
            <a:endParaRPr lang="en-US" sz="220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2200" dirty="0">
              <a:solidFill>
                <a:srgbClr val="0000FF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2200" dirty="0"/>
          </a:p>
          <a:p>
            <a:pPr>
              <a:buFont typeface="Wingdings" panose="05000000000000000000" pitchFamily="2" charset="2"/>
              <a:buChar char="v"/>
            </a:pPr>
            <a:endParaRPr lang="en-US" sz="2200" dirty="0"/>
          </a:p>
          <a:p>
            <a:pPr>
              <a:buFont typeface="Wingdings" panose="05000000000000000000" pitchFamily="2" charset="2"/>
              <a:buChar char="v"/>
            </a:pPr>
            <a:endParaRPr lang="en-US" sz="2200" dirty="0"/>
          </a:p>
          <a:p>
            <a:pPr>
              <a:buFont typeface="Wingdings" panose="05000000000000000000" pitchFamily="2" charset="2"/>
              <a:buChar char="v"/>
            </a:pPr>
            <a:endParaRPr lang="en-US" sz="2200" dirty="0"/>
          </a:p>
          <a:p>
            <a:pPr>
              <a:buFont typeface="Wingdings" panose="05000000000000000000" pitchFamily="2" charset="2"/>
              <a:buChar char="v"/>
            </a:pPr>
            <a:endParaRPr lang="en-US" sz="2200" dirty="0"/>
          </a:p>
          <a:p>
            <a:pPr>
              <a:buFont typeface="Wingdings" panose="05000000000000000000" pitchFamily="2" charset="2"/>
              <a:buChar char="v"/>
            </a:pPr>
            <a:endParaRPr lang="en-US" sz="2200" dirty="0"/>
          </a:p>
          <a:p>
            <a:pPr marL="64135" indent="0">
              <a:buNone/>
            </a:pPr>
            <a:endParaRPr lang="en-US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3634DF-4978-79AA-FFAC-7E0001F2A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733800"/>
            <a:ext cx="6459418" cy="3124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98A7E-ABDE-4D28-3021-186B322F4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IV.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4DD34-4D02-E3B4-5ED6-0C88C1893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6002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rgbClr val="0000FF"/>
                </a:solidFill>
              </a:rPr>
              <a:t>Output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00FF"/>
                </a:solidFill>
              </a:rPr>
              <a:t>File </a:t>
            </a:r>
            <a:r>
              <a:rPr lang="en-US" sz="2000" dirty="0" err="1">
                <a:solidFill>
                  <a:srgbClr val="0000FF"/>
                </a:solidFill>
              </a:rPr>
              <a:t>mindmap</a:t>
            </a:r>
            <a:r>
              <a:rPr lang="en-US" sz="2000" dirty="0">
                <a:solidFill>
                  <a:srgbClr val="0000FF"/>
                </a:solidFill>
              </a:rPr>
              <a:t> </a:t>
            </a:r>
            <a:r>
              <a:rPr lang="en-US" sz="2000" dirty="0" err="1">
                <a:solidFill>
                  <a:srgbClr val="0000FF"/>
                </a:solidFill>
              </a:rPr>
              <a:t>dàn</a:t>
            </a:r>
            <a:r>
              <a:rPr lang="en-US" sz="2000" dirty="0">
                <a:solidFill>
                  <a:srgbClr val="0000FF"/>
                </a:solidFill>
              </a:rPr>
              <a:t> ý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00FF"/>
                </a:solidFill>
              </a:rPr>
              <a:t>Quan </a:t>
            </a:r>
            <a:r>
              <a:rPr lang="en-US" sz="2000" dirty="0" err="1">
                <a:solidFill>
                  <a:srgbClr val="0000FF"/>
                </a:solidFill>
              </a:rPr>
              <a:t>điểm</a:t>
            </a:r>
            <a:r>
              <a:rPr lang="en-US" sz="2000" dirty="0">
                <a:solidFill>
                  <a:srgbClr val="0000FF"/>
                </a:solidFill>
              </a:rPr>
              <a:t> test đã được </a:t>
            </a:r>
            <a:r>
              <a:rPr lang="en-US" sz="2000" dirty="0" err="1">
                <a:solidFill>
                  <a:srgbClr val="0000FF"/>
                </a:solidFill>
              </a:rPr>
              <a:t>điền</a:t>
            </a:r>
            <a:r>
              <a:rPr lang="en-US" sz="2000" dirty="0">
                <a:solidFill>
                  <a:srgbClr val="0000FF"/>
                </a:solidFill>
              </a:rPr>
              <a:t> </a:t>
            </a:r>
            <a:r>
              <a:rPr lang="en-US" sz="2000" dirty="0" err="1">
                <a:solidFill>
                  <a:srgbClr val="0000FF"/>
                </a:solidFill>
              </a:rPr>
              <a:t>kết</a:t>
            </a:r>
            <a:r>
              <a:rPr lang="en-US" sz="2000" dirty="0">
                <a:solidFill>
                  <a:srgbClr val="0000FF"/>
                </a:solidFill>
              </a:rPr>
              <a:t> </a:t>
            </a:r>
            <a:r>
              <a:rPr lang="en-US" sz="2000" dirty="0" err="1">
                <a:solidFill>
                  <a:srgbClr val="0000FF"/>
                </a:solidFill>
              </a:rPr>
              <a:t>quả</a:t>
            </a:r>
            <a:endParaRPr lang="en-US" sz="2000" dirty="0">
              <a:solidFill>
                <a:srgbClr val="0000FF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0000FF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C869B09-1BAA-1937-1118-4DD07878B9B1}"/>
              </a:ext>
            </a:extLst>
          </p:cNvPr>
          <p:cNvSpPr txBox="1">
            <a:spLocks/>
          </p:cNvSpPr>
          <p:nvPr/>
        </p:nvSpPr>
        <p:spPr>
          <a:xfrm>
            <a:off x="457200" y="3657600"/>
            <a:ext cx="8229600" cy="1600200"/>
          </a:xfrm>
          <a:prstGeom prst="rect">
            <a:avLst/>
          </a:prstGeom>
        </p:spPr>
        <p:txBody>
          <a:bodyPr vert="horz" anchor="t">
            <a:normAutofit/>
          </a:bodyPr>
          <a:lstStyle>
            <a:lvl1pPr marL="448310" indent="-384175" algn="l" rtl="0" eaLnBrk="1" latinLnBrk="0" hangingPunct="1">
              <a:spcBef>
                <a:spcPct val="20000"/>
              </a:spcBef>
              <a:spcAft>
                <a:spcPts val="10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822960" indent="-285750" algn="l" rtl="0" eaLnBrk="1" latinLnBrk="0" hangingPunct="1">
              <a:spcBef>
                <a:spcPct val="20000"/>
              </a:spcBef>
              <a:spcAft>
                <a:spcPts val="1000"/>
              </a:spcAft>
              <a:buClr>
                <a:schemeClr val="accent1"/>
              </a:buClr>
              <a:buSzPct val="95000"/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06170" indent="-228600" algn="l" rtl="0" eaLnBrk="1" latinLnBrk="0" hangingPunct="1">
              <a:spcBef>
                <a:spcPct val="20000"/>
              </a:spcBef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371600" indent="-210185" algn="l" rtl="0" eaLnBrk="1" latinLnBrk="0" hangingPunct="1">
              <a:spcBef>
                <a:spcPct val="20000"/>
              </a:spcBef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600200" indent="-210185" algn="l" rtl="0" eaLnBrk="1" latinLnBrk="0" hangingPunct="1">
              <a:spcBef>
                <a:spcPct val="20000"/>
              </a:spcBef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1828800" indent="-210185" algn="l" rtl="0" eaLnBrk="1" latinLnBrk="0" hangingPunct="1">
              <a:spcBef>
                <a:spcPct val="20000"/>
              </a:spcBef>
              <a:buClr>
                <a:schemeClr val="accent1">
                  <a:tint val="75000"/>
                </a:schemeClr>
              </a:buClr>
              <a:buFont typeface="Wingdings 2" panose="05020102010507070707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84705" indent="-210185" algn="l" rtl="0" eaLnBrk="1" latinLnBrk="0" hangingPunct="1">
              <a:spcBef>
                <a:spcPct val="20000"/>
              </a:spcBef>
              <a:buClr>
                <a:schemeClr val="accent1">
                  <a:tint val="75000"/>
                </a:schemeClr>
              </a:buClr>
              <a:buFont typeface="Wingdings 2" panose="05020102010507070707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1">
                  <a:tint val="75000"/>
                </a:schemeClr>
              </a:buClr>
              <a:buFont typeface="Wingdings 2" panose="05020102010507070707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14600" indent="-182880" algn="l" rtl="0" eaLnBrk="1" latinLnBrk="0" hangingPunct="1">
              <a:spcBef>
                <a:spcPct val="20000"/>
              </a:spcBef>
              <a:buClr>
                <a:schemeClr val="accent1">
                  <a:tint val="75000"/>
                </a:schemeClr>
              </a:buClr>
              <a:buFont typeface="Wingdings 2" panose="05020102010507070707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rgbClr val="0000FF"/>
                </a:solidFill>
              </a:rPr>
              <a:t>Các </a:t>
            </a:r>
            <a:r>
              <a:rPr lang="en-US" sz="2200" dirty="0" err="1">
                <a:solidFill>
                  <a:srgbClr val="0000FF"/>
                </a:solidFill>
              </a:rPr>
              <a:t>bước</a:t>
            </a:r>
            <a:r>
              <a:rPr lang="en-US" sz="2200" dirty="0">
                <a:solidFill>
                  <a:srgbClr val="0000FF"/>
                </a:solidFill>
              </a:rPr>
              <a:t> </a:t>
            </a:r>
            <a:r>
              <a:rPr lang="en-US" sz="2200" dirty="0" err="1">
                <a:solidFill>
                  <a:srgbClr val="0000FF"/>
                </a:solidFill>
              </a:rPr>
              <a:t>thực</a:t>
            </a:r>
            <a:r>
              <a:rPr lang="en-US" sz="2200" dirty="0">
                <a:solidFill>
                  <a:srgbClr val="0000FF"/>
                </a:solidFill>
              </a:rPr>
              <a:t> hiện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rgbClr val="0000FF"/>
                </a:solidFill>
              </a:rPr>
              <a:t>Tạo</a:t>
            </a:r>
            <a:r>
              <a:rPr lang="en-US" sz="2000" dirty="0">
                <a:solidFill>
                  <a:srgbClr val="0000FF"/>
                </a:solidFill>
              </a:rPr>
              <a:t> </a:t>
            </a:r>
            <a:r>
              <a:rPr lang="en-US" sz="2000" dirty="0" err="1">
                <a:solidFill>
                  <a:srgbClr val="0000FF"/>
                </a:solidFill>
              </a:rPr>
              <a:t>bố</a:t>
            </a:r>
            <a:r>
              <a:rPr lang="en-US" sz="2000" dirty="0">
                <a:solidFill>
                  <a:srgbClr val="0000FF"/>
                </a:solidFill>
              </a:rPr>
              <a:t> </a:t>
            </a:r>
            <a:r>
              <a:rPr lang="en-US" sz="2000" dirty="0" err="1">
                <a:solidFill>
                  <a:srgbClr val="0000FF"/>
                </a:solidFill>
              </a:rPr>
              <a:t>cục</a:t>
            </a:r>
            <a:r>
              <a:rPr lang="en-US" sz="2000" dirty="0">
                <a:solidFill>
                  <a:srgbClr val="0000FF"/>
                </a:solidFill>
              </a:rPr>
              <a:t> </a:t>
            </a:r>
            <a:r>
              <a:rPr lang="en-US" sz="2000" dirty="0" err="1">
                <a:solidFill>
                  <a:srgbClr val="0000FF"/>
                </a:solidFill>
              </a:rPr>
              <a:t>chính</a:t>
            </a:r>
            <a:r>
              <a:rPr lang="en-US" sz="2000" dirty="0">
                <a:solidFill>
                  <a:srgbClr val="0000FF"/>
                </a:solidFill>
              </a:rPr>
              <a:t> </a:t>
            </a:r>
            <a:r>
              <a:rPr lang="en-US" sz="2000" dirty="0" err="1">
                <a:solidFill>
                  <a:srgbClr val="0000FF"/>
                </a:solidFill>
              </a:rPr>
              <a:t>cho</a:t>
            </a:r>
            <a:r>
              <a:rPr lang="en-US" sz="2000" dirty="0">
                <a:solidFill>
                  <a:srgbClr val="0000FF"/>
                </a:solidFill>
              </a:rPr>
              <a:t> file </a:t>
            </a:r>
            <a:r>
              <a:rPr lang="en-US" sz="2000" dirty="0" err="1">
                <a:solidFill>
                  <a:srgbClr val="0000FF"/>
                </a:solidFill>
              </a:rPr>
              <a:t>dàn</a:t>
            </a:r>
            <a:r>
              <a:rPr lang="en-US" sz="2000" dirty="0">
                <a:solidFill>
                  <a:srgbClr val="0000FF"/>
                </a:solidFill>
              </a:rPr>
              <a:t> ý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rgbClr val="0000FF"/>
                </a:solidFill>
              </a:rPr>
              <a:t>Triển</a:t>
            </a:r>
            <a:r>
              <a:rPr lang="en-US" sz="2000" dirty="0">
                <a:solidFill>
                  <a:srgbClr val="0000FF"/>
                </a:solidFill>
              </a:rPr>
              <a:t> </a:t>
            </a:r>
            <a:r>
              <a:rPr lang="en-US" sz="2000" dirty="0" err="1">
                <a:solidFill>
                  <a:srgbClr val="0000FF"/>
                </a:solidFill>
              </a:rPr>
              <a:t>khai</a:t>
            </a:r>
            <a:r>
              <a:rPr lang="en-US" sz="2000" dirty="0">
                <a:solidFill>
                  <a:srgbClr val="0000FF"/>
                </a:solidFill>
              </a:rPr>
              <a:t> </a:t>
            </a:r>
            <a:r>
              <a:rPr lang="en-US" sz="2000" dirty="0" err="1">
                <a:solidFill>
                  <a:srgbClr val="0000FF"/>
                </a:solidFill>
              </a:rPr>
              <a:t>bố</a:t>
            </a:r>
            <a:r>
              <a:rPr lang="en-US" sz="2000" dirty="0">
                <a:solidFill>
                  <a:srgbClr val="0000FF"/>
                </a:solidFill>
              </a:rPr>
              <a:t> </a:t>
            </a:r>
            <a:r>
              <a:rPr lang="en-US" sz="2000" dirty="0" err="1">
                <a:solidFill>
                  <a:srgbClr val="0000FF"/>
                </a:solidFill>
              </a:rPr>
              <a:t>cục</a:t>
            </a:r>
            <a:r>
              <a:rPr lang="en-US" sz="2000" dirty="0">
                <a:solidFill>
                  <a:srgbClr val="0000FF"/>
                </a:solidFill>
              </a:rPr>
              <a:t> </a:t>
            </a:r>
            <a:r>
              <a:rPr lang="en-US" sz="2000" dirty="0" err="1">
                <a:solidFill>
                  <a:srgbClr val="0000FF"/>
                </a:solidFill>
              </a:rPr>
              <a:t>theo</a:t>
            </a:r>
            <a:r>
              <a:rPr lang="en-US" sz="2000" dirty="0">
                <a:solidFill>
                  <a:srgbClr val="0000FF"/>
                </a:solidFill>
              </a:rPr>
              <a:t> REQ và </a:t>
            </a:r>
            <a:r>
              <a:rPr lang="en-US" sz="2000" dirty="0" err="1">
                <a:solidFill>
                  <a:srgbClr val="0000FF"/>
                </a:solidFill>
              </a:rPr>
              <a:t>quan</a:t>
            </a:r>
            <a:r>
              <a:rPr lang="en-US" sz="2000" dirty="0">
                <a:solidFill>
                  <a:srgbClr val="0000FF"/>
                </a:solidFill>
              </a:rPr>
              <a:t> </a:t>
            </a:r>
            <a:r>
              <a:rPr lang="en-US" sz="2000" dirty="0" err="1">
                <a:solidFill>
                  <a:srgbClr val="0000FF"/>
                </a:solidFill>
              </a:rPr>
              <a:t>điểm</a:t>
            </a:r>
            <a:r>
              <a:rPr lang="en-US" sz="2000" dirty="0">
                <a:solidFill>
                  <a:srgbClr val="0000FF"/>
                </a:solidFill>
              </a:rPr>
              <a:t> test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9708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86400"/>
          </a:xfrm>
        </p:spPr>
        <p:txBody>
          <a:bodyPr>
            <a:normAutofit/>
          </a:bodyPr>
          <a:lstStyle/>
          <a:p>
            <a:pPr marL="64135" indent="0" algn="ctr">
              <a:buNone/>
            </a:pPr>
            <a:endParaRPr lang="en-US" sz="2800" b="1" i="1" dirty="0">
              <a:solidFill>
                <a:srgbClr val="FF0000"/>
              </a:solidFill>
              <a:latin typeface="Baskerville Old Face" panose="02020602080505020303" pitchFamily="18" charset="0"/>
            </a:endParaRPr>
          </a:p>
          <a:p>
            <a:pPr marL="64135" indent="0" algn="ctr">
              <a:buNone/>
            </a:pPr>
            <a:r>
              <a:rPr lang="en-US" sz="3600" b="1" i="1" dirty="0">
                <a:solidFill>
                  <a:srgbClr val="FF0000"/>
                </a:solidFill>
                <a:latin typeface="Baskerville Old Face" panose="02020602080505020303" pitchFamily="18" charset="0"/>
              </a:rPr>
              <a:t>XIN CẢM ƠN VÌ ĐÃ LẮNG NGHE !</a:t>
            </a:r>
          </a:p>
          <a:p>
            <a:pPr marL="64135" indent="0" algn="ctr">
              <a:buNone/>
            </a:pPr>
            <a:endParaRPr lang="en-US" sz="2800" b="1" i="1" dirty="0">
              <a:solidFill>
                <a:srgbClr val="FF0000"/>
              </a:solidFill>
              <a:latin typeface="Baskerville Old Face" panose="02020602080505020303" pitchFamily="18" charset="0"/>
            </a:endParaRPr>
          </a:p>
          <a:p>
            <a:pPr marL="64135" indent="0" algn="ctr">
              <a:buNone/>
            </a:pPr>
            <a:r>
              <a:rPr lang="en-US" sz="13800" b="1" dirty="0"/>
              <a:t>Q&amp;A?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Custom 48">
      <a:dk1>
        <a:sysClr val="windowText" lastClr="000000"/>
      </a:dk1>
      <a:lt1>
        <a:sysClr val="window" lastClr="FFFFFF"/>
      </a:lt1>
      <a:dk2>
        <a:srgbClr val="262626"/>
      </a:dk2>
      <a:lt2>
        <a:srgbClr val="F2F2F2"/>
      </a:lt2>
      <a:accent1>
        <a:srgbClr val="C94C25"/>
      </a:accent1>
      <a:accent2>
        <a:srgbClr val="EA8640"/>
      </a:accent2>
      <a:accent3>
        <a:srgbClr val="99D9E7"/>
      </a:accent3>
      <a:accent4>
        <a:srgbClr val="FAB17B"/>
      </a:accent4>
      <a:accent5>
        <a:srgbClr val="21B8B3"/>
      </a:accent5>
      <a:accent6>
        <a:srgbClr val="F3786E"/>
      </a:accent6>
      <a:hlink>
        <a:srgbClr val="646567"/>
      </a:hlink>
      <a:folHlink>
        <a:srgbClr val="646567"/>
      </a:folHlink>
    </a:clrScheme>
    <a:fontScheme name="Custom 27">
      <a:majorFont>
        <a:latin typeface="Segoe UI"/>
        <a:ea typeface=""/>
        <a:cs typeface=""/>
      </a:majorFont>
      <a:minorFont>
        <a:latin typeface="Arial"/>
        <a:ea typeface=""/>
        <a:cs typeface="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110000" t="250000" r="110000" b="40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110000" t="250000" r="110000" b="40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0000"/>
                <a:satMod val="130000"/>
              </a:schemeClr>
              <a:schemeClr val="phClr">
                <a:tint val="70000"/>
                <a:satMod val="130000"/>
              </a:schemeClr>
            </a:duotone>
          </a:blip>
          <a:tile tx="0" ty="0" sx="90000" sy="90000" flip="none" algn="t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tf10167107</Template>
  <TotalTime>1371</TotalTime>
  <Words>452</Words>
  <Application>Microsoft Office PowerPoint</Application>
  <PresentationFormat>On-screen Show (4:3)</PresentationFormat>
  <Paragraphs>67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Baskerville Old Face</vt:lpstr>
      <vt:lpstr>Calibri</vt:lpstr>
      <vt:lpstr>Segoe UI</vt:lpstr>
      <vt:lpstr>Wingdings</vt:lpstr>
      <vt:lpstr>Wingdings 2</vt:lpstr>
      <vt:lpstr>Verve</vt:lpstr>
      <vt:lpstr>LẬP DÀN Ý TEST CASES</vt:lpstr>
      <vt:lpstr>NỘI DUNG</vt:lpstr>
      <vt:lpstr>I. Dàn ý test case là gì?</vt:lpstr>
      <vt:lpstr>III. Cách lập dàn ý test cases</vt:lpstr>
      <vt:lpstr>III. Cách lập dàn ý test cases</vt:lpstr>
      <vt:lpstr>IV. Ví dụ</vt:lpstr>
      <vt:lpstr>IV. Ví dụ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Reporting Progress or Status</dc:title>
  <dc:creator>Duong Thi Hong Diep</dc:creator>
  <cp:lastModifiedBy>Pham Thi Thanh Nga</cp:lastModifiedBy>
  <cp:revision>482</cp:revision>
  <dcterms:created xsi:type="dcterms:W3CDTF">2018-01-16T08:57:00Z</dcterms:created>
  <dcterms:modified xsi:type="dcterms:W3CDTF">2023-04-04T06:15:09Z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1033-11.2.0.8893</vt:lpwstr>
  </property>
</Properties>
</file>