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9" r:id="rId2"/>
    <p:sldId id="268" r:id="rId3"/>
    <p:sldId id="295" r:id="rId4"/>
    <p:sldId id="304" r:id="rId5"/>
    <p:sldId id="305" r:id="rId6"/>
    <p:sldId id="301" r:id="rId7"/>
    <p:sldId id="309" r:id="rId8"/>
    <p:sldId id="296" r:id="rId9"/>
    <p:sldId id="307" r:id="rId10"/>
    <p:sldId id="297" r:id="rId11"/>
    <p:sldId id="306" r:id="rId12"/>
    <p:sldId id="302" r:id="rId13"/>
    <p:sldId id="303" r:id="rId14"/>
    <p:sldId id="308" r:id="rId15"/>
    <p:sldId id="298" r:id="rId16"/>
    <p:sldId id="29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24C1C"/>
    <a:srgbClr val="D29933"/>
    <a:srgbClr val="FF9933"/>
    <a:srgbClr val="D24C17"/>
    <a:srgbClr val="C94C25"/>
    <a:srgbClr val="FF505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01" autoAdjust="0"/>
    <p:restoredTop sz="92750" autoAdjust="0"/>
  </p:normalViewPr>
  <p:slideViewPr>
    <p:cSldViewPr>
      <p:cViewPr varScale="1">
        <p:scale>
          <a:sx n="106" d="100"/>
          <a:sy n="106" d="100"/>
        </p:scale>
        <p:origin x="2028" y="13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925A17EF-115B-4BB9-BF42-426DFD9E898A}" type="datetimeFigureOut">
              <a:rPr lang="en-US" smtClean="0"/>
              <a:pPr/>
              <a:t>4/7/2023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7C4E7652-46AF-4259-BAE2-54978EA077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4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770D99E-2869-438B-B483-1F6CCD5437EE}"/>
              </a:ext>
            </a:extLst>
          </p:cNvPr>
          <p:cNvGrpSpPr/>
          <p:nvPr userDrawn="1"/>
        </p:nvGrpSpPr>
        <p:grpSpPr>
          <a:xfrm>
            <a:off x="-1" y="-10825"/>
            <a:ext cx="9144002" cy="6515395"/>
            <a:chOff x="-1" y="-10825"/>
            <a:chExt cx="9144002" cy="651539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66236F9-EA1F-4D2A-84DE-EC04F9972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200" y="-10825"/>
              <a:ext cx="3429000" cy="318154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A12C4E-53AE-4900-9783-F619054408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95401" y="-10825"/>
              <a:ext cx="7848600" cy="352224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14E049B-6FD4-487E-927B-506983629A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31825" y="2232482"/>
              <a:ext cx="1282976" cy="110858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F27E3F5-0D4D-492C-8A3E-50BC30CEF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1" y="2962082"/>
              <a:ext cx="2757625" cy="354248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6D4FF91-8818-4598-AC9F-B8C2FA867C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" y="2313169"/>
              <a:ext cx="2259131" cy="2895506"/>
            </a:xfrm>
            <a:prstGeom prst="rect">
              <a:avLst/>
            </a:prstGeom>
          </p:spPr>
        </p:pic>
      </p:grp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76600" y="1213332"/>
            <a:ext cx="5326856" cy="1425577"/>
          </a:xfrm>
        </p:spPr>
        <p:txBody>
          <a:bodyPr anchor="b"/>
          <a:lstStyle>
            <a:lvl1pPr algn="r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724400" y="3849666"/>
            <a:ext cx="3879056" cy="1234575"/>
          </a:xfrm>
          <a:noFill/>
        </p:spPr>
        <p:txBody>
          <a:bodyPr/>
          <a:lstStyle>
            <a:lvl1pPr marL="0" marR="36576" indent="0" algn="l">
              <a:spcBef>
                <a:spcPts val="0"/>
              </a:spcBef>
              <a:buNone/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12256" y="6111875"/>
            <a:ext cx="5791200" cy="365125"/>
          </a:xfrm>
          <a:prstGeom prst="rect">
            <a:avLst/>
          </a:prstGeom>
        </p:spPr>
        <p:txBody>
          <a:bodyPr tIns="0" bIns="0" anchor="b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Báo cáo tổng kết 2017 - PMO</a:t>
            </a:r>
            <a:endParaRPr lang="en-US" dirty="0"/>
          </a:p>
        </p:txBody>
      </p:sp>
      <p:pic>
        <p:nvPicPr>
          <p:cNvPr id="2051" name="Picture 1" descr="logo+Luvin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95402" cy="787402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blurRad="177800" dist="50800" dir="5400000" algn="ctr" rotWithShape="0">
              <a:srgbClr val="000000">
                <a:alpha val="0"/>
              </a:srgb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4876800" cy="799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426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3CFB-98CB-4408-8818-24F931AC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6F67-BAE4-413D-8066-1E361D589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183880" y="173195"/>
            <a:ext cx="502920" cy="301752"/>
          </a:xfrm>
          <a:prstGeom prst="rect">
            <a:avLst/>
          </a:prstGeom>
        </p:spPr>
        <p:txBody>
          <a:bodyPr/>
          <a:lstStyle/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566D8F-E696-41DE-BA1C-A8D0C7F0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5655"/>
            <a:ext cx="7726680" cy="571500"/>
          </a:xfrm>
        </p:spPr>
        <p:txBody>
          <a:bodyPr>
            <a:normAutofit/>
          </a:bodyPr>
          <a:lstStyle>
            <a:lvl1pPr marL="64008" indent="0">
              <a:buFont typeface="Arial" panose="020B0604020202020204" pitchFamily="34" charset="0"/>
              <a:buNone/>
              <a:defRPr sz="2000"/>
            </a:lvl1pPr>
            <a:lvl2pPr marL="537210" indent="0">
              <a:buNone/>
              <a:defRPr/>
            </a:lvl2pPr>
            <a:lvl3pPr marL="877824" indent="0">
              <a:buNone/>
              <a:defRPr/>
            </a:lvl3pPr>
            <a:lvl4pPr marL="1161288" indent="0">
              <a:buNone/>
              <a:defRPr/>
            </a:lvl4pPr>
            <a:lvl5pPr marL="138988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878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295400"/>
            <a:ext cx="914400" cy="5015864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856" y="1295400"/>
            <a:ext cx="2438400" cy="501586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1250" y="1295400"/>
            <a:ext cx="5276088" cy="50139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5BE3E6-AFB3-460C-834B-D73EE2A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1596" y="173195"/>
            <a:ext cx="502920" cy="30175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  <a:prstGeom prst="rect">
            <a:avLst/>
          </a:prstGeom>
        </p:spPr>
        <p:txBody>
          <a:bodyPr vert="horz" lIns="0" rIns="0" anchor="ctr">
            <a:noAutofit/>
          </a:bodyPr>
          <a:lstStyle/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566839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1E45D2D-0469-4652-A090-C4D13F3C150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5307178"/>
            <a:ext cx="1219200" cy="155082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6C04FF8-AE2F-4C75-8657-A2201B95197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6459" y="4545317"/>
            <a:ext cx="1248460" cy="1570328"/>
          </a:xfrm>
          <a:prstGeom prst="rect">
            <a:avLst/>
          </a:prstGeom>
        </p:spPr>
      </p:pic>
      <p:pic>
        <p:nvPicPr>
          <p:cNvPr id="1027" name="Picture 1" descr="logo+Luvin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591" y="1994"/>
            <a:ext cx="1230913" cy="748202"/>
          </a:xfrm>
          <a:prstGeom prst="rect">
            <a:avLst/>
          </a:prstGeom>
          <a:noFill/>
          <a:ln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7" r:id="rId4"/>
    <p:sldLayoutId id="2147483652" r:id="rId5"/>
    <p:sldLayoutId id="2147483656" r:id="rId6"/>
  </p:sldLayoutIdLst>
  <p:hf sldNum="0" hdr="0" dt="0"/>
  <p:txStyles>
    <p:titleStyle>
      <a:lvl1pPr marL="182880" algn="l" rtl="0" eaLnBrk="1" latinLnBrk="0" hangingPunct="1">
        <a:spcBef>
          <a:spcPct val="0"/>
        </a:spcBef>
        <a:buNone/>
        <a:defRPr sz="3200" b="1" kern="1200">
          <a:ln w="6350">
            <a:noFill/>
          </a:ln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95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6600" y="1219200"/>
            <a:ext cx="8382000" cy="1066800"/>
          </a:xfrm>
        </p:spPr>
        <p:txBody>
          <a:bodyPr/>
          <a:lstStyle/>
          <a:p>
            <a:pPr algn="l"/>
            <a:r>
              <a:rPr lang="vi-VN" sz="3600" dirty="0"/>
              <a:t>TEST</a:t>
            </a:r>
            <a:r>
              <a:rPr lang="en-US" sz="3600" dirty="0"/>
              <a:t> &amp; CONFIRM BUG</a:t>
            </a:r>
            <a:br>
              <a:rPr lang="vi-VN" sz="3600" dirty="0"/>
            </a:br>
            <a:r>
              <a:rPr lang="vi-VN" sz="3600" dirty="0"/>
              <a:t>BẰNG CHỨNG</a:t>
            </a:r>
            <a:r>
              <a:rPr lang="en-US" sz="3600" dirty="0"/>
              <a:t>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3849666"/>
            <a:ext cx="4488656" cy="12345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Người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: </a:t>
            </a:r>
            <a:r>
              <a:rPr lang="en-US" b="1" dirty="0"/>
              <a:t>TMO</a:t>
            </a:r>
          </a:p>
        </p:txBody>
      </p:sp>
    </p:spTree>
    <p:extLst>
      <p:ext uri="{BB962C8B-B14F-4D97-AF65-F5344CB8AC3E}">
        <p14:creationId xmlns:p14="http://schemas.microsoft.com/office/powerpoint/2010/main" val="292579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447800" y="1371600"/>
            <a:ext cx="7086600" cy="4191000"/>
          </a:xfrm>
        </p:spPr>
        <p:txBody>
          <a:bodyPr>
            <a:normAutofit/>
          </a:bodyPr>
          <a:lstStyle/>
          <a:p>
            <a:pPr marL="578358" indent="-514350">
              <a:buFont typeface="+mj-lt"/>
              <a:buAutoNum type="romanUcPeriod"/>
            </a:pPr>
            <a:r>
              <a:rPr lang="en-US" sz="2400" dirty="0" err="1">
                <a:solidFill>
                  <a:schemeClr val="bg1"/>
                </a:solidFill>
              </a:rPr>
              <a:t>Cách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thực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hiện</a:t>
            </a:r>
            <a:r>
              <a:rPr lang="en-US" sz="2400" dirty="0">
                <a:solidFill>
                  <a:schemeClr val="bg1"/>
                </a:solidFill>
              </a:rPr>
              <a:t> test</a:t>
            </a:r>
          </a:p>
          <a:p>
            <a:pPr marL="578358" indent="-514350">
              <a:buFont typeface="+mj-lt"/>
              <a:buAutoNum type="romanUcPeriod"/>
            </a:pPr>
            <a:r>
              <a:rPr lang="en-US" sz="2400" dirty="0" err="1">
                <a:solidFill>
                  <a:schemeClr val="bg1"/>
                </a:solidFill>
              </a:rPr>
              <a:t>Cách</a:t>
            </a:r>
            <a:r>
              <a:rPr lang="en-US" sz="2400" dirty="0">
                <a:solidFill>
                  <a:schemeClr val="bg1"/>
                </a:solidFill>
              </a:rPr>
              <a:t> confirm bug</a:t>
            </a:r>
          </a:p>
          <a:p>
            <a:pPr marL="578358" indent="-514350">
              <a:buFont typeface="+mj-lt"/>
              <a:buAutoNum type="romanUcPeriod"/>
            </a:pPr>
            <a:r>
              <a:rPr lang="en-US" sz="2400" dirty="0" err="1">
                <a:solidFill>
                  <a:schemeClr val="bg1"/>
                </a:solidFill>
              </a:rPr>
              <a:t>Bằng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chứng</a:t>
            </a:r>
            <a:r>
              <a:rPr lang="en-US" sz="2400" dirty="0">
                <a:solidFill>
                  <a:schemeClr val="bg1"/>
                </a:solidFill>
              </a:rPr>
              <a:t> test</a:t>
            </a:r>
          </a:p>
          <a:p>
            <a:pPr marL="578358" indent="-514350">
              <a:buFont typeface="+mj-lt"/>
              <a:buAutoNum type="romanUcPeriod"/>
            </a:pPr>
            <a:r>
              <a:rPr lang="en-US" sz="2400" dirty="0">
                <a:solidFill>
                  <a:schemeClr val="bg1"/>
                </a:solidFill>
              </a:rPr>
              <a:t>Hướng </a:t>
            </a:r>
            <a:r>
              <a:rPr lang="en-US" sz="2400" dirty="0" err="1">
                <a:solidFill>
                  <a:schemeClr val="bg1"/>
                </a:solidFill>
              </a:rPr>
              <a:t>dẫn</a:t>
            </a:r>
            <a:r>
              <a:rPr lang="en-US" sz="2400" dirty="0">
                <a:solidFill>
                  <a:schemeClr val="bg1"/>
                </a:solidFill>
              </a:rPr>
              <a:t> add bug và reply confirm bug</a:t>
            </a:r>
          </a:p>
          <a:p>
            <a:pPr marL="578358" indent="-514350">
              <a:buFont typeface="+mj-lt"/>
              <a:buAutoNum type="romanUcPeriod"/>
            </a:pPr>
            <a:r>
              <a:rPr lang="en-US" sz="2400" dirty="0" err="1">
                <a:solidFill>
                  <a:schemeClr val="bg1"/>
                </a:solidFill>
              </a:rPr>
              <a:t>Những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điều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nên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tránh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khi</a:t>
            </a:r>
            <a:r>
              <a:rPr lang="en-US" sz="2400" dirty="0">
                <a:solidFill>
                  <a:schemeClr val="bg1"/>
                </a:solidFill>
              </a:rPr>
              <a:t> test</a:t>
            </a:r>
            <a:endParaRPr lang="vi-VN" sz="2400" dirty="0">
              <a:solidFill>
                <a:schemeClr val="bg1"/>
              </a:solidFill>
            </a:endParaRPr>
          </a:p>
          <a:p>
            <a:pPr>
              <a:buFont typeface="+mj-lt"/>
              <a:buAutoNum type="romanUcPeriod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69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" y="419894"/>
            <a:ext cx="8915400" cy="799306"/>
          </a:xfrm>
        </p:spPr>
        <p:txBody>
          <a:bodyPr/>
          <a:lstStyle/>
          <a:p>
            <a:r>
              <a:rPr lang="en-US" dirty="0"/>
              <a:t>I. CÁCH </a:t>
            </a:r>
            <a:r>
              <a:rPr lang="vi-VN" dirty="0"/>
              <a:t>THỰC HIỆN TEST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8610600" cy="54102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vi-VN" sz="1800" b="1" dirty="0">
                <a:solidFill>
                  <a:schemeClr val="bg1"/>
                </a:solidFill>
              </a:rPr>
              <a:t>Mục đích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thực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hiện</a:t>
            </a:r>
            <a:r>
              <a:rPr lang="en-US" sz="1800" b="1" dirty="0">
                <a:solidFill>
                  <a:schemeClr val="bg1"/>
                </a:solidFill>
              </a:rPr>
              <a:t> test</a:t>
            </a:r>
            <a:r>
              <a:rPr lang="vi-VN" sz="1800" dirty="0">
                <a:solidFill>
                  <a:schemeClr val="bg1"/>
                </a:solidFill>
              </a:rPr>
              <a:t>: </a:t>
            </a:r>
            <a:r>
              <a:rPr lang="en-US" sz="1800" dirty="0" err="1">
                <a:solidFill>
                  <a:schemeClr val="bg1"/>
                </a:solidFill>
              </a:rPr>
              <a:t>Kiểm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tra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chương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trình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có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thực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hiện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đúng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các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yêu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cầu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đã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được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viết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trong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testcase</a:t>
            </a:r>
            <a:endParaRPr lang="en-US" sz="18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/>
                </a:solidFill>
              </a:rPr>
              <a:t>Input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Test cases </a:t>
            </a:r>
            <a:r>
              <a:rPr lang="en-US" dirty="0" err="1">
                <a:solidFill>
                  <a:schemeClr val="bg1"/>
                </a:solidFill>
              </a:rPr>
              <a:t>hoàn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thiện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</a:rPr>
              <a:t>Môi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test đã </a:t>
            </a:r>
            <a:r>
              <a:rPr lang="en-US" dirty="0" err="1">
                <a:solidFill>
                  <a:schemeClr val="bg1"/>
                </a:solidFill>
              </a:rPr>
              <a:t>hoàn</a:t>
            </a:r>
            <a:r>
              <a:rPr lang="en-US" dirty="0">
                <a:solidFill>
                  <a:schemeClr val="bg1"/>
                </a:solidFill>
              </a:rPr>
              <a:t> thành (</a:t>
            </a:r>
            <a:r>
              <a:rPr lang="en-US" dirty="0" err="1">
                <a:solidFill>
                  <a:schemeClr val="bg1"/>
                </a:solidFill>
              </a:rPr>
              <a:t>phần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cứng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phần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mềm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thiết</a:t>
            </a:r>
            <a:r>
              <a:rPr lang="en-US" dirty="0">
                <a:solidFill>
                  <a:schemeClr val="bg1"/>
                </a:solidFill>
              </a:rPr>
              <a:t> bị, </a:t>
            </a:r>
            <a:r>
              <a:rPr lang="en-US" dirty="0" err="1">
                <a:solidFill>
                  <a:schemeClr val="bg1"/>
                </a:solidFill>
              </a:rPr>
              <a:t>mạng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</a:rPr>
              <a:t>Chương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trình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deploy </a:t>
            </a:r>
            <a:r>
              <a:rPr lang="en-US" dirty="0" err="1">
                <a:solidFill>
                  <a:schemeClr val="bg1"/>
                </a:solidFill>
              </a:rPr>
              <a:t>đúng</a:t>
            </a:r>
            <a:r>
              <a:rPr lang="en-US" dirty="0">
                <a:solidFill>
                  <a:schemeClr val="bg1"/>
                </a:solidFill>
              </a:rPr>
              <a:t> version.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Checklist testing (đã đọc hiểu)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/>
                </a:solidFill>
              </a:rPr>
              <a:t>Output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</a:rPr>
              <a:t>Toàn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bộ</a:t>
            </a:r>
            <a:r>
              <a:rPr lang="en-US" dirty="0">
                <a:solidFill>
                  <a:schemeClr val="bg1"/>
                </a:solidFill>
              </a:rPr>
              <a:t> case test 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điền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Bug đã được add lên </a:t>
            </a:r>
            <a:r>
              <a:rPr lang="en-US" dirty="0" err="1">
                <a:solidFill>
                  <a:schemeClr val="bg1"/>
                </a:solidFill>
              </a:rPr>
              <a:t>hệ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thống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lý</a:t>
            </a:r>
            <a:r>
              <a:rPr lang="en-US" dirty="0">
                <a:solidFill>
                  <a:schemeClr val="bg1"/>
                </a:solidFill>
              </a:rPr>
              <a:t> bug (</a:t>
            </a:r>
            <a:r>
              <a:rPr lang="en-US" dirty="0" err="1">
                <a:solidFill>
                  <a:schemeClr val="bg1"/>
                </a:solidFill>
              </a:rPr>
              <a:t>redmine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lupack</a:t>
            </a:r>
            <a:r>
              <a:rPr lang="en-US" dirty="0">
                <a:solidFill>
                  <a:schemeClr val="bg1"/>
                </a:solidFill>
              </a:rPr>
              <a:t> …)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Checklist testing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điền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chứng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hoàn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thiện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nếu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yêu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cầu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2"/>
            <a:endParaRPr lang="vi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57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99306"/>
          </a:xfrm>
        </p:spPr>
        <p:txBody>
          <a:bodyPr/>
          <a:lstStyle/>
          <a:p>
            <a:r>
              <a:rPr lang="en-US" dirty="0"/>
              <a:t>I. CÁCH </a:t>
            </a:r>
            <a:r>
              <a:rPr lang="vi-VN" dirty="0"/>
              <a:t>THỰC HIỆN TEST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52400" y="838200"/>
            <a:ext cx="8610600" cy="5791200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600" dirty="0" err="1">
                <a:solidFill>
                  <a:schemeClr val="bg1"/>
                </a:solidFill>
              </a:rPr>
              <a:t>Các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bước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thực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hiện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</a:rPr>
              <a:t>Đọc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hiểu</a:t>
            </a:r>
            <a:r>
              <a:rPr lang="en-US" sz="1600" dirty="0">
                <a:solidFill>
                  <a:schemeClr val="bg1"/>
                </a:solidFill>
              </a:rPr>
              <a:t> test cases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Trường </a:t>
            </a:r>
            <a:r>
              <a:rPr lang="en-US" sz="1600" dirty="0" err="1">
                <a:solidFill>
                  <a:schemeClr val="bg1"/>
                </a:solidFill>
              </a:rPr>
              <a:t>hợp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không</a:t>
            </a:r>
            <a:r>
              <a:rPr lang="en-US" sz="1600" dirty="0">
                <a:solidFill>
                  <a:schemeClr val="bg1"/>
                </a:solidFill>
              </a:rPr>
              <a:t> hiểu, </a:t>
            </a:r>
            <a:r>
              <a:rPr lang="en-US" sz="1600" dirty="0" err="1">
                <a:solidFill>
                  <a:schemeClr val="bg1"/>
                </a:solidFill>
              </a:rPr>
              <a:t>mơ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hồ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không</a:t>
            </a:r>
            <a:r>
              <a:rPr lang="en-US" sz="1600" dirty="0">
                <a:solidFill>
                  <a:schemeClr val="bg1"/>
                </a:solidFill>
              </a:rPr>
              <a:t> đúng phải confirm với người </a:t>
            </a:r>
            <a:r>
              <a:rPr lang="en-US" sz="1600" dirty="0" err="1">
                <a:solidFill>
                  <a:schemeClr val="bg1"/>
                </a:solidFill>
              </a:rPr>
              <a:t>viết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</a:rPr>
              <a:t>Thực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hiện</a:t>
            </a:r>
            <a:r>
              <a:rPr lang="en-US" sz="1600" dirty="0">
                <a:solidFill>
                  <a:schemeClr val="bg1"/>
                </a:solidFill>
              </a:rPr>
              <a:t> test </a:t>
            </a:r>
            <a:r>
              <a:rPr lang="en-US" sz="1600" dirty="0" err="1">
                <a:solidFill>
                  <a:schemeClr val="bg1"/>
                </a:solidFill>
              </a:rPr>
              <a:t>từng</a:t>
            </a:r>
            <a:r>
              <a:rPr lang="en-US" sz="1600" dirty="0">
                <a:solidFill>
                  <a:schemeClr val="bg1"/>
                </a:solidFill>
              </a:rPr>
              <a:t> case test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 err="1">
                <a:solidFill>
                  <a:schemeClr val="bg1"/>
                </a:solidFill>
              </a:rPr>
              <a:t>Tạo</a:t>
            </a:r>
            <a:r>
              <a:rPr lang="en-US" sz="1600" dirty="0">
                <a:solidFill>
                  <a:schemeClr val="bg1"/>
                </a:solidFill>
              </a:rPr>
              <a:t> data test (</a:t>
            </a:r>
            <a:r>
              <a:rPr lang="en-US" sz="1600" dirty="0" err="1">
                <a:solidFill>
                  <a:schemeClr val="bg1"/>
                </a:solidFill>
              </a:rPr>
              <a:t>nếu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cần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 err="1">
                <a:solidFill>
                  <a:schemeClr val="bg1"/>
                </a:solidFill>
              </a:rPr>
              <a:t>Chạy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chương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trình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và</a:t>
            </a:r>
            <a:r>
              <a:rPr lang="en-US" sz="1600" dirty="0">
                <a:solidFill>
                  <a:schemeClr val="bg1"/>
                </a:solidFill>
              </a:rPr>
              <a:t> check </a:t>
            </a:r>
            <a:r>
              <a:rPr lang="en-US" sz="1600" dirty="0" err="1">
                <a:solidFill>
                  <a:schemeClr val="bg1"/>
                </a:solidFill>
              </a:rPr>
              <a:t>kết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quả</a:t>
            </a:r>
            <a:endParaRPr lang="en-US" sz="1600" dirty="0">
              <a:solidFill>
                <a:schemeClr val="bg1"/>
              </a:solidFill>
            </a:endParaRPr>
          </a:p>
          <a:p>
            <a:pPr lvl="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600" dirty="0" err="1">
                <a:solidFill>
                  <a:schemeClr val="bg1"/>
                </a:solidFill>
              </a:rPr>
              <a:t>Thực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hiện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từng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bước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như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mô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tả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trong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cột</a:t>
            </a:r>
            <a:r>
              <a:rPr lang="en-US" sz="1600" dirty="0">
                <a:solidFill>
                  <a:schemeClr val="bg1"/>
                </a:solidFill>
              </a:rPr>
              <a:t> [</a:t>
            </a:r>
            <a:r>
              <a:rPr lang="en-US" sz="1600" dirty="0" err="1">
                <a:solidFill>
                  <a:schemeClr val="bg1"/>
                </a:solidFill>
              </a:rPr>
              <a:t>Đầu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vào</a:t>
            </a:r>
            <a:r>
              <a:rPr lang="en-US" sz="1600" dirty="0">
                <a:solidFill>
                  <a:schemeClr val="bg1"/>
                </a:solidFill>
              </a:rPr>
              <a:t>]</a:t>
            </a:r>
          </a:p>
          <a:p>
            <a:pPr lvl="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bg1"/>
                </a:solidFill>
              </a:rPr>
              <a:t>Check </a:t>
            </a:r>
            <a:r>
              <a:rPr lang="en-US" sz="1600" dirty="0" err="1">
                <a:solidFill>
                  <a:schemeClr val="bg1"/>
                </a:solidFill>
              </a:rPr>
              <a:t>kết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quả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chương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trình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với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nội</a:t>
            </a:r>
            <a:r>
              <a:rPr lang="en-US" sz="1600" dirty="0">
                <a:solidFill>
                  <a:schemeClr val="bg1"/>
                </a:solidFill>
              </a:rPr>
              <a:t> dung </a:t>
            </a:r>
            <a:r>
              <a:rPr lang="en-US" sz="1600" dirty="0" err="1">
                <a:solidFill>
                  <a:schemeClr val="bg1"/>
                </a:solidFill>
              </a:rPr>
              <a:t>cột</a:t>
            </a:r>
            <a:r>
              <a:rPr lang="en-US" sz="1600" dirty="0">
                <a:solidFill>
                  <a:schemeClr val="bg1"/>
                </a:solidFill>
              </a:rPr>
              <a:t> [</a:t>
            </a:r>
            <a:r>
              <a:rPr lang="en-US" sz="1600" dirty="0" err="1">
                <a:solidFill>
                  <a:schemeClr val="bg1"/>
                </a:solidFill>
              </a:rPr>
              <a:t>kết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quả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mong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muốn</a:t>
            </a:r>
            <a:r>
              <a:rPr lang="en-US" sz="1600" dirty="0">
                <a:solidFill>
                  <a:schemeClr val="bg1"/>
                </a:solidFill>
              </a:rPr>
              <a:t>]</a:t>
            </a:r>
          </a:p>
          <a:p>
            <a:pPr lvl="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600" dirty="0" err="1">
                <a:solidFill>
                  <a:schemeClr val="bg1"/>
                </a:solidFill>
              </a:rPr>
              <a:t>Điền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Cột</a:t>
            </a:r>
            <a:r>
              <a:rPr lang="en-US" sz="1600" dirty="0">
                <a:solidFill>
                  <a:schemeClr val="bg1"/>
                </a:solidFill>
              </a:rPr>
              <a:t> [</a:t>
            </a:r>
            <a:r>
              <a:rPr lang="en-US" sz="1600" dirty="0" err="1">
                <a:solidFill>
                  <a:schemeClr val="bg1"/>
                </a:solidFill>
              </a:rPr>
              <a:t>Kết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Quả</a:t>
            </a:r>
            <a:r>
              <a:rPr lang="en-US" sz="1600" dirty="0">
                <a:solidFill>
                  <a:schemeClr val="bg1"/>
                </a:solidFill>
              </a:rPr>
              <a:t>] </a:t>
            </a:r>
          </a:p>
          <a:p>
            <a:pPr lvl="4"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OK </a:t>
            </a:r>
            <a:r>
              <a:rPr lang="en-US" sz="1600" dirty="0" err="1">
                <a:solidFill>
                  <a:schemeClr val="bg1"/>
                </a:solidFill>
              </a:rPr>
              <a:t>trường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hợp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chương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trình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đúng</a:t>
            </a:r>
            <a:endParaRPr lang="en-US" sz="1600" dirty="0">
              <a:solidFill>
                <a:schemeClr val="bg1"/>
              </a:solidFill>
            </a:endParaRPr>
          </a:p>
          <a:p>
            <a:pPr lvl="4"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</a:rPr>
              <a:t>NG </a:t>
            </a:r>
            <a:r>
              <a:rPr lang="en-US" sz="1600" dirty="0" err="1">
                <a:solidFill>
                  <a:schemeClr val="bg1"/>
                </a:solidFill>
              </a:rPr>
              <a:t>trường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hợp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chương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trình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sai</a:t>
            </a:r>
            <a:endParaRPr lang="en-US" sz="1600" dirty="0">
              <a:solidFill>
                <a:schemeClr val="bg1"/>
              </a:solidFill>
            </a:endParaRPr>
          </a:p>
          <a:p>
            <a:pPr lvl="3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bg1"/>
                </a:solidFill>
              </a:rPr>
              <a:t>Làm checklist testing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</a:rPr>
              <a:t>Ghi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nhận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quả</a:t>
            </a:r>
            <a:r>
              <a:rPr lang="en-US" sz="1600" dirty="0">
                <a:solidFill>
                  <a:schemeClr val="bg1"/>
                </a:solidFill>
              </a:rPr>
              <a:t> test </a:t>
            </a:r>
            <a:r>
              <a:rPr lang="en-US" sz="1600" dirty="0" err="1">
                <a:solidFill>
                  <a:schemeClr val="bg1"/>
                </a:solidFill>
              </a:rPr>
              <a:t>vào</a:t>
            </a:r>
            <a:r>
              <a:rPr lang="en-US" sz="1600" dirty="0">
                <a:solidFill>
                  <a:schemeClr val="bg1"/>
                </a:solidFill>
              </a:rPr>
              <a:t> file </a:t>
            </a:r>
            <a:r>
              <a:rPr lang="ja-JP" altLang="en-US" sz="1600" dirty="0">
                <a:solidFill>
                  <a:schemeClr val="bg1"/>
                </a:solidFill>
              </a:rPr>
              <a:t>「</a:t>
            </a:r>
            <a:r>
              <a:rPr lang="en-US" sz="1600" dirty="0">
                <a:solidFill>
                  <a:schemeClr val="bg1"/>
                </a:solidFill>
              </a:rPr>
              <a:t>DEV-VER-FM-05.01</a:t>
            </a:r>
            <a:r>
              <a:rPr lang="ja-JP" altLang="en-US" sz="1600" dirty="0">
                <a:solidFill>
                  <a:schemeClr val="bg1"/>
                </a:solidFill>
              </a:rPr>
              <a:t>」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</a:rPr>
              <a:t>Cập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nhật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danh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sách</a:t>
            </a:r>
            <a:r>
              <a:rPr lang="en-US" sz="1600" dirty="0">
                <a:solidFill>
                  <a:schemeClr val="bg1"/>
                </a:solidFill>
              </a:rPr>
              <a:t> bug lên </a:t>
            </a:r>
            <a:r>
              <a:rPr lang="en-US" sz="1600" dirty="0" err="1">
                <a:solidFill>
                  <a:schemeClr val="bg1"/>
                </a:solidFill>
              </a:rPr>
              <a:t>hệ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thống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quản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lý</a:t>
            </a:r>
            <a:r>
              <a:rPr lang="en-US" sz="1600" dirty="0">
                <a:solidFill>
                  <a:schemeClr val="bg1"/>
                </a:solidFill>
              </a:rPr>
              <a:t> bugs của </a:t>
            </a:r>
            <a:r>
              <a:rPr lang="en-US" sz="1600" dirty="0" err="1">
                <a:solidFill>
                  <a:schemeClr val="bg1"/>
                </a:solidFill>
              </a:rPr>
              <a:t>dự</a:t>
            </a:r>
            <a:r>
              <a:rPr lang="en-US" sz="1600" dirty="0">
                <a:solidFill>
                  <a:schemeClr val="bg1"/>
                </a:solidFill>
              </a:rPr>
              <a:t> án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chemeClr val="bg1"/>
                </a:solidFill>
              </a:rPr>
              <a:t>Bàn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giao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kết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quả</a:t>
            </a:r>
            <a:r>
              <a:rPr lang="en-US" sz="1600" dirty="0">
                <a:solidFill>
                  <a:schemeClr val="bg1"/>
                </a:solidFill>
              </a:rPr>
              <a:t> test </a:t>
            </a:r>
            <a:r>
              <a:rPr lang="en-US" sz="1600" dirty="0" err="1">
                <a:solidFill>
                  <a:schemeClr val="bg1"/>
                </a:solidFill>
              </a:rPr>
              <a:t>cho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nười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giao</a:t>
            </a:r>
            <a:r>
              <a:rPr lang="en-US" sz="1600" dirty="0">
                <a:solidFill>
                  <a:schemeClr val="bg1"/>
                </a:solidFill>
              </a:rPr>
              <a:t> task.</a:t>
            </a:r>
          </a:p>
          <a:p>
            <a:pPr lvl="2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31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357" y="-76200"/>
            <a:ext cx="8915400" cy="799306"/>
          </a:xfrm>
        </p:spPr>
        <p:txBody>
          <a:bodyPr/>
          <a:lstStyle/>
          <a:p>
            <a:r>
              <a:rPr lang="en-US" dirty="0"/>
              <a:t>II. </a:t>
            </a:r>
            <a:r>
              <a:rPr lang="vi-VN" dirty="0"/>
              <a:t>CÁC</a:t>
            </a:r>
            <a:r>
              <a:rPr lang="en-US" dirty="0"/>
              <a:t>H CONFIRM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3106"/>
            <a:ext cx="8229600" cy="5982494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vi-VN" sz="1800" b="1" dirty="0">
                <a:solidFill>
                  <a:schemeClr val="bg1"/>
                </a:solidFill>
              </a:rPr>
              <a:t>Mục đích</a:t>
            </a:r>
            <a:r>
              <a:rPr lang="en-US" sz="1800" b="1" dirty="0">
                <a:solidFill>
                  <a:schemeClr val="bg1"/>
                </a:solidFill>
              </a:rPr>
              <a:t> confirm bug</a:t>
            </a:r>
            <a:r>
              <a:rPr lang="vi-VN" sz="1800" dirty="0">
                <a:solidFill>
                  <a:schemeClr val="bg1"/>
                </a:solidFill>
              </a:rPr>
              <a:t>: </a:t>
            </a:r>
            <a:r>
              <a:rPr lang="en-US" sz="1800" dirty="0" err="1">
                <a:solidFill>
                  <a:schemeClr val="bg1"/>
                </a:solidFill>
              </a:rPr>
              <a:t>Kiểm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chứng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chương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trình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đã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được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chỉnh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sửa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chưa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/>
                </a:solidFill>
              </a:rPr>
              <a:t>Input</a:t>
            </a:r>
          </a:p>
          <a:p>
            <a:pPr lvl="1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Bug (bug </a:t>
            </a:r>
            <a:r>
              <a:rPr lang="en-US" dirty="0" err="1">
                <a:solidFill>
                  <a:schemeClr val="bg1"/>
                </a:solidFill>
              </a:rPr>
              <a:t>nội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bộ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hoặc</a:t>
            </a:r>
            <a:r>
              <a:rPr lang="en-US" dirty="0">
                <a:solidFill>
                  <a:schemeClr val="bg1"/>
                </a:solidFill>
              </a:rPr>
              <a:t> bug </a:t>
            </a:r>
            <a:r>
              <a:rPr lang="en-US" dirty="0" err="1">
                <a:solidFill>
                  <a:schemeClr val="bg1"/>
                </a:solidFill>
              </a:rPr>
              <a:t>khách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hàng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gửi</a:t>
            </a:r>
            <a:r>
              <a:rPr lang="en-US" dirty="0">
                <a:solidFill>
                  <a:schemeClr val="bg1"/>
                </a:solidFill>
              </a:rPr>
              <a:t>) 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chuyển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trạng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thái</a:t>
            </a:r>
            <a:r>
              <a:rPr lang="en-US" dirty="0">
                <a:solidFill>
                  <a:schemeClr val="bg1"/>
                </a:solidFill>
              </a:rPr>
              <a:t> fix</a:t>
            </a:r>
          </a:p>
          <a:p>
            <a:pPr lvl="1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Test cases (</a:t>
            </a:r>
            <a:r>
              <a:rPr lang="en-US" dirty="0" err="1">
                <a:solidFill>
                  <a:schemeClr val="bg1"/>
                </a:solidFill>
              </a:rPr>
              <a:t>Nếu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2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Case test </a:t>
            </a:r>
            <a:r>
              <a:rPr lang="en-US" dirty="0" err="1">
                <a:solidFill>
                  <a:schemeClr val="bg1"/>
                </a:solidFill>
              </a:rPr>
              <a:t>phát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sinh</a:t>
            </a:r>
            <a:r>
              <a:rPr lang="en-US" dirty="0">
                <a:solidFill>
                  <a:schemeClr val="bg1"/>
                </a:solidFill>
              </a:rPr>
              <a:t> bug </a:t>
            </a:r>
          </a:p>
          <a:p>
            <a:pPr lvl="2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Case test </a:t>
            </a:r>
            <a:r>
              <a:rPr lang="en-US" dirty="0" err="1">
                <a:solidFill>
                  <a:schemeClr val="bg1"/>
                </a:solidFill>
              </a:rPr>
              <a:t>liên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đến</a:t>
            </a:r>
            <a:r>
              <a:rPr lang="en-US" dirty="0">
                <a:solidFill>
                  <a:schemeClr val="bg1"/>
                </a:solidFill>
              </a:rPr>
              <a:t> bug (</a:t>
            </a:r>
            <a:r>
              <a:rPr lang="en-US" dirty="0" err="1">
                <a:solidFill>
                  <a:schemeClr val="bg1"/>
                </a:solidFill>
              </a:rPr>
              <a:t>ảnh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hưởng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thêm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mới</a:t>
            </a:r>
            <a:r>
              <a:rPr lang="en-US" dirty="0">
                <a:solidFill>
                  <a:schemeClr val="bg1"/>
                </a:solidFill>
              </a:rPr>
              <a:t>,….)</a:t>
            </a:r>
          </a:p>
          <a:p>
            <a:pPr lvl="1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Chương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trình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chỉnh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sửa</a:t>
            </a:r>
            <a:r>
              <a:rPr lang="en-US" dirty="0">
                <a:solidFill>
                  <a:schemeClr val="bg1"/>
                </a:solidFill>
              </a:rPr>
              <a:t> deploy </a:t>
            </a:r>
            <a:r>
              <a:rPr lang="en-US" dirty="0" err="1">
                <a:solidFill>
                  <a:schemeClr val="bg1"/>
                </a:solidFill>
              </a:rPr>
              <a:t>đúng</a:t>
            </a:r>
            <a:r>
              <a:rPr lang="en-US" dirty="0">
                <a:solidFill>
                  <a:schemeClr val="bg1"/>
                </a:solidFill>
              </a:rPr>
              <a:t> version.</a:t>
            </a:r>
          </a:p>
          <a:p>
            <a:pPr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/>
                </a:solidFill>
              </a:rPr>
              <a:t>Output</a:t>
            </a:r>
          </a:p>
          <a:p>
            <a:pPr lvl="1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Bug đã được </a:t>
            </a:r>
            <a:r>
              <a:rPr lang="en-US" dirty="0" err="1">
                <a:solidFill>
                  <a:schemeClr val="bg1"/>
                </a:solidFill>
              </a:rPr>
              <a:t>chuyển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trạng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thái</a:t>
            </a:r>
            <a:r>
              <a:rPr lang="en-US" dirty="0">
                <a:solidFill>
                  <a:schemeClr val="bg1"/>
                </a:solidFill>
              </a:rPr>
              <a:t> và reply</a:t>
            </a:r>
          </a:p>
          <a:p>
            <a:pPr lvl="1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Test cases đã được </a:t>
            </a:r>
            <a:r>
              <a:rPr lang="en-US" dirty="0" err="1">
                <a:solidFill>
                  <a:schemeClr val="bg1"/>
                </a:solidFill>
              </a:rPr>
              <a:t>điền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chứng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hoàn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thiện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nếu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yêu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cầu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537210" lvl="1" indent="0">
              <a:spcAft>
                <a:spcPts val="800"/>
              </a:spcAft>
              <a:buNone/>
            </a:pP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877824" lvl="2" indent="0">
              <a:spcAft>
                <a:spcPts val="600"/>
              </a:spcAft>
              <a:buNone/>
            </a:pPr>
            <a:endParaRPr lang="vi-VN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006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8915400" cy="799306"/>
          </a:xfrm>
        </p:spPr>
        <p:txBody>
          <a:bodyPr/>
          <a:lstStyle/>
          <a:p>
            <a:r>
              <a:rPr lang="en-US" dirty="0"/>
              <a:t>II. </a:t>
            </a:r>
            <a:r>
              <a:rPr lang="vi-VN" dirty="0"/>
              <a:t>CÁC</a:t>
            </a:r>
            <a:r>
              <a:rPr lang="en-US" dirty="0"/>
              <a:t>H</a:t>
            </a:r>
            <a:r>
              <a:rPr lang="vi-VN" dirty="0"/>
              <a:t> </a:t>
            </a:r>
            <a:r>
              <a:rPr lang="en-US" dirty="0"/>
              <a:t>CONFIRM BUG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52400" y="723106"/>
            <a:ext cx="8610600" cy="598067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b="1" dirty="0" err="1">
                <a:solidFill>
                  <a:schemeClr val="bg1"/>
                </a:solidFill>
              </a:rPr>
              <a:t>Các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bước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thực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hiện</a:t>
            </a:r>
            <a:endParaRPr lang="en-US" sz="1800" b="1" dirty="0"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Đọc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hiểu</a:t>
            </a:r>
            <a:r>
              <a:rPr lang="en-US" dirty="0">
                <a:solidFill>
                  <a:schemeClr val="bg1"/>
                </a:solidFill>
              </a:rPr>
              <a:t> bug </a:t>
            </a:r>
            <a:r>
              <a:rPr lang="en-US" dirty="0" err="1">
                <a:solidFill>
                  <a:schemeClr val="bg1"/>
                </a:solidFill>
              </a:rPr>
              <a:t>bao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gồm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pPr lvl="3"/>
            <a:r>
              <a:rPr lang="en-US" dirty="0" err="1">
                <a:solidFill>
                  <a:schemeClr val="bg1"/>
                </a:solidFill>
              </a:rPr>
              <a:t>Nội</a:t>
            </a:r>
            <a:r>
              <a:rPr lang="en-US" dirty="0">
                <a:solidFill>
                  <a:schemeClr val="bg1"/>
                </a:solidFill>
              </a:rPr>
              <a:t> dung bug, </a:t>
            </a:r>
            <a:r>
              <a:rPr lang="en-US" dirty="0" err="1">
                <a:solidFill>
                  <a:schemeClr val="bg1"/>
                </a:solidFill>
              </a:rPr>
              <a:t>Nội</a:t>
            </a:r>
            <a:r>
              <a:rPr lang="en-US" dirty="0">
                <a:solidFill>
                  <a:schemeClr val="bg1"/>
                </a:solidFill>
              </a:rPr>
              <a:t> dung fix, </a:t>
            </a:r>
            <a:r>
              <a:rPr lang="en-US" dirty="0" err="1">
                <a:solidFill>
                  <a:schemeClr val="bg1"/>
                </a:solidFill>
              </a:rPr>
              <a:t>Phạm</a:t>
            </a:r>
            <a:r>
              <a:rPr lang="en-US" dirty="0">
                <a:solidFill>
                  <a:schemeClr val="bg1"/>
                </a:solidFill>
              </a:rPr>
              <a:t> vi </a:t>
            </a:r>
            <a:r>
              <a:rPr lang="en-US" dirty="0" err="1">
                <a:solidFill>
                  <a:schemeClr val="bg1"/>
                </a:solidFill>
              </a:rPr>
              <a:t>ảnh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hưởng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3"/>
            <a:r>
              <a:rPr lang="en-US" dirty="0" err="1">
                <a:solidFill>
                  <a:schemeClr val="bg1"/>
                </a:solidFill>
              </a:rPr>
              <a:t>Danh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sách</a:t>
            </a:r>
            <a:r>
              <a:rPr lang="en-US" dirty="0">
                <a:solidFill>
                  <a:schemeClr val="bg1"/>
                </a:solidFill>
              </a:rPr>
              <a:t> case </a:t>
            </a:r>
            <a:r>
              <a:rPr lang="en-US" dirty="0" err="1">
                <a:solidFill>
                  <a:schemeClr val="bg1"/>
                </a:solidFill>
              </a:rPr>
              <a:t>bị</a:t>
            </a:r>
            <a:r>
              <a:rPr lang="en-US" dirty="0">
                <a:solidFill>
                  <a:schemeClr val="bg1"/>
                </a:solidFill>
              </a:rPr>
              <a:t> bug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Tái</a:t>
            </a:r>
            <a:r>
              <a:rPr lang="en-US" dirty="0">
                <a:solidFill>
                  <a:schemeClr val="bg1"/>
                </a:solidFill>
              </a:rPr>
              <a:t> hiện bug (Bug của KH hoặc người khác add)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Tái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bug </a:t>
            </a:r>
            <a:r>
              <a:rPr lang="en-US" dirty="0" err="1">
                <a:solidFill>
                  <a:schemeClr val="bg1"/>
                </a:solidFill>
              </a:rPr>
              <a:t>trên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môi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cũ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Trước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khi</a:t>
            </a:r>
            <a:r>
              <a:rPr lang="en-US" dirty="0">
                <a:solidFill>
                  <a:schemeClr val="bg1"/>
                </a:solidFill>
              </a:rPr>
              <a:t> deploy </a:t>
            </a:r>
            <a:r>
              <a:rPr lang="en-US" dirty="0" err="1">
                <a:solidFill>
                  <a:schemeClr val="bg1"/>
                </a:solidFill>
              </a:rPr>
              <a:t>bản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chỉnh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sửa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Xác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nhận</a:t>
            </a:r>
            <a:r>
              <a:rPr lang="en-US" dirty="0">
                <a:solidFill>
                  <a:schemeClr val="bg1"/>
                </a:solidFill>
              </a:rPr>
              <a:t> bug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Trường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đúng</a:t>
            </a:r>
            <a:r>
              <a:rPr lang="en-US" dirty="0">
                <a:solidFill>
                  <a:schemeClr val="bg1"/>
                </a:solidFill>
              </a:rPr>
              <a:t> bug </a:t>
            </a:r>
            <a:r>
              <a:rPr lang="en-US" dirty="0" err="1">
                <a:solidFill>
                  <a:schemeClr val="bg1"/>
                </a:solidFill>
              </a:rPr>
              <a:t>thì</a:t>
            </a:r>
            <a:r>
              <a:rPr lang="en-US" dirty="0">
                <a:solidFill>
                  <a:schemeClr val="bg1"/>
                </a:solidFill>
              </a:rPr>
              <a:t> sang </a:t>
            </a:r>
            <a:r>
              <a:rPr lang="en-US" dirty="0" err="1">
                <a:solidFill>
                  <a:schemeClr val="bg1"/>
                </a:solidFill>
              </a:rPr>
              <a:t>bước</a:t>
            </a:r>
            <a:r>
              <a:rPr lang="en-US" dirty="0">
                <a:solidFill>
                  <a:schemeClr val="bg1"/>
                </a:solidFill>
              </a:rPr>
              <a:t> [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test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]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trên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môi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chỉnh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sửa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Trường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đúng</a:t>
            </a:r>
            <a:r>
              <a:rPr lang="en-US" dirty="0">
                <a:solidFill>
                  <a:schemeClr val="bg1"/>
                </a:solidFill>
              </a:rPr>
              <a:t> bug </a:t>
            </a:r>
            <a:r>
              <a:rPr lang="en-US" dirty="0" err="1">
                <a:solidFill>
                  <a:schemeClr val="bg1"/>
                </a:solidFill>
              </a:rPr>
              <a:t>thì</a:t>
            </a:r>
            <a:r>
              <a:rPr lang="en-US" dirty="0">
                <a:solidFill>
                  <a:schemeClr val="bg1"/>
                </a:solidFill>
              </a:rPr>
              <a:t> confirm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người</a:t>
            </a:r>
            <a:r>
              <a:rPr lang="en-US" dirty="0">
                <a:solidFill>
                  <a:schemeClr val="bg1"/>
                </a:solidFill>
              </a:rPr>
              <a:t> add</a:t>
            </a:r>
            <a:endParaRPr lang="vi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629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8915400" cy="799306"/>
          </a:xfrm>
        </p:spPr>
        <p:txBody>
          <a:bodyPr/>
          <a:lstStyle/>
          <a:p>
            <a:r>
              <a:rPr lang="en-US" dirty="0"/>
              <a:t>II. </a:t>
            </a:r>
            <a:r>
              <a:rPr lang="vi-VN" dirty="0"/>
              <a:t>CÁC</a:t>
            </a:r>
            <a:r>
              <a:rPr lang="en-US" dirty="0"/>
              <a:t>H</a:t>
            </a:r>
            <a:r>
              <a:rPr lang="vi-VN" dirty="0"/>
              <a:t> </a:t>
            </a:r>
            <a:r>
              <a:rPr lang="en-US" dirty="0"/>
              <a:t>CONFIRM BUG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723106"/>
            <a:ext cx="8305800" cy="5980670"/>
          </a:xfrm>
        </p:spPr>
        <p:txBody>
          <a:bodyPr>
            <a:noAutofit/>
          </a:bodyPr>
          <a:lstStyle/>
          <a:p>
            <a:pPr lvl="1"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xác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nhận</a:t>
            </a:r>
            <a:endParaRPr lang="en-US" dirty="0">
              <a:solidFill>
                <a:schemeClr val="bg1"/>
              </a:solidFill>
            </a:endParaRPr>
          </a:p>
          <a:p>
            <a:pPr lvl="2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Trường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test cases: </a:t>
            </a:r>
          </a:p>
          <a:p>
            <a:pPr lvl="3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lại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case </a:t>
            </a:r>
            <a:r>
              <a:rPr lang="en-US" dirty="0" err="1">
                <a:solidFill>
                  <a:schemeClr val="bg1"/>
                </a:solidFill>
              </a:rPr>
              <a:t>như</a:t>
            </a:r>
            <a:r>
              <a:rPr lang="en-US" dirty="0">
                <a:solidFill>
                  <a:schemeClr val="bg1"/>
                </a:solidFill>
              </a:rPr>
              <a:t> [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test] ở slide </a:t>
            </a:r>
            <a:r>
              <a:rPr lang="en-US" dirty="0" err="1">
                <a:solidFill>
                  <a:schemeClr val="bg1"/>
                </a:solidFill>
              </a:rPr>
              <a:t>trước</a:t>
            </a:r>
            <a:endParaRPr lang="en-US" dirty="0">
              <a:solidFill>
                <a:schemeClr val="bg1"/>
              </a:solidFill>
            </a:endParaRPr>
          </a:p>
          <a:p>
            <a:pPr lvl="2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test cases: </a:t>
            </a:r>
          </a:p>
          <a:p>
            <a:pPr lvl="3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Xác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định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phạm</a:t>
            </a:r>
            <a:r>
              <a:rPr lang="en-US" dirty="0">
                <a:solidFill>
                  <a:schemeClr val="bg1"/>
                </a:solidFill>
              </a:rPr>
              <a:t> vi </a:t>
            </a:r>
            <a:r>
              <a:rPr lang="en-US" dirty="0" err="1">
                <a:solidFill>
                  <a:schemeClr val="bg1"/>
                </a:solidFill>
              </a:rPr>
              <a:t>cần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confirm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leader </a:t>
            </a:r>
          </a:p>
          <a:p>
            <a:pPr lvl="3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theo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phạm</a:t>
            </a:r>
            <a:r>
              <a:rPr lang="en-US" dirty="0">
                <a:solidFill>
                  <a:schemeClr val="bg1"/>
                </a:solidFill>
              </a:rPr>
              <a:t> vi 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confirm</a:t>
            </a:r>
          </a:p>
          <a:p>
            <a:pPr lvl="2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Chuyển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trạng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thái</a:t>
            </a:r>
            <a:r>
              <a:rPr lang="en-US" dirty="0">
                <a:solidFill>
                  <a:schemeClr val="bg1"/>
                </a:solidFill>
              </a:rPr>
              <a:t> bug </a:t>
            </a:r>
          </a:p>
          <a:p>
            <a:pPr lvl="3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Trường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xác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nhận</a:t>
            </a:r>
            <a:r>
              <a:rPr lang="en-US" dirty="0">
                <a:solidFill>
                  <a:schemeClr val="bg1"/>
                </a:solidFill>
              </a:rPr>
              <a:t> mà bug đã được fix thì </a:t>
            </a:r>
            <a:r>
              <a:rPr lang="en-US" dirty="0" err="1">
                <a:solidFill>
                  <a:schemeClr val="bg1"/>
                </a:solidFill>
              </a:rPr>
              <a:t>chuyển</a:t>
            </a:r>
            <a:r>
              <a:rPr lang="en-US" dirty="0">
                <a:solidFill>
                  <a:schemeClr val="bg1"/>
                </a:solidFill>
              </a:rPr>
              <a:t> [test status] thành OK và reply version, </a:t>
            </a:r>
            <a:r>
              <a:rPr lang="en-US" dirty="0" err="1">
                <a:solidFill>
                  <a:schemeClr val="bg1"/>
                </a:solidFill>
              </a:rPr>
              <a:t>đổi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trạng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cột</a:t>
            </a:r>
            <a:r>
              <a:rPr lang="en-US" dirty="0">
                <a:solidFill>
                  <a:schemeClr val="bg1"/>
                </a:solidFill>
              </a:rPr>
              <a:t> [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</a:t>
            </a:r>
            <a:r>
              <a:rPr lang="en-US" dirty="0">
                <a:solidFill>
                  <a:schemeClr val="bg1"/>
                </a:solidFill>
              </a:rPr>
              <a:t>] của test case.</a:t>
            </a:r>
          </a:p>
          <a:p>
            <a:pPr lvl="3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xác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nhận</a:t>
            </a:r>
            <a:r>
              <a:rPr lang="en-US" dirty="0">
                <a:solidFill>
                  <a:schemeClr val="bg1"/>
                </a:solidFill>
              </a:rPr>
              <a:t> mà bug vẫn còn thì </a:t>
            </a:r>
            <a:r>
              <a:rPr lang="en-US" dirty="0" err="1">
                <a:solidFill>
                  <a:schemeClr val="bg1"/>
                </a:solidFill>
              </a:rPr>
              <a:t>chuyển</a:t>
            </a:r>
            <a:r>
              <a:rPr lang="en-US" dirty="0">
                <a:solidFill>
                  <a:schemeClr val="bg1"/>
                </a:solidFill>
              </a:rPr>
              <a:t> [test status] thành Not Pass và reply version, </a:t>
            </a:r>
            <a:r>
              <a:rPr lang="en-US" dirty="0" err="1">
                <a:solidFill>
                  <a:schemeClr val="bg1"/>
                </a:solidFill>
              </a:rPr>
              <a:t>nội</a:t>
            </a:r>
            <a:r>
              <a:rPr lang="en-US" dirty="0">
                <a:solidFill>
                  <a:schemeClr val="bg1"/>
                </a:solidFill>
              </a:rPr>
              <a:t> dung not pass.</a:t>
            </a:r>
          </a:p>
          <a:p>
            <a:pPr lvl="3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hợp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trạng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thái</a:t>
            </a:r>
            <a:r>
              <a:rPr lang="en-US" dirty="0">
                <a:solidFill>
                  <a:schemeClr val="bg1"/>
                </a:solidFill>
              </a:rPr>
              <a:t> fix bug </a:t>
            </a:r>
            <a:r>
              <a:rPr lang="en-US" dirty="0" err="1">
                <a:solidFill>
                  <a:schemeClr val="bg1"/>
                </a:solidFill>
              </a:rPr>
              <a:t>là</a:t>
            </a:r>
            <a:r>
              <a:rPr lang="en-US" dirty="0">
                <a:solidFill>
                  <a:schemeClr val="bg1"/>
                </a:solidFill>
              </a:rPr>
              <a:t> [Ignore] </a:t>
            </a:r>
            <a:r>
              <a:rPr lang="en-US" dirty="0" err="1">
                <a:solidFill>
                  <a:schemeClr val="bg1"/>
                </a:solidFill>
              </a:rPr>
              <a:t>cần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báo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2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Trong </a:t>
            </a:r>
            <a:r>
              <a:rPr lang="en-US" dirty="0" err="1">
                <a:solidFill>
                  <a:schemeClr val="bg1"/>
                </a:solidFill>
              </a:rPr>
              <a:t>quá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trình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phát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sinh</a:t>
            </a:r>
            <a:r>
              <a:rPr lang="en-US" dirty="0">
                <a:solidFill>
                  <a:schemeClr val="bg1"/>
                </a:solidFill>
              </a:rPr>
              <a:t> bug </a:t>
            </a:r>
            <a:r>
              <a:rPr lang="en-US" dirty="0" err="1">
                <a:solidFill>
                  <a:schemeClr val="bg1"/>
                </a:solidFill>
              </a:rPr>
              <a:t>mới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thì</a:t>
            </a:r>
            <a:r>
              <a:rPr lang="en-US" dirty="0">
                <a:solidFill>
                  <a:schemeClr val="bg1"/>
                </a:solidFill>
              </a:rPr>
              <a:t> add </a:t>
            </a:r>
            <a:r>
              <a:rPr lang="en-US" dirty="0" err="1">
                <a:solidFill>
                  <a:schemeClr val="bg1"/>
                </a:solidFill>
              </a:rPr>
              <a:t>lên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hệ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thống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lý</a:t>
            </a:r>
            <a:r>
              <a:rPr lang="en-US" dirty="0">
                <a:solidFill>
                  <a:schemeClr val="bg1"/>
                </a:solidFill>
              </a:rPr>
              <a:t> bug</a:t>
            </a:r>
          </a:p>
          <a:p>
            <a:pPr lvl="2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Lưu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chứng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nếu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yêu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cầu</a:t>
            </a:r>
            <a:endParaRPr lang="en-US" dirty="0">
              <a:solidFill>
                <a:schemeClr val="bg1"/>
              </a:solidFill>
            </a:endParaRPr>
          </a:p>
          <a:p>
            <a:pPr marL="877824" lvl="2" indent="0">
              <a:spcAft>
                <a:spcPts val="400"/>
              </a:spcAft>
              <a:buNone/>
            </a:pPr>
            <a:endParaRPr lang="vi-V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18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99306"/>
          </a:xfrm>
        </p:spPr>
        <p:txBody>
          <a:bodyPr/>
          <a:lstStyle/>
          <a:p>
            <a:r>
              <a:rPr lang="en-US" dirty="0"/>
              <a:t>III. </a:t>
            </a:r>
            <a:r>
              <a:rPr lang="vi-VN" dirty="0"/>
              <a:t>BẰNG CHỨNG</a:t>
            </a:r>
            <a:r>
              <a:rPr lang="en-US" dirty="0"/>
              <a:t> TEST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762000"/>
            <a:ext cx="8305800" cy="5715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900" b="1" dirty="0" err="1">
                <a:solidFill>
                  <a:schemeClr val="bg1"/>
                </a:solidFill>
              </a:rPr>
              <a:t>Bằng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chứng</a:t>
            </a:r>
            <a:r>
              <a:rPr lang="en-US" sz="1900" b="1" dirty="0">
                <a:solidFill>
                  <a:schemeClr val="bg1"/>
                </a:solidFill>
              </a:rPr>
              <a:t> test </a:t>
            </a:r>
            <a:r>
              <a:rPr lang="en-US" sz="1900" dirty="0">
                <a:solidFill>
                  <a:schemeClr val="bg1"/>
                </a:solidFill>
              </a:rPr>
              <a:t>(Test Evidence)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chemeClr val="bg1"/>
                </a:solidFill>
              </a:rPr>
              <a:t>Là tất cả </a:t>
            </a:r>
            <a:r>
              <a:rPr lang="en-US" sz="1900" dirty="0" err="1">
                <a:solidFill>
                  <a:schemeClr val="bg1"/>
                </a:solidFill>
              </a:rPr>
              <a:t>thông</a:t>
            </a:r>
            <a:r>
              <a:rPr lang="en-US" sz="1900" dirty="0">
                <a:solidFill>
                  <a:schemeClr val="bg1"/>
                </a:solidFill>
              </a:rPr>
              <a:t> tin, </a:t>
            </a:r>
            <a:r>
              <a:rPr lang="en-US" sz="1900" dirty="0" err="1">
                <a:solidFill>
                  <a:schemeClr val="bg1"/>
                </a:solidFill>
              </a:rPr>
              <a:t>dữ</a:t>
            </a:r>
            <a:r>
              <a:rPr lang="en-US" sz="1900" dirty="0">
                <a:solidFill>
                  <a:schemeClr val="bg1"/>
                </a:solidFill>
              </a:rPr>
              <a:t> liệu dùng để làm </a:t>
            </a:r>
            <a:r>
              <a:rPr lang="en-US" sz="1900" dirty="0" err="1">
                <a:solidFill>
                  <a:schemeClr val="bg1"/>
                </a:solidFill>
              </a:rPr>
              <a:t>dẫn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chứng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xác</a:t>
            </a:r>
            <a:r>
              <a:rPr lang="en-US" sz="1900" dirty="0">
                <a:solidFill>
                  <a:schemeClr val="bg1"/>
                </a:solidFill>
              </a:rPr>
              <a:t> minh việc bạn đã test.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chemeClr val="bg1"/>
                </a:solidFill>
              </a:rPr>
              <a:t>Ở </a:t>
            </a:r>
            <a:r>
              <a:rPr lang="en-US" sz="1900" dirty="0" err="1">
                <a:solidFill>
                  <a:schemeClr val="bg1"/>
                </a:solidFill>
              </a:rPr>
              <a:t>Luvina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thông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thường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bằng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chứng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là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ảnh</a:t>
            </a:r>
            <a:r>
              <a:rPr lang="en-US" sz="1900" dirty="0">
                <a:solidFill>
                  <a:schemeClr val="bg1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900" b="1" dirty="0" err="1">
                <a:solidFill>
                  <a:schemeClr val="bg1"/>
                </a:solidFill>
              </a:rPr>
              <a:t>Cách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ghi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lại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bằng</a:t>
            </a:r>
            <a:r>
              <a:rPr lang="en-US" sz="1900" b="1" dirty="0">
                <a:solidFill>
                  <a:schemeClr val="bg1"/>
                </a:solidFill>
              </a:rPr>
              <a:t> </a:t>
            </a:r>
            <a:r>
              <a:rPr lang="en-US" sz="1900" b="1" dirty="0" err="1">
                <a:solidFill>
                  <a:schemeClr val="bg1"/>
                </a:solidFill>
              </a:rPr>
              <a:t>chứng</a:t>
            </a:r>
            <a:r>
              <a:rPr lang="en-US" sz="1900" b="1" dirty="0">
                <a:solidFill>
                  <a:schemeClr val="bg1"/>
                </a:solidFill>
              </a:rPr>
              <a:t> test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900" dirty="0" err="1">
                <a:solidFill>
                  <a:schemeClr val="bg1"/>
                </a:solidFill>
              </a:rPr>
              <a:t>Ghi</a:t>
            </a:r>
            <a:r>
              <a:rPr lang="en-US" sz="1900" dirty="0">
                <a:solidFill>
                  <a:schemeClr val="bg1"/>
                </a:solidFill>
              </a:rPr>
              <a:t> lại : </a:t>
            </a:r>
          </a:p>
          <a:p>
            <a:pPr marL="1163574" lvl="2" indent="-342900">
              <a:buFont typeface="Wingdings" panose="05000000000000000000" pitchFamily="2" charset="2"/>
              <a:buChar char="ü"/>
            </a:pPr>
            <a:r>
              <a:rPr lang="en-US" sz="1900" dirty="0" err="1">
                <a:solidFill>
                  <a:schemeClr val="bg1"/>
                </a:solidFill>
              </a:rPr>
              <a:t>Tất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cả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các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bước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bạn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thực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hiện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trong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cột</a:t>
            </a:r>
            <a:r>
              <a:rPr lang="en-US" sz="1900" dirty="0">
                <a:solidFill>
                  <a:schemeClr val="bg1"/>
                </a:solidFill>
              </a:rPr>
              <a:t> [</a:t>
            </a:r>
            <a:r>
              <a:rPr lang="en-US" sz="1900" dirty="0" err="1">
                <a:solidFill>
                  <a:schemeClr val="bg1"/>
                </a:solidFill>
              </a:rPr>
              <a:t>Đầu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vào</a:t>
            </a:r>
            <a:r>
              <a:rPr lang="en-US" sz="1900" dirty="0">
                <a:solidFill>
                  <a:schemeClr val="bg1"/>
                </a:solidFill>
              </a:rPr>
              <a:t>]</a:t>
            </a:r>
          </a:p>
          <a:p>
            <a:pPr marL="1163574" lvl="2" indent="-342900">
              <a:buFont typeface="Wingdings" panose="05000000000000000000" pitchFamily="2" charset="2"/>
              <a:buChar char="ü"/>
            </a:pP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Tất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cả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các</a:t>
            </a:r>
            <a:r>
              <a:rPr lang="en-US" sz="1900" dirty="0">
                <a:solidFill>
                  <a:schemeClr val="bg1"/>
                </a:solidFill>
              </a:rPr>
              <a:t> data </a:t>
            </a:r>
            <a:r>
              <a:rPr lang="en-US" sz="1900" dirty="0" err="1">
                <a:solidFill>
                  <a:schemeClr val="bg1"/>
                </a:solidFill>
              </a:rPr>
              <a:t>trong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cột</a:t>
            </a:r>
            <a:r>
              <a:rPr lang="en-US" sz="1900" dirty="0">
                <a:solidFill>
                  <a:schemeClr val="bg1"/>
                </a:solidFill>
              </a:rPr>
              <a:t> [Data Test]</a:t>
            </a:r>
          </a:p>
          <a:p>
            <a:pPr marL="1163574" lvl="2" indent="-342900">
              <a:buFont typeface="Wingdings" panose="05000000000000000000" pitchFamily="2" charset="2"/>
              <a:buChar char="ü"/>
            </a:pPr>
            <a:r>
              <a:rPr lang="en-US" sz="1900" dirty="0">
                <a:solidFill>
                  <a:schemeClr val="bg1"/>
                </a:solidFill>
              </a:rPr>
              <a:t>Tất cả các </a:t>
            </a:r>
            <a:r>
              <a:rPr lang="en-US" sz="1900" dirty="0" err="1">
                <a:solidFill>
                  <a:schemeClr val="bg1"/>
                </a:solidFill>
              </a:rPr>
              <a:t>mong</a:t>
            </a:r>
            <a:r>
              <a:rPr lang="en-US" sz="1900" dirty="0">
                <a:solidFill>
                  <a:schemeClr val="bg1"/>
                </a:solidFill>
              </a:rPr>
              <a:t> muốn của [</a:t>
            </a:r>
            <a:r>
              <a:rPr lang="en-US" sz="1900" dirty="0" err="1">
                <a:solidFill>
                  <a:schemeClr val="bg1"/>
                </a:solidFill>
              </a:rPr>
              <a:t>Kết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quả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mong</a:t>
            </a:r>
            <a:r>
              <a:rPr lang="en-US" sz="1900" dirty="0">
                <a:solidFill>
                  <a:schemeClr val="bg1"/>
                </a:solidFill>
              </a:rPr>
              <a:t> muốn]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900" dirty="0" err="1">
                <a:solidFill>
                  <a:schemeClr val="bg1"/>
                </a:solidFill>
              </a:rPr>
              <a:t>Khoanh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lại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những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vùng</a:t>
            </a:r>
            <a:r>
              <a:rPr lang="en-US" sz="1900" dirty="0">
                <a:solidFill>
                  <a:schemeClr val="bg1"/>
                </a:solidFill>
              </a:rPr>
              <a:t> </a:t>
            </a:r>
            <a:r>
              <a:rPr lang="en-US" sz="1900" dirty="0" err="1">
                <a:solidFill>
                  <a:schemeClr val="bg1"/>
                </a:solidFill>
              </a:rPr>
              <a:t>cần</a:t>
            </a:r>
            <a:r>
              <a:rPr lang="en-US" sz="1900" dirty="0">
                <a:solidFill>
                  <a:schemeClr val="bg1"/>
                </a:solidFill>
              </a:rPr>
              <a:t> focus</a:t>
            </a:r>
          </a:p>
        </p:txBody>
      </p:sp>
    </p:spTree>
    <p:extLst>
      <p:ext uri="{BB962C8B-B14F-4D97-AF65-F5344CB8AC3E}">
        <p14:creationId xmlns:p14="http://schemas.microsoft.com/office/powerpoint/2010/main" val="641203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8915400" cy="799306"/>
          </a:xfrm>
        </p:spPr>
        <p:txBody>
          <a:bodyPr/>
          <a:lstStyle/>
          <a:p>
            <a:r>
              <a:rPr lang="en-US" dirty="0"/>
              <a:t>III. </a:t>
            </a:r>
            <a:r>
              <a:rPr lang="vi-VN" dirty="0"/>
              <a:t>BẰNG CHỨNG</a:t>
            </a:r>
            <a:r>
              <a:rPr lang="en-US" dirty="0"/>
              <a:t> TEST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762000"/>
            <a:ext cx="8305800" cy="60198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/>
                </a:solidFill>
              </a:rPr>
              <a:t>Quan </a:t>
            </a:r>
            <a:r>
              <a:rPr lang="en-US" sz="1800" b="1" dirty="0" err="1">
                <a:solidFill>
                  <a:schemeClr val="bg1"/>
                </a:solidFill>
              </a:rPr>
              <a:t>điểm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chụp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bằng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chứng</a:t>
            </a:r>
            <a:endParaRPr lang="en-US" sz="1800" b="1" dirty="0">
              <a:solidFill>
                <a:schemeClr val="bg1"/>
              </a:solidFill>
            </a:endParaRP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Phải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chứng</a:t>
            </a:r>
            <a:r>
              <a:rPr lang="en-US" dirty="0">
                <a:solidFill>
                  <a:schemeClr val="bg1"/>
                </a:solidFill>
              </a:rPr>
              <a:t> minh </a:t>
            </a:r>
            <a:r>
              <a:rPr lang="en-US" dirty="0" err="1">
                <a:solidFill>
                  <a:schemeClr val="bg1"/>
                </a:solidFill>
              </a:rPr>
              <a:t>được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đầy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đủ</a:t>
            </a:r>
            <a:r>
              <a:rPr lang="en-US" dirty="0">
                <a:solidFill>
                  <a:schemeClr val="bg1"/>
                </a:solidFill>
              </a:rPr>
              <a:t> :</a:t>
            </a:r>
          </a:p>
          <a:p>
            <a:pPr lvl="2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Đầu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vào</a:t>
            </a:r>
            <a:r>
              <a:rPr lang="en-US" dirty="0">
                <a:solidFill>
                  <a:schemeClr val="bg1"/>
                </a:solidFill>
              </a:rPr>
              <a:t>]</a:t>
            </a:r>
          </a:p>
          <a:p>
            <a:pPr lvl="2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[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đợi</a:t>
            </a:r>
            <a:r>
              <a:rPr lang="en-US" dirty="0">
                <a:solidFill>
                  <a:schemeClr val="bg1"/>
                </a:solidFill>
              </a:rPr>
              <a:t>]</a:t>
            </a:r>
          </a:p>
          <a:p>
            <a:pPr lvl="2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[Data Test]</a:t>
            </a:r>
          </a:p>
          <a:p>
            <a:pPr lvl="1">
              <a:spcAft>
                <a:spcPts val="500"/>
              </a:spcAft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nên</a:t>
            </a:r>
            <a:endParaRPr lang="en-US" dirty="0">
              <a:solidFill>
                <a:schemeClr val="bg1"/>
              </a:solidFill>
            </a:endParaRPr>
          </a:p>
          <a:p>
            <a:pPr lvl="2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chứng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đúng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với</a:t>
            </a:r>
            <a:r>
              <a:rPr lang="en-US" dirty="0">
                <a:solidFill>
                  <a:schemeClr val="bg1"/>
                </a:solidFill>
              </a:rPr>
              <a:t> case test</a:t>
            </a:r>
          </a:p>
          <a:p>
            <a:pPr lvl="2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chứng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chứa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tin </a:t>
            </a:r>
            <a:r>
              <a:rPr lang="en-US" dirty="0" err="1">
                <a:solidFill>
                  <a:schemeClr val="bg1"/>
                </a:solidFill>
              </a:rPr>
              <a:t>cá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nhân</a:t>
            </a:r>
            <a:endParaRPr lang="en-US" dirty="0">
              <a:solidFill>
                <a:schemeClr val="bg1"/>
              </a:solidFill>
            </a:endParaRPr>
          </a:p>
          <a:p>
            <a:pPr marL="1161288" lvl="3" indent="0">
              <a:spcAft>
                <a:spcPts val="5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	VD: Skype popup </a:t>
            </a:r>
            <a:r>
              <a:rPr lang="en-US" dirty="0" err="1">
                <a:solidFill>
                  <a:schemeClr val="bg1"/>
                </a:solidFill>
              </a:rPr>
              <a:t>lên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1161288" lvl="3" indent="0">
              <a:spcAft>
                <a:spcPts val="5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	   File Doc, excel… có </a:t>
            </a:r>
            <a:r>
              <a:rPr lang="en-US" dirty="0" err="1">
                <a:solidFill>
                  <a:schemeClr val="bg1"/>
                </a:solidFill>
              </a:rPr>
              <a:t>tên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nhân</a:t>
            </a:r>
            <a:r>
              <a:rPr lang="en-US" dirty="0">
                <a:solidFill>
                  <a:schemeClr val="bg1"/>
                </a:solidFill>
              </a:rPr>
              <a:t> ở </a:t>
            </a:r>
            <a:r>
              <a:rPr lang="en-US" dirty="0" err="1">
                <a:solidFill>
                  <a:schemeClr val="bg1"/>
                </a:solidFill>
              </a:rPr>
              <a:t>góc</a:t>
            </a:r>
            <a:r>
              <a:rPr lang="en-US" dirty="0">
                <a:solidFill>
                  <a:schemeClr val="bg1"/>
                </a:solidFill>
              </a:rPr>
              <a:t> phải </a:t>
            </a:r>
            <a:r>
              <a:rPr lang="en-US" dirty="0" err="1">
                <a:solidFill>
                  <a:schemeClr val="bg1"/>
                </a:solidFill>
              </a:rPr>
              <a:t>màn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hình</a:t>
            </a:r>
            <a:endParaRPr lang="en-US" dirty="0">
              <a:solidFill>
                <a:schemeClr val="bg1"/>
              </a:solidFill>
            </a:endParaRPr>
          </a:p>
          <a:p>
            <a:pPr marL="1161288" lvl="3" indent="0">
              <a:spcAft>
                <a:spcPts val="5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	….	</a:t>
            </a:r>
          </a:p>
          <a:p>
            <a:pPr lvl="2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chứng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khớp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cùng</a:t>
            </a:r>
            <a:r>
              <a:rPr lang="en-US" dirty="0">
                <a:solidFill>
                  <a:schemeClr val="bg1"/>
                </a:solidFill>
              </a:rPr>
              <a:t> case test</a:t>
            </a:r>
          </a:p>
          <a:p>
            <a:pPr marL="1161288" lvl="3" indent="0">
              <a:spcAft>
                <a:spcPts val="5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VD: Login :</a:t>
            </a:r>
          </a:p>
          <a:p>
            <a:pPr marL="1161288" lvl="3" indent="0">
              <a:spcAft>
                <a:spcPts val="5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Ảnh</a:t>
            </a:r>
            <a:r>
              <a:rPr lang="en-US" dirty="0">
                <a:solidFill>
                  <a:schemeClr val="bg1"/>
                </a:solidFill>
              </a:rPr>
              <a:t> 1 : User A </a:t>
            </a:r>
          </a:p>
          <a:p>
            <a:pPr marL="1161288" lvl="3" indent="0">
              <a:spcAft>
                <a:spcPts val="5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en-US" dirty="0" err="1">
                <a:solidFill>
                  <a:schemeClr val="bg1"/>
                </a:solidFill>
              </a:rPr>
              <a:t>Ảnh</a:t>
            </a:r>
            <a:r>
              <a:rPr lang="en-US" dirty="0">
                <a:solidFill>
                  <a:schemeClr val="bg1"/>
                </a:solidFill>
              </a:rPr>
              <a:t> 2 : User B</a:t>
            </a:r>
          </a:p>
        </p:txBody>
      </p:sp>
    </p:spTree>
    <p:extLst>
      <p:ext uri="{BB962C8B-B14F-4D97-AF65-F5344CB8AC3E}">
        <p14:creationId xmlns:p14="http://schemas.microsoft.com/office/powerpoint/2010/main" val="410232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7389" y="28832"/>
            <a:ext cx="8915400" cy="799306"/>
          </a:xfrm>
        </p:spPr>
        <p:txBody>
          <a:bodyPr/>
          <a:lstStyle/>
          <a:p>
            <a:r>
              <a:rPr lang="en-US" dirty="0"/>
              <a:t>IV. </a:t>
            </a:r>
            <a:r>
              <a:rPr lang="en-US" dirty="0">
                <a:solidFill>
                  <a:srgbClr val="D24C17"/>
                </a:solidFill>
              </a:rPr>
              <a:t>LƯU Ý KHI </a:t>
            </a:r>
            <a:r>
              <a:rPr lang="vi-VN" dirty="0">
                <a:solidFill>
                  <a:srgbClr val="D24C17"/>
                </a:solidFill>
              </a:rPr>
              <a:t>ADD BUG</a:t>
            </a:r>
            <a:r>
              <a:rPr lang="en-US" dirty="0">
                <a:solidFill>
                  <a:srgbClr val="D24C17"/>
                </a:solidFill>
              </a:rPr>
              <a:t> &amp; CONFIRM BUG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7912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</a:rPr>
              <a:t>Bug </a:t>
            </a:r>
            <a:r>
              <a:rPr lang="en-US" dirty="0" err="1">
                <a:solidFill>
                  <a:schemeClr val="bg1"/>
                </a:solidFill>
              </a:rPr>
              <a:t>phải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nội</a:t>
            </a:r>
            <a:r>
              <a:rPr lang="en-US" dirty="0">
                <a:solidFill>
                  <a:schemeClr val="bg1"/>
                </a:solidFill>
              </a:rPr>
              <a:t> dung </a:t>
            </a:r>
            <a:r>
              <a:rPr lang="en-US" dirty="0" err="1">
                <a:solidFill>
                  <a:schemeClr val="bg1"/>
                </a:solidFill>
              </a:rPr>
              <a:t>dễ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hiểu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dễ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Tiêu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đề</a:t>
            </a:r>
            <a:r>
              <a:rPr lang="en-US" dirty="0">
                <a:solidFill>
                  <a:schemeClr val="bg1"/>
                </a:solidFill>
              </a:rPr>
              <a:t>(VN): Theo </a:t>
            </a:r>
            <a:r>
              <a:rPr lang="en-US" dirty="0" err="1">
                <a:solidFill>
                  <a:schemeClr val="bg1"/>
                </a:solidFill>
              </a:rPr>
              <a:t>quy</a:t>
            </a:r>
            <a:r>
              <a:rPr lang="en-US" dirty="0">
                <a:solidFill>
                  <a:schemeClr val="bg1"/>
                </a:solidFill>
              </a:rPr>
              <a:t> định của </a:t>
            </a:r>
            <a:r>
              <a:rPr lang="en-US" dirty="0" err="1">
                <a:solidFill>
                  <a:schemeClr val="bg1"/>
                </a:solidFill>
              </a:rPr>
              <a:t>dự</a:t>
            </a:r>
            <a:r>
              <a:rPr lang="en-US" dirty="0">
                <a:solidFill>
                  <a:schemeClr val="bg1"/>
                </a:solidFill>
              </a:rPr>
              <a:t> án.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gồm</a:t>
            </a:r>
            <a:r>
              <a:rPr lang="en-US" dirty="0">
                <a:solidFill>
                  <a:schemeClr val="bg1"/>
                </a:solidFill>
              </a:rPr>
              <a:t> [Ticket] + [</a:t>
            </a:r>
            <a:r>
              <a:rPr lang="en-US" dirty="0" err="1">
                <a:solidFill>
                  <a:schemeClr val="bg1"/>
                </a:solidFill>
              </a:rPr>
              <a:t>Tên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màn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hình</a:t>
            </a:r>
            <a:r>
              <a:rPr lang="en-US" dirty="0">
                <a:solidFill>
                  <a:schemeClr val="bg1"/>
                </a:solidFill>
              </a:rPr>
              <a:t>] + [</a:t>
            </a:r>
            <a:r>
              <a:rPr lang="en-US" dirty="0" err="1">
                <a:solidFill>
                  <a:schemeClr val="bg1"/>
                </a:solidFill>
              </a:rPr>
              <a:t>Nội</a:t>
            </a:r>
            <a:r>
              <a:rPr lang="en-US" dirty="0">
                <a:solidFill>
                  <a:schemeClr val="bg1"/>
                </a:solidFill>
              </a:rPr>
              <a:t> dung </a:t>
            </a:r>
            <a:r>
              <a:rPr lang="en-US" dirty="0" err="1">
                <a:solidFill>
                  <a:schemeClr val="bg1"/>
                </a:solidFill>
              </a:rPr>
              <a:t>tóm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tắt</a:t>
            </a:r>
            <a:r>
              <a:rPr lang="en-US" dirty="0">
                <a:solidFill>
                  <a:schemeClr val="bg1"/>
                </a:solidFill>
              </a:rPr>
              <a:t> bug].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Nội</a:t>
            </a:r>
            <a:r>
              <a:rPr lang="en-US" dirty="0">
                <a:solidFill>
                  <a:schemeClr val="bg1"/>
                </a:solidFill>
              </a:rPr>
              <a:t> dung bug(VN): </a:t>
            </a:r>
            <a:r>
              <a:rPr lang="en-US" dirty="0" err="1">
                <a:solidFill>
                  <a:schemeClr val="bg1"/>
                </a:solidFill>
              </a:rPr>
              <a:t>Mô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kỹ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từng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bước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hiện bug 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r>
              <a:rPr lang="en-US" dirty="0">
                <a:solidFill>
                  <a:schemeClr val="bg1"/>
                </a:solidFill>
              </a:rPr>
              <a:t> bao </a:t>
            </a:r>
            <a:r>
              <a:rPr lang="en-US" dirty="0" err="1">
                <a:solidFill>
                  <a:schemeClr val="bg1"/>
                </a:solidFill>
              </a:rPr>
              <a:t>gồm</a:t>
            </a:r>
            <a:endParaRPr lang="en-US" dirty="0">
              <a:solidFill>
                <a:schemeClr val="bg1"/>
              </a:solidFill>
            </a:endParaRP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Mô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bug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Các </a:t>
            </a:r>
            <a:r>
              <a:rPr lang="en-US" dirty="0" err="1">
                <a:solidFill>
                  <a:schemeClr val="bg1"/>
                </a:solidFill>
              </a:rPr>
              <a:t>điều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kiện</a:t>
            </a:r>
            <a:r>
              <a:rPr lang="en-US" dirty="0">
                <a:solidFill>
                  <a:schemeClr val="bg1"/>
                </a:solidFill>
              </a:rPr>
              <a:t> data (nếu cần)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Chi tiết các </a:t>
            </a:r>
            <a:r>
              <a:rPr lang="en-US" dirty="0" err="1">
                <a:solidFill>
                  <a:schemeClr val="bg1"/>
                </a:solidFill>
              </a:rPr>
              <a:t>bước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thực</a:t>
            </a:r>
            <a:r>
              <a:rPr lang="en-US" dirty="0">
                <a:solidFill>
                  <a:schemeClr val="bg1"/>
                </a:solidFill>
              </a:rPr>
              <a:t> hiện (</a:t>
            </a:r>
            <a:r>
              <a:rPr lang="en-US" dirty="0" err="1">
                <a:solidFill>
                  <a:schemeClr val="bg1"/>
                </a:solidFill>
              </a:rPr>
              <a:t>Lấy</a:t>
            </a:r>
            <a:r>
              <a:rPr lang="en-US" dirty="0">
                <a:solidFill>
                  <a:schemeClr val="bg1"/>
                </a:solidFill>
              </a:rPr>
              <a:t> từ case test nếu có)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Hiện </a:t>
            </a:r>
            <a:r>
              <a:rPr lang="en-US" dirty="0" err="1">
                <a:solidFill>
                  <a:schemeClr val="bg1"/>
                </a:solidFill>
              </a:rPr>
              <a:t>trạng</a:t>
            </a:r>
            <a:r>
              <a:rPr lang="en-US" dirty="0">
                <a:solidFill>
                  <a:schemeClr val="bg1"/>
                </a:solidFill>
              </a:rPr>
              <a:t>: Các hiện </a:t>
            </a:r>
            <a:r>
              <a:rPr lang="en-US" dirty="0" err="1">
                <a:solidFill>
                  <a:schemeClr val="bg1"/>
                </a:solidFill>
              </a:rPr>
              <a:t>trạng</a:t>
            </a:r>
            <a:r>
              <a:rPr lang="en-US" dirty="0">
                <a:solidFill>
                  <a:schemeClr val="bg1"/>
                </a:solidFill>
              </a:rPr>
              <a:t> của </a:t>
            </a:r>
            <a:r>
              <a:rPr lang="en-US" dirty="0" err="1">
                <a:solidFill>
                  <a:schemeClr val="bg1"/>
                </a:solidFill>
              </a:rPr>
              <a:t>lỗi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sai</a:t>
            </a:r>
            <a:r>
              <a:rPr lang="en-US" dirty="0">
                <a:solidFill>
                  <a:schemeClr val="bg1"/>
                </a:solidFill>
              </a:rPr>
              <a:t> req </a:t>
            </a:r>
            <a:r>
              <a:rPr lang="en-US" dirty="0" err="1">
                <a:solidFill>
                  <a:schemeClr val="bg1"/>
                </a:solidFill>
              </a:rPr>
              <a:t>sai</a:t>
            </a:r>
            <a:r>
              <a:rPr lang="en-US" dirty="0">
                <a:solidFill>
                  <a:schemeClr val="bg1"/>
                </a:solidFill>
              </a:rPr>
              <a:t> logic, </a:t>
            </a:r>
            <a:r>
              <a:rPr lang="en-US" dirty="0" err="1">
                <a:solidFill>
                  <a:schemeClr val="bg1"/>
                </a:solidFill>
              </a:rPr>
              <a:t>thiếu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thừa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 err="1">
                <a:solidFill>
                  <a:schemeClr val="bg1"/>
                </a:solidFill>
              </a:rPr>
              <a:t>Mô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tập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trung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lỗi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lan</a:t>
            </a:r>
            <a:r>
              <a:rPr lang="en-US" dirty="0">
                <a:solidFill>
                  <a:schemeClr val="bg1"/>
                </a:solidFill>
              </a:rPr>
              <a:t> man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mong</a:t>
            </a:r>
            <a:r>
              <a:rPr lang="en-US" dirty="0">
                <a:solidFill>
                  <a:schemeClr val="bg1"/>
                </a:solidFill>
              </a:rPr>
              <a:t> muốn: </a:t>
            </a:r>
            <a:r>
              <a:rPr lang="en-US" dirty="0" err="1">
                <a:solidFill>
                  <a:schemeClr val="bg1"/>
                </a:solidFill>
              </a:rPr>
              <a:t>Mô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mong</a:t>
            </a:r>
            <a:r>
              <a:rPr lang="en-US" dirty="0">
                <a:solidFill>
                  <a:schemeClr val="bg1"/>
                </a:solidFill>
              </a:rPr>
              <a:t> muốn </a:t>
            </a:r>
            <a:r>
              <a:rPr lang="en-US" dirty="0" err="1">
                <a:solidFill>
                  <a:schemeClr val="bg1"/>
                </a:solidFill>
              </a:rPr>
              <a:t>một</a:t>
            </a:r>
            <a:r>
              <a:rPr lang="en-US" dirty="0">
                <a:solidFill>
                  <a:schemeClr val="bg1"/>
                </a:solidFill>
              </a:rPr>
              <a:t> cách </a:t>
            </a:r>
            <a:r>
              <a:rPr lang="en-US" dirty="0" err="1">
                <a:solidFill>
                  <a:schemeClr val="bg1"/>
                </a:solidFill>
              </a:rPr>
              <a:t>rõ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ràng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dễ</a:t>
            </a:r>
            <a:r>
              <a:rPr lang="en-US" dirty="0">
                <a:solidFill>
                  <a:schemeClr val="bg1"/>
                </a:solidFill>
              </a:rPr>
              <a:t> hiểu và có </a:t>
            </a:r>
            <a:r>
              <a:rPr lang="en-US" dirty="0" err="1">
                <a:solidFill>
                  <a:schemeClr val="bg1"/>
                </a:solidFill>
              </a:rPr>
              <a:t>căn</a:t>
            </a:r>
            <a:r>
              <a:rPr lang="en-US" dirty="0">
                <a:solidFill>
                  <a:schemeClr val="bg1"/>
                </a:solidFill>
              </a:rPr>
              <a:t> cứ (</a:t>
            </a:r>
            <a:r>
              <a:rPr lang="en-US" dirty="0" err="1">
                <a:solidFill>
                  <a:schemeClr val="bg1"/>
                </a:solidFill>
              </a:rPr>
              <a:t>Lấy</a:t>
            </a:r>
            <a:r>
              <a:rPr lang="en-US" dirty="0">
                <a:solidFill>
                  <a:schemeClr val="bg1"/>
                </a:solidFill>
              </a:rPr>
              <a:t> từ case test nếu có)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 err="1">
                <a:solidFill>
                  <a:schemeClr val="bg1"/>
                </a:solidFill>
              </a:rPr>
              <a:t>Môi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trường</a:t>
            </a:r>
            <a:r>
              <a:rPr lang="en-US" dirty="0">
                <a:solidFill>
                  <a:schemeClr val="bg1"/>
                </a:solidFill>
              </a:rPr>
              <a:t> test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version </a:t>
            </a:r>
            <a:r>
              <a:rPr lang="en-US" dirty="0" err="1">
                <a:solidFill>
                  <a:schemeClr val="bg1"/>
                </a:solidFill>
              </a:rPr>
              <a:t>phát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sinh</a:t>
            </a:r>
            <a:r>
              <a:rPr lang="en-US" dirty="0">
                <a:solidFill>
                  <a:schemeClr val="bg1"/>
                </a:solidFill>
              </a:rPr>
              <a:t> bug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Upload files: </a:t>
            </a:r>
            <a:r>
              <a:rPr lang="en-US" dirty="0" err="1">
                <a:solidFill>
                  <a:schemeClr val="bg1"/>
                </a:solidFill>
              </a:rPr>
              <a:t>Là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các</a:t>
            </a:r>
            <a:r>
              <a:rPr lang="en-US" dirty="0">
                <a:solidFill>
                  <a:schemeClr val="bg1"/>
                </a:solidFill>
              </a:rPr>
              <a:t> file </a:t>
            </a:r>
            <a:r>
              <a:rPr lang="en-US" dirty="0" err="1">
                <a:solidFill>
                  <a:schemeClr val="bg1"/>
                </a:solidFill>
              </a:rPr>
              <a:t>ghi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hiện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trạng</a:t>
            </a:r>
            <a:r>
              <a:rPr lang="en-US" dirty="0">
                <a:solidFill>
                  <a:schemeClr val="bg1"/>
                </a:solidFill>
              </a:rPr>
              <a:t> bug. </a:t>
            </a:r>
            <a:r>
              <a:rPr lang="en-US" dirty="0" err="1">
                <a:solidFill>
                  <a:schemeClr val="bg1"/>
                </a:solidFill>
              </a:rPr>
              <a:t>Có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khoanh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vùng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lỗi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vi-V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76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" y="419894"/>
            <a:ext cx="8915400" cy="799306"/>
          </a:xfrm>
        </p:spPr>
        <p:txBody>
          <a:bodyPr/>
          <a:lstStyle/>
          <a:p>
            <a:r>
              <a:rPr lang="en-US" dirty="0">
                <a:solidFill>
                  <a:srgbClr val="D24C1C"/>
                </a:solidFill>
              </a:rPr>
              <a:t>IV. LƯU Ý KHI </a:t>
            </a:r>
            <a:r>
              <a:rPr lang="vi-VN" dirty="0">
                <a:solidFill>
                  <a:srgbClr val="D24C1C"/>
                </a:solidFill>
              </a:rPr>
              <a:t>ADD BUG</a:t>
            </a:r>
            <a:r>
              <a:rPr lang="en-US" dirty="0">
                <a:solidFill>
                  <a:srgbClr val="D24C1C"/>
                </a:solidFill>
              </a:rPr>
              <a:t> &amp; CONFIRM BUG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562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 err="1">
                <a:solidFill>
                  <a:schemeClr val="bg1"/>
                </a:solidFill>
              </a:rPr>
              <a:t>Khi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chuyển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trạng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thái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trạng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thái</a:t>
            </a:r>
            <a:r>
              <a:rPr lang="en-US" sz="1800" dirty="0">
                <a:solidFill>
                  <a:schemeClr val="bg1"/>
                </a:solidFill>
              </a:rPr>
              <a:t> test status </a:t>
            </a:r>
            <a:r>
              <a:rPr lang="en-US" sz="1800" dirty="0" err="1">
                <a:solidFill>
                  <a:schemeClr val="bg1"/>
                </a:solidFill>
              </a:rPr>
              <a:t>thì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phải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và</a:t>
            </a:r>
            <a:r>
              <a:rPr lang="en-US" sz="1800" dirty="0">
                <a:solidFill>
                  <a:schemeClr val="bg1"/>
                </a:solidFill>
              </a:rPr>
              <a:t> reply </a:t>
            </a:r>
            <a:r>
              <a:rPr lang="en-US" sz="1800" dirty="0" err="1">
                <a:solidFill>
                  <a:schemeClr val="bg1"/>
                </a:solidFill>
              </a:rPr>
              <a:t>nội</a:t>
            </a:r>
            <a:r>
              <a:rPr lang="en-US" sz="1800" dirty="0">
                <a:solidFill>
                  <a:schemeClr val="bg1"/>
                </a:solidFill>
              </a:rPr>
              <a:t> dung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Lý do (Nếu </a:t>
            </a:r>
            <a:r>
              <a:rPr lang="en-US" sz="1600" dirty="0" err="1">
                <a:solidFill>
                  <a:schemeClr val="bg1"/>
                </a:solidFill>
              </a:rPr>
              <a:t>chuyển</a:t>
            </a:r>
            <a:r>
              <a:rPr lang="en-US" sz="1600" dirty="0">
                <a:solidFill>
                  <a:schemeClr val="bg1"/>
                </a:solidFill>
              </a:rPr>
              <a:t> sang </a:t>
            </a:r>
            <a:r>
              <a:rPr lang="en-US" sz="1600" dirty="0" err="1">
                <a:solidFill>
                  <a:schemeClr val="bg1"/>
                </a:solidFill>
              </a:rPr>
              <a:t>ingone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notpass</a:t>
            </a:r>
            <a:r>
              <a:rPr lang="en-US" sz="1600" dirty="0">
                <a:solidFill>
                  <a:schemeClr val="bg1"/>
                </a:solidFill>
              </a:rPr>
              <a:t>, confirm)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Version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err="1">
                <a:solidFill>
                  <a:schemeClr val="bg1"/>
                </a:solidFill>
              </a:rPr>
              <a:t>Mô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tả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bổ</a:t>
            </a:r>
            <a:r>
              <a:rPr lang="en-US" sz="1600" dirty="0">
                <a:solidFill>
                  <a:schemeClr val="bg1"/>
                </a:solidFill>
              </a:rPr>
              <a:t> sung (</a:t>
            </a:r>
            <a:r>
              <a:rPr lang="en-US" sz="1600" dirty="0" err="1">
                <a:solidFill>
                  <a:schemeClr val="bg1"/>
                </a:solidFill>
              </a:rPr>
              <a:t>Nếu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cần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bg1"/>
                </a:solidFill>
              </a:rPr>
              <a:t>Sau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khi</a:t>
            </a:r>
            <a:r>
              <a:rPr lang="en-US" dirty="0">
                <a:solidFill>
                  <a:schemeClr val="bg1"/>
                </a:solidFill>
              </a:rPr>
              <a:t> Add bug </a:t>
            </a:r>
            <a:r>
              <a:rPr lang="en-US" dirty="0" err="1">
                <a:solidFill>
                  <a:schemeClr val="bg1"/>
                </a:solidFill>
              </a:rPr>
              <a:t>hoặc</a:t>
            </a:r>
            <a:r>
              <a:rPr lang="en-US" dirty="0">
                <a:solidFill>
                  <a:schemeClr val="bg1"/>
                </a:solidFill>
              </a:rPr>
              <a:t> confirm bug </a:t>
            </a:r>
            <a:r>
              <a:rPr lang="en-US" dirty="0" err="1">
                <a:solidFill>
                  <a:schemeClr val="bg1"/>
                </a:solidFill>
              </a:rPr>
              <a:t>thì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phải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báo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cho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quan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dirty="0" err="1">
                <a:solidFill>
                  <a:schemeClr val="bg1"/>
                </a:solidFill>
              </a:rPr>
              <a:t>Đánh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giá</a:t>
            </a:r>
            <a:r>
              <a:rPr lang="en-US" dirty="0">
                <a:solidFill>
                  <a:schemeClr val="bg1"/>
                </a:solidFill>
              </a:rPr>
              <a:t> đúng </a:t>
            </a:r>
            <a:r>
              <a:rPr lang="en-US" dirty="0" err="1">
                <a:solidFill>
                  <a:schemeClr val="bg1"/>
                </a:solidFill>
              </a:rPr>
              <a:t>độ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nghiêm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trọng</a:t>
            </a:r>
            <a:r>
              <a:rPr lang="en-US" dirty="0">
                <a:solidFill>
                  <a:schemeClr val="bg1"/>
                </a:solidFill>
              </a:rPr>
              <a:t> của bug</a:t>
            </a:r>
            <a:endParaRPr lang="en-US" dirty="0">
              <a:solidFill>
                <a:srgbClr val="FF0000"/>
              </a:solidFill>
            </a:endParaRPr>
          </a:p>
          <a:p>
            <a:pPr marL="64008" indent="0">
              <a:buNone/>
            </a:pPr>
            <a:endParaRPr lang="vi-VN" sz="1800" dirty="0">
              <a:solidFill>
                <a:srgbClr val="0000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738309"/>
              </p:ext>
            </p:extLst>
          </p:nvPr>
        </p:nvGraphicFramePr>
        <p:xfrm>
          <a:off x="914401" y="3886199"/>
          <a:ext cx="7696199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03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effectLst/>
                        </a:rPr>
                        <a:t>Phân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loại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effectLst/>
                        </a:rPr>
                        <a:t>Tiêu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chuẩn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phân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loại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 err="1">
                          <a:effectLst/>
                        </a:rPr>
                        <a:t>Nội</a:t>
                      </a:r>
                      <a:r>
                        <a:rPr lang="en-US" sz="1000" b="1" u="none" strike="noStrike" dirty="0">
                          <a:effectLst/>
                        </a:rPr>
                        <a:t> dung </a:t>
                      </a:r>
                      <a:r>
                        <a:rPr lang="en-US" sz="1000" b="1" u="none" strike="noStrike" dirty="0" err="1">
                          <a:effectLst/>
                        </a:rPr>
                        <a:t>và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ví</a:t>
                      </a:r>
                      <a:r>
                        <a:rPr lang="en-US" sz="1000" b="1" u="none" strike="noStrike" dirty="0">
                          <a:effectLst/>
                        </a:rPr>
                        <a:t> </a:t>
                      </a:r>
                      <a:r>
                        <a:rPr lang="en-US" sz="1000" b="1" u="none" strike="noStrike" dirty="0" err="1">
                          <a:effectLst/>
                        </a:rPr>
                        <a:t>dụ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9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err="1">
                          <a:effectLst/>
                        </a:rPr>
                        <a:t>Hight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000" u="none" strike="noStrike" dirty="0">
                          <a:effectLst/>
                        </a:rPr>
                        <a:t>Bug làm ảnh hưởng tới chức năng, logic chương trình.</a:t>
                      </a:r>
                      <a:br>
                        <a:rPr lang="vi-VN" sz="1000" u="none" strike="noStrike" dirty="0">
                          <a:effectLst/>
                        </a:rPr>
                      </a:br>
                      <a:r>
                        <a:rPr lang="vi-VN" sz="1000" u="none" strike="noStrike" dirty="0">
                          <a:effectLst/>
                        </a:rPr>
                        <a:t>Bug làm chương trình hoạt động sai so với REQ/Thiết kế.</a:t>
                      </a: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000" u="none" strike="noStrike" dirty="0">
                          <a:effectLst/>
                        </a:rPr>
                        <a:t>+ Xử lý thiếu (Input có nhưng chưa xử lý, thiết kế thiếu nội dung req, code thiếu nội dung thiết kế, ...)</a:t>
                      </a:r>
                      <a:br>
                        <a:rPr lang="vi-VN" sz="1000" u="none" strike="noStrike" dirty="0">
                          <a:effectLst/>
                        </a:rPr>
                      </a:br>
                      <a:r>
                        <a:rPr lang="vi-VN" sz="1000" u="none" strike="noStrike" dirty="0">
                          <a:effectLst/>
                        </a:rPr>
                        <a:t>+ Xử lý sai (Output có nhưng sai)</a:t>
                      </a: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9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Medium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000" u="none" strike="noStrike">
                          <a:effectLst/>
                        </a:rPr>
                        <a:t>Bug không làm ảnh hưởng tới chức năng, logic chương trình.</a:t>
                      </a:r>
                      <a:br>
                        <a:rPr lang="vi-VN" sz="1000" u="none" strike="noStrike">
                          <a:effectLst/>
                        </a:rPr>
                      </a:br>
                      <a:r>
                        <a:rPr lang="vi-VN" sz="1000" u="none" strike="noStrike">
                          <a:effectLst/>
                        </a:rPr>
                        <a:t>Bug không làm chương trình hoạt động sai so với REQ/Thiết kế.</a:t>
                      </a:r>
                      <a:endParaRPr lang="vi-V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000" u="none" strike="noStrike" dirty="0">
                          <a:effectLst/>
                        </a:rPr>
                        <a:t>+ Vi phạm rule/checklist/quan điểm của dự án.</a:t>
                      </a:r>
                      <a:br>
                        <a:rPr lang="vi-VN" sz="1000" u="none" strike="noStrike" dirty="0">
                          <a:effectLst/>
                        </a:rPr>
                      </a:br>
                      <a:r>
                        <a:rPr lang="vi-VN" sz="1000" u="none" strike="noStrike" dirty="0">
                          <a:effectLst/>
                        </a:rPr>
                        <a:t>+ Xử lý không tối ưu (vd: Nội dung viết thừa/khó hiểu, Code làm chậm chương trình, ..)</a:t>
                      </a: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7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effectLst/>
                        </a:rPr>
                        <a:t>Low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000" u="none" strike="noStrike">
                          <a:effectLst/>
                        </a:rPr>
                        <a:t>Các nội dung nếu sửa sẽ làm cho sản phẩm tốt hơn (ví dụ: tính dễ đọc/hiểu, tính dễ dùng, …)</a:t>
                      </a:r>
                      <a:endParaRPr lang="vi-VN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Tên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sai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chính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tả</a:t>
                      </a:r>
                      <a:r>
                        <a:rPr lang="en-US" sz="1000" u="none" strike="noStrike" dirty="0">
                          <a:effectLst/>
                        </a:rPr>
                        <a:t>, format/</a:t>
                      </a:r>
                      <a:r>
                        <a:rPr lang="en-US" sz="1000" u="none" strike="noStrike" dirty="0" err="1">
                          <a:effectLst/>
                        </a:rPr>
                        <a:t>trình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bày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không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thống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nhất</a:t>
                      </a:r>
                      <a:r>
                        <a:rPr lang="en-US" sz="1000" u="none" strike="noStrike" dirty="0">
                          <a:effectLst/>
                        </a:rPr>
                        <a:t>, …</a:t>
                      </a:r>
                      <a:br>
                        <a:rPr lang="en-US" sz="1000" u="none" strike="noStrike" dirty="0">
                          <a:effectLst/>
                        </a:rPr>
                      </a:br>
                      <a:r>
                        <a:rPr lang="en-US" sz="1000" u="none" strike="noStrike" dirty="0">
                          <a:effectLst/>
                        </a:rPr>
                        <a:t>=&gt; </a:t>
                      </a:r>
                      <a:r>
                        <a:rPr lang="en-US" sz="1000" u="none" strike="noStrike" dirty="0" err="1">
                          <a:effectLst/>
                        </a:rPr>
                        <a:t>Sửa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thì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tốt</a:t>
                      </a:r>
                      <a:r>
                        <a:rPr lang="en-US" sz="1000" u="none" strike="noStrike" dirty="0">
                          <a:effectLst/>
                        </a:rPr>
                        <a:t>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077" marR="9077" marT="907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51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315200" cy="799306"/>
          </a:xfrm>
        </p:spPr>
        <p:txBody>
          <a:bodyPr/>
          <a:lstStyle/>
          <a:p>
            <a:r>
              <a:rPr lang="en-US"/>
              <a:t>V.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727" y="1371600"/>
            <a:ext cx="8229600" cy="4572000"/>
          </a:xfrm>
        </p:spPr>
        <p:txBody>
          <a:bodyPr>
            <a:normAutofit/>
          </a:bodyPr>
          <a:lstStyle/>
          <a:p>
            <a:pPr marL="521208" indent="-457200">
              <a:buFont typeface="+mj-lt"/>
              <a:buAutoNum type="arabicPeriod"/>
            </a:pP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test data </a:t>
            </a:r>
            <a:r>
              <a:rPr lang="en-US" b="1" dirty="0" err="1"/>
              <a:t>vô</a:t>
            </a:r>
            <a:r>
              <a:rPr lang="en-US" b="1" dirty="0"/>
              <a:t> </a:t>
            </a:r>
            <a:r>
              <a:rPr lang="en-US" b="1" dirty="0" err="1"/>
              <a:t>nghĩa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giống</a:t>
            </a:r>
            <a:r>
              <a:rPr lang="en-US" b="1" dirty="0"/>
              <a:t> </a:t>
            </a:r>
            <a:r>
              <a:rPr lang="en-US" b="1" dirty="0" err="1"/>
              <a:t>nhau</a:t>
            </a:r>
            <a:r>
              <a:rPr lang="en-US" b="1" dirty="0"/>
              <a:t> </a:t>
            </a:r>
            <a:r>
              <a:rPr lang="en-US" b="1" dirty="0" err="1"/>
              <a:t>cho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trường</a:t>
            </a:r>
            <a:r>
              <a:rPr lang="en-US" b="1" dirty="0"/>
              <a:t>( </a:t>
            </a:r>
            <a:r>
              <a:rPr lang="en-US" b="1" dirty="0" err="1"/>
              <a:t>toàn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0,1,aaa…)</a:t>
            </a:r>
          </a:p>
          <a:p>
            <a:pPr marL="438912" lvl="1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133600"/>
            <a:ext cx="6248400" cy="446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06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315200" cy="799306"/>
          </a:xfrm>
        </p:spPr>
        <p:txBody>
          <a:bodyPr/>
          <a:lstStyle/>
          <a:p>
            <a:r>
              <a:rPr lang="en-US"/>
              <a:t>V.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727" y="1371600"/>
            <a:ext cx="8229600" cy="4572000"/>
          </a:xfrm>
        </p:spPr>
        <p:txBody>
          <a:bodyPr>
            <a:normAutofit/>
          </a:bodyPr>
          <a:lstStyle/>
          <a:p>
            <a:pPr marL="521208" indent="-457200">
              <a:buFont typeface="+mj-lt"/>
              <a:buAutoNum type="arabicPeriod" startAt="2"/>
            </a:pPr>
            <a:r>
              <a:rPr lang="en-US" b="1" dirty="0"/>
              <a:t>Data test Max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ký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dễ</a:t>
            </a:r>
            <a:r>
              <a:rPr lang="en-US" b="1" dirty="0"/>
              <a:t> </a:t>
            </a:r>
            <a:r>
              <a:rPr lang="en-US" b="1" dirty="0" err="1"/>
              <a:t>đếm</a:t>
            </a:r>
            <a:r>
              <a:rPr lang="en-US" b="1" dirty="0"/>
              <a:t> và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chứng</a:t>
            </a:r>
            <a:endParaRPr lang="en-US" b="1" dirty="0"/>
          </a:p>
          <a:p>
            <a:pPr marL="438912" lvl="1" indent="0">
              <a:buNone/>
            </a:pPr>
            <a:r>
              <a:rPr lang="en-US" dirty="0"/>
              <a:t>VD: BBBBBBBBB1BBBBBBBBB2</a:t>
            </a:r>
          </a:p>
          <a:p>
            <a:pPr marL="438912" lvl="1" indent="0">
              <a:buNone/>
            </a:pPr>
            <a:r>
              <a:rPr lang="en-US" dirty="0"/>
              <a:t>    BBBBBBBBBXBBBBBBBBBX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79" y="2819400"/>
            <a:ext cx="7390476" cy="11809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87" y="4343400"/>
            <a:ext cx="7609524" cy="73333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0986" y="3632077"/>
            <a:ext cx="7351413" cy="368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4778468"/>
            <a:ext cx="7573311" cy="326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29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315200" cy="799306"/>
          </a:xfrm>
        </p:spPr>
        <p:txBody>
          <a:bodyPr/>
          <a:lstStyle/>
          <a:p>
            <a:r>
              <a:rPr lang="en-US" dirty="0"/>
              <a:t>V.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727" y="1371600"/>
            <a:ext cx="8229600" cy="4572000"/>
          </a:xfrm>
        </p:spPr>
        <p:txBody>
          <a:bodyPr>
            <a:normAutofit/>
          </a:bodyPr>
          <a:lstStyle/>
          <a:p>
            <a:pPr marL="521208" indent="-457200">
              <a:buFont typeface="+mj-lt"/>
              <a:buAutoNum type="arabicPeriod" startAt="3"/>
            </a:pPr>
            <a:r>
              <a:rPr lang="en-US" b="1" dirty="0"/>
              <a:t>Data test max </a:t>
            </a:r>
            <a:r>
              <a:rPr lang="en-US" b="1" dirty="0" err="1"/>
              <a:t>chưa</a:t>
            </a:r>
            <a:r>
              <a:rPr lang="en-US" b="1" dirty="0"/>
              <a:t> </a:t>
            </a:r>
            <a:r>
              <a:rPr lang="en-US" b="1" dirty="0" err="1"/>
              <a:t>phải</a:t>
            </a:r>
            <a:r>
              <a:rPr lang="en-US" b="1" dirty="0"/>
              <a:t>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ký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</a:t>
            </a:r>
            <a:r>
              <a:rPr lang="en-US" b="1" dirty="0" err="1"/>
              <a:t>lớn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dirty="0"/>
              <a:t>.</a:t>
            </a:r>
          </a:p>
          <a:p>
            <a:pPr marL="64008" lvl="2" indent="0">
              <a:buSzPct val="80000"/>
              <a:buNone/>
            </a:pPr>
            <a:r>
              <a:rPr lang="en-US" dirty="0"/>
              <a:t>=&gt;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test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  <a:p>
            <a:pPr marL="438912" lvl="1" indent="0">
              <a:buNone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19" y="2318189"/>
            <a:ext cx="7085714" cy="1542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19" y="4343400"/>
            <a:ext cx="7104762" cy="236190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145261" y="2438400"/>
            <a:ext cx="533400" cy="14226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145261" y="4327863"/>
            <a:ext cx="533400" cy="23619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53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315200" cy="799306"/>
          </a:xfrm>
        </p:spPr>
        <p:txBody>
          <a:bodyPr/>
          <a:lstStyle/>
          <a:p>
            <a:r>
              <a:rPr lang="en-US" dirty="0"/>
              <a:t>V.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638800"/>
          </a:xfrm>
        </p:spPr>
        <p:txBody>
          <a:bodyPr>
            <a:normAutofit fontScale="85000" lnSpcReduction="20000"/>
          </a:bodyPr>
          <a:lstStyle/>
          <a:p>
            <a:pPr marL="64008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  </a:t>
            </a:r>
            <a:r>
              <a:rPr lang="en-US" b="1" dirty="0" err="1"/>
              <a:t>Bỏ</a:t>
            </a:r>
            <a:r>
              <a:rPr lang="en-US" b="1" dirty="0"/>
              <a:t> </a:t>
            </a:r>
            <a:r>
              <a:rPr lang="en-US" b="1" dirty="0" err="1"/>
              <a:t>sót</a:t>
            </a:r>
            <a:r>
              <a:rPr lang="en-US" b="1" dirty="0"/>
              <a:t> bug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: </a:t>
            </a:r>
            <a:r>
              <a:rPr lang="en-US" b="1" dirty="0" err="1"/>
              <a:t>Giao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sai</a:t>
            </a:r>
            <a:r>
              <a:rPr lang="en-US" b="1" dirty="0"/>
              <a:t> </a:t>
            </a:r>
            <a:r>
              <a:rPr lang="en-US" b="1" dirty="0" err="1"/>
              <a:t>khác</a:t>
            </a:r>
            <a:r>
              <a:rPr lang="en-US" b="1" dirty="0"/>
              <a:t>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nhỏ</a:t>
            </a:r>
            <a:endParaRPr lang="en-US" b="1" dirty="0"/>
          </a:p>
          <a:p>
            <a:pPr marL="1008126" lvl="2">
              <a:buFont typeface="Wingdings" panose="05000000000000000000" pitchFamily="2" charset="2"/>
              <a:buChar char="ü"/>
            </a:pP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kẻ</a:t>
            </a:r>
            <a:r>
              <a:rPr lang="en-US" dirty="0"/>
              <a:t> </a:t>
            </a:r>
            <a:r>
              <a:rPr lang="en-US" dirty="0" err="1"/>
              <a:t>đậm</a:t>
            </a:r>
            <a:r>
              <a:rPr lang="en-US" dirty="0"/>
              <a:t> </a:t>
            </a:r>
            <a:r>
              <a:rPr lang="en-US" dirty="0" err="1"/>
              <a:t>nhạt</a:t>
            </a:r>
            <a:endParaRPr lang="en-US" dirty="0"/>
          </a:p>
          <a:p>
            <a:pPr marL="1008126" lvl="2">
              <a:buFont typeface="Wingdings" panose="05000000000000000000" pitchFamily="2" charset="2"/>
              <a:buChar char="ü"/>
            </a:pPr>
            <a:r>
              <a:rPr lang="en-US" dirty="0"/>
              <a:t>Sai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vài</a:t>
            </a:r>
            <a:r>
              <a:rPr lang="en-US" dirty="0"/>
              <a:t> </a:t>
            </a:r>
            <a:r>
              <a:rPr lang="en-US" dirty="0" err="1"/>
              <a:t>pixcel</a:t>
            </a:r>
            <a:r>
              <a:rPr lang="en-US" dirty="0"/>
              <a:t> (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1 pixel)</a:t>
            </a:r>
          </a:p>
          <a:p>
            <a:pPr marL="1008126" lvl="2">
              <a:buFont typeface="Wingdings" panose="05000000000000000000" pitchFamily="2" charset="2"/>
              <a:buChar char="ü"/>
            </a:pPr>
            <a:r>
              <a:rPr lang="en-US" dirty="0"/>
              <a:t>Sai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(</a:t>
            </a:r>
            <a:r>
              <a:rPr lang="en-US" dirty="0" err="1"/>
              <a:t>top,left</a:t>
            </a:r>
            <a:r>
              <a:rPr lang="en-US" dirty="0"/>
              <a:t>..)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endParaRPr lang="en-US" dirty="0"/>
          </a:p>
          <a:p>
            <a:pPr marL="1008126" lvl="2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Title </a:t>
            </a:r>
            <a:r>
              <a:rPr lang="en-US" dirty="0" err="1">
                <a:solidFill>
                  <a:schemeClr val="bg1"/>
                </a:solidFill>
              </a:rPr>
              <a:t>hạng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mục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bị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ngắt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xuống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dòng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đúng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yêu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cầu</a:t>
            </a:r>
            <a:endParaRPr lang="en-US" dirty="0">
              <a:solidFill>
                <a:schemeClr val="bg1"/>
              </a:solidFill>
            </a:endParaRPr>
          </a:p>
          <a:p>
            <a:pPr marL="1008126" lvl="2">
              <a:buFont typeface="Symbol" panose="05050102010706020507" pitchFamily="18" charset="2"/>
              <a:buChar char="Þ"/>
            </a:pPr>
            <a:r>
              <a:rPr lang="en-US" dirty="0"/>
              <a:t>Cách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in layout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và layout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chồng</a:t>
            </a:r>
            <a:r>
              <a:rPr lang="en-US" dirty="0"/>
              <a:t> lên nhau để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endParaRPr lang="en-US" dirty="0"/>
          </a:p>
          <a:p>
            <a:pPr marL="121158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5. </a:t>
            </a:r>
            <a:r>
              <a:rPr lang="en-US" sz="2200" b="1" dirty="0" err="1"/>
              <a:t>Lỗi</a:t>
            </a:r>
            <a:r>
              <a:rPr lang="en-US" sz="2200" b="1" dirty="0"/>
              <a:t> hay </a:t>
            </a:r>
            <a:r>
              <a:rPr lang="en-US" sz="2200" b="1" dirty="0" err="1"/>
              <a:t>gặp</a:t>
            </a:r>
            <a:r>
              <a:rPr lang="en-US" sz="2200" b="1" dirty="0"/>
              <a:t> khi test với </a:t>
            </a:r>
            <a:r>
              <a:rPr lang="en-US" sz="2200" b="1" dirty="0" err="1"/>
              <a:t>tiếng</a:t>
            </a:r>
            <a:r>
              <a:rPr lang="en-US" sz="2200" b="1" dirty="0"/>
              <a:t> </a:t>
            </a:r>
            <a:r>
              <a:rPr lang="en-US" sz="2200" b="1" dirty="0" err="1"/>
              <a:t>Nhật</a:t>
            </a:r>
            <a:endParaRPr lang="en-US" sz="2200" b="1" dirty="0"/>
          </a:p>
          <a:p>
            <a:pPr marL="1184148" lvl="4" indent="-342900">
              <a:buSzPct val="80000"/>
              <a:buFont typeface="Wingdings" panose="05000000000000000000" pitchFamily="2" charset="2"/>
              <a:buChar char="ü"/>
            </a:pPr>
            <a:r>
              <a:rPr lang="en-US" sz="2000" dirty="0" err="1"/>
              <a:t>Thiếu</a:t>
            </a:r>
            <a:r>
              <a:rPr lang="en-US" sz="2000" dirty="0"/>
              <a:t> </a:t>
            </a:r>
            <a:r>
              <a:rPr lang="en-US" sz="2000" dirty="0" err="1"/>
              <a:t>chấm</a:t>
            </a:r>
            <a:r>
              <a:rPr lang="en-US" sz="2000" dirty="0"/>
              <a:t> </a:t>
            </a:r>
            <a:r>
              <a:rPr lang="en-US" sz="2000" dirty="0" err="1"/>
              <a:t>câu</a:t>
            </a:r>
            <a:r>
              <a:rPr lang="en-US" sz="2000" dirty="0"/>
              <a:t> </a:t>
            </a:r>
            <a:r>
              <a:rPr lang="en-US" sz="2000" dirty="0" err="1"/>
              <a:t>tiếng</a:t>
            </a:r>
            <a:r>
              <a:rPr lang="en-US" sz="2000" dirty="0"/>
              <a:t> </a:t>
            </a:r>
            <a:r>
              <a:rPr lang="en-US" sz="2000" dirty="0" err="1"/>
              <a:t>nhật</a:t>
            </a:r>
            <a:r>
              <a:rPr lang="en-US" sz="2000" dirty="0"/>
              <a:t> </a:t>
            </a:r>
          </a:p>
          <a:p>
            <a:pPr marL="1184148" lvl="4" indent="-342900">
              <a:buSzPct val="80000"/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</a:rPr>
              <a:t>Chữ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tiếng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nhật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sai</a:t>
            </a:r>
            <a:r>
              <a:rPr lang="en-US" sz="2000" dirty="0">
                <a:solidFill>
                  <a:schemeClr val="bg1"/>
                </a:solidFill>
              </a:rPr>
              <a:t> do </a:t>
            </a:r>
            <a:r>
              <a:rPr lang="en-US" sz="2000" dirty="0" err="1">
                <a:solidFill>
                  <a:schemeClr val="bg1"/>
                </a:solidFill>
              </a:rPr>
              <a:t>nét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gần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giống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nhau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hoặc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thiếu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kí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tự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thiếu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chữ</a:t>
            </a:r>
            <a:endParaRPr lang="en-US" sz="2000" dirty="0">
              <a:solidFill>
                <a:schemeClr val="bg1"/>
              </a:solidFill>
            </a:endParaRPr>
          </a:p>
          <a:p>
            <a:pPr marL="1412748" lvl="5" indent="-342900">
              <a:buSzPct val="80000"/>
              <a:buFont typeface="Wingdings" panose="05000000000000000000" pitchFamily="2" charset="2"/>
              <a:buChar char="§"/>
            </a:pPr>
            <a:r>
              <a:rPr lang="ja-JP" altLang="en-US" sz="2000" dirty="0">
                <a:solidFill>
                  <a:schemeClr val="bg1"/>
                </a:solidFill>
              </a:rPr>
              <a:t>持つ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marL="1412748" lvl="5" indent="-342900">
              <a:buSzPct val="80000"/>
              <a:buFont typeface="Wingdings" panose="05000000000000000000" pitchFamily="2" charset="2"/>
              <a:buChar char="§"/>
            </a:pPr>
            <a:r>
              <a:rPr lang="ja-JP" altLang="en-US" sz="2000" dirty="0">
                <a:solidFill>
                  <a:schemeClr val="bg1"/>
                </a:solidFill>
              </a:rPr>
              <a:t>待つ</a:t>
            </a:r>
            <a:endParaRPr lang="en-US" altLang="ja-JP" sz="2000" dirty="0">
              <a:solidFill>
                <a:schemeClr val="bg1"/>
              </a:solidFill>
            </a:endParaRPr>
          </a:p>
          <a:p>
            <a:pPr marL="1008126" lvl="2">
              <a:buFont typeface="Wingdings" panose="05000000000000000000" pitchFamily="2" charset="2"/>
              <a:buChar char="ü"/>
            </a:pPr>
            <a:r>
              <a:rPr lang="en-US" dirty="0" err="1"/>
              <a:t>Thừa</a:t>
            </a:r>
            <a:r>
              <a:rPr lang="en-US" dirty="0"/>
              <a:t> space</a:t>
            </a:r>
          </a:p>
          <a:p>
            <a:pPr marL="1008126" lvl="2">
              <a:buFont typeface="Wingdings" panose="05000000000000000000" pitchFamily="2" charset="2"/>
              <a:buChar char="ü"/>
            </a:pP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endParaRPr lang="en-US" dirty="0"/>
          </a:p>
          <a:p>
            <a:pPr marL="1008126" lvl="2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Sai </a:t>
            </a:r>
            <a:r>
              <a:rPr lang="en-US" dirty="0" err="1">
                <a:solidFill>
                  <a:schemeClr val="bg1"/>
                </a:solidFill>
              </a:rPr>
              <a:t>giữa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tự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fullsize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haftsize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số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kí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tự</a:t>
            </a:r>
            <a:r>
              <a:rPr lang="en-US" dirty="0">
                <a:solidFill>
                  <a:schemeClr val="bg1"/>
                </a:solidFill>
              </a:rPr>
              <a:t> space)</a:t>
            </a:r>
          </a:p>
          <a:p>
            <a:pPr marL="841248" lvl="4" indent="0">
              <a:buSzPct val="80000"/>
              <a:buNone/>
            </a:pPr>
            <a:r>
              <a:rPr lang="en-US" sz="2000" dirty="0"/>
              <a:t>=&gt; Cách </a:t>
            </a:r>
            <a:r>
              <a:rPr lang="en-US" sz="2000" dirty="0" err="1"/>
              <a:t>khắc</a:t>
            </a:r>
            <a:r>
              <a:rPr lang="en-US" sz="2000" dirty="0"/>
              <a:t> </a:t>
            </a:r>
            <a:r>
              <a:rPr lang="en-US" sz="2000" dirty="0" err="1"/>
              <a:t>phục</a:t>
            </a:r>
            <a:r>
              <a:rPr lang="en-US" sz="2000" dirty="0"/>
              <a:t> </a:t>
            </a:r>
            <a:r>
              <a:rPr lang="en-US" sz="2000" dirty="0" err="1"/>
              <a:t>đưa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beyond compare </a:t>
            </a:r>
          </a:p>
          <a:p>
            <a:pPr marL="438912" lvl="1" indent="0">
              <a:buNone/>
            </a:pPr>
            <a:endParaRPr lang="en-US" dirty="0"/>
          </a:p>
          <a:p>
            <a:pPr marL="43891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968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86400"/>
          </a:xfrm>
        </p:spPr>
        <p:txBody>
          <a:bodyPr>
            <a:normAutofit/>
          </a:bodyPr>
          <a:lstStyle/>
          <a:p>
            <a:pPr marL="64008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008" indent="0" algn="ctr">
              <a:buNone/>
            </a:pPr>
            <a:r>
              <a:rPr lang="en-US" sz="3600" b="1" i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XIN CẢM ƠN VÌ ĐÃ LẮNG NGHE !</a:t>
            </a:r>
          </a:p>
          <a:p>
            <a:pPr marL="64008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008" indent="0" algn="ctr">
              <a:buNone/>
            </a:pPr>
            <a:r>
              <a:rPr lang="en-US" sz="13800" b="1" dirty="0"/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19281291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48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C94C25"/>
      </a:accent1>
      <a:accent2>
        <a:srgbClr val="EA8640"/>
      </a:accent2>
      <a:accent3>
        <a:srgbClr val="99D9E7"/>
      </a:accent3>
      <a:accent4>
        <a:srgbClr val="FAB17B"/>
      </a:accent4>
      <a:accent5>
        <a:srgbClr val="21B8B3"/>
      </a:accent5>
      <a:accent6>
        <a:srgbClr val="F3786E"/>
      </a:accent6>
      <a:hlink>
        <a:srgbClr val="646567"/>
      </a:hlink>
      <a:folHlink>
        <a:srgbClr val="646567"/>
      </a:folHlink>
    </a:clrScheme>
    <a:fontScheme name="Custom 27">
      <a:majorFont>
        <a:latin typeface="Segoe UI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110000" t="250000" r="110000" b="40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110000" t="250000" r="110000" b="40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0000"/>
                <a:satMod val="130000"/>
              </a:schemeClr>
              <a:schemeClr val="phClr">
                <a:tint val="70000"/>
                <a:satMod val="1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0167107 - Reporting progress or status presentation - NEW.potx" id="{24ADC811-FCB2-4A9B-852A-BB14EA0B4C87}" vid="{F865C24B-81F8-4D59-BA13-A775229E76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tf10167107</Template>
  <TotalTime>16780</TotalTime>
  <Words>1506</Words>
  <Application>Microsoft Office PowerPoint</Application>
  <PresentationFormat>On-screen Show (4:3)</PresentationFormat>
  <Paragraphs>159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Baskerville Old Face</vt:lpstr>
      <vt:lpstr>Calibri</vt:lpstr>
      <vt:lpstr>Courier New</vt:lpstr>
      <vt:lpstr>Segoe UI</vt:lpstr>
      <vt:lpstr>Symbol</vt:lpstr>
      <vt:lpstr>Times New Roman</vt:lpstr>
      <vt:lpstr>Wingdings</vt:lpstr>
      <vt:lpstr>Wingdings 2</vt:lpstr>
      <vt:lpstr>Verve</vt:lpstr>
      <vt:lpstr>TEST &amp; CONFIRM BUG BẰNG CHỨNG TEST</vt:lpstr>
      <vt:lpstr>NỘI DUNG</vt:lpstr>
      <vt:lpstr>I. CÁCH THỰC HIỆN TEST</vt:lpstr>
      <vt:lpstr>I. CÁCH THỰC HIỆN TEST</vt:lpstr>
      <vt:lpstr>II. CÁCH CONFIRM BUG</vt:lpstr>
      <vt:lpstr>II. CÁCH CONFIRM BUG</vt:lpstr>
      <vt:lpstr>II. CÁCH CONFIRM BUG</vt:lpstr>
      <vt:lpstr>III. BẰNG CHỨNG TEST</vt:lpstr>
      <vt:lpstr>III. BẰNG CHỨNG TEST</vt:lpstr>
      <vt:lpstr>IV. LƯU Ý KHI ADD BUG &amp; CONFIRM BUG</vt:lpstr>
      <vt:lpstr>IV. LƯU Ý KHI ADD BUG &amp; CONFIRM BUG</vt:lpstr>
      <vt:lpstr>V. Những điều nên tránh khi test</vt:lpstr>
      <vt:lpstr>V. Những điều nên tránh khi test</vt:lpstr>
      <vt:lpstr>V. Những điều nên tránh khi test</vt:lpstr>
      <vt:lpstr>V. Những điều nên tránh khi test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Progress or Status</dc:title>
  <dc:creator>Duong Thi Hong Diep</dc:creator>
  <cp:lastModifiedBy>Pham Thi Thanh Nga</cp:lastModifiedBy>
  <cp:revision>544</cp:revision>
  <dcterms:created xsi:type="dcterms:W3CDTF">2018-01-16T08:57:41Z</dcterms:created>
  <dcterms:modified xsi:type="dcterms:W3CDTF">2023-04-07T10:17:59Z</dcterms:modified>
</cp:coreProperties>
</file>