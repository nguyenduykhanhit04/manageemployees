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9" r:id="rId2"/>
    <p:sldId id="268" r:id="rId3"/>
    <p:sldId id="295" r:id="rId4"/>
    <p:sldId id="317" r:id="rId5"/>
    <p:sldId id="313" r:id="rId6"/>
    <p:sldId id="319" r:id="rId7"/>
    <p:sldId id="322" r:id="rId8"/>
    <p:sldId id="304" r:id="rId9"/>
    <p:sldId id="305" r:id="rId10"/>
    <p:sldId id="307" r:id="rId11"/>
    <p:sldId id="308" r:id="rId12"/>
    <p:sldId id="309" r:id="rId13"/>
    <p:sldId id="294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FFCC66"/>
    <a:srgbClr val="FF9933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01" autoAdjust="0"/>
    <p:restoredTop sz="94660"/>
  </p:normalViewPr>
  <p:slideViewPr>
    <p:cSldViewPr>
      <p:cViewPr varScale="1">
        <p:scale>
          <a:sx n="114" d="100"/>
          <a:sy n="114" d="100"/>
        </p:scale>
        <p:origin x="1788" y="18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</a:lstStyle>
          <a:p>
            <a:fld id="{925A17EF-115B-4BB9-BF42-426DFD9E898A}" type="datetimeFigureOut">
              <a:rPr lang="en-US" smtClean="0"/>
              <a:pPr/>
              <a:t>5/3/2023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</a:lstStyle>
          <a:p>
            <a:fld id="{7C4E7652-46AF-4259-BAE2-54978EA077C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442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12" Type="http://schemas.openxmlformats.org/officeDocument/2006/relationships/image" Target="../media/image6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770D99E-2869-438B-B483-1F6CCD5437EE}"/>
              </a:ext>
            </a:extLst>
          </p:cNvPr>
          <p:cNvGrpSpPr/>
          <p:nvPr userDrawn="1"/>
        </p:nvGrpSpPr>
        <p:grpSpPr>
          <a:xfrm>
            <a:off x="-1" y="-10825"/>
            <a:ext cx="9144002" cy="6515395"/>
            <a:chOff x="-1" y="-10825"/>
            <a:chExt cx="9144002" cy="6515395"/>
          </a:xfrm>
        </p:grpSpPr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F66236F9-EA1F-4D2A-84DE-EC04F9972C4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57200" y="-10825"/>
              <a:ext cx="3429000" cy="3181546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32A12C4E-53AE-4900-9783-F6190544083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95401" y="-10825"/>
              <a:ext cx="7848600" cy="3522243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A14E049B-6FD4-487E-927B-506983629A3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831825" y="2232482"/>
              <a:ext cx="1282976" cy="1108588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EF27E3F5-0D4D-492C-8A3E-50BC30CEFD2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-1" y="2962082"/>
              <a:ext cx="2757625" cy="3542488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36D4FF91-8818-4598-AC9F-B8C2FA867C0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" y="2313169"/>
              <a:ext cx="2259131" cy="2895506"/>
            </a:xfrm>
            <a:prstGeom prst="rect">
              <a:avLst/>
            </a:prstGeom>
          </p:spPr>
        </p:pic>
      </p:grp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276600" y="1213332"/>
            <a:ext cx="5326856" cy="1425577"/>
          </a:xfrm>
        </p:spPr>
        <p:txBody>
          <a:bodyPr anchor="b"/>
          <a:lstStyle>
            <a:lvl1pPr algn="r">
              <a:defRPr sz="45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724400" y="3849666"/>
            <a:ext cx="3879056" cy="1234575"/>
          </a:xfrm>
          <a:noFill/>
        </p:spPr>
        <p:txBody>
          <a:bodyPr/>
          <a:lstStyle>
            <a:lvl1pPr marL="0" marR="36576" indent="0" algn="l">
              <a:spcBef>
                <a:spcPts val="0"/>
              </a:spcBef>
              <a:buNone/>
              <a:defRPr>
                <a:ln>
                  <a:noFill/>
                </a:ln>
                <a:solidFill>
                  <a:schemeClr val="bg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12256" y="6111875"/>
            <a:ext cx="5791200" cy="365125"/>
          </a:xfrm>
          <a:prstGeom prst="rect">
            <a:avLst/>
          </a:prstGeom>
        </p:spPr>
        <p:txBody>
          <a:bodyPr tIns="0" bIns="0" anchor="b"/>
          <a:lstStyle>
            <a:lvl1pPr algn="ctr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Báo cáo tổng kết 2017 - PMO</a:t>
            </a:r>
            <a:endParaRPr lang="en-US" dirty="0"/>
          </a:p>
        </p:txBody>
      </p:sp>
      <p:pic>
        <p:nvPicPr>
          <p:cNvPr id="2051" name="Picture 1" descr="logo+Luvina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95402" cy="787402"/>
          </a:xfrm>
          <a:prstGeom prst="rect">
            <a:avLst/>
          </a:prstGeom>
          <a:noFill/>
          <a:ln>
            <a:noFill/>
          </a:ln>
          <a:effectLst>
            <a:glow>
              <a:schemeClr val="accent1"/>
            </a:glow>
            <a:outerShdw blurRad="177800" dist="50800" dir="5400000" algn="ctr" rotWithShape="0">
              <a:srgbClr val="000000">
                <a:alpha val="0"/>
              </a:srgbClr>
            </a:outerShdw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395"/>
            <a:ext cx="4876800" cy="79930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72000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54261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33CFB-98CB-4408-8818-24F931AC1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FC6F67-BAE4-413D-8066-1E361D5891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183880" y="173195"/>
            <a:ext cx="502920" cy="301752"/>
          </a:xfrm>
          <a:prstGeom prst="rect">
            <a:avLst/>
          </a:prstGeom>
        </p:spPr>
        <p:txBody>
          <a:bodyPr/>
          <a:lstStyle/>
          <a:p>
            <a:fld id="{49598980-D22C-4904-9F8F-3DB09B2ECD8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F566D8F-E696-41DE-BA1C-A8D0C7F03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25655"/>
            <a:ext cx="7726680" cy="571500"/>
          </a:xfrm>
        </p:spPr>
        <p:txBody>
          <a:bodyPr>
            <a:normAutofit/>
          </a:bodyPr>
          <a:lstStyle>
            <a:lvl1pPr marL="64008" indent="0">
              <a:buFont typeface="Arial" panose="020B0604020202020204" pitchFamily="34" charset="0"/>
              <a:buNone/>
              <a:defRPr sz="2000"/>
            </a:lvl1pPr>
            <a:lvl2pPr marL="537210" indent="0">
              <a:buNone/>
              <a:defRPr/>
            </a:lvl2pPr>
            <a:lvl3pPr marL="877824" indent="0">
              <a:buNone/>
              <a:defRPr/>
            </a:lvl3pPr>
            <a:lvl4pPr marL="1161288" indent="0">
              <a:buNone/>
              <a:defRPr/>
            </a:lvl4pPr>
            <a:lvl5pPr marL="138988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18787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1295400"/>
            <a:ext cx="914400" cy="5015864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5856" y="1295400"/>
            <a:ext cx="2438400" cy="5015864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51250" y="1295400"/>
            <a:ext cx="5276088" cy="501396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BD5BE3E6-AFB3-460C-834B-D73EE2A7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91596" y="173195"/>
            <a:ext cx="502920" cy="301752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FEA1243F-3000-4347-94A4-FBDEAD3122C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image" Target="../media/image6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5.sv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66725" y="381198"/>
            <a:ext cx="4638674" cy="675926"/>
          </a:xfrm>
          <a:prstGeom prst="rect">
            <a:avLst/>
          </a:prstGeom>
        </p:spPr>
        <p:txBody>
          <a:bodyPr vert="horz" lIns="0" rIns="0" anchor="ctr">
            <a:noAutofit/>
          </a:bodyPr>
          <a:lstStyle/>
          <a:p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566839"/>
            <a:ext cx="82296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41E45D2D-0469-4652-A090-C4D13F3C1502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0" y="5307178"/>
            <a:ext cx="1219200" cy="1550822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16C04FF8-AE2F-4C75-8657-A2201B95197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16459" y="4545317"/>
            <a:ext cx="1248460" cy="1570328"/>
          </a:xfrm>
          <a:prstGeom prst="rect">
            <a:avLst/>
          </a:prstGeom>
        </p:spPr>
      </p:pic>
      <p:pic>
        <p:nvPicPr>
          <p:cNvPr id="1027" name="Picture 1" descr="logo+Luvina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2591" y="1994"/>
            <a:ext cx="1230913" cy="748202"/>
          </a:xfrm>
          <a:prstGeom prst="rect">
            <a:avLst/>
          </a:prstGeom>
          <a:noFill/>
          <a:ln>
            <a:noFill/>
          </a:ln>
          <a:effectLst>
            <a:outerShdw dist="50800" dir="5400000" algn="ctr" rotWithShape="0">
              <a:srgbClr val="000000">
                <a:alpha val="0"/>
              </a:srgbClr>
            </a:outerShdw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8" r:id="rId3"/>
    <p:sldLayoutId id="2147483657" r:id="rId4"/>
    <p:sldLayoutId id="2147483652" r:id="rId5"/>
    <p:sldLayoutId id="2147483656" r:id="rId6"/>
  </p:sldLayoutIdLst>
  <p:hf sldNum="0" hdr="0" dt="0"/>
  <p:txStyles>
    <p:titleStyle>
      <a:lvl1pPr marL="182880" algn="l" rtl="0" eaLnBrk="1" latinLnBrk="0" hangingPunct="1">
        <a:spcBef>
          <a:spcPct val="0"/>
        </a:spcBef>
        <a:buNone/>
        <a:defRPr sz="3200" b="1" kern="1200">
          <a:ln w="6350">
            <a:noFill/>
          </a:ln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448056" indent="-384048" algn="l" rtl="0" eaLnBrk="1" latinLnBrk="0" hangingPunct="1">
        <a:spcBef>
          <a:spcPct val="20000"/>
        </a:spcBef>
        <a:spcAft>
          <a:spcPts val="1000"/>
        </a:spcAft>
        <a:buClr>
          <a:schemeClr val="accent1"/>
        </a:buClr>
        <a:buSzPct val="80000"/>
        <a:buFont typeface="Arial" panose="020B0604020202020204" pitchFamily="34" charset="0"/>
        <a:buChar char="•"/>
        <a:defRPr sz="2000" kern="1200">
          <a:solidFill>
            <a:schemeClr val="bg2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spcAft>
          <a:spcPts val="1000"/>
        </a:spcAft>
        <a:buClr>
          <a:schemeClr val="accent1"/>
        </a:buClr>
        <a:buSzPct val="95000"/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2pPr>
      <a:lvl3pPr marL="1106424" indent="-228600" algn="l" rtl="0" eaLnBrk="1" latinLnBrk="0" hangingPunct="1">
        <a:spcBef>
          <a:spcPct val="200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3pPr>
      <a:lvl4pPr marL="1371600" indent="-210312" algn="l" rtl="0" eaLnBrk="1" latinLnBrk="0" hangingPunct="1">
        <a:spcBef>
          <a:spcPct val="200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4pPr>
      <a:lvl5pPr marL="1600200" indent="-210312" algn="l" rtl="0" eaLnBrk="1" latinLnBrk="0" hangingPunct="1">
        <a:spcBef>
          <a:spcPct val="200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5pPr>
      <a:lvl6pPr marL="18288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914400"/>
            <a:ext cx="8001000" cy="1066800"/>
          </a:xfrm>
        </p:spPr>
        <p:txBody>
          <a:bodyPr/>
          <a:lstStyle/>
          <a:p>
            <a:pPr algn="ctr"/>
            <a:r>
              <a:rPr lang="en-US" sz="3600" dirty="0"/>
              <a:t>CÁCH TÌM HIỂU REQUIREMENT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3849666"/>
            <a:ext cx="4488656" cy="123457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Người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bày</a:t>
            </a:r>
            <a:r>
              <a:rPr lang="en-US" dirty="0"/>
              <a:t>: </a:t>
            </a:r>
            <a:r>
              <a:rPr lang="en-US" b="1" dirty="0"/>
              <a:t>TMO</a:t>
            </a:r>
          </a:p>
        </p:txBody>
      </p:sp>
    </p:spTree>
    <p:extLst>
      <p:ext uri="{BB962C8B-B14F-4D97-AF65-F5344CB8AC3E}">
        <p14:creationId xmlns:p14="http://schemas.microsoft.com/office/powerpoint/2010/main" val="2925794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NỘI DUNG</a:t>
            </a:r>
          </a:p>
        </p:txBody>
      </p:sp>
      <p:sp>
        <p:nvSpPr>
          <p:cNvPr id="29" name="Content Placeholder 28"/>
          <p:cNvSpPr>
            <a:spLocks noGrp="1"/>
          </p:cNvSpPr>
          <p:nvPr>
            <p:ph idx="1"/>
          </p:nvPr>
        </p:nvSpPr>
        <p:spPr>
          <a:xfrm>
            <a:off x="1143000" y="1371600"/>
            <a:ext cx="7696200" cy="41910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romanUcPeriod"/>
            </a:pPr>
            <a:r>
              <a:rPr lang="en-US" sz="2400" dirty="0"/>
              <a:t>Requirement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gì</a:t>
            </a:r>
            <a:r>
              <a:rPr lang="en-US" sz="2400" dirty="0"/>
              <a:t>?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2400" dirty="0" err="1"/>
              <a:t>Mục</a:t>
            </a:r>
            <a:r>
              <a:rPr lang="en-US" sz="2400" dirty="0"/>
              <a:t> </a:t>
            </a:r>
            <a:r>
              <a:rPr lang="en-US" sz="2400" dirty="0" err="1"/>
              <a:t>tiêu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nguyên</a:t>
            </a:r>
            <a:r>
              <a:rPr lang="en-US" sz="2400" dirty="0"/>
              <a:t> </a:t>
            </a:r>
            <a:r>
              <a:rPr lang="en-US" sz="2400" dirty="0" err="1"/>
              <a:t>tắc</a:t>
            </a:r>
            <a:r>
              <a:rPr lang="en-US" sz="2400" dirty="0"/>
              <a:t> </a:t>
            </a:r>
            <a:r>
              <a:rPr lang="en-US" sz="2400" dirty="0" err="1"/>
              <a:t>tìm</a:t>
            </a:r>
            <a:r>
              <a:rPr lang="en-US" sz="2400" dirty="0"/>
              <a:t> </a:t>
            </a:r>
            <a:r>
              <a:rPr lang="en-US" sz="2400" dirty="0" err="1"/>
              <a:t>hiểu</a:t>
            </a:r>
            <a:r>
              <a:rPr lang="en-US" sz="2400" dirty="0"/>
              <a:t> Requirement</a:t>
            </a:r>
            <a:endParaRPr lang="vi-VN" sz="2400" dirty="0"/>
          </a:p>
          <a:p>
            <a:pPr marL="514350" indent="-514350">
              <a:buFont typeface="+mj-lt"/>
              <a:buAutoNum type="romanUcPeriod"/>
            </a:pPr>
            <a:r>
              <a:rPr lang="en-US" sz="2400" dirty="0" err="1"/>
              <a:t>Cách</a:t>
            </a:r>
            <a:r>
              <a:rPr lang="en-US" sz="2400" dirty="0"/>
              <a:t> </a:t>
            </a:r>
            <a:r>
              <a:rPr lang="en-US" sz="2400" dirty="0" err="1"/>
              <a:t>thức</a:t>
            </a:r>
            <a:r>
              <a:rPr lang="en-US" sz="2400" dirty="0"/>
              <a:t> </a:t>
            </a:r>
            <a:r>
              <a:rPr lang="en-US" sz="2400" dirty="0" err="1"/>
              <a:t>tìm</a:t>
            </a:r>
            <a:r>
              <a:rPr lang="en-US" sz="2400" dirty="0"/>
              <a:t> </a:t>
            </a:r>
            <a:r>
              <a:rPr lang="en-US" sz="2400" dirty="0" err="1"/>
              <a:t>hiểu</a:t>
            </a:r>
            <a:r>
              <a:rPr lang="en-US" sz="2400" dirty="0"/>
              <a:t> Requirement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2400" dirty="0" err="1"/>
              <a:t>Vấn</a:t>
            </a:r>
            <a:r>
              <a:rPr lang="en-US" sz="2400" dirty="0"/>
              <a:t> </a:t>
            </a:r>
            <a:r>
              <a:rPr lang="en-US" sz="2400" dirty="0" err="1"/>
              <a:t>đề</a:t>
            </a:r>
            <a:r>
              <a:rPr lang="en-US" sz="2400" dirty="0"/>
              <a:t> </a:t>
            </a:r>
            <a:r>
              <a:rPr lang="vi-VN" sz="2400" dirty="0"/>
              <a:t>hay gặp</a:t>
            </a:r>
            <a:r>
              <a:rPr lang="en-US" sz="2400" dirty="0"/>
              <a:t> </a:t>
            </a:r>
            <a:r>
              <a:rPr lang="en-US" sz="2400" dirty="0" err="1"/>
              <a:t>khi</a:t>
            </a:r>
            <a:r>
              <a:rPr lang="en-US" sz="2400" dirty="0"/>
              <a:t> </a:t>
            </a:r>
            <a:r>
              <a:rPr lang="en-US" sz="2400" dirty="0" err="1"/>
              <a:t>tìm</a:t>
            </a:r>
            <a:r>
              <a:rPr lang="en-US" sz="2400" dirty="0"/>
              <a:t> </a:t>
            </a:r>
            <a:r>
              <a:rPr lang="en-US" sz="2400" dirty="0" err="1"/>
              <a:t>hiểu</a:t>
            </a:r>
            <a:r>
              <a:rPr lang="en-US" sz="2400" dirty="0"/>
              <a:t> Requirement</a:t>
            </a:r>
          </a:p>
          <a:p>
            <a:pPr marL="514350" indent="-514350">
              <a:buFont typeface="+mj-lt"/>
              <a:buAutoNum type="romanUcPeriod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45696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4876800" cy="609600"/>
          </a:xfrm>
        </p:spPr>
        <p:txBody>
          <a:bodyPr/>
          <a:lstStyle/>
          <a:p>
            <a:r>
              <a:rPr lang="en-US" dirty="0"/>
              <a:t>I. Requirement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</a:t>
            </a:r>
          </a:p>
        </p:txBody>
      </p:sp>
      <p:sp>
        <p:nvSpPr>
          <p:cNvPr id="29" name="Content Placeholder 28"/>
          <p:cNvSpPr>
            <a:spLocks noGrp="1"/>
          </p:cNvSpPr>
          <p:nvPr>
            <p:ph idx="1"/>
          </p:nvPr>
        </p:nvSpPr>
        <p:spPr>
          <a:xfrm>
            <a:off x="457200" y="685800"/>
            <a:ext cx="8305800" cy="6172200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en-US" sz="1600" dirty="0" err="1"/>
              <a:t>Là</a:t>
            </a:r>
            <a:r>
              <a:rPr lang="en-US" altLang="en-US" sz="1600" dirty="0"/>
              <a:t> </a:t>
            </a:r>
            <a:r>
              <a:rPr lang="en-US" altLang="en-US" sz="1600" dirty="0" err="1"/>
              <a:t>tất</a:t>
            </a:r>
            <a:r>
              <a:rPr lang="en-US" altLang="en-US" sz="1600" dirty="0"/>
              <a:t> </a:t>
            </a:r>
            <a:r>
              <a:rPr lang="en-US" altLang="en-US" sz="1600" dirty="0" err="1"/>
              <a:t>cả</a:t>
            </a:r>
            <a:r>
              <a:rPr lang="en-US" altLang="en-US" sz="1600" dirty="0"/>
              <a:t> </a:t>
            </a:r>
            <a:r>
              <a:rPr lang="en-US" altLang="en-US" sz="1600" dirty="0" err="1"/>
              <a:t>yêu</a:t>
            </a:r>
            <a:r>
              <a:rPr lang="en-US" altLang="en-US" sz="1600" dirty="0"/>
              <a:t> </a:t>
            </a:r>
            <a:r>
              <a:rPr lang="en-US" altLang="en-US" sz="1600" dirty="0" err="1"/>
              <a:t>cầu</a:t>
            </a:r>
            <a:r>
              <a:rPr lang="en-US" altLang="en-US" sz="1600" dirty="0"/>
              <a:t> </a:t>
            </a:r>
            <a:r>
              <a:rPr lang="en-US" altLang="en-US" sz="1600" dirty="0" err="1"/>
              <a:t>của</a:t>
            </a:r>
            <a:r>
              <a:rPr lang="en-US" altLang="en-US" sz="1600" dirty="0"/>
              <a:t> </a:t>
            </a:r>
            <a:r>
              <a:rPr lang="en-US" altLang="en-US" sz="1600" dirty="0" err="1"/>
              <a:t>khách</a:t>
            </a:r>
            <a:r>
              <a:rPr lang="en-US" altLang="en-US" sz="1600" dirty="0"/>
              <a:t> </a:t>
            </a:r>
            <a:r>
              <a:rPr lang="en-US" altLang="en-US" sz="1600" dirty="0" err="1"/>
              <a:t>hàng</a:t>
            </a:r>
            <a:r>
              <a:rPr lang="en-US" altLang="en-US" sz="1600" dirty="0"/>
              <a:t> </a:t>
            </a:r>
            <a:r>
              <a:rPr lang="en-US" altLang="en-US" sz="1600" dirty="0" err="1"/>
              <a:t>về</a:t>
            </a:r>
            <a:r>
              <a:rPr lang="en-US" altLang="en-US" sz="1600" dirty="0"/>
              <a:t> </a:t>
            </a:r>
            <a:r>
              <a:rPr lang="en-US" altLang="en-US" sz="1600" dirty="0" err="1"/>
              <a:t>chương</a:t>
            </a:r>
            <a:r>
              <a:rPr lang="en-US" altLang="en-US" sz="1600" dirty="0"/>
              <a:t> </a:t>
            </a:r>
            <a:r>
              <a:rPr lang="en-US" altLang="en-US" sz="1600" dirty="0" err="1"/>
              <a:t>trình</a:t>
            </a:r>
            <a:r>
              <a:rPr lang="en-US" altLang="en-US" sz="1600" dirty="0"/>
              <a:t> </a:t>
            </a:r>
            <a:r>
              <a:rPr lang="en-US" altLang="en-US" sz="1600" dirty="0" err="1"/>
              <a:t>được</a:t>
            </a:r>
            <a:r>
              <a:rPr lang="en-US" altLang="en-US" sz="1600" dirty="0"/>
              <a:t> </a:t>
            </a:r>
            <a:r>
              <a:rPr lang="en-US" altLang="en-US" sz="1600" dirty="0" err="1"/>
              <a:t>phát</a:t>
            </a:r>
            <a:r>
              <a:rPr lang="en-US" altLang="en-US" sz="1600" dirty="0"/>
              <a:t> </a:t>
            </a:r>
            <a:r>
              <a:rPr lang="en-US" altLang="en-US" sz="1600" dirty="0" err="1"/>
              <a:t>triển</a:t>
            </a:r>
            <a:r>
              <a:rPr lang="en-US" altLang="en-US" sz="1600" dirty="0"/>
              <a:t>. Thông </a:t>
            </a:r>
            <a:r>
              <a:rPr lang="en-US" altLang="en-US" sz="1600" dirty="0" err="1"/>
              <a:t>thường</a:t>
            </a:r>
            <a:r>
              <a:rPr lang="en-US" altLang="en-US" sz="1600" dirty="0"/>
              <a:t> bao </a:t>
            </a:r>
            <a:r>
              <a:rPr lang="en-US" altLang="en-US" sz="1600" dirty="0" err="1"/>
              <a:t>gồm</a:t>
            </a:r>
            <a:r>
              <a:rPr lang="en-US" altLang="en-US" sz="1600" dirty="0"/>
              <a:t>:</a:t>
            </a:r>
            <a:r>
              <a:rPr lang="vi-VN" sz="1600" dirty="0"/>
              <a:t> </a:t>
            </a:r>
            <a:r>
              <a:rPr lang="en-US" sz="1600" dirty="0"/>
              <a:t>yêu </a:t>
            </a:r>
            <a:r>
              <a:rPr lang="en-US" sz="1600" dirty="0" err="1"/>
              <a:t>cầu</a:t>
            </a:r>
            <a:r>
              <a:rPr lang="en-US" sz="1600" dirty="0"/>
              <a:t> </a:t>
            </a:r>
            <a:r>
              <a:rPr lang="vi-VN" sz="1600" dirty="0"/>
              <a:t>chức</a:t>
            </a:r>
            <a:r>
              <a:rPr lang="en-US" sz="1600" dirty="0"/>
              <a:t> </a:t>
            </a:r>
            <a:r>
              <a:rPr lang="en-US" sz="1600" dirty="0" err="1"/>
              <a:t>năng</a:t>
            </a:r>
            <a:r>
              <a:rPr lang="vi-VN" sz="1600" dirty="0"/>
              <a:t>, hiệu năng</a:t>
            </a:r>
            <a:r>
              <a:rPr lang="en-US" sz="1600" dirty="0"/>
              <a:t>,</a:t>
            </a:r>
            <a:r>
              <a:rPr lang="vi-VN" sz="1600" dirty="0"/>
              <a:t> thiết kế giao diện, …</a:t>
            </a:r>
            <a:r>
              <a:rPr lang="en-US" sz="1600" dirty="0"/>
              <a:t>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/>
              <a:t>Tầm </a:t>
            </a:r>
            <a:r>
              <a:rPr lang="en-US" sz="1600" dirty="0" err="1"/>
              <a:t>quan</a:t>
            </a:r>
            <a:r>
              <a:rPr lang="en-US" sz="1600" dirty="0"/>
              <a:t> </a:t>
            </a:r>
            <a:r>
              <a:rPr lang="en-US" sz="1600" dirty="0" err="1"/>
              <a:t>trọng</a:t>
            </a:r>
            <a:r>
              <a:rPr lang="en-US" sz="1600" dirty="0"/>
              <a:t> của tìm hiểu requirement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/>
              <a:t>Là </a:t>
            </a:r>
            <a:r>
              <a:rPr lang="en-US" sz="1600" dirty="0" err="1"/>
              <a:t>bước</a:t>
            </a:r>
            <a:r>
              <a:rPr lang="en-US" sz="1600" dirty="0"/>
              <a:t> </a:t>
            </a:r>
            <a:r>
              <a:rPr lang="en-US" sz="1600" dirty="0" err="1"/>
              <a:t>quan</a:t>
            </a:r>
            <a:r>
              <a:rPr lang="en-US" sz="1600" dirty="0"/>
              <a:t> </a:t>
            </a:r>
            <a:r>
              <a:rPr lang="en-US" sz="1600" dirty="0" err="1"/>
              <a:t>trọng</a:t>
            </a:r>
            <a:r>
              <a:rPr lang="en-US" sz="1600" dirty="0"/>
              <a:t> nhất trong </a:t>
            </a:r>
            <a:r>
              <a:rPr lang="en-US" sz="1600" dirty="0" err="1"/>
              <a:t>phát</a:t>
            </a:r>
            <a:r>
              <a:rPr lang="en-US" sz="1600" dirty="0"/>
              <a:t> </a:t>
            </a:r>
            <a:r>
              <a:rPr lang="en-US" sz="1600" dirty="0" err="1"/>
              <a:t>triển</a:t>
            </a:r>
            <a:r>
              <a:rPr lang="en-US" sz="1600" dirty="0"/>
              <a:t> </a:t>
            </a:r>
            <a:r>
              <a:rPr lang="en-US" sz="1600" dirty="0" err="1"/>
              <a:t>sản</a:t>
            </a:r>
            <a:r>
              <a:rPr lang="en-US" sz="1600" dirty="0"/>
              <a:t> </a:t>
            </a:r>
            <a:r>
              <a:rPr lang="en-US" sz="1600" dirty="0" err="1"/>
              <a:t>phẩm</a:t>
            </a:r>
            <a:r>
              <a:rPr lang="en-US" sz="1600" dirty="0"/>
              <a:t> </a:t>
            </a:r>
            <a:r>
              <a:rPr lang="en-US" sz="1600" dirty="0" err="1"/>
              <a:t>phần</a:t>
            </a:r>
            <a:r>
              <a:rPr lang="en-US" sz="1600" dirty="0"/>
              <a:t> </a:t>
            </a:r>
            <a:r>
              <a:rPr lang="en-US" sz="1600" dirty="0" err="1"/>
              <a:t>mềm</a:t>
            </a:r>
            <a:r>
              <a:rPr lang="en-US" sz="1600" dirty="0"/>
              <a:t>. </a:t>
            </a:r>
            <a:r>
              <a:rPr lang="en-US" sz="1600" dirty="0" err="1"/>
              <a:t>Nó</a:t>
            </a:r>
            <a:r>
              <a:rPr lang="en-US" sz="1600" dirty="0"/>
              <a:t> </a:t>
            </a:r>
            <a:r>
              <a:rPr lang="en-US" sz="1600" dirty="0" err="1"/>
              <a:t>quyết</a:t>
            </a:r>
            <a:r>
              <a:rPr lang="en-US" sz="1600" dirty="0"/>
              <a:t> </a:t>
            </a:r>
            <a:r>
              <a:rPr lang="en-US" sz="1600" dirty="0" err="1"/>
              <a:t>định</a:t>
            </a:r>
            <a:r>
              <a:rPr lang="en-US" sz="1600" dirty="0"/>
              <a:t> </a:t>
            </a:r>
            <a:r>
              <a:rPr lang="en-US" sz="1600" dirty="0" err="1"/>
              <a:t>sản</a:t>
            </a:r>
            <a:r>
              <a:rPr lang="en-US" sz="1600" dirty="0"/>
              <a:t> </a:t>
            </a:r>
            <a:r>
              <a:rPr lang="en-US" sz="1600" dirty="0" err="1"/>
              <a:t>phẩm</a:t>
            </a:r>
            <a:r>
              <a:rPr lang="en-US" sz="1600" dirty="0"/>
              <a:t> </a:t>
            </a:r>
            <a:r>
              <a:rPr lang="en-US" sz="1600" dirty="0" err="1"/>
              <a:t>cuối</a:t>
            </a:r>
            <a:r>
              <a:rPr lang="en-US" sz="1600" dirty="0"/>
              <a:t> </a:t>
            </a:r>
            <a:r>
              <a:rPr lang="en-US" sz="1600" dirty="0" err="1"/>
              <a:t>cùng</a:t>
            </a:r>
            <a:r>
              <a:rPr lang="en-US" sz="1600" dirty="0"/>
              <a:t> </a:t>
            </a:r>
            <a:r>
              <a:rPr lang="en-US" sz="1600" dirty="0" err="1"/>
              <a:t>có</a:t>
            </a:r>
            <a:r>
              <a:rPr lang="en-US" sz="1600" dirty="0"/>
              <a:t> </a:t>
            </a:r>
            <a:r>
              <a:rPr lang="en-US" sz="1600" dirty="0" err="1"/>
              <a:t>đúng</a:t>
            </a:r>
            <a:r>
              <a:rPr lang="en-US" sz="1600" dirty="0"/>
              <a:t> </a:t>
            </a:r>
            <a:r>
              <a:rPr lang="en-US" sz="1600" dirty="0" err="1"/>
              <a:t>yêu</a:t>
            </a:r>
            <a:r>
              <a:rPr lang="en-US" sz="1600" dirty="0"/>
              <a:t> </a:t>
            </a:r>
            <a:r>
              <a:rPr lang="en-US" sz="1600" dirty="0" err="1"/>
              <a:t>cầu</a:t>
            </a:r>
            <a:r>
              <a:rPr lang="en-US" sz="1600" dirty="0"/>
              <a:t> </a:t>
            </a:r>
            <a:r>
              <a:rPr lang="en-US" sz="1600" dirty="0" err="1"/>
              <a:t>của</a:t>
            </a:r>
            <a:r>
              <a:rPr lang="en-US" sz="1600" dirty="0"/>
              <a:t> </a:t>
            </a:r>
            <a:r>
              <a:rPr lang="en-US" sz="1600" dirty="0" err="1"/>
              <a:t>khách</a:t>
            </a:r>
            <a:r>
              <a:rPr lang="en-US" sz="1600" dirty="0"/>
              <a:t> </a:t>
            </a:r>
            <a:r>
              <a:rPr lang="en-US" sz="1600" dirty="0" err="1"/>
              <a:t>hàng</a:t>
            </a:r>
            <a:r>
              <a:rPr lang="en-US" sz="1600" dirty="0"/>
              <a:t> hay </a:t>
            </a:r>
            <a:r>
              <a:rPr lang="en-US" sz="1600" dirty="0" err="1"/>
              <a:t>không</a:t>
            </a:r>
            <a:r>
              <a:rPr lang="en-US" sz="1600" dirty="0"/>
              <a:t>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 err="1"/>
              <a:t>Là</a:t>
            </a:r>
            <a:r>
              <a:rPr lang="en-US" sz="1600" dirty="0"/>
              <a:t> </a:t>
            </a:r>
            <a:r>
              <a:rPr lang="en-US" sz="1600" dirty="0" err="1"/>
              <a:t>bước</a:t>
            </a:r>
            <a:r>
              <a:rPr lang="en-US" sz="1600" dirty="0"/>
              <a:t> </a:t>
            </a:r>
            <a:r>
              <a:rPr lang="en-US" sz="1600" dirty="0" err="1"/>
              <a:t>đầu</a:t>
            </a:r>
            <a:r>
              <a:rPr lang="en-US" sz="1600" dirty="0"/>
              <a:t> </a:t>
            </a:r>
            <a:r>
              <a:rPr lang="en-US" sz="1600" dirty="0" err="1"/>
              <a:t>tiên</a:t>
            </a:r>
            <a:r>
              <a:rPr lang="en-US" sz="1600" dirty="0"/>
              <a:t> </a:t>
            </a:r>
            <a:r>
              <a:rPr lang="en-US" sz="1600" dirty="0" err="1"/>
              <a:t>trong</a:t>
            </a:r>
            <a:r>
              <a:rPr lang="en-US" sz="1600" dirty="0"/>
              <a:t> </a:t>
            </a:r>
            <a:r>
              <a:rPr lang="en-US" sz="1600" dirty="0" err="1"/>
              <a:t>mô</a:t>
            </a:r>
            <a:r>
              <a:rPr lang="en-US" sz="1600" dirty="0"/>
              <a:t> </a:t>
            </a:r>
            <a:r>
              <a:rPr lang="en-US" sz="1600" dirty="0" err="1"/>
              <a:t>hình</a:t>
            </a:r>
            <a:r>
              <a:rPr lang="en-US" sz="1600" dirty="0"/>
              <a:t> </a:t>
            </a:r>
            <a:r>
              <a:rPr lang="en-US" sz="1600" dirty="0" err="1"/>
              <a:t>phát</a:t>
            </a:r>
            <a:r>
              <a:rPr lang="en-US" sz="1600" dirty="0"/>
              <a:t> </a:t>
            </a:r>
            <a:r>
              <a:rPr lang="en-US" sz="1600" dirty="0" err="1"/>
              <a:t>triển</a:t>
            </a:r>
            <a:r>
              <a:rPr lang="en-US" sz="1600" dirty="0"/>
              <a:t> </a:t>
            </a:r>
            <a:r>
              <a:rPr lang="en-US" sz="1600" dirty="0" err="1"/>
              <a:t>dự</a:t>
            </a:r>
            <a:r>
              <a:rPr lang="en-US" sz="1600" dirty="0"/>
              <a:t> </a:t>
            </a:r>
            <a:r>
              <a:rPr lang="en-US" sz="1600" dirty="0" err="1"/>
              <a:t>án</a:t>
            </a:r>
            <a:r>
              <a:rPr lang="en-US" sz="1600" dirty="0"/>
              <a:t>. </a:t>
            </a:r>
            <a:r>
              <a:rPr lang="en-US" sz="1600" dirty="0" err="1"/>
              <a:t>Lỗi</a:t>
            </a:r>
            <a:r>
              <a:rPr lang="en-US" sz="1600" dirty="0"/>
              <a:t> </a:t>
            </a:r>
            <a:r>
              <a:rPr lang="en-US" sz="1600" dirty="0" err="1"/>
              <a:t>tìm</a:t>
            </a:r>
            <a:r>
              <a:rPr lang="en-US" sz="1600" dirty="0"/>
              <a:t> </a:t>
            </a:r>
            <a:r>
              <a:rPr lang="en-US" sz="1600" dirty="0" err="1"/>
              <a:t>ra</a:t>
            </a:r>
            <a:r>
              <a:rPr lang="en-US" sz="1600" dirty="0"/>
              <a:t> ở </a:t>
            </a:r>
            <a:r>
              <a:rPr lang="en-US" sz="1600" dirty="0" err="1"/>
              <a:t>bước</a:t>
            </a:r>
            <a:r>
              <a:rPr lang="en-US" sz="1600" dirty="0"/>
              <a:t> </a:t>
            </a:r>
            <a:r>
              <a:rPr lang="en-US" sz="1600" dirty="0" err="1"/>
              <a:t>này</a:t>
            </a:r>
            <a:r>
              <a:rPr lang="en-US" sz="1600" dirty="0"/>
              <a:t> </a:t>
            </a:r>
            <a:r>
              <a:rPr lang="en-US" sz="1600" dirty="0" err="1"/>
              <a:t>khắc</a:t>
            </a:r>
            <a:r>
              <a:rPr lang="en-US" sz="1600" dirty="0"/>
              <a:t> </a:t>
            </a:r>
            <a:r>
              <a:rPr lang="en-US" sz="1600" dirty="0" err="1"/>
              <a:t>phục</a:t>
            </a:r>
            <a:r>
              <a:rPr lang="en-US" sz="1600" dirty="0"/>
              <a:t> </a:t>
            </a:r>
            <a:r>
              <a:rPr lang="en-US" sz="1600" dirty="0" err="1"/>
              <a:t>đơn</a:t>
            </a:r>
            <a:r>
              <a:rPr lang="en-US" sz="1600" dirty="0"/>
              <a:t> </a:t>
            </a:r>
            <a:r>
              <a:rPr lang="en-US" sz="1600" dirty="0" err="1"/>
              <a:t>giản</a:t>
            </a:r>
            <a:r>
              <a:rPr lang="en-US" sz="1600" dirty="0"/>
              <a:t> </a:t>
            </a:r>
            <a:r>
              <a:rPr lang="en-US" sz="1600" dirty="0" err="1"/>
              <a:t>và</a:t>
            </a:r>
            <a:r>
              <a:rPr lang="en-US" sz="1600" dirty="0"/>
              <a:t> chi </a:t>
            </a:r>
            <a:r>
              <a:rPr lang="en-US" sz="1600" dirty="0" err="1"/>
              <a:t>phí</a:t>
            </a:r>
            <a:r>
              <a:rPr lang="en-US" sz="1600" dirty="0"/>
              <a:t> </a:t>
            </a:r>
            <a:r>
              <a:rPr lang="en-US" sz="1600" dirty="0" err="1"/>
              <a:t>rẻ</a:t>
            </a:r>
            <a:r>
              <a:rPr lang="en-US" sz="1600" dirty="0"/>
              <a:t> </a:t>
            </a:r>
            <a:r>
              <a:rPr lang="en-US" sz="1600" dirty="0" err="1"/>
              <a:t>nhất</a:t>
            </a:r>
            <a:r>
              <a:rPr lang="en-US" sz="1600" dirty="0"/>
              <a:t>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600" dirty="0"/>
          </a:p>
        </p:txBody>
      </p:sp>
      <p:pic>
        <p:nvPicPr>
          <p:cNvPr id="4" name="Content Placeholder 3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66900" y="3048000"/>
            <a:ext cx="5410200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59575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419894"/>
            <a:ext cx="8915400" cy="799306"/>
          </a:xfrm>
        </p:spPr>
        <p:txBody>
          <a:bodyPr/>
          <a:lstStyle/>
          <a:p>
            <a:pPr marL="0"/>
            <a:r>
              <a:rPr lang="en-US" dirty="0"/>
              <a:t>II.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,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tắc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Requirement</a:t>
            </a:r>
            <a:endParaRPr lang="vi-VN" dirty="0"/>
          </a:p>
        </p:txBody>
      </p:sp>
      <p:sp>
        <p:nvSpPr>
          <p:cNvPr id="29" name="Content Placeholder 28"/>
          <p:cNvSpPr>
            <a:spLocks noGrp="1"/>
          </p:cNvSpPr>
          <p:nvPr>
            <p:ph idx="1"/>
          </p:nvPr>
        </p:nvSpPr>
        <p:spPr>
          <a:xfrm>
            <a:off x="457200" y="1371600"/>
            <a:ext cx="8305800" cy="50292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dirty="0" err="1">
                <a:solidFill>
                  <a:schemeClr val="bg1"/>
                </a:solidFill>
              </a:rPr>
              <a:t>Mục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tiêu</a:t>
            </a:r>
            <a:endParaRPr lang="en-US" sz="2400" dirty="0">
              <a:solidFill>
                <a:schemeClr val="bg1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vi-VN" sz="1900" dirty="0">
                <a:solidFill>
                  <a:schemeClr val="bg1"/>
                </a:solidFill>
              </a:rPr>
              <a:t>Hiểu rõ yêu cầu của khách h</a:t>
            </a:r>
            <a:r>
              <a:rPr lang="en-US" sz="1900" dirty="0">
                <a:solidFill>
                  <a:schemeClr val="bg1"/>
                </a:solidFill>
              </a:rPr>
              <a:t>à</a:t>
            </a:r>
            <a:r>
              <a:rPr lang="vi-VN" sz="1900" dirty="0">
                <a:solidFill>
                  <a:schemeClr val="bg1"/>
                </a:solidFill>
              </a:rPr>
              <a:t>ng</a:t>
            </a:r>
            <a:r>
              <a:rPr lang="en-US" sz="1900" dirty="0">
                <a:solidFill>
                  <a:schemeClr val="bg1"/>
                </a:solidFill>
              </a:rPr>
              <a:t>.</a:t>
            </a:r>
            <a:endParaRPr lang="vi-VN" sz="1900" dirty="0">
              <a:solidFill>
                <a:schemeClr val="bg1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vi-VN" sz="1900" dirty="0">
                <a:solidFill>
                  <a:schemeClr val="bg1"/>
                </a:solidFill>
              </a:rPr>
              <a:t>Xác định các nội dung cần </a:t>
            </a:r>
            <a:r>
              <a:rPr lang="en-US" sz="1900" dirty="0" err="1">
                <a:solidFill>
                  <a:schemeClr val="bg1"/>
                </a:solidFill>
              </a:rPr>
              <a:t>xử</a:t>
            </a:r>
            <a:r>
              <a:rPr lang="en-US" sz="1900" dirty="0">
                <a:solidFill>
                  <a:schemeClr val="bg1"/>
                </a:solidFill>
              </a:rPr>
              <a:t> </a:t>
            </a:r>
            <a:r>
              <a:rPr lang="en-US" sz="1900" dirty="0" err="1">
                <a:solidFill>
                  <a:schemeClr val="bg1"/>
                </a:solidFill>
              </a:rPr>
              <a:t>lý</a:t>
            </a:r>
            <a:r>
              <a:rPr lang="en-US" sz="1900" dirty="0">
                <a:solidFill>
                  <a:schemeClr val="bg1"/>
                </a:solidFill>
              </a:rPr>
              <a:t> </a:t>
            </a:r>
            <a:r>
              <a:rPr lang="vi-VN" sz="1900" dirty="0">
                <a:solidFill>
                  <a:schemeClr val="bg1"/>
                </a:solidFill>
              </a:rPr>
              <a:t>trong yêu cầu của khách h</a:t>
            </a:r>
            <a:r>
              <a:rPr lang="en-US" sz="1900" dirty="0">
                <a:solidFill>
                  <a:schemeClr val="bg1"/>
                </a:solidFill>
              </a:rPr>
              <a:t>à</a:t>
            </a:r>
            <a:r>
              <a:rPr lang="vi-VN" sz="1900" dirty="0">
                <a:solidFill>
                  <a:schemeClr val="bg1"/>
                </a:solidFill>
              </a:rPr>
              <a:t>ng</a:t>
            </a:r>
            <a:r>
              <a:rPr lang="en-US" sz="1900" dirty="0">
                <a:solidFill>
                  <a:schemeClr val="bg1"/>
                </a:solidFill>
              </a:rPr>
              <a:t>.</a:t>
            </a:r>
            <a:endParaRPr lang="vi-VN" sz="1900" dirty="0">
              <a:solidFill>
                <a:schemeClr val="bg1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vi-VN" sz="1900" dirty="0">
                <a:solidFill>
                  <a:schemeClr val="bg1"/>
                </a:solidFill>
              </a:rPr>
              <a:t>Xác định </a:t>
            </a:r>
            <a:r>
              <a:rPr lang="en-US" sz="1900" dirty="0" err="1">
                <a:solidFill>
                  <a:schemeClr val="bg1"/>
                </a:solidFill>
              </a:rPr>
              <a:t>các</a:t>
            </a:r>
            <a:r>
              <a:rPr lang="en-US" sz="1900" dirty="0">
                <a:solidFill>
                  <a:schemeClr val="bg1"/>
                </a:solidFill>
              </a:rPr>
              <a:t> </a:t>
            </a:r>
            <a:r>
              <a:rPr lang="vi-VN" sz="1900" dirty="0">
                <a:solidFill>
                  <a:schemeClr val="bg1"/>
                </a:solidFill>
              </a:rPr>
              <a:t>vùng ảnh hưởng cần </a:t>
            </a:r>
            <a:r>
              <a:rPr lang="en-US" sz="1900" dirty="0" err="1">
                <a:solidFill>
                  <a:schemeClr val="bg1"/>
                </a:solidFill>
              </a:rPr>
              <a:t>xử</a:t>
            </a:r>
            <a:r>
              <a:rPr lang="en-US" sz="1900" dirty="0">
                <a:solidFill>
                  <a:schemeClr val="bg1"/>
                </a:solidFill>
              </a:rPr>
              <a:t> </a:t>
            </a:r>
            <a:r>
              <a:rPr lang="en-US" sz="1900" dirty="0" err="1">
                <a:solidFill>
                  <a:schemeClr val="bg1"/>
                </a:solidFill>
              </a:rPr>
              <a:t>lý</a:t>
            </a:r>
            <a:r>
              <a:rPr lang="en-US" sz="1900" dirty="0">
                <a:solidFill>
                  <a:schemeClr val="bg1"/>
                </a:solidFill>
              </a:rPr>
              <a:t> (</a:t>
            </a:r>
            <a:r>
              <a:rPr lang="en-US" sz="1900" dirty="0" err="1">
                <a:solidFill>
                  <a:schemeClr val="bg1"/>
                </a:solidFill>
              </a:rPr>
              <a:t>nếu</a:t>
            </a:r>
            <a:r>
              <a:rPr lang="en-US" sz="1900" dirty="0">
                <a:solidFill>
                  <a:schemeClr val="bg1"/>
                </a:solidFill>
              </a:rPr>
              <a:t> </a:t>
            </a:r>
            <a:r>
              <a:rPr lang="en-US" sz="1900" dirty="0" err="1">
                <a:solidFill>
                  <a:schemeClr val="bg1"/>
                </a:solidFill>
              </a:rPr>
              <a:t>có</a:t>
            </a:r>
            <a:r>
              <a:rPr lang="en-US" sz="1900" dirty="0">
                <a:solidFill>
                  <a:schemeClr val="bg1"/>
                </a:solidFill>
              </a:rPr>
              <a:t>).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vi-VN" sz="1900" dirty="0">
                <a:solidFill>
                  <a:schemeClr val="bg1"/>
                </a:solidFill>
              </a:rPr>
              <a:t>Xác định các yêu cầu phi chức năng (nếu có)</a:t>
            </a:r>
            <a:r>
              <a:rPr lang="en-US" sz="1900" dirty="0">
                <a:solidFill>
                  <a:schemeClr val="bg1"/>
                </a:solidFill>
              </a:rPr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 err="1">
                <a:solidFill>
                  <a:schemeClr val="bg1"/>
                </a:solidFill>
              </a:rPr>
              <a:t>Nguyên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tắc</a:t>
            </a:r>
            <a:endParaRPr lang="en-US" sz="2400" dirty="0">
              <a:solidFill>
                <a:schemeClr val="bg1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chemeClr val="bg1"/>
                </a:solidFill>
              </a:rPr>
              <a:t>Phải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tìm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hiểu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tất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cả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requriment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không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được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bỏ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sót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chemeClr val="bg1"/>
                </a:solidFill>
              </a:rPr>
              <a:t>Không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được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tự</a:t>
            </a:r>
            <a:r>
              <a:rPr lang="en-US" dirty="0">
                <a:solidFill>
                  <a:schemeClr val="bg1"/>
                </a:solidFill>
              </a:rPr>
              <a:t> ý </a:t>
            </a:r>
            <a:r>
              <a:rPr lang="en-US" dirty="0" err="1">
                <a:solidFill>
                  <a:schemeClr val="bg1"/>
                </a:solidFill>
              </a:rPr>
              <a:t>suy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diễn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phán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đoán</a:t>
            </a:r>
            <a:r>
              <a:rPr lang="en-US" dirty="0">
                <a:solidFill>
                  <a:schemeClr val="bg1"/>
                </a:solidFill>
              </a:rPr>
              <a:t>. </a:t>
            </a:r>
            <a:r>
              <a:rPr lang="en-US" dirty="0" err="1">
                <a:solidFill>
                  <a:schemeClr val="bg1"/>
                </a:solidFill>
              </a:rPr>
              <a:t>Nếu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có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thì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phải</a:t>
            </a:r>
            <a:r>
              <a:rPr lang="en-US" dirty="0">
                <a:solidFill>
                  <a:schemeClr val="bg1"/>
                </a:solidFill>
              </a:rPr>
              <a:t> Q&amp;A </a:t>
            </a:r>
            <a:r>
              <a:rPr lang="en-US" dirty="0" err="1">
                <a:solidFill>
                  <a:schemeClr val="bg1"/>
                </a:solidFill>
              </a:rPr>
              <a:t>xác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nhận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Phải Q&amp;A về các vấn </a:t>
            </a:r>
            <a:r>
              <a:rPr lang="en-US" dirty="0" err="1">
                <a:solidFill>
                  <a:schemeClr val="bg1"/>
                </a:solidFill>
              </a:rPr>
              <a:t>đề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không</a:t>
            </a:r>
            <a:r>
              <a:rPr lang="en-US" dirty="0">
                <a:solidFill>
                  <a:schemeClr val="bg1"/>
                </a:solidFill>
              </a:rPr>
              <a:t> hiểu, </a:t>
            </a:r>
            <a:r>
              <a:rPr lang="en-US" dirty="0" err="1">
                <a:solidFill>
                  <a:schemeClr val="bg1"/>
                </a:solidFill>
              </a:rPr>
              <a:t>mơ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hồ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83644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382000" cy="609600"/>
          </a:xfrm>
        </p:spPr>
        <p:txBody>
          <a:bodyPr/>
          <a:lstStyle/>
          <a:p>
            <a:r>
              <a:rPr lang="en-US" dirty="0"/>
              <a:t>III.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Requirement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617220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bg1"/>
                </a:solidFill>
              </a:rPr>
              <a:t>Input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</a:rPr>
              <a:t>Requirement của </a:t>
            </a:r>
            <a:r>
              <a:rPr lang="en-US" sz="1600" dirty="0" err="1">
                <a:solidFill>
                  <a:schemeClr val="bg1"/>
                </a:solidFill>
              </a:rPr>
              <a:t>khách</a:t>
            </a:r>
            <a:r>
              <a:rPr lang="en-US" sz="1600" dirty="0">
                <a:solidFill>
                  <a:schemeClr val="bg1"/>
                </a:solidFill>
              </a:rPr>
              <a:t> hàng có </a:t>
            </a:r>
            <a:r>
              <a:rPr lang="en-US" sz="1600" dirty="0" err="1">
                <a:solidFill>
                  <a:schemeClr val="bg1"/>
                </a:solidFill>
              </a:rPr>
              <a:t>thể</a:t>
            </a:r>
            <a:r>
              <a:rPr lang="en-US" sz="1600" dirty="0">
                <a:solidFill>
                  <a:schemeClr val="bg1"/>
                </a:solidFill>
              </a:rPr>
              <a:t> là tài liệu </a:t>
            </a:r>
            <a:r>
              <a:rPr lang="en-US" sz="1600" dirty="0" err="1">
                <a:solidFill>
                  <a:schemeClr val="bg1"/>
                </a:solidFill>
              </a:rPr>
              <a:t>đặc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tả</a:t>
            </a:r>
            <a:r>
              <a:rPr lang="en-US" sz="1600" dirty="0">
                <a:solidFill>
                  <a:schemeClr val="bg1"/>
                </a:solidFill>
              </a:rPr>
              <a:t> yêu </a:t>
            </a:r>
            <a:r>
              <a:rPr lang="en-US" sz="1600" dirty="0" err="1">
                <a:solidFill>
                  <a:schemeClr val="bg1"/>
                </a:solidFill>
              </a:rPr>
              <a:t>cầu</a:t>
            </a:r>
            <a:r>
              <a:rPr lang="en-US" sz="1600" dirty="0">
                <a:solidFill>
                  <a:schemeClr val="bg1"/>
                </a:solidFill>
              </a:rPr>
              <a:t> (URD), </a:t>
            </a:r>
            <a:r>
              <a:rPr lang="en-US" sz="1600" dirty="0" err="1">
                <a:solidFill>
                  <a:schemeClr val="bg1"/>
                </a:solidFill>
              </a:rPr>
              <a:t>thiết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kế</a:t>
            </a:r>
            <a:r>
              <a:rPr lang="en-US" sz="1600" dirty="0">
                <a:solidFill>
                  <a:schemeClr val="bg1"/>
                </a:solidFill>
              </a:rPr>
              <a:t> cơ </a:t>
            </a:r>
            <a:r>
              <a:rPr lang="en-US" sz="1600" dirty="0" err="1">
                <a:solidFill>
                  <a:schemeClr val="bg1"/>
                </a:solidFill>
              </a:rPr>
              <a:t>bản</a:t>
            </a:r>
            <a:r>
              <a:rPr lang="en-US" sz="1600" dirty="0">
                <a:solidFill>
                  <a:schemeClr val="bg1"/>
                </a:solidFill>
              </a:rPr>
              <a:t>, </a:t>
            </a:r>
            <a:r>
              <a:rPr lang="en-US" sz="1600" dirty="0" err="1">
                <a:solidFill>
                  <a:schemeClr val="bg1"/>
                </a:solidFill>
              </a:rPr>
              <a:t>thiết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kế</a:t>
            </a:r>
            <a:r>
              <a:rPr lang="en-US" sz="1600" dirty="0">
                <a:solidFill>
                  <a:schemeClr val="bg1"/>
                </a:solidFill>
              </a:rPr>
              <a:t> chi tiết (SRS) hoặc Q&amp;A.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 err="1">
                <a:solidFill>
                  <a:schemeClr val="bg1"/>
                </a:solidFill>
              </a:rPr>
              <a:t>Hệ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thống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đang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hoặc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đã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phát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triển</a:t>
            </a:r>
            <a:r>
              <a:rPr lang="en-US" sz="1600" dirty="0">
                <a:solidFill>
                  <a:schemeClr val="bg1"/>
                </a:solidFill>
              </a:rPr>
              <a:t> (</a:t>
            </a:r>
            <a:r>
              <a:rPr lang="en-US" sz="1600" dirty="0" err="1">
                <a:solidFill>
                  <a:schemeClr val="bg1"/>
                </a:solidFill>
              </a:rPr>
              <a:t>nếu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có</a:t>
            </a:r>
            <a:r>
              <a:rPr lang="en-US" sz="1600" dirty="0">
                <a:solidFill>
                  <a:schemeClr val="bg1"/>
                </a:solidFill>
              </a:rPr>
              <a:t>).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bg1"/>
                </a:solidFill>
              </a:rPr>
              <a:t>Output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</a:rPr>
              <a:t>Q&amp;A các </a:t>
            </a:r>
            <a:r>
              <a:rPr lang="en-US" sz="1600" dirty="0" err="1">
                <a:solidFill>
                  <a:schemeClr val="bg1"/>
                </a:solidFill>
              </a:rPr>
              <a:t>vùng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phán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đoán</a:t>
            </a:r>
            <a:r>
              <a:rPr lang="en-US" sz="1600" dirty="0">
                <a:solidFill>
                  <a:schemeClr val="bg1"/>
                </a:solidFill>
              </a:rPr>
              <a:t> chưa </a:t>
            </a:r>
            <a:r>
              <a:rPr lang="en-US" sz="1600" dirty="0" err="1">
                <a:solidFill>
                  <a:schemeClr val="bg1"/>
                </a:solidFill>
              </a:rPr>
              <a:t>rõ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ràng</a:t>
            </a:r>
            <a:r>
              <a:rPr lang="en-US" sz="1600" dirty="0">
                <a:solidFill>
                  <a:schemeClr val="bg1"/>
                </a:solidFill>
              </a:rPr>
              <a:t>, chưa hiểu.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</a:rPr>
              <a:t>Confirm leader: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chemeClr val="bg1"/>
                </a:solidFill>
              </a:rPr>
              <a:t>Ý </a:t>
            </a:r>
            <a:r>
              <a:rPr lang="en-US" sz="1600" dirty="0" err="1">
                <a:solidFill>
                  <a:schemeClr val="bg1"/>
                </a:solidFill>
              </a:rPr>
              <a:t>hiểu</a:t>
            </a:r>
            <a:r>
              <a:rPr lang="en-US" sz="1600" dirty="0">
                <a:solidFill>
                  <a:schemeClr val="bg1"/>
                </a:solidFill>
              </a:rPr>
              <a:t> (</a:t>
            </a:r>
            <a:r>
              <a:rPr lang="en-US" sz="1600" dirty="0" err="1">
                <a:solidFill>
                  <a:schemeClr val="bg1"/>
                </a:solidFill>
              </a:rPr>
              <a:t>Nếu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cần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thì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Họp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để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thống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nhất</a:t>
            </a:r>
            <a:r>
              <a:rPr lang="en-US" sz="1600" dirty="0">
                <a:solidFill>
                  <a:schemeClr val="bg1"/>
                </a:solidFill>
              </a:rPr>
              <a:t> requirement).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chemeClr val="bg1"/>
                </a:solidFill>
              </a:rPr>
              <a:t>List </a:t>
            </a:r>
            <a:r>
              <a:rPr lang="en-US" sz="1600" dirty="0" err="1">
                <a:solidFill>
                  <a:schemeClr val="bg1"/>
                </a:solidFill>
              </a:rPr>
              <a:t>các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vùng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sẽ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xử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lý</a:t>
            </a:r>
            <a:r>
              <a:rPr lang="en-US" sz="1600" dirty="0">
                <a:solidFill>
                  <a:schemeClr val="bg1"/>
                </a:solidFill>
              </a:rPr>
              <a:t> (</a:t>
            </a:r>
            <a:r>
              <a:rPr lang="en-US" sz="1600" dirty="0" err="1">
                <a:solidFill>
                  <a:schemeClr val="bg1"/>
                </a:solidFill>
              </a:rPr>
              <a:t>bao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gồm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cả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vùng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ảnh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hưởng</a:t>
            </a:r>
            <a:r>
              <a:rPr lang="en-US" sz="1600" dirty="0">
                <a:solidFill>
                  <a:schemeClr val="bg1"/>
                </a:solidFill>
              </a:rPr>
              <a:t>).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chemeClr val="bg1"/>
                </a:solidFill>
              </a:rPr>
              <a:t>List </a:t>
            </a:r>
            <a:r>
              <a:rPr lang="en-US" sz="1600" dirty="0" err="1">
                <a:solidFill>
                  <a:schemeClr val="bg1"/>
                </a:solidFill>
              </a:rPr>
              <a:t>các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vùng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không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xử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lý</a:t>
            </a:r>
            <a:r>
              <a:rPr lang="en-US" sz="1600" dirty="0">
                <a:solidFill>
                  <a:schemeClr val="bg1"/>
                </a:solidFill>
              </a:rPr>
              <a:t> (</a:t>
            </a:r>
            <a:r>
              <a:rPr lang="en-US" sz="1600" dirty="0" err="1">
                <a:solidFill>
                  <a:schemeClr val="bg1"/>
                </a:solidFill>
              </a:rPr>
              <a:t>nếu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có</a:t>
            </a:r>
            <a:r>
              <a:rPr lang="en-US" sz="1600" dirty="0">
                <a:solidFill>
                  <a:schemeClr val="bg1"/>
                </a:solidFill>
              </a:rPr>
              <a:t>).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 err="1">
                <a:solidFill>
                  <a:schemeClr val="bg1"/>
                </a:solidFill>
              </a:rPr>
              <a:t>Đưa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ra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được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các</a:t>
            </a:r>
            <a:r>
              <a:rPr lang="en-US" sz="1600" dirty="0">
                <a:solidFill>
                  <a:schemeClr val="bg1"/>
                </a:solidFill>
              </a:rPr>
              <a:t> ý </a:t>
            </a:r>
            <a:r>
              <a:rPr lang="en-US" sz="1600" dirty="0" err="1">
                <a:solidFill>
                  <a:schemeClr val="bg1"/>
                </a:solidFill>
              </a:rPr>
              <a:t>chính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của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từng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chức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năng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của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các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vùng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sẽ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xử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lý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2755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382000" cy="609600"/>
          </a:xfrm>
        </p:spPr>
        <p:txBody>
          <a:bodyPr/>
          <a:lstStyle/>
          <a:p>
            <a:r>
              <a:rPr lang="en-US" dirty="0"/>
              <a:t>III.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Requirement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867400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600" dirty="0" err="1">
                <a:solidFill>
                  <a:schemeClr val="bg1"/>
                </a:solidFill>
              </a:rPr>
              <a:t>Các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 err="1">
                <a:solidFill>
                  <a:schemeClr val="bg1"/>
                </a:solidFill>
              </a:rPr>
              <a:t>bước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 err="1">
                <a:solidFill>
                  <a:schemeClr val="bg1"/>
                </a:solidFill>
              </a:rPr>
              <a:t>thực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 err="1">
                <a:solidFill>
                  <a:schemeClr val="bg1"/>
                </a:solidFill>
              </a:rPr>
              <a:t>hiện</a:t>
            </a:r>
            <a:endParaRPr lang="en-US" sz="2600" dirty="0">
              <a:solidFill>
                <a:schemeClr val="bg1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 err="1">
                <a:solidFill>
                  <a:schemeClr val="bg1"/>
                </a:solidFill>
              </a:rPr>
              <a:t>Xác</a:t>
            </a:r>
            <a:r>
              <a:rPr lang="en-US" sz="2400" dirty="0">
                <a:solidFill>
                  <a:schemeClr val="bg1"/>
                </a:solidFill>
              </a:rPr>
              <a:t> định các tài liệu cần tìm hiểu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000" dirty="0" err="1">
                <a:solidFill>
                  <a:schemeClr val="bg1"/>
                </a:solidFill>
              </a:rPr>
              <a:t>Dựa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vào</a:t>
            </a:r>
            <a:r>
              <a:rPr lang="en-US" sz="2000" dirty="0">
                <a:solidFill>
                  <a:schemeClr val="bg1"/>
                </a:solidFill>
              </a:rPr>
              <a:t> task </a:t>
            </a:r>
            <a:r>
              <a:rPr lang="en-US" sz="2000" dirty="0" err="1">
                <a:solidFill>
                  <a:schemeClr val="bg1"/>
                </a:solidFill>
              </a:rPr>
              <a:t>được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giao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000" dirty="0" err="1">
                <a:solidFill>
                  <a:schemeClr val="bg1"/>
                </a:solidFill>
              </a:rPr>
              <a:t>Xác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định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các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intput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req</a:t>
            </a:r>
            <a:r>
              <a:rPr lang="en-US" sz="2000" dirty="0">
                <a:solidFill>
                  <a:schemeClr val="bg1"/>
                </a:solidFill>
              </a:rPr>
              <a:t> (</a:t>
            </a:r>
            <a:r>
              <a:rPr lang="en-US" sz="2000" dirty="0" err="1">
                <a:solidFill>
                  <a:schemeClr val="bg1"/>
                </a:solidFill>
              </a:rPr>
              <a:t>tài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liệu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đặc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tả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yêu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cầu</a:t>
            </a:r>
            <a:r>
              <a:rPr lang="en-US" sz="2000" dirty="0">
                <a:solidFill>
                  <a:schemeClr val="bg1"/>
                </a:solidFill>
              </a:rPr>
              <a:t> (URD) , </a:t>
            </a:r>
            <a:r>
              <a:rPr lang="en-US" sz="2000" dirty="0" err="1">
                <a:solidFill>
                  <a:schemeClr val="bg1"/>
                </a:solidFill>
              </a:rPr>
              <a:t>thiết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kế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cơ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bản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thiết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kế</a:t>
            </a:r>
            <a:r>
              <a:rPr lang="en-US" sz="2000" dirty="0">
                <a:solidFill>
                  <a:schemeClr val="bg1"/>
                </a:solidFill>
              </a:rPr>
              <a:t> chi </a:t>
            </a:r>
            <a:r>
              <a:rPr lang="en-US" sz="2000" dirty="0" err="1">
                <a:solidFill>
                  <a:schemeClr val="bg1"/>
                </a:solidFill>
              </a:rPr>
              <a:t>tiết</a:t>
            </a:r>
            <a:r>
              <a:rPr lang="en-US" sz="2000" dirty="0">
                <a:solidFill>
                  <a:schemeClr val="bg1"/>
                </a:solidFill>
              </a:rPr>
              <a:t> (SRS) </a:t>
            </a:r>
            <a:r>
              <a:rPr lang="en-US" sz="2000" dirty="0" err="1">
                <a:solidFill>
                  <a:schemeClr val="bg1"/>
                </a:solidFill>
              </a:rPr>
              <a:t>hoặc</a:t>
            </a:r>
            <a:r>
              <a:rPr lang="en-US" sz="2000" dirty="0">
                <a:solidFill>
                  <a:schemeClr val="bg1"/>
                </a:solidFill>
              </a:rPr>
              <a:t> Q&amp;A …)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</a:rPr>
              <a:t>Confirm leader.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 err="1">
                <a:solidFill>
                  <a:schemeClr val="bg1"/>
                </a:solidFill>
              </a:rPr>
              <a:t>Xác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đinh</a:t>
            </a:r>
            <a:r>
              <a:rPr lang="en-US" sz="2400" dirty="0">
                <a:solidFill>
                  <a:schemeClr val="bg1"/>
                </a:solidFill>
              </a:rPr>
              <a:t> chi tiết các </a:t>
            </a:r>
            <a:r>
              <a:rPr lang="en-US" sz="2400" dirty="0" err="1">
                <a:solidFill>
                  <a:schemeClr val="bg1"/>
                </a:solidFill>
              </a:rPr>
              <a:t>nội</a:t>
            </a:r>
            <a:r>
              <a:rPr lang="en-US" sz="2400" dirty="0">
                <a:solidFill>
                  <a:schemeClr val="bg1"/>
                </a:solidFill>
              </a:rPr>
              <a:t> dung cần </a:t>
            </a:r>
            <a:r>
              <a:rPr lang="en-US" sz="2400" dirty="0" err="1">
                <a:solidFill>
                  <a:schemeClr val="bg1"/>
                </a:solidFill>
              </a:rPr>
              <a:t>xử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lý</a:t>
            </a:r>
            <a:endParaRPr lang="en-US" sz="2400" dirty="0">
              <a:solidFill>
                <a:schemeClr val="bg1"/>
              </a:solidFill>
            </a:endParaRP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000" dirty="0" err="1">
                <a:solidFill>
                  <a:schemeClr val="bg1"/>
                </a:solidFill>
              </a:rPr>
              <a:t>Dựa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vào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bố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cục</a:t>
            </a:r>
            <a:r>
              <a:rPr lang="en-US" sz="2000" dirty="0">
                <a:solidFill>
                  <a:schemeClr val="bg1"/>
                </a:solidFill>
              </a:rPr>
              <a:t> requirement: </a:t>
            </a:r>
            <a:r>
              <a:rPr lang="en-US" sz="2000" dirty="0" err="1">
                <a:solidFill>
                  <a:schemeClr val="bg1"/>
                </a:solidFill>
              </a:rPr>
              <a:t>phân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vùng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cho</a:t>
            </a:r>
            <a:r>
              <a:rPr lang="en-US" sz="2000" dirty="0">
                <a:solidFill>
                  <a:schemeClr val="bg1"/>
                </a:solidFill>
              </a:rPr>
              <a:t> requirement </a:t>
            </a:r>
            <a:r>
              <a:rPr lang="en-US" sz="2000" dirty="0" err="1">
                <a:solidFill>
                  <a:schemeClr val="bg1"/>
                </a:solidFill>
              </a:rPr>
              <a:t>rồi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tổng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hợp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thành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các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chức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năng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000" dirty="0" err="1">
                <a:solidFill>
                  <a:schemeClr val="bg1"/>
                </a:solidFill>
              </a:rPr>
              <a:t>Xác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định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các</a:t>
            </a:r>
            <a:r>
              <a:rPr lang="en-US" sz="2000" dirty="0">
                <a:solidFill>
                  <a:schemeClr val="bg1"/>
                </a:solidFill>
              </a:rPr>
              <a:t> flow (ý </a:t>
            </a:r>
            <a:r>
              <a:rPr lang="en-US" sz="2000" dirty="0" err="1">
                <a:solidFill>
                  <a:schemeClr val="bg1"/>
                </a:solidFill>
              </a:rPr>
              <a:t>chính</a:t>
            </a:r>
            <a:r>
              <a:rPr lang="en-US" sz="2000" dirty="0">
                <a:solidFill>
                  <a:schemeClr val="bg1"/>
                </a:solidFill>
              </a:rPr>
              <a:t>) </a:t>
            </a:r>
            <a:r>
              <a:rPr lang="en-US" sz="2000" dirty="0" err="1">
                <a:solidFill>
                  <a:schemeClr val="bg1"/>
                </a:solidFill>
              </a:rPr>
              <a:t>tương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ứng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cho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từng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chức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năng</a:t>
            </a:r>
            <a:r>
              <a:rPr lang="en-US" sz="2000" dirty="0">
                <a:solidFill>
                  <a:schemeClr val="bg1"/>
                </a:solidFill>
              </a:rPr>
              <a:t>:</a:t>
            </a:r>
          </a:p>
          <a:p>
            <a:pPr lvl="3">
              <a:buFont typeface="Wingdings" panose="05000000000000000000" pitchFamily="2" charset="2"/>
              <a:buChar char="ü"/>
            </a:pPr>
            <a:r>
              <a:rPr lang="en-US" sz="2000" dirty="0" err="1">
                <a:solidFill>
                  <a:schemeClr val="bg1"/>
                </a:solidFill>
              </a:rPr>
              <a:t>Trường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hợp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chỉnh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sửa</a:t>
            </a:r>
            <a:r>
              <a:rPr lang="en-US" sz="2000" dirty="0">
                <a:solidFill>
                  <a:schemeClr val="bg1"/>
                </a:solidFill>
              </a:rPr>
              <a:t>: </a:t>
            </a:r>
            <a:r>
              <a:rPr lang="en-US" sz="2000" dirty="0" err="1">
                <a:solidFill>
                  <a:schemeClr val="bg1"/>
                </a:solidFill>
              </a:rPr>
              <a:t>tìm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hiểu</a:t>
            </a:r>
            <a:r>
              <a:rPr lang="en-US" sz="2000" dirty="0">
                <a:solidFill>
                  <a:schemeClr val="bg1"/>
                </a:solidFill>
              </a:rPr>
              <a:t> flow </a:t>
            </a:r>
            <a:r>
              <a:rPr lang="en-US" sz="2000" dirty="0" err="1">
                <a:solidFill>
                  <a:schemeClr val="bg1"/>
                </a:solidFill>
              </a:rPr>
              <a:t>cũ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pPr marL="1389888" lvl="4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VD: </a:t>
            </a:r>
            <a:r>
              <a:rPr lang="en-US" sz="2000" dirty="0" err="1">
                <a:solidFill>
                  <a:schemeClr val="bg1"/>
                </a:solidFill>
              </a:rPr>
              <a:t>Chỉnh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sửa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trên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màn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hình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xác</a:t>
            </a:r>
            <a:r>
              <a:rPr lang="en-US" sz="2000" dirty="0">
                <a:solidFill>
                  <a:schemeClr val="bg1"/>
                </a:solidFill>
              </a:rPr>
              <a:t> định các </a:t>
            </a:r>
            <a:r>
              <a:rPr lang="en-US" sz="2000" dirty="0" err="1">
                <a:solidFill>
                  <a:schemeClr val="bg1"/>
                </a:solidFill>
              </a:rPr>
              <a:t>đối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tượng</a:t>
            </a:r>
            <a:r>
              <a:rPr lang="en-US" sz="2000" dirty="0">
                <a:solidFill>
                  <a:schemeClr val="bg1"/>
                </a:solidFill>
              </a:rPr>
              <a:t> (</a:t>
            </a:r>
            <a:r>
              <a:rPr lang="en-US" sz="2000" dirty="0" err="1">
                <a:solidFill>
                  <a:schemeClr val="bg1"/>
                </a:solidFill>
              </a:rPr>
              <a:t>hạng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mục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màn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hình</a:t>
            </a:r>
            <a:r>
              <a:rPr lang="en-US" sz="2000" dirty="0">
                <a:solidFill>
                  <a:schemeClr val="bg1"/>
                </a:solidFill>
              </a:rPr>
              <a:t>, action, logic, control…) được nói đến trong requirement.</a:t>
            </a:r>
          </a:p>
          <a:p>
            <a:pPr lvl="3">
              <a:buFont typeface="Wingdings" panose="05000000000000000000" pitchFamily="2" charset="2"/>
              <a:buChar char="ü"/>
            </a:pPr>
            <a:r>
              <a:rPr lang="en-US" sz="2000" dirty="0" err="1">
                <a:solidFill>
                  <a:schemeClr val="bg1"/>
                </a:solidFill>
              </a:rPr>
              <a:t>Trường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hợp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thêm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mới</a:t>
            </a:r>
            <a:r>
              <a:rPr lang="en-US" sz="2000" dirty="0">
                <a:solidFill>
                  <a:schemeClr val="bg1"/>
                </a:solidFill>
              </a:rPr>
              <a:t>: </a:t>
            </a:r>
            <a:r>
              <a:rPr lang="en-US" sz="2000" dirty="0" err="1">
                <a:solidFill>
                  <a:schemeClr val="bg1"/>
                </a:solidFill>
              </a:rPr>
              <a:t>dựa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vào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req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mô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tả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để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xác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định</a:t>
            </a:r>
            <a:r>
              <a:rPr lang="en-US" sz="2000" dirty="0">
                <a:solidFill>
                  <a:schemeClr val="bg1"/>
                </a:solidFill>
              </a:rPr>
              <a:t> flow (</a:t>
            </a:r>
            <a:r>
              <a:rPr lang="en-US" sz="2000" dirty="0" err="1">
                <a:solidFill>
                  <a:schemeClr val="bg1"/>
                </a:solidFill>
              </a:rPr>
              <a:t>có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thể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phải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phán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đoán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và</a:t>
            </a:r>
            <a:r>
              <a:rPr lang="en-US" sz="2000" dirty="0">
                <a:solidFill>
                  <a:schemeClr val="bg1"/>
                </a:solidFill>
              </a:rPr>
              <a:t> Q&amp;A </a:t>
            </a:r>
            <a:r>
              <a:rPr lang="en-US" sz="2000" dirty="0" err="1">
                <a:solidFill>
                  <a:schemeClr val="bg1"/>
                </a:solidFill>
              </a:rPr>
              <a:t>khách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hàng</a:t>
            </a:r>
            <a:r>
              <a:rPr lang="en-US" sz="2000" dirty="0">
                <a:solidFill>
                  <a:schemeClr val="bg1"/>
                </a:solidFill>
              </a:rPr>
              <a:t>).</a:t>
            </a:r>
          </a:p>
          <a:p>
            <a:pPr lvl="3">
              <a:buFont typeface="Wingdings" panose="05000000000000000000" pitchFamily="2" charset="2"/>
              <a:buChar char="ü"/>
            </a:pPr>
            <a:r>
              <a:rPr lang="en-US" sz="2000" dirty="0" err="1">
                <a:solidFill>
                  <a:schemeClr val="bg1"/>
                </a:solidFill>
              </a:rPr>
              <a:t>Xác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định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các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vùng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ảnh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hưởng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6168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395"/>
            <a:ext cx="7467600" cy="549005"/>
          </a:xfrm>
        </p:spPr>
        <p:txBody>
          <a:bodyPr/>
          <a:lstStyle/>
          <a:p>
            <a:r>
              <a:rPr lang="en-US" dirty="0"/>
              <a:t>III.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Requirement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715000"/>
          </a:xfrm>
        </p:spPr>
        <p:txBody>
          <a:bodyPr>
            <a:normAutofit/>
          </a:bodyPr>
          <a:lstStyle/>
          <a:p>
            <a:pPr marL="64008" indent="0">
              <a:buNone/>
            </a:pPr>
            <a:r>
              <a:rPr lang="en-US" sz="2100" dirty="0" err="1">
                <a:solidFill>
                  <a:srgbClr val="0000CC"/>
                </a:solidFill>
              </a:rPr>
              <a:t>Ví</a:t>
            </a:r>
            <a:r>
              <a:rPr lang="en-US" sz="2100" dirty="0">
                <a:solidFill>
                  <a:srgbClr val="0000CC"/>
                </a:solidFill>
              </a:rPr>
              <a:t> </a:t>
            </a:r>
            <a:r>
              <a:rPr lang="en-US" sz="2100" dirty="0" err="1">
                <a:solidFill>
                  <a:srgbClr val="0000CC"/>
                </a:solidFill>
              </a:rPr>
              <a:t>dụ</a:t>
            </a:r>
            <a:r>
              <a:rPr lang="en-US" sz="2100" dirty="0">
                <a:solidFill>
                  <a:srgbClr val="0000CC"/>
                </a:solidFill>
              </a:rPr>
              <a:t> tìm hiểu REQ: </a:t>
            </a:r>
            <a:r>
              <a:rPr lang="en-US" sz="2100" dirty="0" err="1">
                <a:solidFill>
                  <a:srgbClr val="0000CC"/>
                </a:solidFill>
              </a:rPr>
              <a:t>Tham</a:t>
            </a:r>
            <a:r>
              <a:rPr lang="en-US" sz="2100" dirty="0">
                <a:solidFill>
                  <a:srgbClr val="0000CC"/>
                </a:solidFill>
              </a:rPr>
              <a:t> </a:t>
            </a:r>
            <a:r>
              <a:rPr lang="en-US" sz="2100" dirty="0" err="1">
                <a:solidFill>
                  <a:srgbClr val="0000CC"/>
                </a:solidFill>
              </a:rPr>
              <a:t>chiếu</a:t>
            </a:r>
            <a:r>
              <a:rPr lang="en-US" sz="2100" dirty="0">
                <a:solidFill>
                  <a:srgbClr val="0000CC"/>
                </a:solidFill>
              </a:rPr>
              <a:t> file </a:t>
            </a:r>
            <a:r>
              <a:rPr lang="fr-FR" sz="2100" dirty="0">
                <a:solidFill>
                  <a:srgbClr val="0000CC"/>
                </a:solidFill>
              </a:rPr>
              <a:t>Vi du </a:t>
            </a:r>
            <a:r>
              <a:rPr lang="fr-FR" sz="2100" dirty="0" err="1">
                <a:solidFill>
                  <a:srgbClr val="0000CC"/>
                </a:solidFill>
              </a:rPr>
              <a:t>tim</a:t>
            </a:r>
            <a:r>
              <a:rPr lang="fr-FR" sz="2100" dirty="0">
                <a:solidFill>
                  <a:srgbClr val="0000CC"/>
                </a:solidFill>
              </a:rPr>
              <a:t> </a:t>
            </a:r>
            <a:r>
              <a:rPr lang="fr-FR" sz="2100" dirty="0" err="1">
                <a:solidFill>
                  <a:srgbClr val="0000CC"/>
                </a:solidFill>
              </a:rPr>
              <a:t>hieu</a:t>
            </a:r>
            <a:r>
              <a:rPr lang="fr-FR" sz="2100" dirty="0">
                <a:solidFill>
                  <a:srgbClr val="0000CC"/>
                </a:solidFill>
              </a:rPr>
              <a:t> Req.xlsx </a:t>
            </a:r>
            <a:r>
              <a:rPr lang="fr-FR" sz="2100" dirty="0" err="1">
                <a:solidFill>
                  <a:srgbClr val="0000CC"/>
                </a:solidFill>
              </a:rPr>
              <a:t>trong</a:t>
            </a:r>
            <a:r>
              <a:rPr lang="fr-FR" sz="2100" dirty="0">
                <a:solidFill>
                  <a:srgbClr val="0000CC"/>
                </a:solidFill>
              </a:rPr>
              <a:t> folder \Slide </a:t>
            </a:r>
            <a:r>
              <a:rPr lang="fr-FR" sz="2100" dirty="0" err="1">
                <a:solidFill>
                  <a:srgbClr val="0000CC"/>
                </a:solidFill>
              </a:rPr>
              <a:t>lý</a:t>
            </a:r>
            <a:r>
              <a:rPr lang="fr-FR" sz="2100" dirty="0">
                <a:solidFill>
                  <a:srgbClr val="0000CC"/>
                </a:solidFill>
              </a:rPr>
              <a:t> </a:t>
            </a:r>
            <a:r>
              <a:rPr lang="fr-FR" sz="2100" dirty="0" err="1">
                <a:solidFill>
                  <a:srgbClr val="0000CC"/>
                </a:solidFill>
              </a:rPr>
              <a:t>thuyết</a:t>
            </a:r>
            <a:r>
              <a:rPr lang="fr-FR" sz="2100" dirty="0">
                <a:solidFill>
                  <a:srgbClr val="0000CC"/>
                </a:solidFill>
              </a:rPr>
              <a:t>\</a:t>
            </a:r>
            <a:r>
              <a:rPr lang="fr-FR" sz="2100" dirty="0" err="1">
                <a:solidFill>
                  <a:srgbClr val="0000CC"/>
                </a:solidFill>
              </a:rPr>
              <a:t>Cách</a:t>
            </a:r>
            <a:r>
              <a:rPr lang="fr-FR" sz="2100" dirty="0">
                <a:solidFill>
                  <a:srgbClr val="0000CC"/>
                </a:solidFill>
              </a:rPr>
              <a:t> </a:t>
            </a:r>
            <a:r>
              <a:rPr lang="fr-FR" sz="2100" dirty="0" err="1">
                <a:solidFill>
                  <a:srgbClr val="0000CC"/>
                </a:solidFill>
              </a:rPr>
              <a:t>tìm</a:t>
            </a:r>
            <a:r>
              <a:rPr lang="fr-FR" sz="2100" dirty="0">
                <a:solidFill>
                  <a:srgbClr val="0000CC"/>
                </a:solidFill>
              </a:rPr>
              <a:t> </a:t>
            </a:r>
            <a:r>
              <a:rPr lang="fr-FR" sz="2100" dirty="0" err="1">
                <a:solidFill>
                  <a:srgbClr val="0000CC"/>
                </a:solidFill>
              </a:rPr>
              <a:t>hiểu</a:t>
            </a:r>
            <a:r>
              <a:rPr lang="fr-FR" sz="2100" dirty="0">
                <a:solidFill>
                  <a:srgbClr val="0000CC"/>
                </a:solidFill>
              </a:rPr>
              <a:t> </a:t>
            </a:r>
            <a:r>
              <a:rPr lang="fr-FR" sz="2100" dirty="0" err="1">
                <a:solidFill>
                  <a:srgbClr val="0000CC"/>
                </a:solidFill>
              </a:rPr>
              <a:t>req</a:t>
            </a:r>
            <a:endParaRPr lang="en-US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6780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395"/>
            <a:ext cx="7543800" cy="799306"/>
          </a:xfrm>
        </p:spPr>
        <p:txBody>
          <a:bodyPr/>
          <a:lstStyle/>
          <a:p>
            <a:r>
              <a:rPr lang="en-US" dirty="0"/>
              <a:t>IV.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vi-VN" dirty="0"/>
              <a:t>hay gặp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req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5394" y="1295400"/>
            <a:ext cx="8229600" cy="4572000"/>
          </a:xfrm>
        </p:spPr>
        <p:txBody>
          <a:bodyPr>
            <a:normAutofit/>
          </a:bodyPr>
          <a:lstStyle/>
          <a:p>
            <a:pPr marL="994410" lvl="1" indent="-457200">
              <a:buFont typeface="+mj-lt"/>
              <a:buAutoNum type="arabicPeriod"/>
            </a:pPr>
            <a:r>
              <a:rPr lang="vi-VN" sz="2400" dirty="0"/>
              <a:t>Không có requirement</a:t>
            </a:r>
          </a:p>
          <a:p>
            <a:pPr marL="994410" lvl="1" indent="-457200">
              <a:buFont typeface="+mj-lt"/>
              <a:buAutoNum type="arabicPeriod"/>
            </a:pPr>
            <a:r>
              <a:rPr lang="vi-VN" sz="2400" dirty="0"/>
              <a:t>Requirement </a:t>
            </a:r>
            <a:r>
              <a:rPr lang="en-US" sz="2400" dirty="0" err="1"/>
              <a:t>không</a:t>
            </a:r>
            <a:r>
              <a:rPr lang="en-US" sz="2400" dirty="0"/>
              <a:t> </a:t>
            </a:r>
            <a:r>
              <a:rPr lang="en-US" sz="2400" dirty="0" err="1"/>
              <a:t>rõ</a:t>
            </a:r>
            <a:r>
              <a:rPr lang="en-US" sz="2400" dirty="0"/>
              <a:t> </a:t>
            </a:r>
            <a:r>
              <a:rPr lang="en-US" sz="2400" dirty="0" err="1"/>
              <a:t>ràng</a:t>
            </a:r>
            <a:endParaRPr lang="vi-VN" sz="2400" dirty="0"/>
          </a:p>
          <a:p>
            <a:pPr marL="994410" lvl="1" indent="-457200">
              <a:buFont typeface="+mj-lt"/>
              <a:buAutoNum type="arabicPeriod"/>
            </a:pPr>
            <a:r>
              <a:rPr lang="vi-VN" sz="2400" dirty="0"/>
              <a:t>Xung đột requirement</a:t>
            </a:r>
          </a:p>
          <a:p>
            <a:pPr marL="994410" lvl="1" indent="-457200">
              <a:buFont typeface="+mj-lt"/>
              <a:buAutoNum type="arabicPeriod"/>
            </a:pPr>
            <a:r>
              <a:rPr lang="vi-VN" sz="2400" dirty="0"/>
              <a:t>Requirement đã quá cũ</a:t>
            </a:r>
          </a:p>
        </p:txBody>
      </p:sp>
    </p:spTree>
    <p:extLst>
      <p:ext uri="{BB962C8B-B14F-4D97-AF65-F5344CB8AC3E}">
        <p14:creationId xmlns:p14="http://schemas.microsoft.com/office/powerpoint/2010/main" val="2797885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395"/>
            <a:ext cx="7543800" cy="799306"/>
          </a:xfrm>
        </p:spPr>
        <p:txBody>
          <a:bodyPr/>
          <a:lstStyle/>
          <a:p>
            <a:r>
              <a:rPr lang="vi-VN" dirty="0"/>
              <a:t>1. Không có requirement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768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ko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requirement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trao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h</a:t>
            </a:r>
            <a:r>
              <a:rPr lang="vi-VN" dirty="0"/>
              <a:t>à</a:t>
            </a:r>
            <a:r>
              <a:rPr lang="en-US" dirty="0"/>
              <a:t>ng</a:t>
            </a:r>
          </a:p>
          <a:p>
            <a:pPr marL="438912" lvl="1" indent="0">
              <a:buNone/>
            </a:pPr>
            <a:r>
              <a:rPr lang="en-US" dirty="0"/>
              <a:t>VD: </a:t>
            </a:r>
            <a:r>
              <a:rPr lang="vi-VN" dirty="0"/>
              <a:t>khách hàng chỉ trao đổi</a:t>
            </a:r>
            <a:r>
              <a:rPr lang="en-US" dirty="0"/>
              <a:t>: </a:t>
            </a:r>
            <a:r>
              <a:rPr lang="ja-JP" altLang="en-US" dirty="0"/>
              <a:t>「</a:t>
            </a:r>
            <a:r>
              <a:rPr lang="vi-VN" dirty="0"/>
              <a:t>Tôi muốn thêm tính năng </a:t>
            </a:r>
            <a:r>
              <a:rPr lang="en-US" dirty="0" err="1"/>
              <a:t>màn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vi-VN" dirty="0"/>
              <a:t>có </a:t>
            </a:r>
            <a:r>
              <a:rPr lang="en-US" dirty="0" err="1"/>
              <a:t>thanh</a:t>
            </a:r>
            <a:r>
              <a:rPr lang="en-US" dirty="0"/>
              <a:t> scrollbar</a:t>
            </a:r>
            <a:r>
              <a:rPr lang="ja-JP" altLang="en-US" dirty="0"/>
              <a:t>」</a:t>
            </a:r>
            <a:r>
              <a:rPr lang="en-US" dirty="0"/>
              <a:t>.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: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Thanh scrollbar </a:t>
            </a:r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ở </a:t>
            </a:r>
            <a:r>
              <a:rPr lang="en-US" dirty="0" err="1"/>
              <a:t>đâu</a:t>
            </a:r>
            <a:r>
              <a:rPr lang="en-US" dirty="0"/>
              <a:t>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đúng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mong</a:t>
            </a:r>
            <a:r>
              <a:rPr lang="en-US" dirty="0"/>
              <a:t> </a:t>
            </a:r>
            <a:r>
              <a:rPr lang="en-US" dirty="0" err="1"/>
              <a:t>muốn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err="1"/>
              <a:t>Phương</a:t>
            </a:r>
            <a:r>
              <a:rPr lang="en-US" dirty="0"/>
              <a:t> án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quyết</a:t>
            </a: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, </a:t>
            </a:r>
            <a:r>
              <a:rPr lang="en-US" dirty="0" err="1"/>
              <a:t>đặt</a:t>
            </a:r>
            <a:r>
              <a:rPr lang="en-US" dirty="0"/>
              <a:t> Q&amp;A với </a:t>
            </a:r>
            <a:r>
              <a:rPr lang="en-US" dirty="0" err="1"/>
              <a:t>khách</a:t>
            </a:r>
            <a:r>
              <a:rPr lang="en-US" dirty="0"/>
              <a:t> hàng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Nếu cần </a:t>
            </a:r>
            <a:r>
              <a:rPr lang="en-US" dirty="0" err="1"/>
              <a:t>thiết</a:t>
            </a:r>
            <a:r>
              <a:rPr lang="en-US" dirty="0"/>
              <a:t> thì </a:t>
            </a:r>
            <a:r>
              <a:rPr lang="en-US" dirty="0" err="1"/>
              <a:t>tạo</a:t>
            </a:r>
            <a:r>
              <a:rPr lang="en-US" dirty="0"/>
              <a:t> tài liệu requirement confirm với </a:t>
            </a:r>
            <a:r>
              <a:rPr lang="en-US" dirty="0" err="1"/>
              <a:t>khách</a:t>
            </a:r>
            <a:r>
              <a:rPr lang="en-US" dirty="0"/>
              <a:t> hàng</a:t>
            </a:r>
            <a:endParaRPr lang="vi-V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769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395"/>
            <a:ext cx="6553200" cy="799306"/>
          </a:xfrm>
        </p:spPr>
        <p:txBody>
          <a:bodyPr/>
          <a:lstStyle/>
          <a:p>
            <a:r>
              <a:rPr lang="en-US" dirty="0"/>
              <a:t>2. Requirement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rõ</a:t>
            </a:r>
            <a:r>
              <a:rPr lang="en-US" dirty="0"/>
              <a:t> </a:t>
            </a:r>
            <a:r>
              <a:rPr lang="en-US" dirty="0" err="1"/>
              <a:t>ràng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616" y="1164700"/>
            <a:ext cx="8229600" cy="515989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Requirement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nhưng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đầy</a:t>
            </a:r>
            <a:r>
              <a:rPr lang="en-US" dirty="0"/>
              <a:t> </a:t>
            </a:r>
            <a:r>
              <a:rPr lang="en-US" dirty="0" err="1"/>
              <a:t>đủ</a:t>
            </a:r>
            <a:r>
              <a:rPr lang="en-US" dirty="0"/>
              <a:t> chi </a:t>
            </a:r>
            <a:r>
              <a:rPr lang="en-US" dirty="0" err="1"/>
              <a:t>tiết</a:t>
            </a:r>
            <a:r>
              <a:rPr lang="en-US" dirty="0"/>
              <a:t>,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gây</a:t>
            </a: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lầm</a:t>
            </a:r>
            <a:r>
              <a:rPr lang="en-US" dirty="0"/>
              <a:t>.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dễ</a:t>
            </a: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sai</a:t>
            </a:r>
            <a:r>
              <a:rPr lang="en-US" dirty="0"/>
              <a:t>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.</a:t>
            </a:r>
          </a:p>
          <a:p>
            <a:pPr marL="64008" indent="0">
              <a:buNone/>
            </a:pPr>
            <a:r>
              <a:rPr lang="en-US" dirty="0"/>
              <a:t> V</a:t>
            </a:r>
            <a:r>
              <a:rPr lang="vi-VN" dirty="0"/>
              <a:t>D: Requirement: </a:t>
            </a:r>
            <a:r>
              <a:rPr lang="ja-JP" altLang="en-US" dirty="0"/>
              <a:t>「</a:t>
            </a:r>
            <a:r>
              <a:rPr lang="vi-VN" dirty="0"/>
              <a:t>Tính năng [Quên mật khẩu] </a:t>
            </a:r>
            <a:r>
              <a:rPr lang="en-US" dirty="0"/>
              <a:t>phải</a:t>
            </a:r>
            <a:r>
              <a:rPr lang="vi-VN" dirty="0"/>
              <a:t> thuận lợi cho người sử dụng để dễ dàng lấy lại mật khẩu</a:t>
            </a:r>
            <a:r>
              <a:rPr lang="ja-JP" altLang="en-US" dirty="0"/>
              <a:t>」</a:t>
            </a:r>
            <a:r>
              <a:rPr lang="vi-VN" dirty="0"/>
              <a:t>.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i="1" dirty="0"/>
              <a:t>Bạn nghĩ và </a:t>
            </a:r>
            <a:r>
              <a:rPr lang="en-US" i="1" dirty="0" err="1"/>
              <a:t>tạo</a:t>
            </a:r>
            <a:r>
              <a:rPr lang="en-US" i="1" dirty="0"/>
              <a:t> </a:t>
            </a:r>
            <a:r>
              <a:rPr lang="en-US" i="1" dirty="0" err="1"/>
              <a:t>chức</a:t>
            </a:r>
            <a:r>
              <a:rPr lang="en-US" i="1" dirty="0"/>
              <a:t> </a:t>
            </a:r>
            <a:r>
              <a:rPr lang="en-US" i="1" dirty="0" err="1"/>
              <a:t>năng</a:t>
            </a:r>
            <a:r>
              <a:rPr lang="en-US" i="1" dirty="0"/>
              <a:t> </a:t>
            </a:r>
            <a:r>
              <a:rPr lang="en-US" i="1" dirty="0" err="1"/>
              <a:t>quên</a:t>
            </a:r>
            <a:r>
              <a:rPr lang="en-US" i="1" dirty="0"/>
              <a:t> </a:t>
            </a:r>
            <a:r>
              <a:rPr lang="en-US" i="1" dirty="0" err="1"/>
              <a:t>mật</a:t>
            </a:r>
            <a:r>
              <a:rPr lang="en-US" i="1" dirty="0"/>
              <a:t> </a:t>
            </a:r>
            <a:r>
              <a:rPr lang="en-US" i="1" dirty="0" err="1"/>
              <a:t>khẩu</a:t>
            </a:r>
            <a:r>
              <a:rPr lang="en-US" i="1" dirty="0"/>
              <a:t> qua mail vì </a:t>
            </a:r>
            <a:r>
              <a:rPr lang="en-US" i="1" dirty="0" err="1"/>
              <a:t>thông</a:t>
            </a:r>
            <a:r>
              <a:rPr lang="en-US" i="1" dirty="0"/>
              <a:t> </a:t>
            </a:r>
            <a:r>
              <a:rPr lang="en-US" i="1" dirty="0" err="1"/>
              <a:t>thường</a:t>
            </a:r>
            <a:r>
              <a:rPr lang="en-US" i="1" dirty="0"/>
              <a:t> </a:t>
            </a:r>
            <a:r>
              <a:rPr lang="en-US" i="1" dirty="0" err="1"/>
              <a:t>mọi</a:t>
            </a:r>
            <a:r>
              <a:rPr lang="en-US" i="1" dirty="0"/>
              <a:t> logic </a:t>
            </a:r>
            <a:r>
              <a:rPr lang="en-US" i="1" dirty="0" err="1"/>
              <a:t>đều</a:t>
            </a:r>
            <a:r>
              <a:rPr lang="en-US" i="1" dirty="0"/>
              <a:t> </a:t>
            </a:r>
            <a:r>
              <a:rPr lang="en-US" i="1" dirty="0" err="1"/>
              <a:t>vậy</a:t>
            </a:r>
            <a:r>
              <a:rPr lang="en-US" i="1" dirty="0"/>
              <a:t>. Trong </a:t>
            </a:r>
            <a:r>
              <a:rPr lang="en-US" i="1" dirty="0" err="1"/>
              <a:t>khi</a:t>
            </a:r>
            <a:r>
              <a:rPr lang="en-US" i="1" dirty="0"/>
              <a:t> </a:t>
            </a:r>
            <a:r>
              <a:rPr lang="en-US" i="1" dirty="0" err="1"/>
              <a:t>đó</a:t>
            </a:r>
            <a:r>
              <a:rPr lang="en-US" i="1" dirty="0"/>
              <a:t> </a:t>
            </a:r>
            <a:r>
              <a:rPr lang="en-US" i="1" dirty="0" err="1"/>
              <a:t>thực</a:t>
            </a:r>
            <a:r>
              <a:rPr lang="en-US" i="1" dirty="0"/>
              <a:t> </a:t>
            </a:r>
            <a:r>
              <a:rPr lang="en-US" i="1" dirty="0" err="1"/>
              <a:t>tế</a:t>
            </a:r>
            <a:r>
              <a:rPr lang="en-US" i="1" dirty="0"/>
              <a:t> </a:t>
            </a:r>
            <a:r>
              <a:rPr lang="en-US" i="1" dirty="0" err="1"/>
              <a:t>khách</a:t>
            </a:r>
            <a:r>
              <a:rPr lang="en-US" i="1" dirty="0"/>
              <a:t> </a:t>
            </a:r>
            <a:r>
              <a:rPr lang="en-US" i="1" dirty="0" err="1"/>
              <a:t>hàng</a:t>
            </a:r>
            <a:r>
              <a:rPr lang="en-US" i="1" dirty="0"/>
              <a:t> </a:t>
            </a:r>
            <a:r>
              <a:rPr lang="en-US" i="1" dirty="0" err="1"/>
              <a:t>lại</a:t>
            </a:r>
            <a:r>
              <a:rPr lang="en-US" i="1" dirty="0"/>
              <a:t> </a:t>
            </a:r>
            <a:r>
              <a:rPr lang="en-US" i="1" dirty="0" err="1"/>
              <a:t>nghĩ</a:t>
            </a:r>
            <a:r>
              <a:rPr lang="en-US" i="1" dirty="0"/>
              <a:t> </a:t>
            </a:r>
            <a:r>
              <a:rPr lang="en-US" i="1" dirty="0" err="1"/>
              <a:t>phải</a:t>
            </a:r>
            <a:r>
              <a:rPr lang="en-US" i="1" dirty="0"/>
              <a:t> qua </a:t>
            </a:r>
            <a:r>
              <a:rPr lang="en-US" i="1" dirty="0" err="1"/>
              <a:t>điện</a:t>
            </a:r>
            <a:r>
              <a:rPr lang="en-US" i="1" dirty="0"/>
              <a:t> </a:t>
            </a:r>
            <a:r>
              <a:rPr lang="en-US" i="1" dirty="0" err="1"/>
              <a:t>thoại</a:t>
            </a:r>
            <a:r>
              <a:rPr lang="vi-VN" i="1" dirty="0"/>
              <a:t>.</a:t>
            </a:r>
            <a:endParaRPr lang="vi-VN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: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 err="1"/>
              <a:t>Đặt</a:t>
            </a:r>
            <a:r>
              <a:rPr lang="en-US" dirty="0"/>
              <a:t> Q&amp;A </a:t>
            </a:r>
            <a:r>
              <a:rPr lang="en-US" dirty="0" err="1"/>
              <a:t>xung</a:t>
            </a:r>
            <a:r>
              <a:rPr lang="en-US" dirty="0"/>
              <a:t> </a:t>
            </a:r>
            <a:r>
              <a:rPr lang="en-US" dirty="0" err="1"/>
              <a:t>quanh</a:t>
            </a:r>
            <a:r>
              <a:rPr lang="en-US" dirty="0"/>
              <a:t> vấn </a:t>
            </a:r>
            <a:r>
              <a:rPr lang="en-US" dirty="0" err="1"/>
              <a:t>đề</a:t>
            </a:r>
            <a:r>
              <a:rPr lang="en-US" dirty="0"/>
              <a:t> và confirm ý hiểu với KH.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đưa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</a:t>
            </a:r>
            <a:r>
              <a:rPr lang="en-US" dirty="0" err="1"/>
              <a:t>lựa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KH.</a:t>
            </a:r>
            <a:endParaRPr lang="vi-VN" dirty="0"/>
          </a:p>
          <a:p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416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395"/>
            <a:ext cx="7010400" cy="799306"/>
          </a:xfrm>
        </p:spPr>
        <p:txBody>
          <a:bodyPr/>
          <a:lstStyle/>
          <a:p>
            <a:r>
              <a:rPr lang="en-US" dirty="0"/>
              <a:t>3. </a:t>
            </a:r>
            <a:r>
              <a:rPr lang="en-US" dirty="0" err="1"/>
              <a:t>Xung</a:t>
            </a:r>
            <a:r>
              <a:rPr lang="en-US" dirty="0"/>
              <a:t> </a:t>
            </a:r>
            <a:r>
              <a:rPr lang="en-US" dirty="0" err="1"/>
              <a:t>đột</a:t>
            </a:r>
            <a:r>
              <a:rPr lang="en-US" dirty="0"/>
              <a:t> Requirement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141" y="1150284"/>
            <a:ext cx="8229600" cy="502191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 err="1"/>
              <a:t>Cùng</a:t>
            </a:r>
            <a:r>
              <a:rPr lang="en-US" dirty="0"/>
              <a:t> 1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nhưng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Requirement</a:t>
            </a:r>
            <a:r>
              <a:rPr lang="vi-VN" dirty="0"/>
              <a:t>. </a:t>
            </a:r>
            <a:endParaRPr lang="en-US" dirty="0"/>
          </a:p>
          <a:p>
            <a:pPr marL="64008" indent="0">
              <a:buNone/>
            </a:pPr>
            <a:r>
              <a:rPr lang="en-US" dirty="0"/>
              <a:t>V</a:t>
            </a:r>
            <a:r>
              <a:rPr lang="vi-VN" dirty="0"/>
              <a:t>D: Khách hàng đưa ra yêu cầu: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vi-VN" i="1" dirty="0"/>
              <a:t>Req1: Ứng dụng game cho phép người dùng được sang màn tiếp theo ngay khi đạt 1000 điểm</a:t>
            </a:r>
            <a:r>
              <a:rPr lang="en-US" i="1" dirty="0"/>
              <a:t>.</a:t>
            </a:r>
            <a:endParaRPr lang="vi-VN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vi-VN" i="1" dirty="0"/>
              <a:t>Req2: Người dùng sẽ được chuyển hướng đến trang đăng kí miễn phí một lần nữa khi mà họ đạt 1000 điểm</a:t>
            </a:r>
            <a:r>
              <a:rPr lang="en-US" i="1" dirty="0"/>
              <a:t>.</a:t>
            </a:r>
            <a:endParaRPr lang="vi-VN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 err="1"/>
              <a:t>Phương</a:t>
            </a:r>
            <a:r>
              <a:rPr lang="en-US" dirty="0"/>
              <a:t> án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Q&amp;A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đưa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nhược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mình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761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7315200" cy="799306"/>
          </a:xfrm>
        </p:spPr>
        <p:txBody>
          <a:bodyPr/>
          <a:lstStyle/>
          <a:p>
            <a:r>
              <a:rPr lang="en-US" dirty="0"/>
              <a:t>4. Requirement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cũ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04106"/>
            <a:ext cx="8229600" cy="506809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vi-VN" dirty="0"/>
              <a:t>Có nhiều dự án đã có requirement</a:t>
            </a:r>
            <a:r>
              <a:rPr lang="en-US" dirty="0"/>
              <a:t>, </a:t>
            </a:r>
            <a:r>
              <a:rPr lang="en-US" dirty="0" err="1"/>
              <a:t>nhưng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update </a:t>
            </a:r>
            <a:r>
              <a:rPr lang="en-US" dirty="0" err="1"/>
              <a:t>nên</a:t>
            </a:r>
            <a:r>
              <a:rPr lang="en-US" dirty="0"/>
              <a:t> requirement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đúng</a:t>
            </a:r>
            <a:r>
              <a:rPr lang="en-US" dirty="0"/>
              <a:t> so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VD: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Require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viết</a:t>
            </a:r>
            <a:r>
              <a:rPr lang="en-US" dirty="0"/>
              <a:t>: </a:t>
            </a:r>
            <a:r>
              <a:rPr lang="en-US" dirty="0" err="1"/>
              <a:t>màn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list </a:t>
            </a:r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ban </a:t>
            </a:r>
            <a:r>
              <a:rPr lang="en-US" dirty="0" err="1"/>
              <a:t>đầu</a:t>
            </a:r>
            <a:r>
              <a:rPr lang="en-US" dirty="0"/>
              <a:t> 20 record/1page</a:t>
            </a:r>
            <a:r>
              <a:rPr lang="vi-VN" dirty="0"/>
              <a:t> </a:t>
            </a:r>
            <a:r>
              <a:rPr lang="en-US" dirty="0"/>
              <a:t>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30 record/1page.</a:t>
            </a:r>
            <a:endParaRPr lang="vi-VN" b="1" dirty="0"/>
          </a:p>
          <a:p>
            <a:pPr marL="64008" indent="0">
              <a:buNone/>
            </a:pP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:</a:t>
            </a:r>
          </a:p>
          <a:p>
            <a:pPr marL="537210" lvl="1" indent="0">
              <a:buNone/>
            </a:pPr>
            <a:r>
              <a:rPr lang="en-US" dirty="0" err="1"/>
              <a:t>Trao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Leader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Q&amp;A </a:t>
            </a:r>
            <a:r>
              <a:rPr lang="vi-VN" dirty="0"/>
              <a:t>với khách hàng để làm rõ vấn đề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00923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86400"/>
          </a:xfrm>
        </p:spPr>
        <p:txBody>
          <a:bodyPr>
            <a:normAutofit/>
          </a:bodyPr>
          <a:lstStyle/>
          <a:p>
            <a:pPr marL="64008" indent="0" algn="ctr">
              <a:buNone/>
            </a:pPr>
            <a:endParaRPr lang="en-US" sz="2800" b="1" i="1" dirty="0">
              <a:solidFill>
                <a:srgbClr val="FF0000"/>
              </a:solidFill>
              <a:latin typeface="Baskerville Old Face" panose="02020602080505020303" pitchFamily="18" charset="0"/>
            </a:endParaRPr>
          </a:p>
          <a:p>
            <a:pPr marL="64008" indent="0" algn="ctr">
              <a:buNone/>
            </a:pPr>
            <a:r>
              <a:rPr lang="en-US" sz="3600" b="1" i="1" dirty="0">
                <a:solidFill>
                  <a:srgbClr val="FF0000"/>
                </a:solidFill>
                <a:latin typeface="Baskerville Old Face" panose="02020602080505020303" pitchFamily="18" charset="0"/>
              </a:rPr>
              <a:t>XIN CẢM ƠN VÌ ĐÃ LẮNG NGHE !</a:t>
            </a:r>
          </a:p>
          <a:p>
            <a:pPr marL="64008" indent="0" algn="ctr">
              <a:buNone/>
            </a:pPr>
            <a:endParaRPr lang="en-US" sz="2800" b="1" i="1" dirty="0">
              <a:solidFill>
                <a:srgbClr val="FF0000"/>
              </a:solidFill>
              <a:latin typeface="Baskerville Old Face" panose="02020602080505020303" pitchFamily="18" charset="0"/>
            </a:endParaRPr>
          </a:p>
          <a:p>
            <a:pPr marL="64008" indent="0" algn="ctr">
              <a:buNone/>
            </a:pPr>
            <a:r>
              <a:rPr lang="en-US" sz="13800" b="1" dirty="0"/>
              <a:t>Q&amp;A?</a:t>
            </a:r>
          </a:p>
        </p:txBody>
      </p:sp>
    </p:spTree>
    <p:extLst>
      <p:ext uri="{BB962C8B-B14F-4D97-AF65-F5344CB8AC3E}">
        <p14:creationId xmlns:p14="http://schemas.microsoft.com/office/powerpoint/2010/main" val="19281291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erve">
  <a:themeElements>
    <a:clrScheme name="Custom 48">
      <a:dk1>
        <a:sysClr val="windowText" lastClr="000000"/>
      </a:dk1>
      <a:lt1>
        <a:sysClr val="window" lastClr="FFFFFF"/>
      </a:lt1>
      <a:dk2>
        <a:srgbClr val="262626"/>
      </a:dk2>
      <a:lt2>
        <a:srgbClr val="F2F2F2"/>
      </a:lt2>
      <a:accent1>
        <a:srgbClr val="C94C25"/>
      </a:accent1>
      <a:accent2>
        <a:srgbClr val="EA8640"/>
      </a:accent2>
      <a:accent3>
        <a:srgbClr val="99D9E7"/>
      </a:accent3>
      <a:accent4>
        <a:srgbClr val="FAB17B"/>
      </a:accent4>
      <a:accent5>
        <a:srgbClr val="21B8B3"/>
      </a:accent5>
      <a:accent6>
        <a:srgbClr val="F3786E"/>
      </a:accent6>
      <a:hlink>
        <a:srgbClr val="646567"/>
      </a:hlink>
      <a:folHlink>
        <a:srgbClr val="646567"/>
      </a:folHlink>
    </a:clrScheme>
    <a:fontScheme name="Custom 27">
      <a:majorFont>
        <a:latin typeface="Segoe UI"/>
        <a:ea typeface=""/>
        <a:cs typeface=""/>
      </a:majorFont>
      <a:minorFont>
        <a:latin typeface="Arial"/>
        <a:ea typeface=""/>
        <a:cs typeface="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110000" t="250000" r="110000" b="40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110000" t="250000" r="110000" b="40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0000"/>
                <a:satMod val="130000"/>
              </a:schemeClr>
              <a:schemeClr val="phClr">
                <a:tint val="70000"/>
                <a:satMod val="130000"/>
              </a:schemeClr>
            </a:duotone>
          </a:blip>
          <a:tile tx="0" ty="0" sx="90000" sy="90000" flip="none" algn="t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0167107 - Reporting progress or status presentation - NEW.potx" id="{24ADC811-FCB2-4A9B-852A-BB14EA0B4C87}" vid="{F865C24B-81F8-4D59-BA13-A775229E76B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tf10167107</Template>
  <TotalTime>15158</TotalTime>
  <Words>1054</Words>
  <Application>Microsoft Office PowerPoint</Application>
  <PresentationFormat>On-screen Show (4:3)</PresentationFormat>
  <Paragraphs>88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Baskerville Old Face</vt:lpstr>
      <vt:lpstr>Calibri</vt:lpstr>
      <vt:lpstr>Segoe UI</vt:lpstr>
      <vt:lpstr>Wingdings</vt:lpstr>
      <vt:lpstr>Wingdings 2</vt:lpstr>
      <vt:lpstr>Verve</vt:lpstr>
      <vt:lpstr>CÁCH TÌM HIỂU REQUIREMENT</vt:lpstr>
      <vt:lpstr>NỘI DUNG</vt:lpstr>
      <vt:lpstr>I. Requirement là gì?</vt:lpstr>
      <vt:lpstr>II. Mục tiêu, nguyên tắc tìm hiểu Requirement</vt:lpstr>
      <vt:lpstr>III. Cách thức tìm hiểu Requirement</vt:lpstr>
      <vt:lpstr>III. Cách thức tìm hiểu Requirement</vt:lpstr>
      <vt:lpstr>III. Cách thức tìm hiểu Requirement</vt:lpstr>
      <vt:lpstr>IV. Vấn đề hay gặp khi tìm hiểu req</vt:lpstr>
      <vt:lpstr>1. Không có requirement</vt:lpstr>
      <vt:lpstr>2. Requirement không rõ ràng </vt:lpstr>
      <vt:lpstr>3. Xung đột Requirement </vt:lpstr>
      <vt:lpstr>4. Requirement đã quá cũ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Reporting Progress or Status</dc:title>
  <dc:creator>Duong Thi Hong Diep</dc:creator>
  <cp:lastModifiedBy>Pham Thi Thanh Nga</cp:lastModifiedBy>
  <cp:revision>511</cp:revision>
  <dcterms:created xsi:type="dcterms:W3CDTF">2018-01-16T08:57:41Z</dcterms:created>
  <dcterms:modified xsi:type="dcterms:W3CDTF">2023-05-03T02:53:46Z</dcterms:modified>
</cp:coreProperties>
</file>