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69" r:id="rId2"/>
    <p:sldId id="268" r:id="rId3"/>
    <p:sldId id="277" r:id="rId4"/>
    <p:sldId id="307" r:id="rId5"/>
    <p:sldId id="308" r:id="rId6"/>
    <p:sldId id="306" r:id="rId7"/>
    <p:sldId id="295" r:id="rId8"/>
    <p:sldId id="296" r:id="rId9"/>
    <p:sldId id="318" r:id="rId10"/>
    <p:sldId id="297" r:id="rId11"/>
    <p:sldId id="319" r:id="rId12"/>
    <p:sldId id="299" r:id="rId13"/>
    <p:sldId id="300" r:id="rId14"/>
    <p:sldId id="301" r:id="rId15"/>
    <p:sldId id="302" r:id="rId16"/>
    <p:sldId id="303" r:id="rId17"/>
    <p:sldId id="305" r:id="rId18"/>
    <p:sldId id="294"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FF"/>
    <a:srgbClr val="FFCC66"/>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p:cViewPr varScale="1">
        <p:scale>
          <a:sx n="114" d="100"/>
          <a:sy n="114" d="100"/>
        </p:scale>
        <p:origin x="1752" y="84"/>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4/4/2023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33214543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lstStyle>
          <a:p>
            <a:fld id="{925A17EF-115B-4BB9-BF42-426DFD9E898A}" type="datetimeFigureOut">
              <a:rPr lang="en-US" smtClean="0"/>
              <a:t>4/4/2023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lstStyle>
          <a:p>
            <a:fld id="{7C4E7652-46AF-4259-BAE2-54978EA077CD}" type="slidenum">
              <a:rPr lang="en-US" smtClean="0"/>
              <a:t>‹#›</a:t>
            </a:fld>
            <a:endParaRPr lang="en-US"/>
          </a:p>
        </p:txBody>
      </p:sp>
    </p:spTree>
    <p:extLst>
      <p:ext uri="{BB962C8B-B14F-4D97-AF65-F5344CB8AC3E}">
        <p14:creationId xmlns:p14="http://schemas.microsoft.com/office/powerpoint/2010/main" val="2520838406"/>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1" y="-10825"/>
            <a:ext cx="9144002" cy="6515395"/>
            <a:chOff x="-1" y="-10825"/>
            <a:chExt cx="9144002" cy="6515395"/>
          </a:xfrm>
        </p:grpSpPr>
        <p:pic>
          <p:nvPicPr>
            <p:cNvPr id="11" name="Graphic 10"/>
            <p:cNvPicPr>
              <a:picLocks noChangeAspect="1"/>
            </p:cNvPicPr>
            <p:nvPr userDrawn="1"/>
          </p:nvPicPr>
          <p:blipFill>
            <a:blip r:embed="rId2"/>
            <a:stretch>
              <a:fillRect/>
            </a:stretch>
          </p:blipFill>
          <p:spPr>
            <a:xfrm>
              <a:off x="457200" y="-10825"/>
              <a:ext cx="3429000" cy="3181546"/>
            </a:xfrm>
            <a:prstGeom prst="rect">
              <a:avLst/>
            </a:prstGeom>
          </p:spPr>
        </p:pic>
        <p:pic>
          <p:nvPicPr>
            <p:cNvPr id="12" name="Graphic 11"/>
            <p:cNvPicPr>
              <a:picLocks noChangeAspect="1"/>
            </p:cNvPicPr>
            <p:nvPr userDrawn="1"/>
          </p:nvPicPr>
          <p:blipFill>
            <a:blip r:embed="rId3" cstate="print"/>
            <a:stretch>
              <a:fillRect/>
            </a:stretch>
          </p:blipFill>
          <p:spPr>
            <a:xfrm>
              <a:off x="1295401" y="-10825"/>
              <a:ext cx="7848600" cy="3522243"/>
            </a:xfrm>
            <a:prstGeom prst="rect">
              <a:avLst/>
            </a:prstGeom>
          </p:spPr>
        </p:pic>
        <p:pic>
          <p:nvPicPr>
            <p:cNvPr id="13" name="Graphic 12"/>
            <p:cNvPicPr>
              <a:picLocks noChangeAspect="1"/>
            </p:cNvPicPr>
            <p:nvPr userDrawn="1"/>
          </p:nvPicPr>
          <p:blipFill>
            <a:blip r:embed="rId4"/>
            <a:stretch>
              <a:fillRect/>
            </a:stretch>
          </p:blipFill>
          <p:spPr>
            <a:xfrm>
              <a:off x="2831825" y="2232482"/>
              <a:ext cx="1282976" cy="1108588"/>
            </a:xfrm>
            <a:prstGeom prst="rect">
              <a:avLst/>
            </a:prstGeom>
          </p:spPr>
        </p:pic>
        <p:pic>
          <p:nvPicPr>
            <p:cNvPr id="14" name="Graphic 13"/>
            <p:cNvPicPr>
              <a:picLocks noChangeAspect="1"/>
            </p:cNvPicPr>
            <p:nvPr userDrawn="1"/>
          </p:nvPicPr>
          <p:blipFill>
            <a:blip r:embed="rId5"/>
            <a:stretch>
              <a:fillRect/>
            </a:stretch>
          </p:blipFill>
          <p:spPr>
            <a:xfrm>
              <a:off x="-1" y="2962082"/>
              <a:ext cx="2757625" cy="3542488"/>
            </a:xfrm>
            <a:prstGeom prst="rect">
              <a:avLst/>
            </a:prstGeom>
          </p:spPr>
        </p:pic>
        <p:pic>
          <p:nvPicPr>
            <p:cNvPr id="15" name="Graphic 14"/>
            <p:cNvPicPr>
              <a:picLocks noChangeAspect="1"/>
            </p:cNvPicPr>
            <p:nvPr userDrawn="1"/>
          </p:nvPicPr>
          <p:blipFill>
            <a:blip r:embed="rId6"/>
            <a:stretch>
              <a:fillRect/>
            </a:stretch>
          </p:blipFill>
          <p:spPr>
            <a:xfrm>
              <a:off x="2" y="2313169"/>
              <a:ext cx="2259131" cy="2895506"/>
            </a:xfrm>
            <a:prstGeom prst="rect">
              <a:avLst/>
            </a:prstGeom>
          </p:spPr>
        </p:pic>
      </p:grpSp>
      <p:sp>
        <p:nvSpPr>
          <p:cNvPr id="8" name="Title 7"/>
          <p:cNvSpPr>
            <a:spLocks noGrp="1"/>
          </p:cNvSpPr>
          <p:nvPr>
            <p:ph type="ctrTitle"/>
          </p:nvPr>
        </p:nvSpPr>
        <p:spPr>
          <a:xfrm>
            <a:off x="3276600" y="1213332"/>
            <a:ext cx="5326856" cy="1425577"/>
          </a:xfrm>
        </p:spPr>
        <p:txBody>
          <a:bodyPr anchor="b"/>
          <a:lstStyle>
            <a:lvl1pPr algn="r">
              <a:defRPr sz="4500" b="1">
                <a:solidFill>
                  <a:schemeClr val="bg2"/>
                </a:solidFill>
              </a:defRPr>
            </a:lvl1pPr>
          </a:lstStyle>
          <a:p>
            <a:r>
              <a:rPr lang="en-US"/>
              <a:t>Click to edit Master title style</a:t>
            </a:r>
            <a:endParaRPr lang="en-US" dirty="0"/>
          </a:p>
        </p:txBody>
      </p:sp>
      <p:sp>
        <p:nvSpPr>
          <p:cNvPr id="9" name="Subtitle 8"/>
          <p:cNvSpPr>
            <a:spLocks noGrp="1"/>
          </p:cNvSpPr>
          <p:nvPr>
            <p:ph type="subTitle" idx="1"/>
          </p:nvPr>
        </p:nvSpPr>
        <p:spPr>
          <a:xfrm>
            <a:off x="4724400" y="3849666"/>
            <a:ext cx="3879056" cy="1234575"/>
          </a:xfrm>
          <a:noFill/>
        </p:spPr>
        <p:txBody>
          <a:bodyPr/>
          <a:lstStyle>
            <a:lvl1pPr marL="0" marR="36830" indent="0" algn="l">
              <a:spcBef>
                <a:spcPts val="0"/>
              </a:spcBef>
              <a:buNone/>
              <a:defRPr>
                <a:ln>
                  <a:noFill/>
                </a:ln>
                <a:solidFill>
                  <a:schemeClr val="bg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17" name="Footer Placeholder 16"/>
          <p:cNvSpPr>
            <a:spLocks noGrp="1"/>
          </p:cNvSpPr>
          <p:nvPr>
            <p:ph type="ftr" sz="quarter" idx="11"/>
          </p:nvPr>
        </p:nvSpPr>
        <p:spPr>
          <a:xfrm>
            <a:off x="2812256" y="6111875"/>
            <a:ext cx="5791200" cy="365125"/>
          </a:xfrm>
          <a:prstGeom prst="rect">
            <a:avLst/>
          </a:prstGeom>
        </p:spPr>
        <p:txBody>
          <a:bodyPr tIns="0" bIns="0" anchor="b"/>
          <a:lstStyle>
            <a:lvl1pPr algn="ctr">
              <a:defRPr sz="1400" b="1">
                <a:solidFill>
                  <a:schemeClr val="bg1"/>
                </a:solidFill>
              </a:defRPr>
            </a:lvl1pPr>
          </a:lstStyle>
          <a:p>
            <a:r>
              <a:rPr lang="en-US"/>
              <a:t>Báo cáo tổng kết 2017 - PMO</a:t>
            </a:r>
            <a:endParaRPr lang="en-US" dirty="0"/>
          </a:p>
        </p:txBody>
      </p:sp>
      <p:pic>
        <p:nvPicPr>
          <p:cNvPr id="2051" name="Picture 1" descr="logo+Luvina"/>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295402" cy="787402"/>
          </a:xfrm>
          <a:prstGeom prst="rect">
            <a:avLst/>
          </a:prstGeom>
          <a:noFill/>
          <a:ln>
            <a:noFill/>
          </a:ln>
          <a:effectLst>
            <a:glow>
              <a:schemeClr val="accent1"/>
            </a:glow>
            <a:outerShdw blurRad="177800" dist="50800" dir="5400000" algn="ctr" rotWithShape="0">
              <a:srgbClr val="000000">
                <a:alpha val="0"/>
              </a:srgbClr>
            </a:outerShdw>
            <a:softEdge rad="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65395"/>
            <a:ext cx="4876800" cy="799306"/>
          </a:xfrm>
        </p:spPr>
        <p:txBody>
          <a:bodyPr/>
          <a:lstStyle/>
          <a:p>
            <a:r>
              <a:rPr lang="en-US"/>
              <a:t>Click to edit Master title style</a:t>
            </a:r>
            <a:endParaRPr lang="en-US" dirty="0"/>
          </a:p>
        </p:txBody>
      </p:sp>
      <p:sp>
        <p:nvSpPr>
          <p:cNvPr id="3" name="Content Placeholder 2"/>
          <p:cNvSpPr>
            <a:spLocks noGrp="1"/>
          </p:cNvSpPr>
          <p:nvPr>
            <p:ph idx="1"/>
          </p:nvPr>
        </p:nvSpPr>
        <p:spPr>
          <a:xfrm>
            <a:off x="457200" y="1600200"/>
            <a:ext cx="8229600" cy="4572000"/>
          </a:xfrm>
        </p:spPr>
        <p:txBody>
          <a:bodyPr/>
          <a:lstStyle>
            <a:lvl1pPr>
              <a:defRPr sz="2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Slide Number Placeholder 3"/>
          <p:cNvSpPr>
            <a:spLocks noGrp="1"/>
          </p:cNvSpPr>
          <p:nvPr>
            <p:ph type="sldNum" sz="quarter" idx="11"/>
          </p:nvPr>
        </p:nvSpPr>
        <p:spPr>
          <a:xfrm>
            <a:off x="8183880" y="173195"/>
            <a:ext cx="502920" cy="301752"/>
          </a:xfrm>
          <a:prstGeom prst="rect">
            <a:avLst/>
          </a:prstGeom>
        </p:spPr>
        <p:txBody>
          <a:bodyPr/>
          <a:lstStyle/>
          <a:p>
            <a:fld id="{49598980-D22C-4904-9F8F-3DB09B2ECD84}" type="slidenum">
              <a:rPr lang="en-US" smtClean="0"/>
              <a:t>‹#›</a:t>
            </a:fld>
            <a:endParaRPr lang="en-US" dirty="0"/>
          </a:p>
        </p:txBody>
      </p:sp>
      <p:sp>
        <p:nvSpPr>
          <p:cNvPr id="14" name="Content Placeholder 2"/>
          <p:cNvSpPr>
            <a:spLocks noGrp="1"/>
          </p:cNvSpPr>
          <p:nvPr>
            <p:ph idx="1"/>
          </p:nvPr>
        </p:nvSpPr>
        <p:spPr>
          <a:xfrm>
            <a:off x="457200" y="1425655"/>
            <a:ext cx="7726680" cy="571500"/>
          </a:xfrm>
        </p:spPr>
        <p:txBody>
          <a:bodyPr>
            <a:normAutofit/>
          </a:bodyPr>
          <a:lstStyle>
            <a:lvl1pPr marL="64135" indent="0">
              <a:buFont typeface="Arial" panose="020B0604020202020204" pitchFamily="34" charset="0"/>
              <a:buNone/>
              <a:defRPr sz="2000"/>
            </a:lvl1pPr>
            <a:lvl2pPr marL="537210" indent="0">
              <a:buNone/>
              <a:defRPr/>
            </a:lvl2pPr>
            <a:lvl3pPr marL="877570" indent="0">
              <a:buNone/>
              <a:defRPr/>
            </a:lvl3pPr>
            <a:lvl4pPr marL="1161415" indent="0">
              <a:buNone/>
              <a:defRPr/>
            </a:lvl4pPr>
            <a:lvl5pPr marL="1390015" indent="0">
              <a:buNone/>
              <a:defRPr/>
            </a:lvl5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lgn="l">
              <a:defRPr/>
            </a:lvl1pPr>
          </a:lstStyle>
          <a:p>
            <a:r>
              <a:rPr lang="en-US"/>
              <a:t>Click to edit Master title style</a:t>
            </a:r>
            <a:endParaRPr lang="en-US" dirty="0"/>
          </a:p>
        </p:txBody>
      </p:sp>
      <p:sp>
        <p:nvSpPr>
          <p:cNvPr id="3" name="Content Placeholder 2"/>
          <p:cNvSpPr>
            <a:spLocks noGrp="1"/>
          </p:cNvSpPr>
          <p:nvPr>
            <p:ph sz="half" idx="1"/>
          </p:nvPr>
        </p:nvSpPr>
        <p:spPr>
          <a:xfrm>
            <a:off x="457200" y="1722437"/>
            <a:ext cx="4038600" cy="4525963"/>
          </a:xfrm>
        </p:spPr>
        <p:txBody>
          <a:bodyPr/>
          <a:lstStyle>
            <a:lvl1pPr>
              <a:defRPr sz="20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22437"/>
            <a:ext cx="4038600" cy="4525963"/>
          </a:xfrm>
        </p:spPr>
        <p:txBody>
          <a:bodyPr/>
          <a:lstStyle>
            <a:lvl1pPr>
              <a:defRPr sz="20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1295400"/>
            <a:ext cx="914400" cy="5015864"/>
          </a:xfrm>
        </p:spPr>
        <p:txBody>
          <a:bodyPr vert="vert270" anchor="b"/>
          <a:lstStyle>
            <a:lvl1pPr marL="0" marR="18415" algn="r">
              <a:spcBef>
                <a:spcPts val="0"/>
              </a:spcBef>
              <a:buNone/>
              <a:defRPr sz="29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135856" y="1295400"/>
            <a:ext cx="2438400" cy="5015864"/>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651250" y="1295400"/>
            <a:ext cx="5276088" cy="5013960"/>
          </a:xfrm>
        </p:spPr>
        <p:txBody>
          <a:bodyPr>
            <a:normAutofit/>
          </a:bodyPr>
          <a:lstStyle>
            <a:lvl1pPr>
              <a:spcBef>
                <a:spcPts val="0"/>
              </a:spcBef>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6"/>
          <p:cNvSpPr>
            <a:spLocks noGrp="1"/>
          </p:cNvSpPr>
          <p:nvPr>
            <p:ph type="sldNum" sz="quarter" idx="12"/>
          </p:nvPr>
        </p:nvSpPr>
        <p:spPr>
          <a:xfrm>
            <a:off x="8191596" y="173195"/>
            <a:ext cx="502920" cy="301752"/>
          </a:xfrm>
          <a:prstGeom prst="rect">
            <a:avLst/>
          </a:prstGeom>
        </p:spPr>
        <p:txBody>
          <a:bodyPr/>
          <a:lstStyle>
            <a:lvl1pPr>
              <a:defRPr sz="1200"/>
            </a:lvl1pPr>
          </a:lstStyle>
          <a:p>
            <a:fld id="{FEA1243F-3000-4347-94A4-FBDEAD3122CB}"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4.jpe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66725" y="381198"/>
            <a:ext cx="4638674" cy="675926"/>
          </a:xfrm>
          <a:prstGeom prst="rect">
            <a:avLst/>
          </a:prstGeom>
        </p:spPr>
        <p:txBody>
          <a:bodyPr vert="horz" lIns="0" rIns="0" anchor="ctr">
            <a:noAutofit/>
          </a:bodyPr>
          <a:lstStyle/>
          <a:p>
            <a:endParaRPr lang="en-US" dirty="0"/>
          </a:p>
        </p:txBody>
      </p:sp>
      <p:sp>
        <p:nvSpPr>
          <p:cNvPr id="13" name="Text Placeholder 12"/>
          <p:cNvSpPr>
            <a:spLocks noGrp="1"/>
          </p:cNvSpPr>
          <p:nvPr>
            <p:ph type="body" idx="1"/>
          </p:nvPr>
        </p:nvSpPr>
        <p:spPr>
          <a:xfrm>
            <a:off x="457200" y="1566839"/>
            <a:ext cx="8229600" cy="4572000"/>
          </a:xfrm>
          <a:prstGeom prst="rect">
            <a:avLst/>
          </a:prstGeom>
        </p:spPr>
        <p:txBody>
          <a:bodyPr vert="horz" anchor="t">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1" name="Graphic 20"/>
          <p:cNvPicPr>
            <a:picLocks noChangeAspect="1"/>
          </p:cNvPicPr>
          <p:nvPr userDrawn="1"/>
        </p:nvPicPr>
        <p:blipFill>
          <a:blip r:embed="rId8" cstate="print"/>
          <a:stretch>
            <a:fillRect/>
          </a:stretch>
        </p:blipFill>
        <p:spPr>
          <a:xfrm>
            <a:off x="0" y="5307178"/>
            <a:ext cx="1219200" cy="1550822"/>
          </a:xfrm>
          <a:prstGeom prst="rect">
            <a:avLst/>
          </a:prstGeom>
        </p:spPr>
      </p:pic>
      <p:pic>
        <p:nvPicPr>
          <p:cNvPr id="27" name="Graphic 26"/>
          <p:cNvPicPr>
            <a:picLocks noChangeAspect="1"/>
          </p:cNvPicPr>
          <p:nvPr userDrawn="1"/>
        </p:nvPicPr>
        <p:blipFill>
          <a:blip r:embed="rId9" cstate="print"/>
          <a:stretch>
            <a:fillRect/>
          </a:stretch>
        </p:blipFill>
        <p:spPr>
          <a:xfrm>
            <a:off x="-16459" y="4545317"/>
            <a:ext cx="1248460" cy="1570328"/>
          </a:xfrm>
          <a:prstGeom prst="rect">
            <a:avLst/>
          </a:prstGeom>
        </p:spPr>
      </p:pic>
      <p:pic>
        <p:nvPicPr>
          <p:cNvPr id="1027" name="Picture 1" descr="logo+Luvina"/>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7932591" y="1994"/>
            <a:ext cx="1230913" cy="748202"/>
          </a:xfrm>
          <a:prstGeom prst="rect">
            <a:avLst/>
          </a:prstGeom>
          <a:noFill/>
          <a:ln>
            <a:noFill/>
          </a:ln>
          <a:effectLst>
            <a:outerShdw dist="50800" dir="5400000" algn="ctr" rotWithShape="0">
              <a:srgbClr val="000000">
                <a:alpha val="0"/>
              </a:srgbClr>
            </a:outerShdw>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dt="0"/>
  <p:txStyles>
    <p:titleStyle>
      <a:lvl1pPr marL="182880" algn="l" rtl="0" eaLnBrk="1" latinLnBrk="0" hangingPunct="1">
        <a:spcBef>
          <a:spcPct val="0"/>
        </a:spcBef>
        <a:buNone/>
        <a:defRPr sz="3200" b="1" kern="1200">
          <a:ln w="6350">
            <a:noFill/>
          </a:ln>
          <a:solidFill>
            <a:schemeClr val="accent1"/>
          </a:solidFill>
          <a:effectLst/>
          <a:latin typeface="+mj-lt"/>
          <a:ea typeface="+mj-ea"/>
          <a:cs typeface="+mj-cs"/>
        </a:defRPr>
      </a:lvl1pPr>
    </p:titleStyle>
    <p:bodyStyle>
      <a:lvl1pPr marL="448310" indent="-384175" algn="l" rtl="0" eaLnBrk="1" latinLnBrk="0" hangingPunct="1">
        <a:spcBef>
          <a:spcPct val="20000"/>
        </a:spcBef>
        <a:spcAft>
          <a:spcPts val="1000"/>
        </a:spcAft>
        <a:buClr>
          <a:schemeClr val="accent1"/>
        </a:buClr>
        <a:buSzPct val="80000"/>
        <a:buFont typeface="Arial" panose="020B0604020202020204" pitchFamily="34" charset="0"/>
        <a:buChar char="•"/>
        <a:defRPr sz="2000" kern="1200">
          <a:solidFill>
            <a:schemeClr val="bg2"/>
          </a:solidFill>
          <a:latin typeface="+mn-lt"/>
          <a:ea typeface="+mn-ea"/>
          <a:cs typeface="+mn-cs"/>
        </a:defRPr>
      </a:lvl1pPr>
      <a:lvl2pPr marL="822960" indent="-285750" algn="l" rtl="0" eaLnBrk="1" latinLnBrk="0" hangingPunct="1">
        <a:spcBef>
          <a:spcPct val="20000"/>
        </a:spcBef>
        <a:spcAft>
          <a:spcPts val="1000"/>
        </a:spcAft>
        <a:buClr>
          <a:schemeClr val="accent1"/>
        </a:buClr>
        <a:buSzPct val="95000"/>
        <a:buFont typeface="Arial" panose="020B0604020202020204" pitchFamily="34" charset="0"/>
        <a:buChar char="•"/>
        <a:defRPr sz="1800" kern="1200">
          <a:solidFill>
            <a:schemeClr val="bg2"/>
          </a:solidFill>
          <a:latin typeface="+mn-lt"/>
          <a:ea typeface="+mn-ea"/>
          <a:cs typeface="+mn-cs"/>
        </a:defRPr>
      </a:lvl2pPr>
      <a:lvl3pPr marL="1106170" indent="-228600"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3pPr>
      <a:lvl4pPr marL="13716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4pPr>
      <a:lvl5pPr marL="16002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5pPr>
      <a:lvl6pPr marL="1828800" indent="-210185" algn="l" rtl="0" eaLnBrk="1" latinLnBrk="0" hangingPunct="1">
        <a:spcBef>
          <a:spcPct val="20000"/>
        </a:spcBef>
        <a:buClr>
          <a:schemeClr val="accent1">
            <a:tint val="75000"/>
          </a:schemeClr>
        </a:buClr>
        <a:buFont typeface="Wingdings 2" panose="05020102010507070707"/>
        <a:buChar char=""/>
        <a:defRPr sz="1800" kern="1200">
          <a:solidFill>
            <a:schemeClr val="tx1"/>
          </a:solidFill>
          <a:latin typeface="+mn-lt"/>
          <a:ea typeface="+mn-ea"/>
          <a:cs typeface="+mn-cs"/>
        </a:defRPr>
      </a:lvl6pPr>
      <a:lvl7pPr marL="2084705" indent="-210185"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066800"/>
            <a:ext cx="8001000" cy="1066800"/>
          </a:xfrm>
        </p:spPr>
        <p:txBody>
          <a:bodyPr/>
          <a:lstStyle/>
          <a:p>
            <a:pPr algn="ctr"/>
            <a:r>
              <a:rPr lang="en-US" sz="3600" dirty="0"/>
              <a:t>KỸ </a:t>
            </a:r>
            <a:r>
              <a:rPr lang="en-US" sz="3600"/>
              <a:t>THUẬT TEST </a:t>
            </a:r>
            <a:br>
              <a:rPr lang="en-US" sz="3600" dirty="0"/>
            </a:br>
            <a:r>
              <a:rPr lang="en-US" sz="3600" dirty="0"/>
              <a:t>HỘP ĐEN</a:t>
            </a:r>
          </a:p>
        </p:txBody>
      </p:sp>
      <p:sp>
        <p:nvSpPr>
          <p:cNvPr id="3" name="Subtitle 2"/>
          <p:cNvSpPr>
            <a:spLocks noGrp="1"/>
          </p:cNvSpPr>
          <p:nvPr>
            <p:ph type="subTitle" idx="1"/>
          </p:nvPr>
        </p:nvSpPr>
        <p:spPr>
          <a:xfrm>
            <a:off x="4114800" y="3849666"/>
            <a:ext cx="4488656" cy="1234575"/>
          </a:xfrm>
        </p:spPr>
        <p:txBody>
          <a:bodyPr>
            <a:normAutofit/>
          </a:bodyPr>
          <a:lstStyle/>
          <a:p>
            <a:pPr algn="ctr"/>
            <a:r>
              <a:rPr lang="en-US" dirty="0"/>
              <a:t>Người </a:t>
            </a:r>
            <a:r>
              <a:rPr lang="en-US" dirty="0" err="1"/>
              <a:t>trình</a:t>
            </a:r>
            <a:r>
              <a:rPr lang="en-US" dirty="0"/>
              <a:t> </a:t>
            </a:r>
            <a:r>
              <a:rPr lang="en-US" dirty="0" err="1"/>
              <a:t>bày</a:t>
            </a:r>
            <a:r>
              <a:rPr lang="en-US" dirty="0"/>
              <a:t>: </a:t>
            </a:r>
            <a:r>
              <a:rPr lang="vi-VN" b="1" dirty="0"/>
              <a:t>TMO</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NỘI DUNG</a:t>
            </a:r>
          </a:p>
        </p:txBody>
      </p:sp>
      <p:sp>
        <p:nvSpPr>
          <p:cNvPr id="29" name="Content Placeholder 28"/>
          <p:cNvSpPr>
            <a:spLocks noGrp="1"/>
          </p:cNvSpPr>
          <p:nvPr>
            <p:ph idx="1"/>
          </p:nvPr>
        </p:nvSpPr>
        <p:spPr>
          <a:xfrm>
            <a:off x="1447800" y="1371600"/>
            <a:ext cx="6629400" cy="4191000"/>
          </a:xfrm>
        </p:spPr>
        <p:txBody>
          <a:bodyPr>
            <a:normAutofit/>
          </a:bodyPr>
          <a:lstStyle/>
          <a:p>
            <a:pPr marL="514350" indent="-514350">
              <a:buFont typeface="+mj-lt"/>
              <a:buAutoNum type="arabicPeriod"/>
            </a:pPr>
            <a:r>
              <a:rPr lang="en-US" sz="2400" dirty="0" err="1"/>
              <a:t>Giới</a:t>
            </a:r>
            <a:r>
              <a:rPr lang="en-US" sz="2400" dirty="0"/>
              <a:t> </a:t>
            </a:r>
            <a:r>
              <a:rPr lang="en-US" sz="2400" dirty="0" err="1"/>
              <a:t>thiệu</a:t>
            </a:r>
            <a:r>
              <a:rPr lang="en-US" sz="2400" dirty="0"/>
              <a:t> test </a:t>
            </a:r>
            <a:r>
              <a:rPr lang="en-US" sz="2400" dirty="0" err="1"/>
              <a:t>hộp</a:t>
            </a:r>
            <a:r>
              <a:rPr lang="en-US" sz="2400" dirty="0"/>
              <a:t> </a:t>
            </a:r>
            <a:r>
              <a:rPr lang="en-US" sz="2400" dirty="0" err="1"/>
              <a:t>đen</a:t>
            </a:r>
            <a:endParaRPr lang="en-US" sz="2400" dirty="0"/>
          </a:p>
          <a:p>
            <a:pPr marL="514350" indent="-514350">
              <a:buFont typeface="+mj-lt"/>
              <a:buAutoNum type="arabicPeriod"/>
            </a:pPr>
            <a:r>
              <a:rPr lang="en-US" sz="2400" dirty="0" err="1"/>
              <a:t>Ưu</a:t>
            </a:r>
            <a:r>
              <a:rPr lang="en-US" sz="2400" dirty="0"/>
              <a:t>, </a:t>
            </a:r>
            <a:r>
              <a:rPr lang="en-US" sz="2400" dirty="0" err="1"/>
              <a:t>nhược</a:t>
            </a:r>
            <a:r>
              <a:rPr lang="en-US" sz="2400" dirty="0"/>
              <a:t> </a:t>
            </a:r>
            <a:r>
              <a:rPr lang="en-US" sz="2400" dirty="0" err="1"/>
              <a:t>điểm</a:t>
            </a:r>
            <a:endParaRPr lang="en-US" sz="2400" dirty="0"/>
          </a:p>
          <a:p>
            <a:pPr marL="514350" indent="-514350">
              <a:buFont typeface="+mj-lt"/>
              <a:buAutoNum type="arabicPeriod"/>
            </a:pPr>
            <a:r>
              <a:rPr lang="en-US" sz="2400" dirty="0" err="1"/>
              <a:t>Các</a:t>
            </a:r>
            <a:r>
              <a:rPr lang="en-US" sz="2400" dirty="0"/>
              <a:t> </a:t>
            </a:r>
            <a:r>
              <a:rPr lang="en-US" sz="2400" dirty="0" err="1"/>
              <a:t>phương</a:t>
            </a:r>
            <a:r>
              <a:rPr lang="en-US" sz="2400" dirty="0"/>
              <a:t> </a:t>
            </a:r>
            <a:r>
              <a:rPr lang="en-US" sz="2400" dirty="0" err="1"/>
              <a:t>pháp</a:t>
            </a:r>
            <a:r>
              <a:rPr lang="en-US" sz="2400" dirty="0"/>
              <a:t> test </a:t>
            </a:r>
            <a:r>
              <a:rPr lang="en-US" sz="2400" dirty="0" err="1"/>
              <a:t>hộp</a:t>
            </a:r>
            <a:r>
              <a:rPr lang="en-US" sz="2400" dirty="0"/>
              <a:t> </a:t>
            </a:r>
            <a:r>
              <a:rPr lang="en-US" sz="2400" dirty="0" err="1"/>
              <a:t>đen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030" y="370581"/>
            <a:ext cx="6858000" cy="799306"/>
          </a:xfrm>
        </p:spPr>
        <p:txBody>
          <a:bodyPr/>
          <a:lstStyle/>
          <a:p>
            <a:r>
              <a:rPr lang="en-US" dirty="0"/>
              <a:t>I</a:t>
            </a:r>
            <a:r>
              <a:rPr lang="en-US"/>
              <a:t>. Test hộp </a:t>
            </a:r>
            <a:r>
              <a:rPr lang="en-US" dirty="0" err="1"/>
              <a:t>đen</a:t>
            </a:r>
            <a:br>
              <a:rPr lang="en-US" dirty="0"/>
            </a:br>
            <a:endParaRPr lang="en-US" dirty="0"/>
          </a:p>
        </p:txBody>
      </p:sp>
      <p:sp>
        <p:nvSpPr>
          <p:cNvPr id="3" name="Content Placeholder 2"/>
          <p:cNvSpPr>
            <a:spLocks noGrp="1"/>
          </p:cNvSpPr>
          <p:nvPr>
            <p:ph idx="1"/>
          </p:nvPr>
        </p:nvSpPr>
        <p:spPr>
          <a:xfrm>
            <a:off x="381000" y="1214859"/>
            <a:ext cx="8246783" cy="1887616"/>
          </a:xfrm>
        </p:spPr>
        <p:txBody>
          <a:bodyPr>
            <a:normAutofit fontScale="85000" lnSpcReduction="20000"/>
          </a:bodyPr>
          <a:lstStyle/>
          <a:p>
            <a:pPr algn="just">
              <a:buFont typeface="Wingdings" panose="05000000000000000000" pitchFamily="2" charset="2"/>
              <a:buChar char="v"/>
            </a:pPr>
            <a:r>
              <a:rPr lang="vi-VN" sz="1900" dirty="0"/>
              <a:t>Là </a:t>
            </a:r>
            <a:r>
              <a:rPr lang="en-US" sz="1900" dirty="0"/>
              <a:t>test </a:t>
            </a:r>
            <a:r>
              <a:rPr lang="vi-VN" sz="1900" dirty="0"/>
              <a:t>dựa trên đầu vào</a:t>
            </a:r>
            <a:r>
              <a:rPr lang="en-US" sz="1900" dirty="0"/>
              <a:t>, </a:t>
            </a:r>
            <a:r>
              <a:rPr lang="vi-VN" sz="1900" dirty="0"/>
              <a:t>đầu ra của chương trình mà không quan tâm tới code </a:t>
            </a:r>
            <a:r>
              <a:rPr lang="en-US" sz="1900" dirty="0" err="1"/>
              <a:t>của</a:t>
            </a:r>
            <a:r>
              <a:rPr lang="en-US" sz="1900" dirty="0"/>
              <a:t> </a:t>
            </a:r>
            <a:r>
              <a:rPr lang="en-US" sz="1900" dirty="0" err="1"/>
              <a:t>chương</a:t>
            </a:r>
            <a:r>
              <a:rPr lang="en-US" sz="1900" dirty="0"/>
              <a:t> </a:t>
            </a:r>
            <a:r>
              <a:rPr lang="en-US" sz="1900" dirty="0" err="1"/>
              <a:t>trình</a:t>
            </a:r>
            <a:r>
              <a:rPr lang="en-US" sz="1900" dirty="0"/>
              <a:t> (</a:t>
            </a:r>
            <a:r>
              <a:rPr lang="vi-VN" sz="1900" dirty="0"/>
              <a:t>Tester xem phần mềm như là một hộp đen</a:t>
            </a:r>
            <a:r>
              <a:rPr lang="en-US" sz="1900" dirty="0"/>
              <a:t>).</a:t>
            </a:r>
          </a:p>
          <a:p>
            <a:pPr algn="just">
              <a:buFont typeface="Wingdings" panose="05000000000000000000" pitchFamily="2" charset="2"/>
              <a:buChar char="v"/>
            </a:pPr>
            <a:r>
              <a:rPr lang="vi-VN" sz="1900" dirty="0"/>
              <a:t>Tester chỉ đưa ra các đầu vào hợp lệ và không hợp lệ để xác định các kết quả đầu ra mong đợi chính xác. </a:t>
            </a:r>
            <a:endParaRPr lang="en-US" sz="1900" dirty="0"/>
          </a:p>
          <a:p>
            <a:pPr algn="just">
              <a:buFont typeface="Wingdings" panose="05000000000000000000" pitchFamily="2" charset="2"/>
              <a:buChar char="v"/>
            </a:pPr>
            <a:r>
              <a:rPr lang="vi-VN" sz="1900" dirty="0"/>
              <a:t>Mục đích của Kiểm thử hộp đen là kiểm tra xem phần mềm có hoạt động như mong đợi trong tài liệu yêu cầu hay không và liệu có đáp ứng được tài liệu kỳ vọng của khách hàng hay không?</a:t>
            </a:r>
            <a:endParaRPr lang="en-US" sz="1900" dirty="0"/>
          </a:p>
        </p:txBody>
      </p:sp>
      <p:sp>
        <p:nvSpPr>
          <p:cNvPr id="17" name="TextBox 16"/>
          <p:cNvSpPr txBox="1"/>
          <p:nvPr/>
        </p:nvSpPr>
        <p:spPr>
          <a:xfrm>
            <a:off x="859117" y="3910110"/>
            <a:ext cx="1676400" cy="307777"/>
          </a:xfrm>
          <a:prstGeom prst="rect">
            <a:avLst/>
          </a:prstGeom>
          <a:noFill/>
        </p:spPr>
        <p:txBody>
          <a:bodyPr wrap="square" rtlCol="0">
            <a:spAutoFit/>
          </a:bodyPr>
          <a:lstStyle/>
          <a:p>
            <a:r>
              <a:rPr lang="en-US" sz="1400" u="sng" dirty="0">
                <a:latin typeface="Tahoma" panose="020B0604030504040204" pitchFamily="34" charset="0"/>
                <a:ea typeface="Tahoma" panose="020B0604030504040204" pitchFamily="34" charset="0"/>
                <a:cs typeface="Tahoma" panose="020B0604030504040204" pitchFamily="34" charset="0"/>
              </a:rPr>
              <a:t>Information Area</a:t>
            </a:r>
          </a:p>
        </p:txBody>
      </p:sp>
      <p:sp>
        <p:nvSpPr>
          <p:cNvPr id="24" name="TextBox 23"/>
          <p:cNvSpPr txBox="1"/>
          <p:nvPr/>
        </p:nvSpPr>
        <p:spPr>
          <a:xfrm>
            <a:off x="3428998" y="6564245"/>
            <a:ext cx="972064" cy="369332"/>
          </a:xfrm>
          <a:prstGeom prst="rect">
            <a:avLst/>
          </a:prstGeom>
          <a:noFill/>
        </p:spPr>
        <p:txBody>
          <a:bodyPr wrap="square" rtlCol="0">
            <a:spAutoFit/>
          </a:bodyPr>
          <a:lstStyle/>
          <a:p>
            <a:r>
              <a:rPr lang="en-US" dirty="0"/>
              <a:t>Invalid</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3276600"/>
            <a:ext cx="6755740" cy="304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9067800" cy="838200"/>
          </a:xfrm>
        </p:spPr>
        <p:txBody>
          <a:bodyPr/>
          <a:lstStyle/>
          <a:p>
            <a:r>
              <a:rPr lang="en-US" dirty="0"/>
              <a:t>II. </a:t>
            </a:r>
            <a:r>
              <a:rPr lang="vi-VN" dirty="0"/>
              <a:t>Ưu và nhược điểm</a:t>
            </a:r>
            <a:endParaRPr lang="en-US" dirty="0"/>
          </a:p>
        </p:txBody>
      </p:sp>
      <p:sp>
        <p:nvSpPr>
          <p:cNvPr id="3" name="Content Placeholder 2"/>
          <p:cNvSpPr>
            <a:spLocks noGrp="1"/>
          </p:cNvSpPr>
          <p:nvPr>
            <p:ph idx="1"/>
          </p:nvPr>
        </p:nvSpPr>
        <p:spPr>
          <a:xfrm>
            <a:off x="228600" y="838200"/>
            <a:ext cx="8246783" cy="5486399"/>
          </a:xfrm>
        </p:spPr>
        <p:txBody>
          <a:bodyPr>
            <a:normAutofit/>
          </a:bodyPr>
          <a:lstStyle/>
          <a:p>
            <a:pPr>
              <a:buFont typeface="Wingdings" panose="05000000000000000000" pitchFamily="2" charset="2"/>
              <a:buChar char="v"/>
            </a:pPr>
            <a:r>
              <a:rPr lang="vi-VN" sz="1900" b="1" dirty="0"/>
              <a:t>Ưu điểm</a:t>
            </a:r>
            <a:endParaRPr lang="en-US" sz="1900" b="1" dirty="0"/>
          </a:p>
          <a:p>
            <a:pPr lvl="1">
              <a:buFont typeface="Wingdings" panose="05000000000000000000" pitchFamily="2" charset="2"/>
              <a:buChar char="ü"/>
            </a:pPr>
            <a:r>
              <a:rPr lang="en-US" sz="1900" dirty="0" err="1"/>
              <a:t>Người</a:t>
            </a:r>
            <a:r>
              <a:rPr lang="en-US" sz="1900" dirty="0"/>
              <a:t> test</a:t>
            </a:r>
            <a:r>
              <a:rPr lang="vi-VN" sz="1900" dirty="0"/>
              <a:t> có thể không phải IT chuyên nghiệp</a:t>
            </a:r>
            <a:r>
              <a:rPr lang="en-US" altLang="vi-VN" sz="1900" dirty="0"/>
              <a:t>.</a:t>
            </a:r>
            <a:endParaRPr lang="en-US" sz="1900" dirty="0"/>
          </a:p>
          <a:p>
            <a:pPr lvl="1">
              <a:buFont typeface="Wingdings" panose="05000000000000000000" pitchFamily="2" charset="2"/>
              <a:buChar char="ü"/>
            </a:pPr>
            <a:r>
              <a:rPr lang="en-US" sz="1900" dirty="0"/>
              <a:t>T</a:t>
            </a:r>
            <a:r>
              <a:rPr lang="vi-VN" sz="1900" dirty="0"/>
              <a:t>oàn bộ yêu cầu của </a:t>
            </a:r>
            <a:r>
              <a:rPr lang="en-US" sz="1900" dirty="0" err="1"/>
              <a:t>hệ</a:t>
            </a:r>
            <a:r>
              <a:rPr lang="en-US" sz="1900" dirty="0"/>
              <a:t> </a:t>
            </a:r>
            <a:r>
              <a:rPr lang="en-US" sz="1900" dirty="0" err="1"/>
              <a:t>thống</a:t>
            </a:r>
            <a:r>
              <a:rPr lang="vi-VN" sz="1900" dirty="0"/>
              <a:t> được </a:t>
            </a:r>
            <a:r>
              <a:rPr lang="en-US" sz="1900" dirty="0"/>
              <a:t>test</a:t>
            </a:r>
            <a:r>
              <a:rPr lang="vi-VN" sz="1900" dirty="0"/>
              <a:t> chính xác</a:t>
            </a:r>
            <a:r>
              <a:rPr lang="en-US" altLang="vi-VN" sz="1900" dirty="0"/>
              <a:t>.</a:t>
            </a:r>
            <a:endParaRPr lang="vi-VN" sz="1900" dirty="0"/>
          </a:p>
          <a:p>
            <a:pPr lvl="1">
              <a:buFont typeface="Wingdings" panose="05000000000000000000" pitchFamily="2" charset="2"/>
              <a:buChar char="ü"/>
            </a:pPr>
            <a:r>
              <a:rPr lang="vi-VN" sz="1900" dirty="0"/>
              <a:t>Thiết kế kịch bản </a:t>
            </a:r>
            <a:r>
              <a:rPr lang="en-US" sz="1900" dirty="0"/>
              <a:t>test</a:t>
            </a:r>
            <a:r>
              <a:rPr lang="vi-VN" sz="1900" dirty="0"/>
              <a:t> nhanh, ngay khi mà các yêu cầu chức năng được xác định</a:t>
            </a:r>
            <a:r>
              <a:rPr lang="en-US" altLang="vi-VN" sz="1900" dirty="0"/>
              <a:t>.</a:t>
            </a:r>
            <a:endParaRPr lang="vi-VN" sz="1900" dirty="0"/>
          </a:p>
          <a:p>
            <a:pPr>
              <a:buFont typeface="Wingdings" panose="05000000000000000000" pitchFamily="2" charset="2"/>
              <a:buChar char="v"/>
            </a:pPr>
            <a:r>
              <a:rPr lang="en-US" sz="1900" b="1" dirty="0" err="1"/>
              <a:t>Nhược</a:t>
            </a:r>
            <a:r>
              <a:rPr lang="en-US" sz="1900" b="1" dirty="0"/>
              <a:t> </a:t>
            </a:r>
            <a:r>
              <a:rPr lang="en-US" sz="1900" b="1" dirty="0" err="1"/>
              <a:t>điểm</a:t>
            </a:r>
            <a:endParaRPr lang="en-US" sz="1900" b="1" dirty="0"/>
          </a:p>
          <a:p>
            <a:pPr lvl="1">
              <a:buFont typeface="Wingdings" panose="05000000000000000000" pitchFamily="2" charset="2"/>
              <a:buChar char="ü"/>
            </a:pPr>
            <a:r>
              <a:rPr lang="en-US" sz="1900" dirty="0" err="1"/>
              <a:t>Cần</a:t>
            </a:r>
            <a:r>
              <a:rPr lang="en-US" sz="1900" dirty="0"/>
              <a:t> </a:t>
            </a:r>
            <a:r>
              <a:rPr lang="en-US" sz="1900" dirty="0" err="1"/>
              <a:t>phải</a:t>
            </a:r>
            <a:r>
              <a:rPr lang="en-US" sz="1900" dirty="0"/>
              <a:t> </a:t>
            </a:r>
            <a:r>
              <a:rPr lang="vi-VN" sz="1900" dirty="0"/>
              <a:t>xác định tất cả các yếu tố đầu vào,</a:t>
            </a:r>
            <a:r>
              <a:rPr lang="en-US" sz="1900" dirty="0"/>
              <a:t> đầu </a:t>
            </a:r>
            <a:r>
              <a:rPr lang="en-US" sz="1900" dirty="0" err="1"/>
              <a:t>ra</a:t>
            </a:r>
            <a:r>
              <a:rPr lang="en-US" sz="1900" dirty="0"/>
              <a:t> </a:t>
            </a:r>
            <a:r>
              <a:rPr lang="en-US" sz="1900" dirty="0" err="1"/>
              <a:t>cho</a:t>
            </a:r>
            <a:r>
              <a:rPr lang="en-US" sz="1900" dirty="0"/>
              <a:t> tất cả các case test </a:t>
            </a:r>
            <a:r>
              <a:rPr lang="ja-JP" altLang="en-US" sz="1900" dirty="0"/>
              <a:t>➡</a:t>
            </a:r>
            <a:r>
              <a:rPr lang="en-US" sz="1900" dirty="0"/>
              <a:t> </a:t>
            </a:r>
            <a:r>
              <a:rPr lang="en-US" sz="1900" dirty="0" err="1"/>
              <a:t>Khối</a:t>
            </a:r>
            <a:r>
              <a:rPr lang="en-US" sz="1900" dirty="0"/>
              <a:t> </a:t>
            </a:r>
            <a:r>
              <a:rPr lang="en-US" sz="1900" dirty="0" err="1"/>
              <a:t>lượng</a:t>
            </a:r>
            <a:r>
              <a:rPr lang="en-US" sz="1900" dirty="0"/>
              <a:t> có </a:t>
            </a:r>
            <a:r>
              <a:rPr lang="en-US" sz="1900" dirty="0" err="1"/>
              <a:t>thể</a:t>
            </a:r>
            <a:r>
              <a:rPr lang="en-US" sz="1900" dirty="0"/>
              <a:t> nhiều </a:t>
            </a:r>
            <a:r>
              <a:rPr lang="en-US" sz="1900" dirty="0" err="1"/>
              <a:t>gây</a:t>
            </a:r>
            <a:r>
              <a:rPr lang="en-US" sz="1900" dirty="0"/>
              <a:t> </a:t>
            </a:r>
            <a:r>
              <a:rPr lang="en-US" sz="1900" dirty="0" err="1"/>
              <a:t>tốn</a:t>
            </a:r>
            <a:r>
              <a:rPr lang="vi-VN" sz="1900" dirty="0"/>
              <a:t> thời gian.</a:t>
            </a:r>
          </a:p>
        </p:txBody>
      </p:sp>
      <p:sp>
        <p:nvSpPr>
          <p:cNvPr id="24" name="TextBox 23"/>
          <p:cNvSpPr txBox="1"/>
          <p:nvPr/>
        </p:nvSpPr>
        <p:spPr>
          <a:xfrm>
            <a:off x="3428998" y="6564245"/>
            <a:ext cx="972064" cy="369332"/>
          </a:xfrm>
          <a:prstGeom prst="rect">
            <a:avLst/>
          </a:prstGeom>
          <a:noFill/>
        </p:spPr>
        <p:txBody>
          <a:bodyPr wrap="square" rtlCol="0">
            <a:spAutoFit/>
          </a:bodyPr>
          <a:lstStyle/>
          <a:p>
            <a:r>
              <a:rPr lang="en-US" dirty="0"/>
              <a:t>Invalid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 y="304800"/>
            <a:ext cx="8246783" cy="636921"/>
          </a:xfrm>
        </p:spPr>
        <p:txBody>
          <a:bodyPr/>
          <a:lstStyle/>
          <a:p>
            <a:r>
              <a:rPr lang="en-US" dirty="0"/>
              <a:t>III. </a:t>
            </a:r>
            <a:r>
              <a:rPr lang="en-US" dirty="0" err="1"/>
              <a:t>Các</a:t>
            </a:r>
            <a:r>
              <a:rPr lang="en-US" dirty="0"/>
              <a:t> </a:t>
            </a:r>
            <a:r>
              <a:rPr lang="en-US" dirty="0" err="1"/>
              <a:t>phương</a:t>
            </a:r>
            <a:r>
              <a:rPr lang="en-US" dirty="0"/>
              <a:t> </a:t>
            </a:r>
            <a:r>
              <a:rPr lang="en-US" dirty="0" err="1"/>
              <a:t>pháp</a:t>
            </a:r>
            <a:r>
              <a:rPr lang="en-US" dirty="0"/>
              <a:t> test </a:t>
            </a:r>
            <a:r>
              <a:rPr lang="en-US" dirty="0" err="1"/>
              <a:t>hộp</a:t>
            </a:r>
            <a:r>
              <a:rPr lang="en-US" dirty="0"/>
              <a:t> </a:t>
            </a:r>
            <a:r>
              <a:rPr lang="en-US" dirty="0" err="1"/>
              <a:t>đen</a:t>
            </a:r>
            <a:endParaRPr lang="en-US" dirty="0"/>
          </a:p>
        </p:txBody>
      </p:sp>
      <p:sp>
        <p:nvSpPr>
          <p:cNvPr id="3" name="Content Placeholder 2"/>
          <p:cNvSpPr>
            <a:spLocks noGrp="1"/>
          </p:cNvSpPr>
          <p:nvPr>
            <p:ph idx="1"/>
          </p:nvPr>
        </p:nvSpPr>
        <p:spPr>
          <a:xfrm>
            <a:off x="228600" y="1066800"/>
            <a:ext cx="8246783" cy="5257799"/>
          </a:xfrm>
        </p:spPr>
        <p:txBody>
          <a:bodyPr>
            <a:normAutofit/>
          </a:bodyPr>
          <a:lstStyle/>
          <a:p>
            <a:pPr marL="457200" indent="-457200">
              <a:buFont typeface="+mj-lt"/>
              <a:buAutoNum type="arabicPeriod" startAt="3"/>
            </a:pPr>
            <a:endParaRPr lang="en-US" sz="1900" dirty="0"/>
          </a:p>
          <a:p>
            <a:pPr marL="0" indent="0">
              <a:buNone/>
            </a:pPr>
            <a:r>
              <a:rPr lang="en-US" sz="1900" dirty="0">
                <a:solidFill>
                  <a:schemeClr val="accent2">
                    <a:lumMod val="75000"/>
                  </a:schemeClr>
                </a:solidFill>
              </a:rPr>
              <a:t>3. 1 </a:t>
            </a:r>
            <a:r>
              <a:rPr lang="vi-VN" sz="1900" dirty="0"/>
              <a:t>Phân lớp tương đương(Equivalence Partitioning)- EP</a:t>
            </a:r>
            <a:r>
              <a:rPr lang="en-US" altLang="vi-VN" sz="1900" dirty="0"/>
              <a:t>.</a:t>
            </a:r>
            <a:endParaRPr lang="en-US" sz="1900" dirty="0"/>
          </a:p>
          <a:p>
            <a:pPr marL="0" indent="0">
              <a:buNone/>
            </a:pPr>
            <a:r>
              <a:rPr lang="en-US" sz="1900" dirty="0">
                <a:solidFill>
                  <a:schemeClr val="accent2">
                    <a:lumMod val="75000"/>
                  </a:schemeClr>
                </a:solidFill>
              </a:rPr>
              <a:t>3. 2 </a:t>
            </a:r>
            <a:r>
              <a:rPr lang="vi-VN" sz="1900" dirty="0"/>
              <a:t>Phân tích giá trị biên (Boundary Value Analysis) – BVA</a:t>
            </a:r>
            <a:r>
              <a:rPr lang="en-US" altLang="vi-VN" sz="1900" dirty="0"/>
              <a:t>.</a:t>
            </a:r>
            <a:endParaRPr lang="en-US" sz="1900" dirty="0"/>
          </a:p>
          <a:p>
            <a:pPr marL="0" indent="0">
              <a:buNone/>
            </a:pPr>
            <a:r>
              <a:rPr lang="en-US" sz="1900" dirty="0">
                <a:solidFill>
                  <a:schemeClr val="accent2">
                    <a:lumMod val="75000"/>
                  </a:schemeClr>
                </a:solidFill>
              </a:rPr>
              <a:t>3. 3 </a:t>
            </a:r>
            <a:r>
              <a:rPr lang="vi-VN" sz="1900" dirty="0"/>
              <a:t>Bảng quyết định (Decision Table)</a:t>
            </a:r>
            <a:r>
              <a:rPr lang="en-US" altLang="vi-VN" sz="1900" dirty="0"/>
              <a:t>.</a:t>
            </a:r>
            <a:endParaRPr lang="en-US" sz="1900" dirty="0"/>
          </a:p>
          <a:p>
            <a:pPr marL="0" indent="0">
              <a:buNone/>
            </a:pPr>
            <a:r>
              <a:rPr lang="en-US" sz="1900" dirty="0">
                <a:solidFill>
                  <a:schemeClr val="accent4">
                    <a:lumMod val="75000"/>
                  </a:schemeClr>
                </a:solidFill>
              </a:rPr>
              <a:t>3. 4 </a:t>
            </a:r>
            <a:r>
              <a:rPr lang="vi-VN" sz="1900" dirty="0">
                <a:solidFill>
                  <a:schemeClr val="accent4">
                    <a:lumMod val="75000"/>
                  </a:schemeClr>
                </a:solidFill>
              </a:rPr>
              <a:t>Biểu đồ dịch chuyển trạng thái (State Transation)</a:t>
            </a:r>
            <a:r>
              <a:rPr lang="en-US" altLang="vi-VN" sz="1900" dirty="0">
                <a:solidFill>
                  <a:schemeClr val="accent4">
                    <a:lumMod val="75000"/>
                  </a:schemeClr>
                </a:solidFill>
              </a:rPr>
              <a:t>.</a:t>
            </a:r>
            <a:endParaRPr lang="en-US" sz="1900" dirty="0">
              <a:solidFill>
                <a:schemeClr val="accent4">
                  <a:lumMod val="75000"/>
                </a:schemeClr>
              </a:solidFill>
            </a:endParaRPr>
          </a:p>
          <a:p>
            <a:pPr marL="0" indent="0">
              <a:buNone/>
            </a:pPr>
            <a:r>
              <a:rPr lang="en-US" sz="1900" dirty="0">
                <a:solidFill>
                  <a:schemeClr val="accent4">
                    <a:lumMod val="75000"/>
                  </a:schemeClr>
                </a:solidFill>
              </a:rPr>
              <a:t>3. 5 </a:t>
            </a:r>
            <a:r>
              <a:rPr lang="vi-VN" sz="1900" dirty="0">
                <a:solidFill>
                  <a:schemeClr val="accent4">
                    <a:lumMod val="75000"/>
                  </a:schemeClr>
                </a:solidFill>
              </a:rPr>
              <a:t>Use case testing</a:t>
            </a:r>
            <a:r>
              <a:rPr lang="en-US" altLang="vi-VN" sz="1900" dirty="0">
                <a:solidFill>
                  <a:schemeClr val="accent4">
                    <a:lumMod val="75000"/>
                  </a:schemeClr>
                </a:solidFill>
              </a:rPr>
              <a:t>.</a:t>
            </a:r>
          </a:p>
          <a:p>
            <a:pPr marL="0" lvl="1" indent="0">
              <a:buSzPct val="80000"/>
              <a:buNone/>
            </a:pPr>
            <a:r>
              <a:rPr lang="en-US" sz="1900" dirty="0">
                <a:solidFill>
                  <a:schemeClr val="bg1"/>
                </a:solidFill>
              </a:rPr>
              <a:t>*** </a:t>
            </a:r>
            <a:r>
              <a:rPr lang="en-US" sz="1900" dirty="0" err="1">
                <a:solidFill>
                  <a:schemeClr val="bg1"/>
                </a:solidFill>
              </a:rPr>
              <a:t>Tại</a:t>
            </a:r>
            <a:r>
              <a:rPr lang="en-US" sz="1900" dirty="0">
                <a:solidFill>
                  <a:schemeClr val="bg1"/>
                </a:solidFill>
              </a:rPr>
              <a:t> </a:t>
            </a:r>
            <a:r>
              <a:rPr lang="en-US" sz="1900" dirty="0" err="1">
                <a:solidFill>
                  <a:schemeClr val="bg1"/>
                </a:solidFill>
              </a:rPr>
              <a:t>Luvina</a:t>
            </a:r>
            <a:r>
              <a:rPr lang="en-US" sz="1900" dirty="0">
                <a:solidFill>
                  <a:schemeClr val="bg1"/>
                </a:solidFill>
              </a:rPr>
              <a:t> </a:t>
            </a:r>
            <a:r>
              <a:rPr lang="en-US" sz="1900" dirty="0" err="1">
                <a:solidFill>
                  <a:schemeClr val="bg1"/>
                </a:solidFill>
              </a:rPr>
              <a:t>thì</a:t>
            </a:r>
            <a:r>
              <a:rPr lang="en-US" sz="1900" dirty="0">
                <a:solidFill>
                  <a:schemeClr val="bg1"/>
                </a:solidFill>
              </a:rPr>
              <a:t> </a:t>
            </a:r>
            <a:r>
              <a:rPr lang="en-US" sz="1900" dirty="0">
                <a:solidFill>
                  <a:schemeClr val="accent2">
                    <a:lumMod val="75000"/>
                  </a:schemeClr>
                </a:solidFill>
              </a:rPr>
              <a:t>3. 4</a:t>
            </a:r>
            <a:r>
              <a:rPr lang="en-US" sz="1900" dirty="0">
                <a:solidFill>
                  <a:schemeClr val="bg1"/>
                </a:solidFill>
              </a:rPr>
              <a:t> </a:t>
            </a:r>
            <a:r>
              <a:rPr lang="en-US" sz="1900" dirty="0" err="1">
                <a:solidFill>
                  <a:schemeClr val="bg1"/>
                </a:solidFill>
              </a:rPr>
              <a:t>và</a:t>
            </a:r>
            <a:r>
              <a:rPr lang="en-US" sz="1900" dirty="0">
                <a:solidFill>
                  <a:schemeClr val="bg1"/>
                </a:solidFill>
              </a:rPr>
              <a:t> </a:t>
            </a:r>
            <a:r>
              <a:rPr lang="en-US" sz="1900" dirty="0">
                <a:solidFill>
                  <a:schemeClr val="accent2">
                    <a:lumMod val="75000"/>
                  </a:schemeClr>
                </a:solidFill>
              </a:rPr>
              <a:t>3. 5</a:t>
            </a:r>
            <a:r>
              <a:rPr lang="en-US" sz="1900" dirty="0">
                <a:solidFill>
                  <a:schemeClr val="bg1"/>
                </a:solidFill>
              </a:rPr>
              <a:t> </a:t>
            </a:r>
            <a:r>
              <a:rPr lang="en-US" sz="1900" dirty="0" err="1">
                <a:solidFill>
                  <a:schemeClr val="bg1"/>
                </a:solidFill>
              </a:rPr>
              <a:t>là</a:t>
            </a:r>
            <a:r>
              <a:rPr lang="en-US" sz="1900" dirty="0">
                <a:solidFill>
                  <a:schemeClr val="bg1"/>
                </a:solidFill>
              </a:rPr>
              <a:t> </a:t>
            </a:r>
            <a:r>
              <a:rPr lang="en-US" sz="1900" dirty="0" err="1">
                <a:solidFill>
                  <a:schemeClr val="bg1"/>
                </a:solidFill>
              </a:rPr>
              <a:t>loại</a:t>
            </a:r>
            <a:r>
              <a:rPr lang="en-US" sz="1900" dirty="0">
                <a:solidFill>
                  <a:schemeClr val="bg1"/>
                </a:solidFill>
              </a:rPr>
              <a:t> </a:t>
            </a:r>
            <a:r>
              <a:rPr lang="en-US" sz="1900" dirty="0" err="1">
                <a:solidFill>
                  <a:schemeClr val="bg1"/>
                </a:solidFill>
              </a:rPr>
              <a:t>không</a:t>
            </a:r>
            <a:r>
              <a:rPr lang="en-US" sz="1900" dirty="0">
                <a:solidFill>
                  <a:schemeClr val="bg1"/>
                </a:solidFill>
              </a:rPr>
              <a:t> </a:t>
            </a:r>
            <a:r>
              <a:rPr lang="en-US" sz="1900" dirty="0" err="1">
                <a:solidFill>
                  <a:schemeClr val="bg1"/>
                </a:solidFill>
              </a:rPr>
              <a:t>sử</a:t>
            </a:r>
            <a:r>
              <a:rPr lang="en-US" sz="1900" dirty="0">
                <a:solidFill>
                  <a:schemeClr val="bg1"/>
                </a:solidFill>
              </a:rPr>
              <a:t> </a:t>
            </a:r>
            <a:r>
              <a:rPr lang="en-US" sz="1900" dirty="0" err="1">
                <a:solidFill>
                  <a:schemeClr val="bg1"/>
                </a:solidFill>
              </a:rPr>
              <a:t>dụng</a:t>
            </a:r>
            <a:r>
              <a:rPr lang="en-US" sz="1900" dirty="0">
                <a:solidFill>
                  <a:schemeClr val="bg1"/>
                </a:solidFill>
              </a:rPr>
              <a:t> ***</a:t>
            </a:r>
          </a:p>
          <a:p>
            <a:pPr marL="342900" indent="-342900">
              <a:buFont typeface="Wingdings" panose="05000000000000000000" pitchFamily="2" charset="2"/>
              <a:buChar char="Ø"/>
            </a:pPr>
            <a:endParaRPr lang="en-US" sz="1900" dirty="0"/>
          </a:p>
          <a:p>
            <a:pPr marL="877570" lvl="2" indent="0">
              <a:buNone/>
            </a:pPr>
            <a:endParaRPr lang="en-US" sz="1900" dirty="0"/>
          </a:p>
          <a:p>
            <a:endParaRPr lang="en-US" sz="1900" dirty="0"/>
          </a:p>
          <a:p>
            <a:pPr marL="64135" indent="0">
              <a:buNone/>
            </a:pPr>
            <a:endParaRPr lang="en-US" sz="1900" dirty="0"/>
          </a:p>
        </p:txBody>
      </p:sp>
      <p:sp>
        <p:nvSpPr>
          <p:cNvPr id="24" name="TextBox 23"/>
          <p:cNvSpPr txBox="1"/>
          <p:nvPr/>
        </p:nvSpPr>
        <p:spPr>
          <a:xfrm>
            <a:off x="3428998" y="6564245"/>
            <a:ext cx="972064" cy="369332"/>
          </a:xfrm>
          <a:prstGeom prst="rect">
            <a:avLst/>
          </a:prstGeom>
          <a:noFill/>
        </p:spPr>
        <p:txBody>
          <a:bodyPr wrap="square" rtlCol="0">
            <a:spAutoFit/>
          </a:bodyPr>
          <a:lstStyle/>
          <a:p>
            <a:r>
              <a:rPr lang="en-US" dirty="0"/>
              <a:t>Invalid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6858000" cy="799306"/>
          </a:xfrm>
        </p:spPr>
        <p:txBody>
          <a:bodyPr/>
          <a:lstStyle/>
          <a:p>
            <a:r>
              <a:rPr lang="en-US" dirty="0"/>
              <a:t>3.1 P</a:t>
            </a:r>
            <a:r>
              <a:rPr lang="vi-VN" dirty="0"/>
              <a:t>hân lớp tương đương</a:t>
            </a:r>
            <a:endParaRPr lang="en-US" dirty="0"/>
          </a:p>
        </p:txBody>
      </p:sp>
      <p:sp>
        <p:nvSpPr>
          <p:cNvPr id="3" name="Content Placeholder 2"/>
          <p:cNvSpPr>
            <a:spLocks noGrp="1"/>
          </p:cNvSpPr>
          <p:nvPr>
            <p:ph idx="1"/>
          </p:nvPr>
        </p:nvSpPr>
        <p:spPr>
          <a:xfrm>
            <a:off x="329708" y="775871"/>
            <a:ext cx="8673706" cy="3527159"/>
          </a:xfrm>
        </p:spPr>
        <p:txBody>
          <a:bodyPr>
            <a:noAutofit/>
          </a:bodyPr>
          <a:lstStyle/>
          <a:p>
            <a:pPr>
              <a:buFont typeface="Wingdings" panose="05000000000000000000" pitchFamily="2" charset="2"/>
              <a:buChar char="v"/>
            </a:pPr>
            <a:r>
              <a:rPr lang="en-US" sz="1900" dirty="0" err="1"/>
              <a:t>Phân</a:t>
            </a:r>
            <a:r>
              <a:rPr lang="en-US" sz="1900" dirty="0"/>
              <a:t> c</a:t>
            </a:r>
            <a:r>
              <a:rPr lang="vi-VN" sz="1900" dirty="0"/>
              <a:t>hia </a:t>
            </a:r>
            <a:r>
              <a:rPr lang="en-US" sz="1900" dirty="0" err="1"/>
              <a:t>các</a:t>
            </a:r>
            <a:r>
              <a:rPr lang="en-US" sz="1900" dirty="0"/>
              <a:t> </a:t>
            </a:r>
            <a:r>
              <a:rPr lang="en-US" sz="1900" dirty="0" err="1"/>
              <a:t>giá</a:t>
            </a:r>
            <a:r>
              <a:rPr lang="en-US" sz="1900" dirty="0"/>
              <a:t> </a:t>
            </a:r>
            <a:r>
              <a:rPr lang="en-US" sz="1900" dirty="0" err="1"/>
              <a:t>trị</a:t>
            </a:r>
            <a:r>
              <a:rPr lang="en-US" sz="1900" dirty="0"/>
              <a:t> </a:t>
            </a:r>
            <a:r>
              <a:rPr lang="en-US" sz="1900" dirty="0" err="1"/>
              <a:t>đầu</a:t>
            </a:r>
            <a:r>
              <a:rPr lang="en-US" sz="1900" dirty="0"/>
              <a:t> </a:t>
            </a:r>
            <a:r>
              <a:rPr lang="en-US" sz="1900" dirty="0" err="1"/>
              <a:t>vào</a:t>
            </a:r>
            <a:r>
              <a:rPr lang="en-US" sz="1900" dirty="0"/>
              <a:t>, </a:t>
            </a:r>
            <a:r>
              <a:rPr lang="en-US" sz="1900" dirty="0" err="1"/>
              <a:t>đầu</a:t>
            </a:r>
            <a:r>
              <a:rPr lang="en-US" sz="1900" dirty="0"/>
              <a:t> </a:t>
            </a:r>
            <a:r>
              <a:rPr lang="en-US" sz="1900" dirty="0" err="1"/>
              <a:t>ra</a:t>
            </a:r>
            <a:r>
              <a:rPr lang="en-US" sz="1900" dirty="0"/>
              <a:t> </a:t>
            </a:r>
            <a:r>
              <a:rPr lang="en-US" sz="1900" dirty="0" err="1"/>
              <a:t>thành</a:t>
            </a:r>
            <a:r>
              <a:rPr lang="en-US" sz="1900" dirty="0"/>
              <a:t> </a:t>
            </a:r>
            <a:r>
              <a:rPr lang="en-US" sz="1900" dirty="0" err="1"/>
              <a:t>các</a:t>
            </a:r>
            <a:r>
              <a:rPr lang="en-US" sz="1900" dirty="0"/>
              <a:t> </a:t>
            </a:r>
            <a:r>
              <a:rPr lang="en-US" sz="1900" dirty="0" err="1"/>
              <a:t>phân</a:t>
            </a:r>
            <a:r>
              <a:rPr lang="en-US" sz="1900" dirty="0"/>
              <a:t> </a:t>
            </a:r>
            <a:r>
              <a:rPr lang="en-US" sz="1900" dirty="0" err="1"/>
              <a:t>vùng</a:t>
            </a:r>
            <a:r>
              <a:rPr lang="en-US" sz="1900" dirty="0"/>
              <a:t> </a:t>
            </a:r>
            <a:r>
              <a:rPr lang="en-US" sz="1900" dirty="0" err="1"/>
              <a:t>tương</a:t>
            </a:r>
            <a:r>
              <a:rPr lang="en-US" sz="1900" dirty="0"/>
              <a:t> </a:t>
            </a:r>
            <a:r>
              <a:rPr lang="en-US" sz="1900" dirty="0" err="1"/>
              <a:t>đương</a:t>
            </a:r>
            <a:r>
              <a:rPr lang="en-US" sz="1900" dirty="0"/>
              <a:t> (</a:t>
            </a:r>
            <a:r>
              <a:rPr lang="en-US" sz="1900" dirty="0" err="1"/>
              <a:t>bao</a:t>
            </a:r>
            <a:r>
              <a:rPr lang="en-US" sz="1900" dirty="0"/>
              <a:t> </a:t>
            </a:r>
            <a:r>
              <a:rPr lang="en-US" sz="1900" dirty="0" err="1"/>
              <a:t>gồm</a:t>
            </a:r>
            <a:r>
              <a:rPr lang="en-US" sz="1900" dirty="0"/>
              <a:t> </a:t>
            </a:r>
            <a:r>
              <a:rPr lang="en-US" sz="1900" dirty="0" err="1"/>
              <a:t>các</a:t>
            </a:r>
            <a:r>
              <a:rPr lang="en-US" sz="1900" dirty="0"/>
              <a:t> </a:t>
            </a:r>
            <a:r>
              <a:rPr lang="en-US" sz="1900" dirty="0" err="1"/>
              <a:t>vùng</a:t>
            </a:r>
            <a:r>
              <a:rPr lang="en-US" sz="1900" dirty="0"/>
              <a:t> </a:t>
            </a:r>
            <a:r>
              <a:rPr lang="en-US" sz="1900" dirty="0" err="1"/>
              <a:t>hợp</a:t>
            </a:r>
            <a:r>
              <a:rPr lang="en-US" sz="1900" dirty="0"/>
              <a:t> </a:t>
            </a:r>
            <a:r>
              <a:rPr lang="en-US" sz="1900" dirty="0" err="1"/>
              <a:t>lệ</a:t>
            </a:r>
            <a:r>
              <a:rPr lang="en-US" sz="1900" dirty="0"/>
              <a:t>, </a:t>
            </a:r>
            <a:r>
              <a:rPr lang="en-US" sz="1900" dirty="0" err="1"/>
              <a:t>các</a:t>
            </a:r>
            <a:r>
              <a:rPr lang="en-US" sz="1900" dirty="0"/>
              <a:t> </a:t>
            </a:r>
            <a:r>
              <a:rPr lang="en-US" sz="1900" dirty="0" err="1"/>
              <a:t>vùng</a:t>
            </a:r>
            <a:r>
              <a:rPr lang="en-US" sz="1900" dirty="0"/>
              <a:t> </a:t>
            </a:r>
            <a:r>
              <a:rPr lang="en-US" sz="1900" dirty="0" err="1"/>
              <a:t>không</a:t>
            </a:r>
            <a:r>
              <a:rPr lang="en-US" sz="1900" dirty="0"/>
              <a:t> </a:t>
            </a:r>
            <a:r>
              <a:rPr lang="en-US" sz="1900" dirty="0" err="1"/>
              <a:t>hợp</a:t>
            </a:r>
            <a:r>
              <a:rPr lang="en-US" sz="1900" dirty="0"/>
              <a:t> </a:t>
            </a:r>
            <a:r>
              <a:rPr lang="en-US" sz="1900" dirty="0" err="1"/>
              <a:t>lệ</a:t>
            </a:r>
            <a:r>
              <a:rPr lang="en-US" sz="1900" dirty="0"/>
              <a:t>). </a:t>
            </a:r>
            <a:r>
              <a:rPr lang="en-US" sz="1900" dirty="0" err="1"/>
              <a:t>Mỗi</a:t>
            </a:r>
            <a:r>
              <a:rPr lang="en-US" sz="1900" dirty="0"/>
              <a:t> </a:t>
            </a:r>
            <a:r>
              <a:rPr lang="en-US" sz="1900" dirty="0" err="1"/>
              <a:t>phân</a:t>
            </a:r>
            <a:r>
              <a:rPr lang="en-US" sz="1900" dirty="0"/>
              <a:t> </a:t>
            </a:r>
            <a:r>
              <a:rPr lang="en-US" sz="1900" dirty="0" err="1"/>
              <a:t>vùng</a:t>
            </a:r>
            <a:r>
              <a:rPr lang="en-US" sz="1900" dirty="0"/>
              <a:t> </a:t>
            </a:r>
            <a:r>
              <a:rPr lang="en-US" sz="1900" dirty="0" err="1"/>
              <a:t>sẽ</a:t>
            </a:r>
            <a:r>
              <a:rPr lang="en-US" sz="1900" dirty="0"/>
              <a:t> </a:t>
            </a:r>
            <a:r>
              <a:rPr lang="en-US" sz="1900" dirty="0" err="1"/>
              <a:t>chọn</a:t>
            </a:r>
            <a:r>
              <a:rPr lang="en-US" sz="1900" dirty="0"/>
              <a:t> </a:t>
            </a:r>
            <a:r>
              <a:rPr lang="en-US" sz="1900" dirty="0" err="1"/>
              <a:t>các</a:t>
            </a:r>
            <a:r>
              <a:rPr lang="en-US" sz="1900" dirty="0"/>
              <a:t> </a:t>
            </a:r>
            <a:r>
              <a:rPr lang="en-US" sz="1900" dirty="0" err="1"/>
              <a:t>phần</a:t>
            </a:r>
            <a:r>
              <a:rPr lang="en-US" sz="1900" dirty="0"/>
              <a:t> </a:t>
            </a:r>
            <a:r>
              <a:rPr lang="en-US" sz="1900" dirty="0" err="1"/>
              <a:t>tử</a:t>
            </a:r>
            <a:r>
              <a:rPr lang="en-US" sz="1900" dirty="0"/>
              <a:t> </a:t>
            </a:r>
            <a:r>
              <a:rPr lang="en-US" sz="1900" dirty="0" err="1"/>
              <a:t>đại</a:t>
            </a:r>
            <a:r>
              <a:rPr lang="en-US" sz="1900" dirty="0"/>
              <a:t> </a:t>
            </a:r>
            <a:r>
              <a:rPr lang="en-US" sz="1900" dirty="0" err="1"/>
              <a:t>diện</a:t>
            </a:r>
            <a:r>
              <a:rPr lang="en-US" sz="1900" dirty="0"/>
              <a:t> </a:t>
            </a:r>
            <a:r>
              <a:rPr lang="en-US" sz="1900" dirty="0" err="1"/>
              <a:t>làm</a:t>
            </a:r>
            <a:r>
              <a:rPr lang="en-US" sz="1900" dirty="0"/>
              <a:t> </a:t>
            </a:r>
            <a:r>
              <a:rPr lang="en-US" sz="1900" dirty="0" err="1"/>
              <a:t>dữ</a:t>
            </a:r>
            <a:r>
              <a:rPr lang="en-US" sz="1900" dirty="0"/>
              <a:t> </a:t>
            </a:r>
            <a:r>
              <a:rPr lang="en-US" sz="1900" dirty="0" err="1"/>
              <a:t>liệu</a:t>
            </a:r>
            <a:r>
              <a:rPr lang="en-US" sz="1900" dirty="0"/>
              <a:t> </a:t>
            </a:r>
            <a:r>
              <a:rPr lang="en-US" sz="1900" dirty="0" err="1"/>
              <a:t>kiểm</a:t>
            </a:r>
            <a:r>
              <a:rPr lang="en-US" sz="1900" dirty="0"/>
              <a:t> </a:t>
            </a:r>
            <a:r>
              <a:rPr lang="en-US" sz="1900" dirty="0" err="1"/>
              <a:t>tra</a:t>
            </a:r>
            <a:r>
              <a:rPr lang="en-US" sz="1900" dirty="0"/>
              <a:t>. Trường </a:t>
            </a:r>
            <a:r>
              <a:rPr lang="en-US" sz="1900" dirty="0" err="1"/>
              <a:t>hợp</a:t>
            </a:r>
            <a:r>
              <a:rPr lang="en-US" sz="1900" dirty="0"/>
              <a:t> </a:t>
            </a:r>
            <a:r>
              <a:rPr lang="en-US" sz="1900" dirty="0" err="1"/>
              <a:t>phần</a:t>
            </a:r>
            <a:r>
              <a:rPr lang="en-US" sz="1900" dirty="0"/>
              <a:t> </a:t>
            </a:r>
            <a:r>
              <a:rPr lang="en-US" sz="1900" dirty="0" err="1"/>
              <a:t>tử</a:t>
            </a:r>
            <a:r>
              <a:rPr lang="en-US" sz="1900" dirty="0"/>
              <a:t> </a:t>
            </a:r>
            <a:r>
              <a:rPr lang="en-US" sz="1900" dirty="0" err="1"/>
              <a:t>đại</a:t>
            </a:r>
            <a:r>
              <a:rPr lang="en-US" sz="1900" dirty="0"/>
              <a:t> </a:t>
            </a:r>
            <a:r>
              <a:rPr lang="en-US" sz="1900" dirty="0" err="1"/>
              <a:t>diện</a:t>
            </a:r>
            <a:r>
              <a:rPr lang="en-US" sz="1900" dirty="0"/>
              <a:t> </a:t>
            </a:r>
            <a:r>
              <a:rPr lang="en-US" sz="1900" dirty="0" err="1"/>
              <a:t>đúng</a:t>
            </a:r>
            <a:r>
              <a:rPr lang="en-US" sz="1900" dirty="0"/>
              <a:t> </a:t>
            </a:r>
            <a:r>
              <a:rPr lang="en-US" sz="1900" dirty="0" err="1"/>
              <a:t>thì</a:t>
            </a:r>
            <a:r>
              <a:rPr lang="en-US" sz="1900" dirty="0"/>
              <a:t> </a:t>
            </a:r>
            <a:r>
              <a:rPr lang="en-US" sz="1900" dirty="0" err="1"/>
              <a:t>cả</a:t>
            </a:r>
            <a:r>
              <a:rPr lang="en-US" sz="1900" dirty="0"/>
              <a:t> </a:t>
            </a:r>
            <a:r>
              <a:rPr lang="en-US" sz="1900" dirty="0" err="1"/>
              <a:t>vùng</a:t>
            </a:r>
            <a:r>
              <a:rPr lang="en-US" sz="1900" dirty="0"/>
              <a:t> </a:t>
            </a:r>
            <a:r>
              <a:rPr lang="en-US" sz="1900" dirty="0" err="1"/>
              <a:t>sẽ</a:t>
            </a:r>
            <a:r>
              <a:rPr lang="en-US" sz="1900" dirty="0"/>
              <a:t> </a:t>
            </a:r>
            <a:r>
              <a:rPr lang="en-US" sz="1900" dirty="0" err="1"/>
              <a:t>đúng</a:t>
            </a:r>
            <a:r>
              <a:rPr lang="en-US" sz="1900" dirty="0"/>
              <a:t> </a:t>
            </a:r>
            <a:r>
              <a:rPr lang="en-US" sz="1900" dirty="0" err="1"/>
              <a:t>và</a:t>
            </a:r>
            <a:r>
              <a:rPr lang="en-US" sz="1900" dirty="0"/>
              <a:t> </a:t>
            </a:r>
            <a:r>
              <a:rPr lang="en-US" sz="1900" dirty="0" err="1"/>
              <a:t>ngược</a:t>
            </a:r>
            <a:r>
              <a:rPr lang="en-US" sz="1900" dirty="0"/>
              <a:t> </a:t>
            </a:r>
            <a:r>
              <a:rPr lang="en-US" sz="1900" dirty="0" err="1"/>
              <a:t>lại</a:t>
            </a:r>
            <a:r>
              <a:rPr lang="en-US" sz="1900" dirty="0"/>
              <a:t>.</a:t>
            </a:r>
          </a:p>
          <a:p>
            <a:pPr lvl="1">
              <a:buFont typeface="Wingdings" panose="05000000000000000000" pitchFamily="2" charset="2"/>
              <a:buChar char="ü"/>
            </a:pPr>
            <a:r>
              <a:rPr lang="vi-VN" sz="1900" dirty="0"/>
              <a:t>Vùng hợp lệ là mô tả các đầu vào hợp lệ của chương trình</a:t>
            </a:r>
            <a:r>
              <a:rPr lang="en-US" sz="1900" dirty="0"/>
              <a:t>.</a:t>
            </a:r>
            <a:r>
              <a:rPr lang="vi-VN" sz="1900" dirty="0"/>
              <a:t> </a:t>
            </a:r>
            <a:endParaRPr lang="en-US" sz="1900" dirty="0"/>
          </a:p>
          <a:p>
            <a:pPr lvl="1">
              <a:buFont typeface="Wingdings" panose="05000000000000000000" pitchFamily="2" charset="2"/>
              <a:buChar char="ü"/>
            </a:pPr>
            <a:r>
              <a:rPr lang="vi-VN" sz="1900" dirty="0"/>
              <a:t>V</a:t>
            </a:r>
            <a:r>
              <a:rPr lang="en-US" sz="1900" dirty="0" err="1"/>
              <a:t>ùng</a:t>
            </a:r>
            <a:r>
              <a:rPr lang="vi-VN" sz="1900" dirty="0"/>
              <a:t> không hợp lệ là mô tả các trạng thái khác của chương trình như: sai, thiếu,...</a:t>
            </a:r>
            <a:endParaRPr lang="en-US" sz="1900" dirty="0"/>
          </a:p>
          <a:p>
            <a:pPr>
              <a:buFont typeface="Wingdings" panose="05000000000000000000" pitchFamily="2" charset="2"/>
              <a:buChar char="v"/>
            </a:pPr>
            <a:r>
              <a:rPr lang="vi-VN" sz="1900" dirty="0"/>
              <a:t>Mục đích:</a:t>
            </a:r>
            <a:r>
              <a:rPr lang="en-US" sz="1900" dirty="0"/>
              <a:t> </a:t>
            </a:r>
            <a:r>
              <a:rPr lang="vi-VN" sz="1900" b="1" dirty="0"/>
              <a:t>Giảm đáng kể số lượng test case</a:t>
            </a:r>
            <a:endParaRPr lang="en-US" sz="1900" dirty="0"/>
          </a:p>
          <a:p>
            <a:endParaRPr lang="en-US" sz="1900" dirty="0"/>
          </a:p>
          <a:p>
            <a:pPr marL="64135" indent="0">
              <a:buNone/>
            </a:pPr>
            <a:endParaRPr lang="en-US" sz="1900" dirty="0"/>
          </a:p>
        </p:txBody>
      </p:sp>
      <p:sp>
        <p:nvSpPr>
          <p:cNvPr id="17" name="TextBox 16"/>
          <p:cNvSpPr txBox="1"/>
          <p:nvPr/>
        </p:nvSpPr>
        <p:spPr>
          <a:xfrm>
            <a:off x="859117" y="3910110"/>
            <a:ext cx="1676400" cy="307777"/>
          </a:xfrm>
          <a:prstGeom prst="rect">
            <a:avLst/>
          </a:prstGeom>
          <a:noFill/>
        </p:spPr>
        <p:txBody>
          <a:bodyPr wrap="square" rtlCol="0">
            <a:spAutoFit/>
          </a:bodyPr>
          <a:lstStyle/>
          <a:p>
            <a:r>
              <a:rPr lang="en-US" sz="1400" u="sng" dirty="0">
                <a:latin typeface="Tahoma" panose="020B0604030504040204" pitchFamily="34" charset="0"/>
                <a:ea typeface="Tahoma" panose="020B0604030504040204" pitchFamily="34" charset="0"/>
                <a:cs typeface="Tahoma" panose="020B0604030504040204" pitchFamily="34" charset="0"/>
              </a:rPr>
              <a:t>Information Area</a:t>
            </a:r>
          </a:p>
        </p:txBody>
      </p:sp>
      <p:sp>
        <p:nvSpPr>
          <p:cNvPr id="23" name="TextBox 22"/>
          <p:cNvSpPr txBox="1"/>
          <p:nvPr/>
        </p:nvSpPr>
        <p:spPr>
          <a:xfrm>
            <a:off x="3844465" y="4308385"/>
            <a:ext cx="766119" cy="369332"/>
          </a:xfrm>
          <a:prstGeom prst="rect">
            <a:avLst/>
          </a:prstGeom>
          <a:noFill/>
        </p:spPr>
        <p:txBody>
          <a:bodyPr wrap="square" rtlCol="0">
            <a:spAutoFit/>
          </a:bodyPr>
          <a:lstStyle/>
          <a:p>
            <a:r>
              <a:rPr lang="en-US" dirty="0"/>
              <a:t>Valid</a:t>
            </a:r>
          </a:p>
        </p:txBody>
      </p:sp>
      <p:sp>
        <p:nvSpPr>
          <p:cNvPr id="24" name="TextBox 23"/>
          <p:cNvSpPr txBox="1"/>
          <p:nvPr/>
        </p:nvSpPr>
        <p:spPr>
          <a:xfrm>
            <a:off x="3428998" y="6564245"/>
            <a:ext cx="972064" cy="369332"/>
          </a:xfrm>
          <a:prstGeom prst="rect">
            <a:avLst/>
          </a:prstGeom>
          <a:noFill/>
        </p:spPr>
        <p:txBody>
          <a:bodyPr wrap="square" rtlCol="0">
            <a:spAutoFit/>
          </a:bodyPr>
          <a:lstStyle/>
          <a:p>
            <a:r>
              <a:rPr lang="en-US" dirty="0"/>
              <a:t>Invalid</a:t>
            </a:r>
          </a:p>
        </p:txBody>
      </p:sp>
      <p:sp>
        <p:nvSpPr>
          <p:cNvPr id="25" name="TextBox 24"/>
          <p:cNvSpPr txBox="1"/>
          <p:nvPr/>
        </p:nvSpPr>
        <p:spPr>
          <a:xfrm>
            <a:off x="3846522" y="5731399"/>
            <a:ext cx="1048262" cy="307777"/>
          </a:xfrm>
          <a:prstGeom prst="rect">
            <a:avLst/>
          </a:prstGeom>
          <a:noFill/>
        </p:spPr>
        <p:txBody>
          <a:bodyPr wrap="square" rtlCol="0">
            <a:spAutoFit/>
          </a:bodyPr>
          <a:lstStyle/>
          <a:p>
            <a:r>
              <a:rPr lang="en-US" sz="1400" dirty="0"/>
              <a:t>Invalid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08" y="3726835"/>
            <a:ext cx="8561751" cy="3150318"/>
          </a:xfrm>
          <a:prstGeom prst="rect">
            <a:avLst/>
          </a:prstGeom>
        </p:spPr>
      </p:pic>
      <p:grpSp>
        <p:nvGrpSpPr>
          <p:cNvPr id="40" name="Group 39"/>
          <p:cNvGrpSpPr/>
          <p:nvPr/>
        </p:nvGrpSpPr>
        <p:grpSpPr>
          <a:xfrm>
            <a:off x="1513700" y="3710873"/>
            <a:ext cx="2438400" cy="2848017"/>
            <a:chOff x="1513700" y="3710873"/>
            <a:chExt cx="2438400" cy="2848017"/>
          </a:xfrm>
        </p:grpSpPr>
        <p:sp>
          <p:nvSpPr>
            <p:cNvPr id="5" name="Rectangle 4"/>
            <p:cNvSpPr/>
            <p:nvPr/>
          </p:nvSpPr>
          <p:spPr>
            <a:xfrm>
              <a:off x="1865723" y="3710873"/>
              <a:ext cx="1600198" cy="457194"/>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lumMod val="95000"/>
                      <a:lumOff val="5000"/>
                    </a:schemeClr>
                  </a:solidFill>
                </a:rPr>
                <a:t>Vùng</a:t>
              </a:r>
              <a:r>
                <a:rPr lang="en-US" dirty="0">
                  <a:solidFill>
                    <a:schemeClr val="bg1">
                      <a:lumMod val="95000"/>
                      <a:lumOff val="5000"/>
                    </a:schemeClr>
                  </a:solidFill>
                </a:rPr>
                <a:t> </a:t>
              </a:r>
              <a:r>
                <a:rPr lang="en-US" dirty="0" err="1">
                  <a:solidFill>
                    <a:schemeClr val="bg1">
                      <a:lumMod val="95000"/>
                      <a:lumOff val="5000"/>
                    </a:schemeClr>
                  </a:solidFill>
                </a:rPr>
                <a:t>hợp</a:t>
              </a:r>
              <a:r>
                <a:rPr lang="en-US" dirty="0">
                  <a:solidFill>
                    <a:schemeClr val="bg1">
                      <a:lumMod val="95000"/>
                      <a:lumOff val="5000"/>
                    </a:schemeClr>
                  </a:solidFill>
                </a:rPr>
                <a:t> </a:t>
              </a:r>
              <a:r>
                <a:rPr lang="en-US" dirty="0" err="1">
                  <a:solidFill>
                    <a:schemeClr val="bg1">
                      <a:lumMod val="95000"/>
                      <a:lumOff val="5000"/>
                    </a:schemeClr>
                  </a:solidFill>
                </a:rPr>
                <a:t>lệ</a:t>
              </a:r>
              <a:endParaRPr lang="en-US" dirty="0">
                <a:solidFill>
                  <a:schemeClr val="bg1">
                    <a:lumMod val="95000"/>
                    <a:lumOff val="5000"/>
                  </a:schemeClr>
                </a:solidFill>
              </a:endParaRPr>
            </a:p>
          </p:txBody>
        </p:sp>
        <p:sp>
          <p:nvSpPr>
            <p:cNvPr id="28" name="Rectangle 27"/>
            <p:cNvSpPr/>
            <p:nvPr/>
          </p:nvSpPr>
          <p:spPr>
            <a:xfrm>
              <a:off x="1513700" y="6099061"/>
              <a:ext cx="2438400" cy="45982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lumMod val="95000"/>
                      <a:lumOff val="5000"/>
                    </a:schemeClr>
                  </a:solidFill>
                </a:rPr>
                <a:t>Vùng</a:t>
              </a:r>
              <a:r>
                <a:rPr lang="en-US" dirty="0">
                  <a:solidFill>
                    <a:schemeClr val="bg1">
                      <a:lumMod val="95000"/>
                      <a:lumOff val="5000"/>
                    </a:schemeClr>
                  </a:solidFill>
                </a:rPr>
                <a:t> </a:t>
              </a:r>
              <a:r>
                <a:rPr lang="en-US" dirty="0" err="1">
                  <a:solidFill>
                    <a:schemeClr val="bg1">
                      <a:lumMod val="95000"/>
                      <a:lumOff val="5000"/>
                    </a:schemeClr>
                  </a:solidFill>
                </a:rPr>
                <a:t>không</a:t>
              </a:r>
              <a:r>
                <a:rPr lang="en-US" dirty="0">
                  <a:solidFill>
                    <a:schemeClr val="bg1">
                      <a:lumMod val="95000"/>
                      <a:lumOff val="5000"/>
                    </a:schemeClr>
                  </a:solidFill>
                </a:rPr>
                <a:t> </a:t>
              </a:r>
              <a:r>
                <a:rPr lang="en-US" dirty="0" err="1">
                  <a:solidFill>
                    <a:schemeClr val="bg1">
                      <a:lumMod val="95000"/>
                      <a:lumOff val="5000"/>
                    </a:schemeClr>
                  </a:solidFill>
                </a:rPr>
                <a:t>hợp</a:t>
              </a:r>
              <a:r>
                <a:rPr lang="en-US" dirty="0">
                  <a:solidFill>
                    <a:schemeClr val="bg1">
                      <a:lumMod val="95000"/>
                      <a:lumOff val="5000"/>
                    </a:schemeClr>
                  </a:solidFill>
                </a:rPr>
                <a:t> </a:t>
              </a:r>
              <a:r>
                <a:rPr lang="en-US" dirty="0" err="1">
                  <a:solidFill>
                    <a:schemeClr val="bg1">
                      <a:lumMod val="95000"/>
                      <a:lumOff val="5000"/>
                    </a:schemeClr>
                  </a:solidFill>
                </a:rPr>
                <a:t>lệ</a:t>
              </a:r>
              <a:endParaRPr lang="en-US" dirty="0">
                <a:solidFill>
                  <a:schemeClr val="bg1">
                    <a:lumMod val="95000"/>
                    <a:lumOff val="5000"/>
                  </a:schemeClr>
                </a:solidFill>
              </a:endParaRPr>
            </a:p>
          </p:txBody>
        </p:sp>
        <p:cxnSp>
          <p:nvCxnSpPr>
            <p:cNvPr id="7" name="Straight Arrow Connector 6"/>
            <p:cNvCxnSpPr/>
            <p:nvPr/>
          </p:nvCxnSpPr>
          <p:spPr>
            <a:xfrm>
              <a:off x="2667000" y="4178674"/>
              <a:ext cx="829521" cy="75074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p:cNvCxnSpPr/>
            <p:nvPr/>
          </p:nvCxnSpPr>
          <p:spPr>
            <a:xfrm>
              <a:off x="2732900" y="4184029"/>
              <a:ext cx="977407" cy="30902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1" name="Straight Arrow Connector 30"/>
            <p:cNvCxnSpPr>
              <a:stCxn id="28" idx="0"/>
            </p:cNvCxnSpPr>
            <p:nvPr/>
          </p:nvCxnSpPr>
          <p:spPr>
            <a:xfrm flipV="1">
              <a:off x="2732900" y="5330411"/>
              <a:ext cx="775193" cy="76865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5" name="Straight Arrow Connector 34"/>
            <p:cNvCxnSpPr>
              <a:stCxn id="28" idx="0"/>
            </p:cNvCxnSpPr>
            <p:nvPr/>
          </p:nvCxnSpPr>
          <p:spPr>
            <a:xfrm flipV="1">
              <a:off x="2732900" y="5741407"/>
              <a:ext cx="997196" cy="35765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6858000" cy="799306"/>
          </a:xfrm>
        </p:spPr>
        <p:txBody>
          <a:bodyPr/>
          <a:lstStyle/>
          <a:p>
            <a:r>
              <a:rPr lang="en-US" dirty="0"/>
              <a:t>3.1. P</a:t>
            </a:r>
            <a:r>
              <a:rPr lang="vi-VN" dirty="0"/>
              <a:t>hân lớp tương đương</a:t>
            </a:r>
            <a:endParaRPr lang="en-US" dirty="0"/>
          </a:p>
        </p:txBody>
      </p:sp>
      <p:sp>
        <p:nvSpPr>
          <p:cNvPr id="3" name="Content Placeholder 2"/>
          <p:cNvSpPr>
            <a:spLocks noGrp="1"/>
          </p:cNvSpPr>
          <p:nvPr>
            <p:ph idx="1"/>
          </p:nvPr>
        </p:nvSpPr>
        <p:spPr>
          <a:xfrm>
            <a:off x="228600" y="990600"/>
            <a:ext cx="8763000" cy="2438400"/>
          </a:xfrm>
        </p:spPr>
        <p:txBody>
          <a:bodyPr>
            <a:normAutofit/>
          </a:bodyPr>
          <a:lstStyle/>
          <a:p>
            <a:pPr marL="505460" indent="-342900">
              <a:buFont typeface="Wingdings" panose="05000000000000000000" pitchFamily="2" charset="2"/>
              <a:buChar char="v"/>
            </a:pPr>
            <a:r>
              <a:rPr lang="en-US" sz="1900" dirty="0"/>
              <a:t>Cách </a:t>
            </a:r>
            <a:r>
              <a:rPr lang="en-US" sz="1900" dirty="0" err="1"/>
              <a:t>thiết</a:t>
            </a:r>
            <a:r>
              <a:rPr lang="en-US" sz="1900" dirty="0"/>
              <a:t> </a:t>
            </a:r>
            <a:r>
              <a:rPr lang="en-US" sz="1900" dirty="0" err="1"/>
              <a:t>kế</a:t>
            </a:r>
            <a:r>
              <a:rPr lang="en-US" sz="1900" dirty="0"/>
              <a:t> test cases</a:t>
            </a:r>
          </a:p>
          <a:p>
            <a:pPr marL="880110" lvl="1" indent="-342900">
              <a:buFont typeface="Wingdings" panose="05000000000000000000" pitchFamily="2" charset="2"/>
              <a:buChar char="ü"/>
            </a:pPr>
            <a:r>
              <a:rPr lang="vi-VN" sz="1900" dirty="0"/>
              <a:t>Xác định các lớp tương đương (cả hợp lệ và không hợp lệ)</a:t>
            </a:r>
          </a:p>
          <a:p>
            <a:pPr marL="880110" lvl="1" indent="-342900">
              <a:buFont typeface="Wingdings" panose="05000000000000000000" pitchFamily="2" charset="2"/>
              <a:buChar char="ü"/>
            </a:pPr>
            <a:r>
              <a:rPr lang="vi-VN" sz="1900" dirty="0"/>
              <a:t>Xác định các </a:t>
            </a:r>
            <a:r>
              <a:rPr lang="en-US" sz="1900" dirty="0">
                <a:solidFill>
                  <a:schemeClr val="bg1"/>
                </a:solidFill>
              </a:rPr>
              <a:t>case test.</a:t>
            </a:r>
            <a:endParaRPr lang="en-US" sz="1900" dirty="0">
              <a:solidFill>
                <a:srgbClr val="0000FF"/>
              </a:solidFill>
            </a:endParaRPr>
          </a:p>
          <a:p>
            <a:pPr>
              <a:buFont typeface="Wingdings" panose="05000000000000000000" pitchFamily="2" charset="2"/>
              <a:buChar char="v"/>
            </a:pPr>
            <a:r>
              <a:rPr lang="vi-VN" sz="1900" dirty="0"/>
              <a:t>Cách xác định phân lớp tương đương cơ bản</a:t>
            </a:r>
            <a:endParaRPr lang="en-US" sz="1900" dirty="0"/>
          </a:p>
        </p:txBody>
      </p:sp>
      <p:graphicFrame>
        <p:nvGraphicFramePr>
          <p:cNvPr id="5" name="Table 4"/>
          <p:cNvGraphicFramePr>
            <a:graphicFrameLocks noGrp="1"/>
          </p:cNvGraphicFramePr>
          <p:nvPr>
            <p:extLst>
              <p:ext uri="{D42A27DB-BD31-4B8C-83A1-F6EECF244321}">
                <p14:modId xmlns:p14="http://schemas.microsoft.com/office/powerpoint/2010/main" val="1675467591"/>
              </p:ext>
            </p:extLst>
          </p:nvPr>
        </p:nvGraphicFramePr>
        <p:xfrm>
          <a:off x="529281" y="2819400"/>
          <a:ext cx="8449962" cy="3620313"/>
        </p:xfrm>
        <a:graphic>
          <a:graphicData uri="http://schemas.openxmlformats.org/drawingml/2006/table">
            <a:tbl>
              <a:tblPr firstRow="1" bandRow="1"/>
              <a:tblGrid>
                <a:gridCol w="3419003">
                  <a:extLst>
                    <a:ext uri="{9D8B030D-6E8A-4147-A177-3AD203B41FA5}">
                      <a16:colId xmlns:a16="http://schemas.microsoft.com/office/drawing/2014/main" val="20000"/>
                    </a:ext>
                  </a:extLst>
                </a:gridCol>
                <a:gridCol w="5030959">
                  <a:extLst>
                    <a:ext uri="{9D8B030D-6E8A-4147-A177-3AD203B41FA5}">
                      <a16:colId xmlns:a16="http://schemas.microsoft.com/office/drawing/2014/main" val="20001"/>
                    </a:ext>
                  </a:extLst>
                </a:gridCol>
              </a:tblGrid>
              <a:tr h="602793">
                <a:tc>
                  <a: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vi-VN" sz="1500" baseline="0" dirty="0">
                          <a:solidFill>
                            <a:schemeClr val="bg1"/>
                          </a:solidFill>
                          <a:latin typeface="Times New Roman" panose="02020603050405020304" pitchFamily="18" charset="0"/>
                        </a:rPr>
                        <a:t>1 khoảng giá trị [a,b]</a:t>
                      </a:r>
                      <a:endParaRPr lang="en-US" sz="1500" baseline="0" dirty="0">
                        <a:solidFill>
                          <a:schemeClr val="bg1"/>
                        </a:solidFill>
                        <a:latin typeface="Times New Roman" panose="02020603050405020304" pitchFamily="18" charset="0"/>
                      </a:endParaRPr>
                    </a:p>
                    <a:p>
                      <a:endParaRPr lang="en-US" sz="1500" b="0" baseline="0" dirty="0">
                        <a:solidFill>
                          <a:schemeClr val="bg1"/>
                        </a:solidFill>
                        <a:latin typeface="Times New Roman" panose="02020603050405020304" pitchFamily="18" charset="0"/>
                      </a:endParaRPr>
                    </a:p>
                  </a:txBody>
                  <a:tcPr/>
                </a:tc>
                <a:tc>
                  <a:txBody>
                    <a:bodyPr/>
                    <a:lstStyle/>
                    <a:p>
                      <a:pPr marL="342900" marR="0" lvl="2" indent="-342900" algn="l" defTabSz="914400" rtl="0" eaLnBrk="1" fontAlgn="auto" latinLnBrk="0" hangingPunct="1">
                        <a:lnSpc>
                          <a:spcPct val="100000"/>
                        </a:lnSpc>
                        <a:spcBef>
                          <a:spcPts val="0"/>
                        </a:spcBef>
                        <a:spcAft>
                          <a:spcPts val="0"/>
                        </a:spcAft>
                        <a:buClrTx/>
                        <a:buSzTx/>
                        <a:buFontTx/>
                        <a:buAutoNum type="arabicPeriod"/>
                        <a:defRPr/>
                      </a:pPr>
                      <a:r>
                        <a:rPr lang="en-US" sz="1500" baseline="0" dirty="0" err="1">
                          <a:solidFill>
                            <a:schemeClr val="bg1"/>
                          </a:solidFill>
                          <a:latin typeface="Times New Roman" panose="02020603050405020304" pitchFamily="18" charset="0"/>
                        </a:rPr>
                        <a:t>Xác</a:t>
                      </a:r>
                      <a:r>
                        <a:rPr lang="en-US" sz="1500" baseline="0" dirty="0">
                          <a:solidFill>
                            <a:schemeClr val="bg1"/>
                          </a:solidFill>
                          <a:latin typeface="Times New Roman" panose="02020603050405020304" pitchFamily="18" charset="0"/>
                        </a:rPr>
                        <a:t> định được 1 </a:t>
                      </a:r>
                      <a:r>
                        <a:rPr lang="en-US" sz="1500" baseline="0" dirty="0" err="1">
                          <a:solidFill>
                            <a:schemeClr val="bg1"/>
                          </a:solidFill>
                          <a:latin typeface="Times New Roman" panose="02020603050405020304" pitchFamily="18" charset="0"/>
                        </a:rPr>
                        <a:t>lớp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hợp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lệ</a:t>
                      </a:r>
                      <a:r>
                        <a:rPr lang="en-US" sz="1500" baseline="0" dirty="0">
                          <a:solidFill>
                            <a:schemeClr val="bg1"/>
                          </a:solidFill>
                          <a:latin typeface="Times New Roman" panose="02020603050405020304" pitchFamily="18" charset="0"/>
                        </a:rPr>
                        <a:t> là </a:t>
                      </a:r>
                      <a:r>
                        <a:rPr lang="vi-VN" sz="1500" baseline="0" dirty="0">
                          <a:solidFill>
                            <a:schemeClr val="bg1"/>
                          </a:solidFill>
                          <a:latin typeface="Times New Roman" panose="02020603050405020304" pitchFamily="18" charset="0"/>
                        </a:rPr>
                        <a:t>[a,b]</a:t>
                      </a:r>
                      <a:endParaRPr lang="en-US" sz="1500" baseline="0" dirty="0">
                        <a:solidFill>
                          <a:schemeClr val="bg1"/>
                        </a:solidFill>
                        <a:latin typeface="Times New Roman" panose="02020603050405020304" pitchFamily="18" charset="0"/>
                      </a:endParaRPr>
                    </a:p>
                    <a:p>
                      <a:pPr marL="342900" marR="0" lvl="2" indent="-342900" algn="l" defTabSz="914400" rtl="0" eaLnBrk="1" fontAlgn="auto" latinLnBrk="0" hangingPunct="1">
                        <a:lnSpc>
                          <a:spcPct val="100000"/>
                        </a:lnSpc>
                        <a:spcBef>
                          <a:spcPts val="0"/>
                        </a:spcBef>
                        <a:spcAft>
                          <a:spcPts val="0"/>
                        </a:spcAft>
                        <a:buClrTx/>
                        <a:buSzTx/>
                        <a:buFontTx/>
                        <a:buAutoNum type="arabicPeriod"/>
                        <a:tabLst/>
                        <a:defRPr/>
                      </a:pPr>
                      <a:r>
                        <a:rPr lang="en-US" sz="1500" baseline="0" dirty="0" err="1">
                          <a:solidFill>
                            <a:schemeClr val="bg1"/>
                          </a:solidFill>
                          <a:latin typeface="Times New Roman" panose="02020603050405020304" pitchFamily="18" charset="0"/>
                        </a:rPr>
                        <a:t>Xác</a:t>
                      </a:r>
                      <a:r>
                        <a:rPr lang="en-US" sz="1500" baseline="0" dirty="0">
                          <a:solidFill>
                            <a:schemeClr val="bg1"/>
                          </a:solidFill>
                          <a:latin typeface="Times New Roman" panose="02020603050405020304" pitchFamily="18" charset="0"/>
                        </a:rPr>
                        <a:t> định được 2 </a:t>
                      </a:r>
                      <a:r>
                        <a:rPr lang="en-US" sz="1500" baseline="0" dirty="0" err="1">
                          <a:solidFill>
                            <a:schemeClr val="bg1"/>
                          </a:solidFill>
                          <a:latin typeface="Times New Roman" panose="02020603050405020304" pitchFamily="18" charset="0"/>
                        </a:rPr>
                        <a:t>lớp</a:t>
                      </a:r>
                      <a:r>
                        <a:rPr lang="en-US" sz="1500" baseline="0" dirty="0">
                          <a:solidFill>
                            <a:schemeClr val="bg1"/>
                          </a:solidFill>
                          <a:latin typeface="Times New Roman" panose="02020603050405020304" pitchFamily="18" charset="0"/>
                        </a:rPr>
                        <a:t> ko </a:t>
                      </a:r>
                      <a:r>
                        <a:rPr lang="en-US" sz="1500" baseline="0" dirty="0" err="1">
                          <a:solidFill>
                            <a:schemeClr val="bg1"/>
                          </a:solidFill>
                          <a:latin typeface="Times New Roman" panose="02020603050405020304" pitchFamily="18" charset="0"/>
                        </a:rPr>
                        <a:t>hợp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lệ</a:t>
                      </a:r>
                      <a:r>
                        <a:rPr lang="en-US" sz="1500" baseline="0" dirty="0">
                          <a:solidFill>
                            <a:schemeClr val="bg1"/>
                          </a:solidFill>
                          <a:latin typeface="Times New Roman" panose="02020603050405020304" pitchFamily="18" charset="0"/>
                        </a:rPr>
                        <a:t> là &lt;a và &gt;b</a:t>
                      </a:r>
                    </a:p>
                  </a:txBody>
                  <a:tcPr/>
                </a:tc>
                <a:extLst>
                  <a:ext uri="{0D108BD9-81ED-4DB2-BD59-A6C34878D82A}">
                    <a16:rowId xmlns:a16="http://schemas.microsoft.com/office/drawing/2014/main" val="10000"/>
                  </a:ext>
                </a:extLst>
              </a:tr>
              <a:tr h="692831">
                <a:tc>
                  <a: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en-US" sz="1500" baseline="0" dirty="0">
                          <a:solidFill>
                            <a:schemeClr val="bg1"/>
                          </a:solidFill>
                          <a:latin typeface="Times New Roman" panose="02020603050405020304" pitchFamily="18" charset="0"/>
                        </a:rPr>
                        <a:t>1 </a:t>
                      </a:r>
                      <a:r>
                        <a:rPr lang="en-US" sz="1500" baseline="0" dirty="0" err="1">
                          <a:solidFill>
                            <a:schemeClr val="bg1"/>
                          </a:solidFill>
                          <a:latin typeface="Times New Roman" panose="02020603050405020304" pitchFamily="18" charset="0"/>
                        </a:rPr>
                        <a:t>giá</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trị</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xác</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định</a:t>
                      </a:r>
                      <a:r>
                        <a:rPr lang="en-US" sz="1500" baseline="0" dirty="0">
                          <a:solidFill>
                            <a:schemeClr val="bg1"/>
                          </a:solidFill>
                          <a:latin typeface="Times New Roman" panose="02020603050405020304" pitchFamily="18" charset="0"/>
                        </a:rPr>
                        <a:t> x=a </a:t>
                      </a:r>
                    </a:p>
                    <a:p>
                      <a:endParaRPr lang="en-US" sz="1500" b="0" baseline="0" dirty="0">
                        <a:solidFill>
                          <a:schemeClr val="bg1"/>
                        </a:solidFill>
                        <a:latin typeface="Times New Roman" panose="02020603050405020304" pitchFamily="18" charset="0"/>
                      </a:endParaRPr>
                    </a:p>
                  </a:txBody>
                  <a:tcPr/>
                </a:tc>
                <a:tc>
                  <a:txBody>
                    <a:bodyPr/>
                    <a:lstStyle/>
                    <a:p>
                      <a:pPr marL="342900" lvl="0" indent="-342900">
                        <a:buFont typeface="Wingdings" panose="05000000000000000000" pitchFamily="2" charset="2"/>
                        <a:buAutoNum type="arabicPeriod"/>
                      </a:pPr>
                      <a:r>
                        <a:rPr lang="en-US" sz="1500" baseline="0" dirty="0" err="1">
                          <a:solidFill>
                            <a:schemeClr val="bg1"/>
                          </a:solidFill>
                          <a:latin typeface="Times New Roman" panose="02020603050405020304" pitchFamily="18" charset="0"/>
                        </a:rPr>
                        <a:t>Xác</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định</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được</a:t>
                      </a:r>
                      <a:r>
                        <a:rPr lang="en-US" sz="1500" baseline="0" dirty="0">
                          <a:solidFill>
                            <a:schemeClr val="bg1"/>
                          </a:solidFill>
                          <a:latin typeface="Times New Roman" panose="02020603050405020304" pitchFamily="18" charset="0"/>
                        </a:rPr>
                        <a:t> 1 </a:t>
                      </a:r>
                      <a:r>
                        <a:rPr lang="en-US" sz="1500" baseline="0" dirty="0" err="1">
                          <a:solidFill>
                            <a:schemeClr val="bg1"/>
                          </a:solidFill>
                          <a:latin typeface="Times New Roman" panose="02020603050405020304" pitchFamily="18" charset="0"/>
                        </a:rPr>
                        <a:t>phân</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lớp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hợp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lệ</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là</a:t>
                      </a:r>
                      <a:r>
                        <a:rPr lang="en-US" sz="1500" baseline="0" dirty="0">
                          <a:solidFill>
                            <a:schemeClr val="bg1"/>
                          </a:solidFill>
                          <a:latin typeface="Times New Roman" panose="02020603050405020304" pitchFamily="18" charset="0"/>
                        </a:rPr>
                        <a:t> x=a</a:t>
                      </a:r>
                    </a:p>
                    <a:p>
                      <a:pPr marL="342900" lvl="0" indent="-342900">
                        <a:buFont typeface="Wingdings" panose="05000000000000000000" pitchFamily="2" charset="2"/>
                        <a:buAutoNum type="arabicPeriod"/>
                      </a:pPr>
                      <a:r>
                        <a:rPr lang="en-US" sz="1500" baseline="0" dirty="0" err="1">
                          <a:solidFill>
                            <a:schemeClr val="bg1"/>
                          </a:solidFill>
                          <a:latin typeface="Times New Roman" panose="02020603050405020304" pitchFamily="18" charset="0"/>
                        </a:rPr>
                        <a:t>Xác</a:t>
                      </a:r>
                      <a:r>
                        <a:rPr lang="en-US" sz="1500" baseline="0" dirty="0">
                          <a:solidFill>
                            <a:schemeClr val="bg1"/>
                          </a:solidFill>
                          <a:latin typeface="Times New Roman" panose="02020603050405020304" pitchFamily="18" charset="0"/>
                        </a:rPr>
                        <a:t> định được 2 </a:t>
                      </a:r>
                      <a:r>
                        <a:rPr lang="en-US" sz="1500" baseline="0" dirty="0" err="1">
                          <a:solidFill>
                            <a:schemeClr val="bg1"/>
                          </a:solidFill>
                          <a:latin typeface="Times New Roman" panose="02020603050405020304" pitchFamily="18" charset="0"/>
                        </a:rPr>
                        <a:t>phân</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lớp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không</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hợp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lệ</a:t>
                      </a:r>
                      <a:r>
                        <a:rPr lang="en-US" sz="1500" baseline="0" dirty="0">
                          <a:solidFill>
                            <a:schemeClr val="bg1"/>
                          </a:solidFill>
                          <a:latin typeface="Times New Roman" panose="02020603050405020304" pitchFamily="18" charset="0"/>
                        </a:rPr>
                        <a:t> là x&lt;&gt;a (x&gt;a và x&lt;a)</a:t>
                      </a:r>
                    </a:p>
                    <a:p>
                      <a:endParaRPr lang="en-US" sz="1500" b="0" baseline="0" dirty="0">
                        <a:solidFill>
                          <a:schemeClr val="bg1"/>
                        </a:solidFill>
                        <a:latin typeface="Times New Roman" panose="02020603050405020304" pitchFamily="18" charset="0"/>
                      </a:endParaRPr>
                    </a:p>
                  </a:txBody>
                  <a:tcPr/>
                </a:tc>
                <a:extLst>
                  <a:ext uri="{0D108BD9-81ED-4DB2-BD59-A6C34878D82A}">
                    <a16:rowId xmlns:a16="http://schemas.microsoft.com/office/drawing/2014/main" val="10001"/>
                  </a:ext>
                </a:extLst>
              </a:tr>
              <a:tr h="692831">
                <a:tc>
                  <a: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en-US" sz="1500" baseline="0" dirty="0">
                          <a:solidFill>
                            <a:schemeClr val="bg1"/>
                          </a:solidFill>
                          <a:latin typeface="Times New Roman" panose="02020603050405020304" pitchFamily="18" charset="0"/>
                        </a:rPr>
                        <a:t>1 </a:t>
                      </a:r>
                      <a:r>
                        <a:rPr lang="en-US" sz="1500" baseline="0" dirty="0" err="1">
                          <a:solidFill>
                            <a:schemeClr val="bg1"/>
                          </a:solidFill>
                          <a:latin typeface="Times New Roman" panose="02020603050405020304" pitchFamily="18" charset="0"/>
                        </a:rPr>
                        <a:t>phần</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tử</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của</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tập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hợp</a:t>
                      </a:r>
                      <a:endParaRPr lang="en-US" sz="1500" baseline="0" dirty="0">
                        <a:solidFill>
                          <a:schemeClr val="bg1"/>
                        </a:solidFill>
                        <a:latin typeface="Times New Roman" panose="02020603050405020304" pitchFamily="18" charset="0"/>
                      </a:endParaRPr>
                    </a:p>
                    <a:p>
                      <a:endParaRPr lang="en-US" sz="1500" b="0" baseline="0" dirty="0">
                        <a:solidFill>
                          <a:schemeClr val="bg1"/>
                        </a:solidFill>
                        <a:latin typeface="Times New Roman" panose="02020603050405020304" pitchFamily="18" charset="0"/>
                      </a:endParaRPr>
                    </a:p>
                  </a:txBody>
                  <a:tcPr/>
                </a:tc>
                <a:tc>
                  <a:txBody>
                    <a:bodyPr/>
                    <a:lstStyle/>
                    <a:p>
                      <a:pPr marL="342900" lvl="0" indent="-342900">
                        <a:buFont typeface="Wingdings" panose="05000000000000000000" pitchFamily="2" charset="2"/>
                        <a:buAutoNum type="arabicPeriod"/>
                      </a:pPr>
                      <a:r>
                        <a:rPr lang="en-US" sz="1500" baseline="0" dirty="0" err="1">
                          <a:solidFill>
                            <a:schemeClr val="bg1"/>
                          </a:solidFill>
                          <a:latin typeface="Times New Roman" panose="02020603050405020304" pitchFamily="18" charset="0"/>
                        </a:rPr>
                        <a:t>Xác</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định</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được</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thành</a:t>
                      </a:r>
                      <a:r>
                        <a:rPr lang="en-US" sz="1500" baseline="0" dirty="0">
                          <a:solidFill>
                            <a:schemeClr val="bg1"/>
                          </a:solidFill>
                          <a:latin typeface="Times New Roman" panose="02020603050405020304" pitchFamily="18" charset="0"/>
                        </a:rPr>
                        <a:t> 1 </a:t>
                      </a:r>
                      <a:r>
                        <a:rPr lang="en-US" sz="1500" baseline="0" dirty="0" err="1">
                          <a:solidFill>
                            <a:schemeClr val="bg1"/>
                          </a:solidFill>
                          <a:latin typeface="Times New Roman" panose="02020603050405020304" pitchFamily="18" charset="0"/>
                        </a:rPr>
                        <a:t>lớp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tương</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đương</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hợp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lệ</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là</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thuộc</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tập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hợp</a:t>
                      </a:r>
                      <a:r>
                        <a:rPr lang="en-US" sz="1500" baseline="0" dirty="0">
                          <a:solidFill>
                            <a:schemeClr val="bg1"/>
                          </a:solidFill>
                          <a:latin typeface="Times New Roman" panose="02020603050405020304" pitchFamily="18" charset="0"/>
                        </a:rPr>
                        <a:t>.</a:t>
                      </a:r>
                    </a:p>
                    <a:p>
                      <a:pPr marL="342900" lvl="0" indent="-342900">
                        <a:buFont typeface="Wingdings" panose="05000000000000000000" pitchFamily="2" charset="2"/>
                        <a:buAutoNum type="arabicPeriod"/>
                      </a:pPr>
                      <a:r>
                        <a:rPr lang="en-US" sz="1500" baseline="0" dirty="0" err="1">
                          <a:solidFill>
                            <a:schemeClr val="bg1"/>
                          </a:solidFill>
                          <a:latin typeface="Times New Roman" panose="02020603050405020304" pitchFamily="18" charset="0"/>
                        </a:rPr>
                        <a:t>Xác</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định</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được</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thành</a:t>
                      </a:r>
                      <a:r>
                        <a:rPr lang="en-US" sz="1500" baseline="0" dirty="0">
                          <a:solidFill>
                            <a:schemeClr val="bg1"/>
                          </a:solidFill>
                          <a:latin typeface="Times New Roman" panose="02020603050405020304" pitchFamily="18" charset="0"/>
                        </a:rPr>
                        <a:t> 1 </a:t>
                      </a:r>
                      <a:r>
                        <a:rPr lang="en-US" sz="1500" baseline="0" dirty="0" err="1">
                          <a:solidFill>
                            <a:schemeClr val="bg1"/>
                          </a:solidFill>
                          <a:latin typeface="Times New Roman" panose="02020603050405020304" pitchFamily="18" charset="0"/>
                        </a:rPr>
                        <a:t>lớp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tương</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đương</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không</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hợp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lệ</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là</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không</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thuộc</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tập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hợp</a:t>
                      </a:r>
                      <a:endParaRPr lang="en-US" sz="1500" baseline="0" dirty="0">
                        <a:solidFill>
                          <a:schemeClr val="bg1"/>
                        </a:solidFill>
                        <a:latin typeface="Times New Roman" panose="02020603050405020304" pitchFamily="18" charset="0"/>
                      </a:endParaRPr>
                    </a:p>
                    <a:p>
                      <a:endParaRPr lang="en-US" sz="1500" b="0" baseline="0" dirty="0">
                        <a:solidFill>
                          <a:schemeClr val="bg1"/>
                        </a:solidFill>
                        <a:latin typeface="Times New Roman" panose="02020603050405020304" pitchFamily="18" charset="0"/>
                      </a:endParaRPr>
                    </a:p>
                  </a:txBody>
                  <a:tcPr/>
                </a:tc>
                <a:extLst>
                  <a:ext uri="{0D108BD9-81ED-4DB2-BD59-A6C34878D82A}">
                    <a16:rowId xmlns:a16="http://schemas.microsoft.com/office/drawing/2014/main" val="10002"/>
                  </a:ext>
                </a:extLst>
              </a:tr>
              <a:tr h="754745">
                <a:tc>
                  <a: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en-US" sz="1500" baseline="0" dirty="0">
                          <a:solidFill>
                            <a:schemeClr val="bg1"/>
                          </a:solidFill>
                          <a:latin typeface="Times New Roman" panose="02020603050405020304" pitchFamily="18" charset="0"/>
                        </a:rPr>
                        <a:t>1 Boolean</a:t>
                      </a:r>
                    </a:p>
                    <a:p>
                      <a:endParaRPr lang="en-US" sz="1500" b="0" baseline="0" dirty="0">
                        <a:solidFill>
                          <a:schemeClr val="bg1"/>
                        </a:solidFill>
                        <a:latin typeface="Times New Roman" panose="02020603050405020304" pitchFamily="18" charset="0"/>
                      </a:endParaRPr>
                    </a:p>
                  </a:txBody>
                  <a:tcPr/>
                </a:tc>
                <a:tc>
                  <a:txBody>
                    <a:bodyPr/>
                    <a:lstStyle/>
                    <a:p>
                      <a:pPr marL="342900" lvl="0" indent="-342900">
                        <a:buFont typeface="Wingdings" panose="05000000000000000000" pitchFamily="2" charset="2"/>
                        <a:buAutoNum type="arabicPeriod"/>
                      </a:pPr>
                      <a:r>
                        <a:rPr lang="en-US" sz="1500" baseline="0" dirty="0" err="1">
                          <a:solidFill>
                            <a:schemeClr val="bg1"/>
                          </a:solidFill>
                          <a:latin typeface="Times New Roman" panose="02020603050405020304" pitchFamily="18" charset="0"/>
                        </a:rPr>
                        <a:t>Xác</a:t>
                      </a:r>
                      <a:r>
                        <a:rPr lang="en-US" sz="1500" baseline="0" dirty="0">
                          <a:solidFill>
                            <a:schemeClr val="bg1"/>
                          </a:solidFill>
                          <a:latin typeface="Times New Roman" panose="02020603050405020304" pitchFamily="18" charset="0"/>
                        </a:rPr>
                        <a:t> định được thành 1 </a:t>
                      </a:r>
                      <a:r>
                        <a:rPr lang="en-US" sz="1500" baseline="0" dirty="0" err="1">
                          <a:solidFill>
                            <a:schemeClr val="bg1"/>
                          </a:solidFill>
                          <a:latin typeface="Times New Roman" panose="02020603050405020304" pitchFamily="18" charset="0"/>
                        </a:rPr>
                        <a:t>lớp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tương</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đương</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hợp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lệ</a:t>
                      </a:r>
                      <a:r>
                        <a:rPr lang="en-US" sz="1500" baseline="0" dirty="0">
                          <a:solidFill>
                            <a:schemeClr val="bg1"/>
                          </a:solidFill>
                          <a:latin typeface="Times New Roman" panose="02020603050405020304" pitchFamily="18" charset="0"/>
                        </a:rPr>
                        <a:t> là true.</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AutoNum type="arabicPeriod"/>
                        <a:tabLst/>
                        <a:defRPr/>
                      </a:pPr>
                      <a:r>
                        <a:rPr lang="en-US" sz="1500" baseline="0" dirty="0" err="1">
                          <a:solidFill>
                            <a:schemeClr val="bg1"/>
                          </a:solidFill>
                          <a:latin typeface="Times New Roman" panose="02020603050405020304" pitchFamily="18" charset="0"/>
                        </a:rPr>
                        <a:t>Xác</a:t>
                      </a:r>
                      <a:r>
                        <a:rPr lang="en-US" sz="1500" baseline="0" dirty="0">
                          <a:solidFill>
                            <a:schemeClr val="bg1"/>
                          </a:solidFill>
                          <a:latin typeface="Times New Roman" panose="02020603050405020304" pitchFamily="18" charset="0"/>
                        </a:rPr>
                        <a:t> định được thành 1 </a:t>
                      </a:r>
                      <a:r>
                        <a:rPr lang="en-US" sz="1500" baseline="0" dirty="0" err="1">
                          <a:solidFill>
                            <a:schemeClr val="bg1"/>
                          </a:solidFill>
                          <a:latin typeface="Times New Roman" panose="02020603050405020304" pitchFamily="18" charset="0"/>
                        </a:rPr>
                        <a:t>lớp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tương</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đương</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không</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hợp</a:t>
                      </a:r>
                      <a:r>
                        <a:rPr lang="en-US" sz="1500" baseline="0" dirty="0">
                          <a:solidFill>
                            <a:schemeClr val="bg1"/>
                          </a:solidFill>
                          <a:latin typeface="Times New Roman" panose="02020603050405020304" pitchFamily="18" charset="0"/>
                        </a:rPr>
                        <a:t> </a:t>
                      </a:r>
                      <a:r>
                        <a:rPr lang="en-US" sz="1500" baseline="0" dirty="0" err="1">
                          <a:solidFill>
                            <a:schemeClr val="bg1"/>
                          </a:solidFill>
                          <a:latin typeface="Times New Roman" panose="02020603050405020304" pitchFamily="18" charset="0"/>
                        </a:rPr>
                        <a:t>lệ</a:t>
                      </a:r>
                      <a:r>
                        <a:rPr lang="en-US" sz="1500" baseline="0" dirty="0">
                          <a:solidFill>
                            <a:schemeClr val="bg1"/>
                          </a:solidFill>
                          <a:latin typeface="Times New Roman" panose="02020603050405020304" pitchFamily="18" charset="0"/>
                        </a:rPr>
                        <a:t> là false.</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6858000" cy="799306"/>
          </a:xfrm>
        </p:spPr>
        <p:txBody>
          <a:bodyPr/>
          <a:lstStyle/>
          <a:p>
            <a:r>
              <a:rPr lang="en-US" dirty="0"/>
              <a:t>3.1. P</a:t>
            </a:r>
            <a:r>
              <a:rPr lang="vi-VN" dirty="0"/>
              <a:t>hân lớp tương đương</a:t>
            </a:r>
            <a:endParaRPr lang="en-US" dirty="0"/>
          </a:p>
        </p:txBody>
      </p:sp>
      <p:sp>
        <p:nvSpPr>
          <p:cNvPr id="3" name="Content Placeholder 2"/>
          <p:cNvSpPr>
            <a:spLocks noGrp="1"/>
          </p:cNvSpPr>
          <p:nvPr>
            <p:ph idx="1"/>
          </p:nvPr>
        </p:nvSpPr>
        <p:spPr>
          <a:xfrm>
            <a:off x="172995" y="609600"/>
            <a:ext cx="8023654" cy="2209800"/>
          </a:xfrm>
        </p:spPr>
        <p:txBody>
          <a:bodyPr>
            <a:noAutofit/>
          </a:bodyPr>
          <a:lstStyle/>
          <a:p>
            <a:pPr>
              <a:buFont typeface="Wingdings" panose="05000000000000000000" pitchFamily="2" charset="2"/>
              <a:buChar char="v"/>
            </a:pPr>
            <a:r>
              <a:rPr lang="en-US" sz="1600" dirty="0" err="1"/>
              <a:t>Ví</a:t>
            </a:r>
            <a:r>
              <a:rPr lang="en-US" sz="1600" dirty="0"/>
              <a:t> </a:t>
            </a:r>
            <a:r>
              <a:rPr lang="en-US" sz="1600" dirty="0" err="1"/>
              <a:t>dụ</a:t>
            </a:r>
            <a:r>
              <a:rPr lang="vi-VN" sz="1600" dirty="0"/>
              <a:t>1</a:t>
            </a:r>
            <a:r>
              <a:rPr lang="en-US" sz="1600" dirty="0"/>
              <a:t>: </a:t>
            </a:r>
            <a:r>
              <a:rPr lang="vi-VN" sz="1600" dirty="0"/>
              <a:t>Xác định phân vùng tương đương theo yêu cầu sau đây:</a:t>
            </a:r>
          </a:p>
          <a:p>
            <a:pPr lvl="1">
              <a:buFont typeface="Wingdings" panose="05000000000000000000" pitchFamily="2" charset="2"/>
              <a:buChar char="ü"/>
            </a:pPr>
            <a:r>
              <a:rPr lang="vi-VN" sz="1600" dirty="0"/>
              <a:t>Username chỉ được nhập trong khoảng từ 3-20 ký tự.</a:t>
            </a:r>
          </a:p>
          <a:p>
            <a:pPr lvl="1">
              <a:buFont typeface="Wingdings" panose="05000000000000000000" pitchFamily="2" charset="2"/>
              <a:buChar char="ü"/>
            </a:pPr>
            <a:r>
              <a:rPr lang="vi-VN" sz="1600" dirty="0"/>
              <a:t>Nếu số ký tự nhập nằm ngoài khoảng [3,20] thì hiển thị thông báo: “Tên phải có ít nhất 3 ký tự và ít hơn 20 ký tự”</a:t>
            </a:r>
          </a:p>
          <a:p>
            <a:pPr lvl="1">
              <a:buFont typeface="Wingdings" panose="05000000000000000000" pitchFamily="2" charset="2"/>
              <a:buChar char="ü"/>
            </a:pPr>
            <a:r>
              <a:rPr lang="vi-VN" sz="1600" dirty="0"/>
              <a:t>Nếu để trống hoặc nhập ký tự khác ký tự chữ thì hiển thị thông báo: “Tên không hợp l</a:t>
            </a:r>
            <a:r>
              <a:rPr lang="en-US" sz="1600" dirty="0"/>
              <a:t>ệ</a:t>
            </a:r>
          </a:p>
          <a:p>
            <a:pPr>
              <a:buFont typeface="Wingdings" panose="05000000000000000000" pitchFamily="2" charset="2"/>
              <a:buChar char="v"/>
            </a:pPr>
            <a:r>
              <a:rPr lang="en-US" sz="1600" dirty="0" err="1"/>
              <a:t>Xác</a:t>
            </a:r>
            <a:r>
              <a:rPr lang="en-US" sz="1600" dirty="0"/>
              <a:t> </a:t>
            </a:r>
            <a:r>
              <a:rPr lang="en-US" sz="1600" dirty="0" err="1"/>
              <a:t>định</a:t>
            </a:r>
            <a:r>
              <a:rPr lang="en-US" sz="1600" dirty="0"/>
              <a:t> </a:t>
            </a:r>
            <a:r>
              <a:rPr lang="en-US" sz="1600" dirty="0" err="1"/>
              <a:t>được</a:t>
            </a:r>
            <a:r>
              <a:rPr lang="en-US" sz="1600" dirty="0"/>
              <a:t> </a:t>
            </a:r>
            <a:r>
              <a:rPr lang="en-US" sz="1600" dirty="0" err="1"/>
              <a:t>phân</a:t>
            </a:r>
            <a:r>
              <a:rPr lang="en-US" sz="1600" dirty="0"/>
              <a:t> </a:t>
            </a:r>
            <a:r>
              <a:rPr lang="en-US" sz="1600" dirty="0" err="1"/>
              <a:t>vùng</a:t>
            </a:r>
            <a:r>
              <a:rPr lang="en-US" sz="1600" dirty="0"/>
              <a:t> </a:t>
            </a:r>
            <a:r>
              <a:rPr lang="en-US" sz="1600" dirty="0" err="1"/>
              <a:t>tương</a:t>
            </a:r>
            <a:r>
              <a:rPr lang="en-US" sz="1600" dirty="0"/>
              <a:t> </a:t>
            </a:r>
            <a:r>
              <a:rPr lang="en-US" sz="1600" dirty="0" err="1"/>
              <a:t>đương</a:t>
            </a:r>
            <a:r>
              <a:rPr lang="en-US" sz="1600" dirty="0"/>
              <a:t> </a:t>
            </a:r>
            <a:r>
              <a:rPr lang="en-US" sz="1600" dirty="0" err="1"/>
              <a:t>như</a:t>
            </a:r>
            <a:r>
              <a:rPr lang="en-US" sz="1600" dirty="0"/>
              <a:t> </a:t>
            </a:r>
            <a:r>
              <a:rPr lang="en-US" sz="1600" dirty="0" err="1"/>
              <a:t>sau</a:t>
            </a:r>
            <a:r>
              <a:rPr lang="en-US" sz="1600" dirty="0"/>
              <a:t>:</a:t>
            </a:r>
          </a:p>
          <a:p>
            <a:pPr lvl="1">
              <a:buFont typeface="Wingdings" panose="05000000000000000000" pitchFamily="2" charset="2"/>
              <a:buChar char="ü"/>
            </a:pPr>
            <a:endParaRPr lang="vi-VN" sz="1600" dirty="0"/>
          </a:p>
        </p:txBody>
      </p:sp>
      <p:sp>
        <p:nvSpPr>
          <p:cNvPr id="22" name="Content Placeholder 2"/>
          <p:cNvSpPr txBox="1"/>
          <p:nvPr/>
        </p:nvSpPr>
        <p:spPr>
          <a:xfrm>
            <a:off x="172994" y="4724401"/>
            <a:ext cx="8285205" cy="381000"/>
          </a:xfrm>
          <a:prstGeom prst="rect">
            <a:avLst/>
          </a:prstGeom>
        </p:spPr>
        <p:txBody>
          <a:bodyPr vert="horz" anchor="t">
            <a:noAutofit/>
          </a:bodyPr>
          <a:lstStyle>
            <a:lvl1pPr marL="448310" indent="-384175" algn="l" rtl="0" eaLnBrk="1" latinLnBrk="0" hangingPunct="1">
              <a:spcBef>
                <a:spcPct val="20000"/>
              </a:spcBef>
              <a:spcAft>
                <a:spcPts val="1000"/>
              </a:spcAft>
              <a:buClr>
                <a:schemeClr val="accent1"/>
              </a:buClr>
              <a:buSzPct val="80000"/>
              <a:buFont typeface="Arial" panose="020B0604020202020204" pitchFamily="34" charset="0"/>
              <a:buChar char="•"/>
              <a:defRPr sz="2000" kern="1200">
                <a:solidFill>
                  <a:schemeClr val="bg2"/>
                </a:solidFill>
                <a:latin typeface="+mn-lt"/>
                <a:ea typeface="+mn-ea"/>
                <a:cs typeface="+mn-cs"/>
              </a:defRPr>
            </a:lvl1pPr>
            <a:lvl2pPr marL="822960" indent="-285750" algn="l" rtl="0" eaLnBrk="1" latinLnBrk="0" hangingPunct="1">
              <a:spcBef>
                <a:spcPct val="20000"/>
              </a:spcBef>
              <a:spcAft>
                <a:spcPts val="1000"/>
              </a:spcAft>
              <a:buClr>
                <a:schemeClr val="accent1"/>
              </a:buClr>
              <a:buSzPct val="95000"/>
              <a:buFont typeface="Arial" panose="020B0604020202020204" pitchFamily="34" charset="0"/>
              <a:buChar char="•"/>
              <a:defRPr sz="1800" kern="1200">
                <a:solidFill>
                  <a:schemeClr val="bg2"/>
                </a:solidFill>
                <a:latin typeface="+mn-lt"/>
                <a:ea typeface="+mn-ea"/>
                <a:cs typeface="+mn-cs"/>
              </a:defRPr>
            </a:lvl2pPr>
            <a:lvl3pPr marL="1106170" indent="-228600"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3pPr>
            <a:lvl4pPr marL="13716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4pPr>
            <a:lvl5pPr marL="16002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5pPr>
            <a:lvl6pPr marL="1828800" indent="-210185" algn="l" rtl="0" eaLnBrk="1" latinLnBrk="0" hangingPunct="1">
              <a:spcBef>
                <a:spcPct val="20000"/>
              </a:spcBef>
              <a:buClr>
                <a:schemeClr val="accent1">
                  <a:tint val="75000"/>
                </a:schemeClr>
              </a:buClr>
              <a:buFont typeface="Wingdings 2" panose="05020102010507070707"/>
              <a:buChar char=""/>
              <a:defRPr sz="1800" kern="1200">
                <a:solidFill>
                  <a:schemeClr val="tx1"/>
                </a:solidFill>
                <a:latin typeface="+mn-lt"/>
                <a:ea typeface="+mn-ea"/>
                <a:cs typeface="+mn-cs"/>
              </a:defRPr>
            </a:lvl6pPr>
            <a:lvl7pPr marL="2084705" indent="-210185"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9pPr>
          </a:lstStyle>
          <a:p>
            <a:pPr>
              <a:buFont typeface="Wingdings" panose="05000000000000000000" pitchFamily="2" charset="2"/>
              <a:buChar char="v"/>
            </a:pPr>
            <a:r>
              <a:rPr lang="vi-VN" sz="1600" dirty="0"/>
              <a:t>Dựa vào bảng tương đương trên ta có được các case test.</a:t>
            </a:r>
            <a:endParaRPr lang="en-US" sz="1600" dirty="0"/>
          </a:p>
          <a:p>
            <a:pPr marL="64135" indent="0">
              <a:buFont typeface="Arial" panose="020B0604020202020204" pitchFamily="34" charset="0"/>
              <a:buNone/>
            </a:pPr>
            <a:endParaRPr lang="en-US" sz="1600" dirty="0"/>
          </a:p>
          <a:p>
            <a:pPr>
              <a:buFont typeface="Wingdings" panose="05000000000000000000" pitchFamily="2" charset="2"/>
              <a:buChar char="v"/>
            </a:pPr>
            <a:endParaRPr lang="en-US" sz="1600" dirty="0"/>
          </a:p>
          <a:p>
            <a:pPr lvl="2">
              <a:buFont typeface="Wingdings" panose="05000000000000000000" pitchFamily="2" charset="2"/>
              <a:buChar char="ü"/>
            </a:pPr>
            <a:endParaRPr lang="en-US" sz="1600" dirty="0"/>
          </a:p>
          <a:p>
            <a:endParaRPr lang="en-US" sz="1600" dirty="0"/>
          </a:p>
          <a:p>
            <a:pPr marL="64135" indent="0">
              <a:buFont typeface="Arial" panose="020B0604020202020204" pitchFamily="34" charset="0"/>
              <a:buNone/>
            </a:pPr>
            <a:endParaRPr lang="en-US" sz="1600" dirty="0"/>
          </a:p>
        </p:txBody>
      </p:sp>
      <p:graphicFrame>
        <p:nvGraphicFramePr>
          <p:cNvPr id="23" name="Table 22"/>
          <p:cNvGraphicFramePr>
            <a:graphicFrameLocks noGrp="1"/>
          </p:cNvGraphicFramePr>
          <p:nvPr>
            <p:extLst>
              <p:ext uri="{D42A27DB-BD31-4B8C-83A1-F6EECF244321}">
                <p14:modId xmlns:p14="http://schemas.microsoft.com/office/powerpoint/2010/main" val="2791603604"/>
              </p:ext>
            </p:extLst>
          </p:nvPr>
        </p:nvGraphicFramePr>
        <p:xfrm>
          <a:off x="1143000" y="5105400"/>
          <a:ext cx="7620000" cy="1327026"/>
        </p:xfrm>
        <a:graphic>
          <a:graphicData uri="http://schemas.openxmlformats.org/drawingml/2006/table">
            <a:tbl>
              <a:tblPr firstRow="1" firstCol="1" bandRow="1">
                <a:tableStyleId>{5C22544A-7EE6-4342-B048-85BDC9FD1C3A}</a:tableStyleId>
              </a:tblPr>
              <a:tblGrid>
                <a:gridCol w="5334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0">
                <a:tc>
                  <a:txBody>
                    <a:bodyPr/>
                    <a:lstStyle/>
                    <a:p>
                      <a:pPr algn="just">
                        <a:lnSpc>
                          <a:spcPct val="150000"/>
                        </a:lnSpc>
                        <a:spcAft>
                          <a:spcPts val="0"/>
                        </a:spcAft>
                      </a:pPr>
                      <a:r>
                        <a:rPr lang="en-US" sz="1100" dirty="0">
                          <a:effectLst/>
                        </a:rPr>
                        <a:t>Case</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effectLst/>
                        </a:rPr>
                        <a:t>Giá</a:t>
                      </a:r>
                      <a:r>
                        <a:rPr lang="en-US" sz="1100" dirty="0">
                          <a:effectLst/>
                        </a:rPr>
                        <a:t> </a:t>
                      </a:r>
                      <a:r>
                        <a:rPr lang="en-US" sz="1100" dirty="0" err="1">
                          <a:effectLst/>
                        </a:rPr>
                        <a:t>trị</a:t>
                      </a:r>
                      <a:r>
                        <a:rPr lang="en-US" sz="1100" dirty="0">
                          <a:effectLst/>
                        </a:rPr>
                        <a:t> </a:t>
                      </a:r>
                      <a:r>
                        <a:rPr lang="en-US" sz="1100" dirty="0" err="1">
                          <a:effectLst/>
                        </a:rPr>
                        <a:t>nhập</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effectLst/>
                        </a:rPr>
                        <a:t>Kết</a:t>
                      </a:r>
                      <a:r>
                        <a:rPr lang="en-US" sz="1100" dirty="0">
                          <a:effectLst/>
                        </a:rPr>
                        <a:t> </a:t>
                      </a:r>
                      <a:r>
                        <a:rPr lang="en-US" sz="1100" dirty="0" err="1">
                          <a:effectLst/>
                        </a:rPr>
                        <a:t>quả</a:t>
                      </a:r>
                      <a:r>
                        <a:rPr lang="en-US" sz="1100" dirty="0">
                          <a:effectLst/>
                        </a:rPr>
                        <a:t> </a:t>
                      </a:r>
                      <a:r>
                        <a:rPr lang="en-US" sz="1100" dirty="0" err="1">
                          <a:effectLst/>
                        </a:rPr>
                        <a:t>mong</a:t>
                      </a:r>
                      <a:r>
                        <a:rPr lang="en-US" sz="1100" dirty="0">
                          <a:effectLst/>
                        </a:rPr>
                        <a:t> </a:t>
                      </a:r>
                      <a:r>
                        <a:rPr lang="en-US" sz="1100" dirty="0" err="1">
                          <a:effectLst/>
                        </a:rPr>
                        <a:t>muốn</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algn="just">
                        <a:lnSpc>
                          <a:spcPct val="150000"/>
                        </a:lnSpc>
                        <a:spcAft>
                          <a:spcPts val="0"/>
                        </a:spcAft>
                      </a:pPr>
                      <a:r>
                        <a:rPr lang="en-US" sz="1100" dirty="0">
                          <a:effectLst/>
                        </a:rPr>
                        <a:t>1</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t>Nhập</a:t>
                      </a:r>
                      <a:r>
                        <a:rPr lang="en-US" sz="1100" dirty="0"/>
                        <a:t> </a:t>
                      </a:r>
                      <a:r>
                        <a:rPr lang="en-US" sz="1100" dirty="0" err="1"/>
                        <a:t>số</a:t>
                      </a:r>
                      <a:r>
                        <a:rPr lang="en-US" sz="1100" baseline="0" dirty="0"/>
                        <a:t> </a:t>
                      </a:r>
                      <a:r>
                        <a:rPr lang="en-US" sz="1100" baseline="0" dirty="0" err="1"/>
                        <a:t>ký</a:t>
                      </a:r>
                      <a:r>
                        <a:rPr lang="en-US" sz="1100" baseline="0" dirty="0"/>
                        <a:t> </a:t>
                      </a:r>
                      <a:r>
                        <a:rPr lang="en-US" sz="1100" baseline="0" dirty="0" err="1"/>
                        <a:t>tự</a:t>
                      </a:r>
                      <a:r>
                        <a:rPr lang="en-US" sz="1100" baseline="0" dirty="0"/>
                        <a:t> </a:t>
                      </a:r>
                      <a:r>
                        <a:rPr lang="en-US" sz="1100" baseline="0" dirty="0" err="1"/>
                        <a:t>là</a:t>
                      </a:r>
                      <a:r>
                        <a:rPr lang="en-US" sz="1100" baseline="0" dirty="0"/>
                        <a:t> </a:t>
                      </a:r>
                      <a:r>
                        <a:rPr lang="en-US" sz="1100" baseline="0" dirty="0" err="1"/>
                        <a:t>chữ</a:t>
                      </a:r>
                      <a:r>
                        <a:rPr lang="en-US" sz="1100" baseline="0" dirty="0"/>
                        <a:t> </a:t>
                      </a:r>
                      <a:r>
                        <a:rPr lang="en-US" sz="1100" baseline="0" dirty="0" err="1"/>
                        <a:t>trong</a:t>
                      </a:r>
                      <a:r>
                        <a:rPr lang="en-US" sz="1100" baseline="0" dirty="0"/>
                        <a:t> </a:t>
                      </a:r>
                      <a:r>
                        <a:rPr lang="en-US" sz="1100" baseline="0" dirty="0" err="1"/>
                        <a:t>khoảng</a:t>
                      </a:r>
                      <a:r>
                        <a:rPr lang="en-US" sz="1100" baseline="0" dirty="0"/>
                        <a:t> [</a:t>
                      </a:r>
                      <a:r>
                        <a:rPr lang="en-US" sz="1100" dirty="0"/>
                        <a:t>3, 20]</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effectLst/>
                        </a:rPr>
                        <a:t>Pass</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algn="just">
                        <a:lnSpc>
                          <a:spcPct val="150000"/>
                        </a:lnSpc>
                        <a:spcAft>
                          <a:spcPts val="0"/>
                        </a:spcAft>
                      </a:pPr>
                      <a:r>
                        <a:rPr lang="en-US" sz="1100">
                          <a:effectLst/>
                        </a:rPr>
                        <a:t>2</a:t>
                      </a:r>
                      <a:endParaRPr lang="en-US" sz="110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t>Nhập</a:t>
                      </a:r>
                      <a:r>
                        <a:rPr lang="en-US" sz="1100" dirty="0"/>
                        <a:t> &lt; 3 </a:t>
                      </a:r>
                      <a:r>
                        <a:rPr lang="en-US" sz="1100" dirty="0" err="1"/>
                        <a:t>ký</a:t>
                      </a:r>
                      <a:r>
                        <a:rPr lang="en-US" sz="1100" dirty="0"/>
                        <a:t> </a:t>
                      </a:r>
                      <a:r>
                        <a:rPr lang="en-US" sz="1100" dirty="0" err="1"/>
                        <a:t>tự</a:t>
                      </a:r>
                      <a:r>
                        <a:rPr lang="en-US" sz="1100" dirty="0"/>
                        <a:t> </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t>Hiển thị thông báo lỗi “Tên phải có ít nhất 3 ký tự và ít hơn 20 ký tự”</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a:txBody>
                    <a:bodyPr/>
                    <a:lstStyle/>
                    <a:p>
                      <a:pPr algn="just">
                        <a:lnSpc>
                          <a:spcPct val="150000"/>
                        </a:lnSpc>
                        <a:spcAft>
                          <a:spcPts val="0"/>
                        </a:spcAft>
                      </a:pPr>
                      <a:r>
                        <a:rPr lang="en-US" sz="1100">
                          <a:effectLst/>
                        </a:rPr>
                        <a:t>3</a:t>
                      </a:r>
                      <a:endParaRPr lang="en-US" sz="110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t>Nhập</a:t>
                      </a:r>
                      <a:r>
                        <a:rPr lang="en-US" sz="1100" dirty="0"/>
                        <a:t> &gt; 20 </a:t>
                      </a:r>
                      <a:r>
                        <a:rPr lang="en-US" sz="1100" dirty="0" err="1"/>
                        <a:t>ký</a:t>
                      </a:r>
                      <a:r>
                        <a:rPr lang="en-US" sz="1100" dirty="0"/>
                        <a:t> </a:t>
                      </a:r>
                      <a:r>
                        <a:rPr lang="en-US" sz="1100" dirty="0" err="1"/>
                        <a:t>tự</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t>Hiển thị thông báo lỗi “Tên phải có ít nhất 3 ký tự và ít hơn 20 ký tự”</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a:txBody>
                    <a:bodyPr/>
                    <a:lstStyle/>
                    <a:p>
                      <a:pPr algn="just">
                        <a:lnSpc>
                          <a:spcPct val="150000"/>
                        </a:lnSpc>
                        <a:spcAft>
                          <a:spcPts val="0"/>
                        </a:spcAft>
                      </a:pPr>
                      <a:r>
                        <a:rPr lang="en-US" sz="1100" dirty="0">
                          <a:effectLst/>
                        </a:rPr>
                        <a:t>4</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a:solidFill>
                            <a:schemeClr val="dk1"/>
                          </a:solidFill>
                          <a:effectLst/>
                          <a:latin typeface="+mn-lt"/>
                          <a:ea typeface="+mn-ea"/>
                          <a:cs typeface="+mn-cs"/>
                        </a:rPr>
                        <a:t>Để</a:t>
                      </a:r>
                      <a:r>
                        <a:rPr lang="vi-VN" sz="1100" baseline="0">
                          <a:solidFill>
                            <a:schemeClr val="dk1"/>
                          </a:solidFill>
                          <a:effectLst/>
                          <a:latin typeface="+mn-lt"/>
                          <a:ea typeface="+mn-ea"/>
                          <a:cs typeface="+mn-cs"/>
                        </a:rPr>
                        <a:t> trống</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t>Hiển</a:t>
                      </a:r>
                      <a:r>
                        <a:rPr lang="en-US" sz="1100" dirty="0"/>
                        <a:t> </a:t>
                      </a:r>
                      <a:r>
                        <a:rPr lang="en-US" sz="1100" dirty="0" err="1"/>
                        <a:t>thị</a:t>
                      </a:r>
                      <a:r>
                        <a:rPr lang="en-US" sz="1100" dirty="0"/>
                        <a:t> </a:t>
                      </a:r>
                      <a:r>
                        <a:rPr lang="en-US" sz="1100" dirty="0" err="1"/>
                        <a:t>thông</a:t>
                      </a:r>
                      <a:r>
                        <a:rPr lang="en-US" sz="1100" dirty="0"/>
                        <a:t> </a:t>
                      </a:r>
                      <a:r>
                        <a:rPr lang="en-US" sz="1100" dirty="0" err="1"/>
                        <a:t>báo</a:t>
                      </a:r>
                      <a:r>
                        <a:rPr lang="en-US" sz="1100" dirty="0"/>
                        <a:t> </a:t>
                      </a:r>
                      <a:r>
                        <a:rPr lang="en-US" sz="1100" dirty="0" err="1"/>
                        <a:t>lỗi</a:t>
                      </a:r>
                      <a:r>
                        <a:rPr lang="en-US" sz="1100" dirty="0"/>
                        <a:t> “</a:t>
                      </a:r>
                      <a:r>
                        <a:rPr lang="en-US" sz="1100" dirty="0" err="1"/>
                        <a:t>Tên</a:t>
                      </a:r>
                      <a:r>
                        <a:rPr lang="en-US" sz="1100" dirty="0"/>
                        <a:t> </a:t>
                      </a:r>
                      <a:r>
                        <a:rPr lang="en-US" sz="1100" dirty="0" err="1"/>
                        <a:t>không</a:t>
                      </a:r>
                      <a:r>
                        <a:rPr lang="en-US" sz="1100" dirty="0"/>
                        <a:t> </a:t>
                      </a:r>
                      <a:r>
                        <a:rPr lang="en-US" sz="1100" dirty="0" err="1"/>
                        <a:t>hợp</a:t>
                      </a:r>
                      <a:r>
                        <a:rPr lang="en-US" sz="1100" dirty="0"/>
                        <a:t> </a:t>
                      </a:r>
                      <a:r>
                        <a:rPr lang="en-US" sz="1100" dirty="0" err="1"/>
                        <a:t>lệ</a:t>
                      </a:r>
                      <a:r>
                        <a:rPr lang="en-US" sz="1100" dirty="0"/>
                        <a:t>”</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0">
                <a:tc>
                  <a:txBody>
                    <a:bodyPr/>
                    <a:lstStyle/>
                    <a:p>
                      <a:pPr algn="just">
                        <a:lnSpc>
                          <a:spcPct val="150000"/>
                        </a:lnSpc>
                        <a:spcAft>
                          <a:spcPts val="0"/>
                        </a:spcAft>
                      </a:pPr>
                      <a:r>
                        <a:rPr lang="vi-VN" sz="1100" dirty="0">
                          <a:solidFill>
                            <a:schemeClr val="lt1"/>
                          </a:solidFill>
                          <a:effectLst/>
                          <a:latin typeface="+mn-lt"/>
                          <a:ea typeface="+mn-ea"/>
                          <a:cs typeface="+mn-cs"/>
                        </a:rPr>
                        <a:t>5</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effectLst/>
                        </a:rPr>
                        <a:t>Nhập</a:t>
                      </a:r>
                      <a:r>
                        <a:rPr lang="vi-VN" sz="1100" baseline="0" dirty="0">
                          <a:effectLst/>
                        </a:rPr>
                        <a:t> ký tự khác ký tự chữ</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t>Hiển</a:t>
                      </a:r>
                      <a:r>
                        <a:rPr lang="en-US" sz="1100" dirty="0"/>
                        <a:t> </a:t>
                      </a:r>
                      <a:r>
                        <a:rPr lang="en-US" sz="1100" dirty="0" err="1"/>
                        <a:t>thị</a:t>
                      </a:r>
                      <a:r>
                        <a:rPr lang="en-US" sz="1100" dirty="0"/>
                        <a:t> </a:t>
                      </a:r>
                      <a:r>
                        <a:rPr lang="en-US" sz="1100" dirty="0" err="1"/>
                        <a:t>thông</a:t>
                      </a:r>
                      <a:r>
                        <a:rPr lang="en-US" sz="1100" dirty="0"/>
                        <a:t> </a:t>
                      </a:r>
                      <a:r>
                        <a:rPr lang="en-US" sz="1100" dirty="0" err="1"/>
                        <a:t>báo</a:t>
                      </a:r>
                      <a:r>
                        <a:rPr lang="en-US" sz="1100" dirty="0"/>
                        <a:t> </a:t>
                      </a:r>
                      <a:r>
                        <a:rPr lang="en-US" sz="1100" dirty="0" err="1"/>
                        <a:t>lỗi</a:t>
                      </a:r>
                      <a:r>
                        <a:rPr lang="en-US" sz="1100" dirty="0"/>
                        <a:t> “</a:t>
                      </a:r>
                      <a:r>
                        <a:rPr lang="en-US" sz="1100" dirty="0" err="1"/>
                        <a:t>Tên</a:t>
                      </a:r>
                      <a:r>
                        <a:rPr lang="en-US" sz="1100" dirty="0"/>
                        <a:t> </a:t>
                      </a:r>
                      <a:r>
                        <a:rPr lang="en-US" sz="1100" dirty="0" err="1"/>
                        <a:t>không</a:t>
                      </a:r>
                      <a:r>
                        <a:rPr lang="en-US" sz="1100" dirty="0"/>
                        <a:t> </a:t>
                      </a:r>
                      <a:r>
                        <a:rPr lang="en-US" sz="1100" dirty="0" err="1"/>
                        <a:t>hợp</a:t>
                      </a:r>
                      <a:r>
                        <a:rPr lang="en-US" sz="1100" dirty="0"/>
                        <a:t> </a:t>
                      </a:r>
                      <a:r>
                        <a:rPr lang="en-US" sz="1100" dirty="0" err="1"/>
                        <a:t>lệ</a:t>
                      </a:r>
                      <a:r>
                        <a:rPr lang="en-US" sz="1100" dirty="0"/>
                        <a:t>”</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731381429"/>
              </p:ext>
            </p:extLst>
          </p:nvPr>
        </p:nvGraphicFramePr>
        <p:xfrm>
          <a:off x="1143000" y="3169920"/>
          <a:ext cx="5715000" cy="1284161"/>
        </p:xfrm>
        <a:graphic>
          <a:graphicData uri="http://schemas.openxmlformats.org/drawingml/2006/table">
            <a:tbl>
              <a:tblPr firstRow="1" firstCol="1" bandRow="1">
                <a:tableStyleId>{69CF1AB2-1976-4502-BF36-3FF5EA218861}</a:tableStyleId>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200025">
                <a:tc>
                  <a:txBody>
                    <a:bodyPr/>
                    <a:lstStyle/>
                    <a:p>
                      <a:pPr algn="ctr">
                        <a:lnSpc>
                          <a:spcPct val="150000"/>
                        </a:lnSpc>
                        <a:spcAft>
                          <a:spcPts val="0"/>
                        </a:spcAft>
                      </a:pPr>
                      <a:r>
                        <a:rPr lang="vi-VN" sz="1100" b="1" dirty="0">
                          <a:solidFill>
                            <a:schemeClr val="tx1"/>
                          </a:solidFill>
                          <a:effectLst/>
                        </a:rPr>
                        <a:t>Hợp</a:t>
                      </a:r>
                      <a:r>
                        <a:rPr lang="vi-VN" sz="1100" b="1" baseline="0" dirty="0">
                          <a:solidFill>
                            <a:schemeClr val="tx1"/>
                          </a:solidFill>
                          <a:effectLst/>
                        </a:rPr>
                        <a:t> lệ</a:t>
                      </a:r>
                      <a:endParaRPr lang="en-US" sz="1100" b="1" dirty="0">
                        <a:solidFill>
                          <a:schemeClr val="tx1"/>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solidFill>
                      <a:schemeClr val="accent1"/>
                    </a:solidFill>
                  </a:tcPr>
                </a:tc>
                <a:tc>
                  <a:txBody>
                    <a:bodyPr/>
                    <a:lstStyle/>
                    <a:p>
                      <a:pPr algn="ctr">
                        <a:lnSpc>
                          <a:spcPct val="150000"/>
                        </a:lnSpc>
                        <a:spcAft>
                          <a:spcPts val="0"/>
                        </a:spcAft>
                      </a:pPr>
                      <a:r>
                        <a:rPr lang="vi-VN" sz="1100" b="1" dirty="0">
                          <a:solidFill>
                            <a:schemeClr val="tx1"/>
                          </a:solidFill>
                          <a:effectLst/>
                        </a:rPr>
                        <a:t>Không</a:t>
                      </a:r>
                      <a:r>
                        <a:rPr lang="vi-VN" sz="1100" b="1" baseline="0" dirty="0">
                          <a:solidFill>
                            <a:schemeClr val="tx1"/>
                          </a:solidFill>
                          <a:effectLst/>
                        </a:rPr>
                        <a:t> hợp lệ</a:t>
                      </a:r>
                      <a:endParaRPr lang="en-US" sz="1100" b="1" dirty="0">
                        <a:solidFill>
                          <a:schemeClr val="tx1"/>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solidFill>
                      <a:schemeClr val="accent1"/>
                    </a:solidFill>
                  </a:tcPr>
                </a:tc>
                <a:extLst>
                  <a:ext uri="{0D108BD9-81ED-4DB2-BD59-A6C34878D82A}">
                    <a16:rowId xmlns:a16="http://schemas.microsoft.com/office/drawing/2014/main" val="10000"/>
                  </a:ext>
                </a:extLst>
              </a:tr>
              <a:tr h="200025">
                <a:tc rowSpan="2">
                  <a:txBody>
                    <a:bodyPr/>
                    <a:lstStyle/>
                    <a:p>
                      <a:pPr algn="just">
                        <a:lnSpc>
                          <a:spcPct val="150000"/>
                        </a:lnSpc>
                        <a:spcAft>
                          <a:spcPts val="0"/>
                        </a:spcAft>
                      </a:pPr>
                      <a:r>
                        <a:rPr lang="vi-VN" sz="1100" b="0" dirty="0">
                          <a:effectLst/>
                        </a:rPr>
                        <a:t>Nhập</a:t>
                      </a:r>
                      <a:r>
                        <a:rPr lang="vi-VN" sz="1100" b="0" baseline="0" dirty="0">
                          <a:effectLst/>
                        </a:rPr>
                        <a:t> ký tự trong khoảng 3-20 ký tự</a:t>
                      </a:r>
                      <a:endParaRPr lang="en-US"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effectLst/>
                        </a:rPr>
                        <a:t>Nhập</a:t>
                      </a:r>
                      <a:r>
                        <a:rPr lang="vi-VN" sz="1100" baseline="0" dirty="0">
                          <a:effectLst/>
                        </a:rPr>
                        <a:t> &lt; 3 ký tự</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19849">
                <a:tc vMerge="1">
                  <a:txBody>
                    <a:bodyPr/>
                    <a:lstStyle/>
                    <a:p>
                      <a:pPr algn="just">
                        <a:lnSpc>
                          <a:spcPct val="150000"/>
                        </a:lnSpc>
                        <a:spcAft>
                          <a:spcPts val="0"/>
                        </a:spcAft>
                      </a:pP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t>Nhập</a:t>
                      </a:r>
                      <a:r>
                        <a:rPr lang="vi-VN" sz="1100" baseline="0" dirty="0"/>
                        <a:t> &gt;</a:t>
                      </a:r>
                      <a:r>
                        <a:rPr lang="en-US" sz="1100" baseline="0" dirty="0"/>
                        <a:t> </a:t>
                      </a:r>
                      <a:r>
                        <a:rPr lang="vi-VN" sz="1100" baseline="0" dirty="0"/>
                        <a:t>20 ký tự</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300799">
                <a:tc rowSpan="2">
                  <a:txBody>
                    <a:bodyPr/>
                    <a:lstStyle/>
                    <a:p>
                      <a:pPr algn="just">
                        <a:lnSpc>
                          <a:spcPct val="150000"/>
                        </a:lnSpc>
                        <a:spcAft>
                          <a:spcPts val="0"/>
                        </a:spcAft>
                      </a:pPr>
                      <a:r>
                        <a:rPr lang="vi-VN" sz="1100" b="0" dirty="0">
                          <a:effectLst/>
                        </a:rPr>
                        <a:t>Nhập</a:t>
                      </a:r>
                      <a:r>
                        <a:rPr lang="vi-VN" sz="1100" b="0" baseline="0" dirty="0">
                          <a:effectLst/>
                        </a:rPr>
                        <a:t> ký tự chữ</a:t>
                      </a:r>
                      <a:endParaRPr lang="en-US"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effectLst/>
                        </a:rPr>
                        <a:t>Để</a:t>
                      </a:r>
                      <a:r>
                        <a:rPr lang="vi-VN" sz="1100" baseline="0" dirty="0">
                          <a:effectLst/>
                        </a:rPr>
                        <a:t> trống</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00025">
                <a:tc vMerge="1">
                  <a:txBody>
                    <a:bodyPr/>
                    <a:lstStyle/>
                    <a:p>
                      <a:pPr algn="just">
                        <a:lnSpc>
                          <a:spcPct val="150000"/>
                        </a:lnSpc>
                        <a:spcAft>
                          <a:spcPts val="0"/>
                        </a:spcAft>
                      </a:pP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t>Nhập</a:t>
                      </a:r>
                      <a:r>
                        <a:rPr lang="vi-VN" sz="1100" baseline="0" dirty="0"/>
                        <a:t> ký tự khác ký tự chữ</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6858000" cy="799306"/>
          </a:xfrm>
        </p:spPr>
        <p:txBody>
          <a:bodyPr/>
          <a:lstStyle/>
          <a:p>
            <a:r>
              <a:rPr lang="en-US" dirty="0"/>
              <a:t>3.1. P</a:t>
            </a:r>
            <a:r>
              <a:rPr lang="vi-VN" dirty="0"/>
              <a:t>hân lớp tương đương</a:t>
            </a:r>
            <a:endParaRPr lang="en-US" dirty="0"/>
          </a:p>
        </p:txBody>
      </p:sp>
      <p:sp>
        <p:nvSpPr>
          <p:cNvPr id="3" name="Content Placeholder 2"/>
          <p:cNvSpPr>
            <a:spLocks noGrp="1"/>
          </p:cNvSpPr>
          <p:nvPr>
            <p:ph idx="1"/>
          </p:nvPr>
        </p:nvSpPr>
        <p:spPr>
          <a:xfrm>
            <a:off x="205946" y="762000"/>
            <a:ext cx="8023654" cy="2209800"/>
          </a:xfrm>
        </p:spPr>
        <p:txBody>
          <a:bodyPr>
            <a:noAutofit/>
          </a:bodyPr>
          <a:lstStyle/>
          <a:p>
            <a:pPr>
              <a:buFont typeface="Wingdings" panose="05000000000000000000" pitchFamily="2" charset="2"/>
              <a:buChar char="v"/>
            </a:pPr>
            <a:r>
              <a:rPr lang="en-US" sz="1600" dirty="0" err="1"/>
              <a:t>Ví</a:t>
            </a:r>
            <a:r>
              <a:rPr lang="en-US" sz="1600" dirty="0"/>
              <a:t> </a:t>
            </a:r>
            <a:r>
              <a:rPr lang="en-US" sz="1600" dirty="0" err="1"/>
              <a:t>dụ</a:t>
            </a:r>
            <a:r>
              <a:rPr lang="vi-VN" sz="1600" dirty="0"/>
              <a:t>2 </a:t>
            </a:r>
            <a:r>
              <a:rPr lang="en-US" sz="1600" dirty="0"/>
              <a:t>: </a:t>
            </a:r>
            <a:r>
              <a:rPr lang="vi-VN" sz="1600" dirty="0"/>
              <a:t>Xác định phân vùng tương đương theo yêu cầu sau đây:</a:t>
            </a:r>
          </a:p>
          <a:p>
            <a:pPr marL="438785" lvl="1" indent="0">
              <a:buNone/>
            </a:pPr>
            <a:r>
              <a:rPr lang="vi-VN" sz="1600" dirty="0"/>
              <a:t>Màn hình vùng điều kiện tìm kiếm của màn hình có 8 hạng muc</a:t>
            </a:r>
          </a:p>
          <a:p>
            <a:pPr lvl="1">
              <a:buFont typeface="Wingdings" panose="05000000000000000000" pitchFamily="2" charset="2"/>
              <a:buChar char="ü"/>
            </a:pPr>
            <a:r>
              <a:rPr lang="vi-VN" sz="1600" dirty="0"/>
              <a:t>Trường hợp không nhập hạng mục nào báo lỗi “ Bắt buộc nhập”</a:t>
            </a:r>
          </a:p>
          <a:p>
            <a:pPr lvl="1">
              <a:buFont typeface="Wingdings" panose="05000000000000000000" pitchFamily="2" charset="2"/>
              <a:buChar char="ü"/>
            </a:pPr>
            <a:r>
              <a:rPr lang="vi-VN" sz="1600" dirty="0"/>
              <a:t>Nhập giá trị vào hạng mục vùng điều kiện tìm kiếm thì sẽ hiển thị kết quả tìm kiếm ứng với điều kiện nhập tại từng hạng mục</a:t>
            </a:r>
            <a:endParaRPr lang="en-US" sz="1600" dirty="0"/>
          </a:p>
          <a:p>
            <a:pPr>
              <a:buFont typeface="Wingdings" panose="05000000000000000000" pitchFamily="2" charset="2"/>
              <a:buChar char="v"/>
            </a:pPr>
            <a:r>
              <a:rPr lang="en-US" sz="1600" dirty="0" err="1"/>
              <a:t>Xác</a:t>
            </a:r>
            <a:r>
              <a:rPr lang="en-US" sz="1600" dirty="0"/>
              <a:t> </a:t>
            </a:r>
            <a:r>
              <a:rPr lang="en-US" sz="1600" dirty="0" err="1"/>
              <a:t>định</a:t>
            </a:r>
            <a:r>
              <a:rPr lang="en-US" sz="1600" dirty="0"/>
              <a:t> </a:t>
            </a:r>
            <a:r>
              <a:rPr lang="en-US" sz="1600" dirty="0" err="1"/>
              <a:t>được</a:t>
            </a:r>
            <a:r>
              <a:rPr lang="en-US" sz="1600" dirty="0"/>
              <a:t> </a:t>
            </a:r>
            <a:r>
              <a:rPr lang="en-US" sz="1600" dirty="0" err="1"/>
              <a:t>phân</a:t>
            </a:r>
            <a:r>
              <a:rPr lang="en-US" sz="1600" dirty="0"/>
              <a:t> </a:t>
            </a:r>
            <a:r>
              <a:rPr lang="en-US" sz="1600" dirty="0" err="1"/>
              <a:t>vùng</a:t>
            </a:r>
            <a:r>
              <a:rPr lang="en-US" sz="1600" dirty="0"/>
              <a:t> </a:t>
            </a:r>
            <a:r>
              <a:rPr lang="en-US" sz="1600" dirty="0" err="1"/>
              <a:t>tương</a:t>
            </a:r>
            <a:r>
              <a:rPr lang="en-US" sz="1600" dirty="0"/>
              <a:t> </a:t>
            </a:r>
            <a:r>
              <a:rPr lang="en-US" sz="1600" dirty="0" err="1"/>
              <a:t>đương</a:t>
            </a:r>
            <a:r>
              <a:rPr lang="en-US" sz="1600" dirty="0"/>
              <a:t> </a:t>
            </a:r>
            <a:r>
              <a:rPr lang="en-US" sz="1600" dirty="0" err="1"/>
              <a:t>như</a:t>
            </a:r>
            <a:r>
              <a:rPr lang="en-US" sz="1600" dirty="0"/>
              <a:t> </a:t>
            </a:r>
            <a:r>
              <a:rPr lang="en-US" sz="1600" dirty="0" err="1"/>
              <a:t>sau</a:t>
            </a:r>
            <a:r>
              <a:rPr lang="en-US" sz="1600" dirty="0"/>
              <a:t>:</a:t>
            </a:r>
          </a:p>
          <a:p>
            <a:pPr lvl="1">
              <a:buFont typeface="Wingdings" panose="05000000000000000000" pitchFamily="2" charset="2"/>
              <a:buChar char="ü"/>
            </a:pPr>
            <a:endParaRPr lang="vi-VN" sz="1600" dirty="0"/>
          </a:p>
        </p:txBody>
      </p:sp>
      <p:sp>
        <p:nvSpPr>
          <p:cNvPr id="22" name="Content Placeholder 2"/>
          <p:cNvSpPr txBox="1"/>
          <p:nvPr/>
        </p:nvSpPr>
        <p:spPr>
          <a:xfrm>
            <a:off x="205946" y="4419600"/>
            <a:ext cx="8305800" cy="1007745"/>
          </a:xfrm>
          <a:prstGeom prst="rect">
            <a:avLst/>
          </a:prstGeom>
        </p:spPr>
        <p:txBody>
          <a:bodyPr vert="horz" anchor="t">
            <a:normAutofit/>
          </a:bodyPr>
          <a:lstStyle>
            <a:lvl1pPr marL="448310" indent="-384175" algn="l" rtl="0" eaLnBrk="1" latinLnBrk="0" hangingPunct="1">
              <a:spcBef>
                <a:spcPct val="20000"/>
              </a:spcBef>
              <a:spcAft>
                <a:spcPts val="1000"/>
              </a:spcAft>
              <a:buClr>
                <a:schemeClr val="accent1"/>
              </a:buClr>
              <a:buSzPct val="80000"/>
              <a:buFont typeface="Arial" panose="020B0604020202020204" pitchFamily="34" charset="0"/>
              <a:buChar char="•"/>
              <a:defRPr sz="2000" kern="1200">
                <a:solidFill>
                  <a:schemeClr val="bg2"/>
                </a:solidFill>
                <a:latin typeface="+mn-lt"/>
                <a:ea typeface="+mn-ea"/>
                <a:cs typeface="+mn-cs"/>
              </a:defRPr>
            </a:lvl1pPr>
            <a:lvl2pPr marL="822960" indent="-285750" algn="l" rtl="0" eaLnBrk="1" latinLnBrk="0" hangingPunct="1">
              <a:spcBef>
                <a:spcPct val="20000"/>
              </a:spcBef>
              <a:spcAft>
                <a:spcPts val="1000"/>
              </a:spcAft>
              <a:buClr>
                <a:schemeClr val="accent1"/>
              </a:buClr>
              <a:buSzPct val="95000"/>
              <a:buFont typeface="Arial" panose="020B0604020202020204" pitchFamily="34" charset="0"/>
              <a:buChar char="•"/>
              <a:defRPr sz="1800" kern="1200">
                <a:solidFill>
                  <a:schemeClr val="bg2"/>
                </a:solidFill>
                <a:latin typeface="+mn-lt"/>
                <a:ea typeface="+mn-ea"/>
                <a:cs typeface="+mn-cs"/>
              </a:defRPr>
            </a:lvl2pPr>
            <a:lvl3pPr marL="1106170" indent="-228600"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3pPr>
            <a:lvl4pPr marL="13716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4pPr>
            <a:lvl5pPr marL="16002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5pPr>
            <a:lvl6pPr marL="1828800" indent="-210185" algn="l" rtl="0" eaLnBrk="1" latinLnBrk="0" hangingPunct="1">
              <a:spcBef>
                <a:spcPct val="20000"/>
              </a:spcBef>
              <a:buClr>
                <a:schemeClr val="accent1">
                  <a:tint val="75000"/>
                </a:schemeClr>
              </a:buClr>
              <a:buFont typeface="Wingdings 2" panose="05020102010507070707"/>
              <a:buChar char=""/>
              <a:defRPr sz="1800" kern="1200">
                <a:solidFill>
                  <a:schemeClr val="tx1"/>
                </a:solidFill>
                <a:latin typeface="+mn-lt"/>
                <a:ea typeface="+mn-ea"/>
                <a:cs typeface="+mn-cs"/>
              </a:defRPr>
            </a:lvl6pPr>
            <a:lvl7pPr marL="2084705" indent="-210185"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9pPr>
          </a:lstStyle>
          <a:p>
            <a:pPr>
              <a:buFont typeface="Wingdings" panose="05000000000000000000" pitchFamily="2" charset="2"/>
              <a:buChar char="v"/>
            </a:pPr>
            <a:r>
              <a:rPr lang="vi-VN" sz="1600" dirty="0"/>
              <a:t>Dựa vào bảng tương đương trên ta có được các case test.</a:t>
            </a:r>
            <a:endParaRPr lang="en-US" sz="1600" dirty="0"/>
          </a:p>
          <a:p>
            <a:pPr marL="64135" indent="0">
              <a:buFont typeface="Arial" panose="020B0604020202020204" pitchFamily="34" charset="0"/>
              <a:buNone/>
            </a:pPr>
            <a:endParaRPr lang="en-US" sz="1600" dirty="0"/>
          </a:p>
          <a:p>
            <a:pPr>
              <a:buFont typeface="Wingdings" panose="05000000000000000000" pitchFamily="2" charset="2"/>
              <a:buChar char="v"/>
            </a:pPr>
            <a:endParaRPr lang="en-US" sz="1600" dirty="0"/>
          </a:p>
          <a:p>
            <a:pPr lvl="2">
              <a:buFont typeface="Wingdings" panose="05000000000000000000" pitchFamily="2" charset="2"/>
              <a:buChar char="ü"/>
            </a:pPr>
            <a:endParaRPr lang="en-US" sz="1600" dirty="0"/>
          </a:p>
          <a:p>
            <a:endParaRPr lang="en-US" sz="1600" dirty="0"/>
          </a:p>
          <a:p>
            <a:pPr marL="64135" indent="0">
              <a:buFont typeface="Arial" panose="020B0604020202020204" pitchFamily="34" charset="0"/>
              <a:buNone/>
            </a:pPr>
            <a:endParaRPr lang="en-US" sz="1600" dirty="0"/>
          </a:p>
        </p:txBody>
      </p:sp>
      <p:graphicFrame>
        <p:nvGraphicFramePr>
          <p:cNvPr id="23" name="Table 22"/>
          <p:cNvGraphicFramePr>
            <a:graphicFrameLocks noGrp="1"/>
          </p:cNvGraphicFramePr>
          <p:nvPr>
            <p:extLst>
              <p:ext uri="{D42A27DB-BD31-4B8C-83A1-F6EECF244321}">
                <p14:modId xmlns:p14="http://schemas.microsoft.com/office/powerpoint/2010/main" val="228309527"/>
              </p:ext>
            </p:extLst>
          </p:nvPr>
        </p:nvGraphicFramePr>
        <p:xfrm>
          <a:off x="205946" y="4923472"/>
          <a:ext cx="8686801" cy="1257682"/>
        </p:xfrm>
        <a:graphic>
          <a:graphicData uri="http://schemas.openxmlformats.org/drawingml/2006/table">
            <a:tbl>
              <a:tblPr firstRow="1" firstCol="1" bandRow="1">
                <a:tableStyleId>{5C22544A-7EE6-4342-B048-85BDC9FD1C3A}</a:tableStyleId>
              </a:tblPr>
              <a:tblGrid>
                <a:gridCol w="794420">
                  <a:extLst>
                    <a:ext uri="{9D8B030D-6E8A-4147-A177-3AD203B41FA5}">
                      <a16:colId xmlns:a16="http://schemas.microsoft.com/office/drawing/2014/main" val="20000"/>
                    </a:ext>
                  </a:extLst>
                </a:gridCol>
                <a:gridCol w="3472781">
                  <a:extLst>
                    <a:ext uri="{9D8B030D-6E8A-4147-A177-3AD203B41FA5}">
                      <a16:colId xmlns:a16="http://schemas.microsoft.com/office/drawing/2014/main" val="20001"/>
                    </a:ext>
                  </a:extLst>
                </a:gridCol>
                <a:gridCol w="4419600">
                  <a:extLst>
                    <a:ext uri="{9D8B030D-6E8A-4147-A177-3AD203B41FA5}">
                      <a16:colId xmlns:a16="http://schemas.microsoft.com/office/drawing/2014/main" val="20002"/>
                    </a:ext>
                  </a:extLst>
                </a:gridCol>
              </a:tblGrid>
              <a:tr h="205740">
                <a:tc>
                  <a:txBody>
                    <a:bodyPr/>
                    <a:lstStyle/>
                    <a:p>
                      <a:pPr algn="just">
                        <a:lnSpc>
                          <a:spcPct val="150000"/>
                        </a:lnSpc>
                        <a:spcAft>
                          <a:spcPts val="0"/>
                        </a:spcAft>
                      </a:pPr>
                      <a:r>
                        <a:rPr lang="en-US" sz="1100" dirty="0">
                          <a:effectLst/>
                        </a:rPr>
                        <a:t>Case</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effectLst/>
                        </a:rPr>
                        <a:t>Giá</a:t>
                      </a:r>
                      <a:r>
                        <a:rPr lang="en-US" sz="1100" dirty="0">
                          <a:effectLst/>
                        </a:rPr>
                        <a:t> </a:t>
                      </a:r>
                      <a:r>
                        <a:rPr lang="en-US" sz="1100" dirty="0" err="1">
                          <a:effectLst/>
                        </a:rPr>
                        <a:t>trị</a:t>
                      </a:r>
                      <a:r>
                        <a:rPr lang="en-US" sz="1100" dirty="0">
                          <a:effectLst/>
                        </a:rPr>
                        <a:t> </a:t>
                      </a:r>
                      <a:r>
                        <a:rPr lang="en-US" sz="1100" dirty="0" err="1">
                          <a:effectLst/>
                        </a:rPr>
                        <a:t>nhập</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effectLst/>
                        </a:rPr>
                        <a:t>Kết</a:t>
                      </a:r>
                      <a:r>
                        <a:rPr lang="en-US" sz="1100" dirty="0">
                          <a:effectLst/>
                        </a:rPr>
                        <a:t> </a:t>
                      </a:r>
                      <a:r>
                        <a:rPr lang="en-US" sz="1100" dirty="0" err="1">
                          <a:effectLst/>
                        </a:rPr>
                        <a:t>quả</a:t>
                      </a:r>
                      <a:r>
                        <a:rPr lang="en-US" sz="1100" dirty="0">
                          <a:effectLst/>
                        </a:rPr>
                        <a:t> </a:t>
                      </a:r>
                      <a:r>
                        <a:rPr lang="en-US" sz="1100" dirty="0" err="1">
                          <a:effectLst/>
                        </a:rPr>
                        <a:t>mong</a:t>
                      </a:r>
                      <a:r>
                        <a:rPr lang="en-US" sz="1100" dirty="0">
                          <a:effectLst/>
                        </a:rPr>
                        <a:t> </a:t>
                      </a:r>
                      <a:r>
                        <a:rPr lang="en-US" sz="1100" dirty="0" err="1">
                          <a:effectLst/>
                        </a:rPr>
                        <a:t>muốn</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81940">
                <a:tc>
                  <a:txBody>
                    <a:bodyPr/>
                    <a:lstStyle/>
                    <a:p>
                      <a:pPr algn="just">
                        <a:lnSpc>
                          <a:spcPct val="150000"/>
                        </a:lnSpc>
                        <a:spcAft>
                          <a:spcPts val="0"/>
                        </a:spcAft>
                      </a:pPr>
                      <a:r>
                        <a:rPr lang="en-US" sz="1100" dirty="0">
                          <a:effectLst/>
                        </a:rPr>
                        <a:t>1 </a:t>
                      </a:r>
                      <a:r>
                        <a:rPr lang="en-US" sz="1100" dirty="0">
                          <a:effectLst/>
                          <a:sym typeface="Wingdings" panose="05000000000000000000" pitchFamily="2" charset="2"/>
                        </a:rPr>
                        <a:t> </a:t>
                      </a:r>
                      <a:r>
                        <a:rPr lang="vi-VN" sz="1100" dirty="0">
                          <a:effectLst/>
                        </a:rPr>
                        <a:t>8</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t>Nhập</a:t>
                      </a:r>
                      <a:r>
                        <a:rPr lang="vi-VN" sz="1100" baseline="0" dirty="0"/>
                        <a:t> </a:t>
                      </a:r>
                      <a:r>
                        <a:rPr lang="en-US" sz="1100" baseline="0" dirty="0"/>
                        <a:t>1</a:t>
                      </a:r>
                      <a:r>
                        <a:rPr lang="vi-VN" sz="1100" baseline="0" dirty="0"/>
                        <a:t> hạng mục (</a:t>
                      </a:r>
                      <a:r>
                        <a:rPr lang="en-US" sz="1100" baseline="0" dirty="0" err="1"/>
                        <a:t>các</a:t>
                      </a:r>
                      <a:r>
                        <a:rPr lang="en-US" sz="1100" baseline="0" dirty="0"/>
                        <a:t> </a:t>
                      </a:r>
                      <a:r>
                        <a:rPr lang="vi-VN" sz="1100" baseline="0" dirty="0"/>
                        <a:t>hạng mục khác ko nhập)</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lang="vi-VN" sz="1100" dirty="0">
                          <a:effectLst/>
                        </a:rPr>
                        <a:t>Hiển</a:t>
                      </a:r>
                      <a:r>
                        <a:rPr lang="vi-VN" sz="1100" baseline="0" dirty="0">
                          <a:effectLst/>
                        </a:rPr>
                        <a:t> thị kết quả tìm kiếm ứng với điều kiện nhập tại hạng mục</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28600">
                <a:tc>
                  <a:txBody>
                    <a:bodyPr/>
                    <a:lstStyle/>
                    <a:p>
                      <a:pPr algn="just">
                        <a:lnSpc>
                          <a:spcPct val="150000"/>
                        </a:lnSpc>
                        <a:spcAft>
                          <a:spcPts val="0"/>
                        </a:spcAft>
                      </a:pPr>
                      <a:r>
                        <a:rPr lang="vi-VN" sz="1100" dirty="0">
                          <a:effectLst/>
                        </a:rPr>
                        <a:t>9</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t>Nhập</a:t>
                      </a:r>
                      <a:r>
                        <a:rPr lang="vi-VN" sz="1100" baseline="0" dirty="0"/>
                        <a:t> kết hợp </a:t>
                      </a:r>
                      <a:r>
                        <a:rPr lang="en-US" sz="1100" baseline="0" dirty="0" err="1"/>
                        <a:t>một</a:t>
                      </a:r>
                      <a:r>
                        <a:rPr lang="en-US" sz="1100" baseline="0" dirty="0"/>
                        <a:t> </a:t>
                      </a:r>
                      <a:r>
                        <a:rPr lang="en-US" sz="1100" baseline="0" dirty="0" err="1"/>
                        <a:t>số</a:t>
                      </a:r>
                      <a:r>
                        <a:rPr lang="en-US" sz="1100" baseline="0" dirty="0"/>
                        <a:t> </a:t>
                      </a:r>
                      <a:r>
                        <a:rPr lang="vi-VN" sz="1100" baseline="0" dirty="0"/>
                        <a:t>hạng mục</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lang="vi-VN" sz="1100" dirty="0">
                          <a:effectLst/>
                        </a:rPr>
                        <a:t>Hiển</a:t>
                      </a:r>
                      <a:r>
                        <a:rPr lang="vi-VN" sz="1100" baseline="0" dirty="0">
                          <a:effectLst/>
                        </a:rPr>
                        <a:t> thị kết quả tìm kiếm ứng với điều kiện nhập tại hạng mục</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304800">
                <a:tc>
                  <a:txBody>
                    <a:bodyPr/>
                    <a:lstStyle/>
                    <a:p>
                      <a:pPr algn="just">
                        <a:lnSpc>
                          <a:spcPct val="150000"/>
                        </a:lnSpc>
                        <a:spcAft>
                          <a:spcPts val="0"/>
                        </a:spcAft>
                      </a:pPr>
                      <a:r>
                        <a:rPr lang="vi-VN" sz="1100" dirty="0">
                          <a:effectLst/>
                        </a:rPr>
                        <a:t>11</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t>Nhập</a:t>
                      </a:r>
                      <a:r>
                        <a:rPr lang="vi-VN" sz="1100" baseline="0" dirty="0"/>
                        <a:t> tất cả hạng mục</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marL="0" marR="0" lvl="1" indent="0" algn="just" defTabSz="914400" rtl="0" eaLnBrk="1" fontAlgn="auto" latinLnBrk="0" hangingPunct="1">
                        <a:lnSpc>
                          <a:spcPct val="150000"/>
                        </a:lnSpc>
                        <a:spcBef>
                          <a:spcPts val="0"/>
                        </a:spcBef>
                        <a:spcAft>
                          <a:spcPts val="0"/>
                        </a:spcAft>
                        <a:buClrTx/>
                        <a:buSzTx/>
                        <a:buFontTx/>
                        <a:buNone/>
                        <a:tabLst/>
                        <a:defRPr/>
                      </a:pPr>
                      <a:r>
                        <a:rPr lang="vi-VN" sz="1100" dirty="0">
                          <a:effectLst/>
                        </a:rPr>
                        <a:t>Hiển</a:t>
                      </a:r>
                      <a:r>
                        <a:rPr lang="vi-VN" sz="1100" baseline="0" dirty="0">
                          <a:effectLst/>
                        </a:rPr>
                        <a:t> thị kết quả tìm kiếm ứng với điều kiện nhập tại hạng mục</a:t>
                      </a:r>
                    </a:p>
                  </a:txBody>
                  <a:tcPr marL="68580" marR="68580" marT="0" marB="0"/>
                </a:tc>
                <a:extLst>
                  <a:ext uri="{0D108BD9-81ED-4DB2-BD59-A6C34878D82A}">
                    <a16:rowId xmlns:a16="http://schemas.microsoft.com/office/drawing/2014/main" val="10003"/>
                  </a:ext>
                </a:extLst>
              </a:tr>
              <a:tr h="205740">
                <a:tc>
                  <a:txBody>
                    <a:bodyPr/>
                    <a:lstStyle/>
                    <a:p>
                      <a:pPr algn="just">
                        <a:lnSpc>
                          <a:spcPct val="150000"/>
                        </a:lnSpc>
                        <a:spcAft>
                          <a:spcPts val="0"/>
                        </a:spcAft>
                      </a:pPr>
                      <a:r>
                        <a:rPr lang="vi-VN" sz="1100" dirty="0">
                          <a:effectLst/>
                        </a:rPr>
                        <a:t>12</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solidFill>
                            <a:schemeClr val="dk1"/>
                          </a:solidFill>
                          <a:effectLst/>
                          <a:latin typeface="+mn-lt"/>
                          <a:ea typeface="+mn-ea"/>
                          <a:cs typeface="+mn-cs"/>
                        </a:rPr>
                        <a:t>Khôn</a:t>
                      </a:r>
                      <a:r>
                        <a:rPr lang="vi-VN" sz="1100" baseline="0" dirty="0">
                          <a:solidFill>
                            <a:schemeClr val="dk1"/>
                          </a:solidFill>
                          <a:effectLst/>
                          <a:latin typeface="+mn-lt"/>
                          <a:ea typeface="+mn-ea"/>
                          <a:cs typeface="+mn-cs"/>
                        </a:rPr>
                        <a:t>g nhập hạng mục</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t>Báo</a:t>
                      </a:r>
                      <a:r>
                        <a:rPr lang="vi-VN" sz="1100" baseline="0" dirty="0"/>
                        <a:t> lỗi “</a:t>
                      </a:r>
                      <a:r>
                        <a:rPr lang="vi-VN" sz="1100" dirty="0"/>
                        <a:t>Bắt buộc nhập”</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834663417"/>
              </p:ext>
            </p:extLst>
          </p:nvPr>
        </p:nvGraphicFramePr>
        <p:xfrm>
          <a:off x="914400" y="3124198"/>
          <a:ext cx="6553199" cy="1093738"/>
        </p:xfrm>
        <a:graphic>
          <a:graphicData uri="http://schemas.openxmlformats.org/drawingml/2006/table">
            <a:tbl>
              <a:tblPr firstRow="1" firstCol="1" bandRow="1">
                <a:tableStyleId>{69CF1AB2-1976-4502-BF36-3FF5EA218861}</a:tableStyleId>
              </a:tblPr>
              <a:tblGrid>
                <a:gridCol w="611632">
                  <a:extLst>
                    <a:ext uri="{9D8B030D-6E8A-4147-A177-3AD203B41FA5}">
                      <a16:colId xmlns:a16="http://schemas.microsoft.com/office/drawing/2014/main" val="20000"/>
                    </a:ext>
                  </a:extLst>
                </a:gridCol>
                <a:gridCol w="1656782">
                  <a:extLst>
                    <a:ext uri="{9D8B030D-6E8A-4147-A177-3AD203B41FA5}">
                      <a16:colId xmlns:a16="http://schemas.microsoft.com/office/drawing/2014/main" val="20001"/>
                    </a:ext>
                  </a:extLst>
                </a:gridCol>
                <a:gridCol w="2495691">
                  <a:extLst>
                    <a:ext uri="{9D8B030D-6E8A-4147-A177-3AD203B41FA5}">
                      <a16:colId xmlns:a16="http://schemas.microsoft.com/office/drawing/2014/main" val="20002"/>
                    </a:ext>
                  </a:extLst>
                </a:gridCol>
                <a:gridCol w="1789094">
                  <a:extLst>
                    <a:ext uri="{9D8B030D-6E8A-4147-A177-3AD203B41FA5}">
                      <a16:colId xmlns:a16="http://schemas.microsoft.com/office/drawing/2014/main" val="20003"/>
                    </a:ext>
                  </a:extLst>
                </a:gridCol>
              </a:tblGrid>
              <a:tr h="260468">
                <a:tc gridSpan="2">
                  <a:txBody>
                    <a:bodyPr/>
                    <a:lstStyle/>
                    <a:p>
                      <a:pPr algn="ctr">
                        <a:lnSpc>
                          <a:spcPct val="150000"/>
                        </a:lnSpc>
                        <a:spcAft>
                          <a:spcPts val="0"/>
                        </a:spcAft>
                      </a:pPr>
                      <a:r>
                        <a:rPr lang="vi-VN" sz="1100" b="1" dirty="0">
                          <a:solidFill>
                            <a:schemeClr val="tx1"/>
                          </a:solidFill>
                          <a:effectLst/>
                        </a:rPr>
                        <a:t>Hợp</a:t>
                      </a:r>
                      <a:r>
                        <a:rPr lang="vi-VN" sz="1100" b="1" baseline="0" dirty="0">
                          <a:solidFill>
                            <a:schemeClr val="tx1"/>
                          </a:solidFill>
                          <a:effectLst/>
                        </a:rPr>
                        <a:t> lệ</a:t>
                      </a:r>
                      <a:endParaRPr lang="en-US" sz="1100" b="1" dirty="0">
                        <a:solidFill>
                          <a:schemeClr val="tx1"/>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solidFill>
                      <a:schemeClr val="accent1"/>
                    </a:solidFill>
                  </a:tcPr>
                </a:tc>
                <a:tc hMerge="1">
                  <a:txBody>
                    <a:bodyPr/>
                    <a:lstStyle/>
                    <a:p>
                      <a:pPr algn="ctr">
                        <a:lnSpc>
                          <a:spcPct val="150000"/>
                        </a:lnSpc>
                        <a:spcAft>
                          <a:spcPts val="0"/>
                        </a:spcAft>
                      </a:pPr>
                      <a:endParaRPr lang="en-US" sz="1100" b="1" dirty="0">
                        <a:solidFill>
                          <a:schemeClr val="tx1"/>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solidFill>
                      <a:schemeClr val="accent1"/>
                    </a:solidFill>
                  </a:tcPr>
                </a:tc>
                <a:tc>
                  <a:txBody>
                    <a:bodyPr/>
                    <a:lstStyle/>
                    <a:p>
                      <a:pPr algn="ctr">
                        <a:lnSpc>
                          <a:spcPct val="150000"/>
                        </a:lnSpc>
                        <a:spcAft>
                          <a:spcPts val="0"/>
                        </a:spcAft>
                      </a:pPr>
                      <a:endParaRPr lang="en-US" sz="1100" b="1" dirty="0">
                        <a:solidFill>
                          <a:schemeClr val="tx1"/>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solidFill>
                      <a:schemeClr val="accent1"/>
                    </a:solidFill>
                  </a:tcPr>
                </a:tc>
                <a:tc>
                  <a:txBody>
                    <a:bodyPr/>
                    <a:lstStyle/>
                    <a:p>
                      <a:pPr algn="ctr">
                        <a:lnSpc>
                          <a:spcPct val="150000"/>
                        </a:lnSpc>
                        <a:spcAft>
                          <a:spcPts val="0"/>
                        </a:spcAft>
                      </a:pPr>
                      <a:r>
                        <a:rPr lang="vi-VN" sz="1100" b="1" dirty="0">
                          <a:solidFill>
                            <a:schemeClr val="tx1"/>
                          </a:solidFill>
                          <a:effectLst/>
                        </a:rPr>
                        <a:t>Không</a:t>
                      </a:r>
                      <a:r>
                        <a:rPr lang="vi-VN" sz="1100" b="1" baseline="0" dirty="0">
                          <a:solidFill>
                            <a:schemeClr val="tx1"/>
                          </a:solidFill>
                          <a:effectLst/>
                        </a:rPr>
                        <a:t> hợp lệ</a:t>
                      </a:r>
                      <a:endParaRPr lang="en-US" sz="1100" b="1" dirty="0">
                        <a:solidFill>
                          <a:schemeClr val="tx1"/>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solidFill>
                      <a:schemeClr val="accent1"/>
                    </a:solidFill>
                  </a:tcPr>
                </a:tc>
                <a:extLst>
                  <a:ext uri="{0D108BD9-81ED-4DB2-BD59-A6C34878D82A}">
                    <a16:rowId xmlns:a16="http://schemas.microsoft.com/office/drawing/2014/main" val="10000"/>
                  </a:ext>
                </a:extLst>
              </a:tr>
              <a:tr h="260468">
                <a:tc rowSpan="3">
                  <a:txBody>
                    <a:bodyPr/>
                    <a:lstStyle/>
                    <a:p>
                      <a:pPr algn="just">
                        <a:lnSpc>
                          <a:spcPct val="150000"/>
                        </a:lnSpc>
                        <a:spcAft>
                          <a:spcPts val="0"/>
                        </a:spcAft>
                      </a:pPr>
                      <a:r>
                        <a:rPr lang="vi-VN"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rPr>
                        <a:t>Nhập</a:t>
                      </a:r>
                      <a:r>
                        <a:rPr lang="vi-VN" sz="1100" b="0" baseline="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rPr>
                        <a:t> hạng muc</a:t>
                      </a:r>
                      <a:endParaRPr lang="en-US"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rPr>
                        <a:t>Nhập</a:t>
                      </a:r>
                      <a:r>
                        <a:rPr lang="vi-VN" sz="1100" b="0" baseline="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rPr>
                        <a:t> 1 hạng mục</a:t>
                      </a:r>
                      <a:endParaRPr lang="en-US"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rPr>
                        <a:t>Nhập</a:t>
                      </a:r>
                      <a:r>
                        <a:rPr lang="vi-VN" sz="1100" b="0" baseline="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rPr>
                        <a:t> từng hạng mục</a:t>
                      </a:r>
                      <a:endParaRPr lang="en-US"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rowSpan="3">
                  <a:txBody>
                    <a:bodyPr/>
                    <a:lstStyle/>
                    <a:p>
                      <a:pPr algn="just">
                        <a:lnSpc>
                          <a:spcPct val="150000"/>
                        </a:lnSpc>
                        <a:spcAft>
                          <a:spcPts val="0"/>
                        </a:spcAft>
                      </a:pPr>
                      <a:r>
                        <a:rPr lang="vi-VN" sz="1100" dirty="0">
                          <a:effectLst/>
                        </a:rPr>
                        <a:t>Không</a:t>
                      </a:r>
                      <a:r>
                        <a:rPr lang="vi-VN" sz="1100" baseline="0" dirty="0">
                          <a:effectLst/>
                        </a:rPr>
                        <a:t> nhập hạng mục nào</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17266">
                <a:tc vMerge="1">
                  <a:txBody>
                    <a:bodyPr/>
                    <a:lstStyle/>
                    <a:p>
                      <a:pPr algn="just">
                        <a:lnSpc>
                          <a:spcPct val="150000"/>
                        </a:lnSpc>
                        <a:spcAft>
                          <a:spcPts val="0"/>
                        </a:spcAft>
                      </a:pPr>
                      <a:endParaRPr lang="en-US"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rPr>
                        <a:t>Nhập</a:t>
                      </a:r>
                      <a:r>
                        <a:rPr lang="vi-VN" sz="1100" b="0" baseline="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rPr>
                        <a:t> kết hợp hạng mục</a:t>
                      </a:r>
                      <a:endParaRPr lang="en-US"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rPr>
                        <a:t>Ramdon kết</a:t>
                      </a:r>
                      <a:r>
                        <a:rPr lang="vi-VN" sz="1100" b="0" baseline="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rPr>
                        <a:t> hợp vài hạng mục</a:t>
                      </a:r>
                      <a:endParaRPr lang="en-US"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10002"/>
                  </a:ext>
                </a:extLst>
              </a:tr>
              <a:tr h="255536">
                <a:tc vMerge="1">
                  <a:txBody>
                    <a:bodyPr/>
                    <a:lstStyle/>
                    <a:p>
                      <a:pPr algn="just">
                        <a:lnSpc>
                          <a:spcPct val="150000"/>
                        </a:lnSpc>
                        <a:spcAft>
                          <a:spcPts val="0"/>
                        </a:spcAft>
                      </a:pPr>
                      <a:endParaRPr lang="en-US"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rPr>
                        <a:t>Nhập</a:t>
                      </a:r>
                      <a:r>
                        <a:rPr lang="vi-VN" sz="1100" b="0" baseline="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rPr>
                        <a:t> tất cả hạng mục</a:t>
                      </a:r>
                      <a:endParaRPr lang="en-US"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endParaRPr lang="en-US" sz="1100" b="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vMerge="1">
                  <a:txBody>
                    <a:bodyPr/>
                    <a:lstStyle/>
                    <a:p>
                      <a:pPr algn="just">
                        <a:lnSpc>
                          <a:spcPct val="150000"/>
                        </a:lnSpc>
                        <a:spcAft>
                          <a:spcPts val="0"/>
                        </a:spcAft>
                      </a:pP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05828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6858000" cy="799306"/>
          </a:xfrm>
        </p:spPr>
        <p:txBody>
          <a:bodyPr/>
          <a:lstStyle/>
          <a:p>
            <a:r>
              <a:rPr lang="en-US" dirty="0"/>
              <a:t>3.2 </a:t>
            </a:r>
            <a:r>
              <a:rPr lang="en-US" dirty="0" err="1"/>
              <a:t>Phân</a:t>
            </a:r>
            <a:r>
              <a:rPr lang="en-US" dirty="0"/>
              <a:t> </a:t>
            </a:r>
            <a:r>
              <a:rPr lang="en-US" dirty="0" err="1"/>
              <a:t>tích</a:t>
            </a:r>
            <a:r>
              <a:rPr lang="en-US" dirty="0"/>
              <a:t> </a:t>
            </a:r>
            <a:r>
              <a:rPr lang="en-US" dirty="0" err="1"/>
              <a:t>giá</a:t>
            </a:r>
            <a:r>
              <a:rPr lang="en-US" dirty="0"/>
              <a:t> </a:t>
            </a:r>
            <a:r>
              <a:rPr lang="en-US" dirty="0" err="1"/>
              <a:t>trị</a:t>
            </a:r>
            <a:r>
              <a:rPr lang="en-US" dirty="0"/>
              <a:t> </a:t>
            </a:r>
            <a:r>
              <a:rPr lang="en-US" dirty="0" err="1"/>
              <a:t>biên</a:t>
            </a:r>
            <a:endParaRPr lang="en-US" dirty="0"/>
          </a:p>
        </p:txBody>
      </p:sp>
      <p:sp>
        <p:nvSpPr>
          <p:cNvPr id="3" name="Content Placeholder 2"/>
          <p:cNvSpPr>
            <a:spLocks noGrp="1"/>
          </p:cNvSpPr>
          <p:nvPr>
            <p:ph idx="1"/>
          </p:nvPr>
        </p:nvSpPr>
        <p:spPr>
          <a:xfrm>
            <a:off x="155575" y="848360"/>
            <a:ext cx="8305800" cy="5985510"/>
          </a:xfrm>
        </p:spPr>
        <p:txBody>
          <a:bodyPr>
            <a:normAutofit fontScale="87500" lnSpcReduction="10000"/>
          </a:bodyPr>
          <a:lstStyle/>
          <a:p>
            <a:pPr>
              <a:buFont typeface="Wingdings" panose="05000000000000000000" pitchFamily="2" charset="2"/>
              <a:buChar char="v"/>
            </a:pPr>
            <a:r>
              <a:rPr lang="vi-VN" sz="1900" dirty="0"/>
              <a:t>Là phương pháp </a:t>
            </a:r>
            <a:r>
              <a:rPr lang="en-US" sz="1900" dirty="0"/>
              <a:t>test </a:t>
            </a:r>
            <a:r>
              <a:rPr lang="en-US" sz="1900" dirty="0" err="1"/>
              <a:t>mà</a:t>
            </a:r>
            <a:r>
              <a:rPr lang="en-US" sz="1900" dirty="0"/>
              <a:t> </a:t>
            </a:r>
            <a:r>
              <a:rPr lang="en-US" sz="1900" dirty="0" err="1"/>
              <a:t>sẽ</a:t>
            </a:r>
            <a:endParaRPr lang="en-US" sz="1900" dirty="0"/>
          </a:p>
          <a:p>
            <a:pPr lvl="1">
              <a:buFont typeface="Wingdings" panose="05000000000000000000" pitchFamily="2" charset="2"/>
              <a:buChar char="ü"/>
            </a:pPr>
            <a:r>
              <a:rPr lang="en-US" altLang="vi-VN" sz="1900" dirty="0"/>
              <a:t>K</a:t>
            </a:r>
            <a:r>
              <a:rPr lang="vi-VN" sz="1900" dirty="0"/>
              <a:t>iểm tra tất cả các giá trị ở vùng biên của dữ liệu </a:t>
            </a:r>
            <a:r>
              <a:rPr lang="en-US" sz="1900" dirty="0" err="1"/>
              <a:t>đầu</a:t>
            </a:r>
            <a:r>
              <a:rPr lang="en-US" sz="1900" dirty="0"/>
              <a:t> </a:t>
            </a:r>
            <a:r>
              <a:rPr lang="vi-VN" sz="1900" dirty="0"/>
              <a:t>vào và đầu ra</a:t>
            </a:r>
            <a:r>
              <a:rPr lang="en-US" altLang="vi-VN" sz="1900" dirty="0"/>
              <a:t>.</a:t>
            </a:r>
            <a:r>
              <a:rPr lang="vi-VN" sz="1900" dirty="0"/>
              <a:t> </a:t>
            </a:r>
          </a:p>
          <a:p>
            <a:pPr lvl="1">
              <a:buFont typeface="Wingdings" panose="05000000000000000000" pitchFamily="2" charset="2"/>
              <a:buChar char="ü"/>
            </a:pPr>
            <a:r>
              <a:rPr lang="en-US" sz="1900" dirty="0"/>
              <a:t>Y</a:t>
            </a:r>
            <a:r>
              <a:rPr lang="vi-VN" sz="1900" dirty="0"/>
              <a:t>êu cầu chọn một hoặc vài giá trị là các cạnh của lớp tương đương để làm điều kiện test.</a:t>
            </a:r>
          </a:p>
          <a:p>
            <a:pPr lvl="1">
              <a:buFont typeface="Wingdings" panose="05000000000000000000" pitchFamily="2" charset="2"/>
              <a:buChar char="ü"/>
            </a:pPr>
            <a:endParaRPr lang="vi-VN" sz="1900" dirty="0"/>
          </a:p>
          <a:p>
            <a:pPr lvl="1">
              <a:buFont typeface="Wingdings" panose="05000000000000000000" pitchFamily="2" charset="2"/>
              <a:buChar char="ü"/>
            </a:pPr>
            <a:endParaRPr lang="vi-VN" sz="1900" dirty="0"/>
          </a:p>
          <a:p>
            <a:pPr lvl="1">
              <a:buFont typeface="Wingdings" panose="05000000000000000000" pitchFamily="2" charset="2"/>
              <a:buChar char="ü"/>
            </a:pPr>
            <a:endParaRPr lang="vi-VN" sz="1900" dirty="0"/>
          </a:p>
          <a:p>
            <a:pPr lvl="1">
              <a:buFont typeface="Wingdings" panose="05000000000000000000" pitchFamily="2" charset="2"/>
              <a:buChar char="ü"/>
            </a:pPr>
            <a:endParaRPr lang="en-US" sz="1900" dirty="0"/>
          </a:p>
          <a:p>
            <a:pPr>
              <a:buFont typeface="Wingdings" panose="05000000000000000000" pitchFamily="2" charset="2"/>
              <a:buChar char="v"/>
            </a:pPr>
            <a:r>
              <a:rPr lang="vi-VN" sz="1900" dirty="0"/>
              <a:t>Giá trị biên là </a:t>
            </a:r>
            <a:endParaRPr lang="en-US" sz="1900" dirty="0"/>
          </a:p>
          <a:p>
            <a:pPr lvl="1">
              <a:buFont typeface="Wingdings" panose="05000000000000000000" pitchFamily="2" charset="2"/>
              <a:buChar char="ü"/>
            </a:pPr>
            <a:r>
              <a:rPr lang="vi-VN" sz="1900" dirty="0"/>
              <a:t>Giá trị nhỏ nhất</a:t>
            </a:r>
            <a:r>
              <a:rPr lang="en-US" altLang="vi-VN" sz="1900" dirty="0"/>
              <a:t>.</a:t>
            </a:r>
            <a:endParaRPr lang="vi-VN" sz="1900" dirty="0"/>
          </a:p>
          <a:p>
            <a:pPr lvl="1">
              <a:buFont typeface="Wingdings" panose="05000000000000000000" pitchFamily="2" charset="2"/>
              <a:buChar char="ü"/>
            </a:pPr>
            <a:r>
              <a:rPr lang="vi-VN" sz="1900" dirty="0"/>
              <a:t>Giá trị ngay trên và ngay dưới giá trị nhỏ nhất</a:t>
            </a:r>
            <a:r>
              <a:rPr lang="en-US" altLang="vi-VN" sz="1900" dirty="0"/>
              <a:t>.</a:t>
            </a:r>
            <a:endParaRPr lang="vi-VN" sz="1900" dirty="0"/>
          </a:p>
          <a:p>
            <a:pPr lvl="1">
              <a:buFont typeface="Wingdings" panose="05000000000000000000" pitchFamily="2" charset="2"/>
              <a:buChar char="ü"/>
            </a:pPr>
            <a:r>
              <a:rPr lang="vi-VN" sz="1900" dirty="0"/>
              <a:t>Giá trị ngay trên và ngay dưới giá trị lớn nhất</a:t>
            </a:r>
            <a:r>
              <a:rPr lang="en-US" altLang="vi-VN" sz="1900" dirty="0"/>
              <a:t>.</a:t>
            </a:r>
            <a:endParaRPr lang="vi-VN" sz="1900" dirty="0"/>
          </a:p>
          <a:p>
            <a:pPr lvl="1">
              <a:buFont typeface="Wingdings" panose="05000000000000000000" pitchFamily="2" charset="2"/>
              <a:buChar char="ü"/>
            </a:pPr>
            <a:r>
              <a:rPr lang="vi-VN" sz="1900" dirty="0"/>
              <a:t>Giá trị lớn nhất</a:t>
            </a:r>
            <a:r>
              <a:rPr lang="en-US" altLang="vi-VN" sz="1900" dirty="0"/>
              <a:t>.</a:t>
            </a:r>
            <a:endParaRPr lang="en-US" sz="1900" dirty="0"/>
          </a:p>
          <a:p>
            <a:pPr>
              <a:buFont typeface="Wingdings" panose="05000000000000000000" pitchFamily="2" charset="2"/>
              <a:buChar char="v"/>
            </a:pPr>
            <a:r>
              <a:rPr lang="vi-VN" sz="1900" dirty="0"/>
              <a:t>Thông thường thì ta sẽ sử dụng kết hợp phương pháp </a:t>
            </a:r>
            <a:r>
              <a:rPr lang="en-US" altLang="vi-VN" sz="1900" dirty="0"/>
              <a:t>p</a:t>
            </a:r>
            <a:r>
              <a:rPr lang="vi-VN" sz="1900" dirty="0"/>
              <a:t>hân vùng tương đương và phân tích giá trị biên</a:t>
            </a:r>
            <a:r>
              <a:rPr lang="en-US" sz="1900" dirty="0"/>
              <a:t> </a:t>
            </a:r>
            <a:r>
              <a:rPr lang="en-US" sz="1900" dirty="0" err="1"/>
              <a:t>vì</a:t>
            </a:r>
            <a:r>
              <a:rPr lang="en-US" sz="1900" dirty="0"/>
              <a:t> </a:t>
            </a:r>
            <a:r>
              <a:rPr lang="vi-VN" sz="1900" dirty="0"/>
              <a:t>giá trị biên sẽ nằm trong mỗi phân vùng</a:t>
            </a:r>
            <a:r>
              <a:rPr lang="en-US" altLang="vi-VN" sz="1900" dirty="0"/>
              <a:t>.</a:t>
            </a:r>
          </a:p>
        </p:txBody>
      </p:sp>
      <p:sp>
        <p:nvSpPr>
          <p:cNvPr id="4" name="AutoShape 2" descr="Image result for Phân tích giá trị biê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130" y="2335530"/>
            <a:ext cx="5474335" cy="16268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6858000" cy="799306"/>
          </a:xfrm>
        </p:spPr>
        <p:txBody>
          <a:bodyPr/>
          <a:lstStyle/>
          <a:p>
            <a:r>
              <a:rPr lang="en-US" dirty="0"/>
              <a:t>3.2. </a:t>
            </a:r>
            <a:r>
              <a:rPr lang="en-US" dirty="0" err="1"/>
              <a:t>Phân</a:t>
            </a:r>
            <a:r>
              <a:rPr lang="en-US" dirty="0"/>
              <a:t> </a:t>
            </a:r>
            <a:r>
              <a:rPr lang="en-US" dirty="0" err="1"/>
              <a:t>tích</a:t>
            </a:r>
            <a:r>
              <a:rPr lang="en-US" dirty="0"/>
              <a:t> </a:t>
            </a:r>
            <a:r>
              <a:rPr lang="en-US" dirty="0" err="1"/>
              <a:t>giá</a:t>
            </a:r>
            <a:r>
              <a:rPr lang="en-US" dirty="0"/>
              <a:t> </a:t>
            </a:r>
            <a:r>
              <a:rPr lang="en-US" dirty="0" err="1"/>
              <a:t>trị</a:t>
            </a:r>
            <a:r>
              <a:rPr lang="en-US" dirty="0"/>
              <a:t> </a:t>
            </a:r>
            <a:r>
              <a:rPr lang="en-US" dirty="0" err="1"/>
              <a:t>biên</a:t>
            </a:r>
            <a:endParaRPr lang="en-US" dirty="0"/>
          </a:p>
        </p:txBody>
      </p:sp>
      <p:sp>
        <p:nvSpPr>
          <p:cNvPr id="3" name="Content Placeholder 2"/>
          <p:cNvSpPr>
            <a:spLocks noGrp="1"/>
          </p:cNvSpPr>
          <p:nvPr>
            <p:ph idx="1"/>
          </p:nvPr>
        </p:nvSpPr>
        <p:spPr>
          <a:xfrm>
            <a:off x="95250" y="897064"/>
            <a:ext cx="8305800" cy="550736"/>
          </a:xfrm>
        </p:spPr>
        <p:txBody>
          <a:bodyPr>
            <a:normAutofit/>
          </a:bodyPr>
          <a:lstStyle/>
          <a:p>
            <a:pPr>
              <a:buFont typeface="Wingdings" panose="05000000000000000000" pitchFamily="2" charset="2"/>
              <a:buChar char="v"/>
            </a:pPr>
            <a:r>
              <a:rPr lang="vi-VN" sz="1900" dirty="0"/>
              <a:t>Với ví </a:t>
            </a:r>
            <a:r>
              <a:rPr lang="en-US" sz="1900" dirty="0" err="1"/>
              <a:t>dụ</a:t>
            </a:r>
            <a:r>
              <a:rPr lang="vi-VN" sz="1900" dirty="0"/>
              <a:t>1</a:t>
            </a:r>
            <a:r>
              <a:rPr lang="en-US" sz="1900" dirty="0"/>
              <a:t> </a:t>
            </a:r>
            <a:r>
              <a:rPr lang="en-US" sz="1900" dirty="0" err="1"/>
              <a:t>trên</a:t>
            </a:r>
            <a:r>
              <a:rPr lang="en-US" sz="1900" dirty="0"/>
              <a:t> t</a:t>
            </a:r>
            <a:r>
              <a:rPr lang="vi-VN" sz="1900" dirty="0"/>
              <a:t>a xác định được các case test giá trị biên như sau:</a:t>
            </a:r>
            <a:endParaRPr lang="en-US" sz="1900" dirty="0"/>
          </a:p>
          <a:p>
            <a:pPr lvl="1">
              <a:buFont typeface="Wingdings" panose="05000000000000000000" pitchFamily="2" charset="2"/>
              <a:buChar char="ü"/>
            </a:pPr>
            <a:endParaRPr lang="en-US" dirty="0"/>
          </a:p>
          <a:p>
            <a:pPr marL="64135" indent="0">
              <a:buNone/>
            </a:pPr>
            <a:endParaRPr lang="en-US" dirty="0"/>
          </a:p>
          <a:p>
            <a:pPr>
              <a:buFont typeface="Wingdings" panose="05000000000000000000" pitchFamily="2" charset="2"/>
              <a:buChar char="v"/>
            </a:pPr>
            <a:endParaRPr lang="en-US" dirty="0"/>
          </a:p>
          <a:p>
            <a:pPr lvl="2">
              <a:buFont typeface="Wingdings" panose="05000000000000000000" pitchFamily="2" charset="2"/>
              <a:buChar char="ü"/>
            </a:pPr>
            <a:endParaRPr lang="en-US" dirty="0"/>
          </a:p>
          <a:p>
            <a:endParaRPr lang="en-US" dirty="0"/>
          </a:p>
          <a:p>
            <a:pPr marL="64135" indent="0">
              <a:buNone/>
            </a:pPr>
            <a:endParaRPr lang="en-US" dirty="0"/>
          </a:p>
        </p:txBody>
      </p:sp>
      <p:sp>
        <p:nvSpPr>
          <p:cNvPr id="5" name="Content Placeholder 2"/>
          <p:cNvSpPr txBox="1">
            <a:spLocks/>
          </p:cNvSpPr>
          <p:nvPr/>
        </p:nvSpPr>
        <p:spPr>
          <a:xfrm>
            <a:off x="95250" y="3733800"/>
            <a:ext cx="8305800" cy="1676400"/>
          </a:xfrm>
          <a:prstGeom prst="rect">
            <a:avLst/>
          </a:prstGeom>
        </p:spPr>
        <p:txBody>
          <a:bodyPr vert="horz" anchor="t">
            <a:normAutofit fontScale="25000" lnSpcReduction="20000"/>
          </a:bodyPr>
          <a:lstStyle>
            <a:lvl1pPr marL="448310" indent="-384175" algn="l" rtl="0" eaLnBrk="1" latinLnBrk="0" hangingPunct="1">
              <a:spcBef>
                <a:spcPct val="20000"/>
              </a:spcBef>
              <a:spcAft>
                <a:spcPts val="1000"/>
              </a:spcAft>
              <a:buClr>
                <a:schemeClr val="accent1"/>
              </a:buClr>
              <a:buSzPct val="80000"/>
              <a:buFont typeface="Arial" panose="020B0604020202020204" pitchFamily="34" charset="0"/>
              <a:buChar char="•"/>
              <a:defRPr sz="2000" kern="1200">
                <a:solidFill>
                  <a:schemeClr val="bg2"/>
                </a:solidFill>
                <a:latin typeface="+mn-lt"/>
                <a:ea typeface="+mn-ea"/>
                <a:cs typeface="+mn-cs"/>
              </a:defRPr>
            </a:lvl1pPr>
            <a:lvl2pPr marL="822960" indent="-285750" algn="l" rtl="0" eaLnBrk="1" latinLnBrk="0" hangingPunct="1">
              <a:spcBef>
                <a:spcPct val="20000"/>
              </a:spcBef>
              <a:spcAft>
                <a:spcPts val="1000"/>
              </a:spcAft>
              <a:buClr>
                <a:schemeClr val="accent1"/>
              </a:buClr>
              <a:buSzPct val="95000"/>
              <a:buFont typeface="Arial" panose="020B0604020202020204" pitchFamily="34" charset="0"/>
              <a:buChar char="•"/>
              <a:defRPr sz="1800" kern="1200">
                <a:solidFill>
                  <a:schemeClr val="bg2"/>
                </a:solidFill>
                <a:latin typeface="+mn-lt"/>
                <a:ea typeface="+mn-ea"/>
                <a:cs typeface="+mn-cs"/>
              </a:defRPr>
            </a:lvl2pPr>
            <a:lvl3pPr marL="1106170" indent="-228600"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3pPr>
            <a:lvl4pPr marL="13716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4pPr>
            <a:lvl5pPr marL="16002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5pPr>
            <a:lvl6pPr marL="1828800" indent="-210185" algn="l" rtl="0" eaLnBrk="1" latinLnBrk="0" hangingPunct="1">
              <a:spcBef>
                <a:spcPct val="20000"/>
              </a:spcBef>
              <a:buClr>
                <a:schemeClr val="accent1">
                  <a:tint val="75000"/>
                </a:schemeClr>
              </a:buClr>
              <a:buFont typeface="Wingdings 2" panose="05020102010507070707"/>
              <a:buChar char=""/>
              <a:defRPr sz="1800" kern="1200">
                <a:solidFill>
                  <a:schemeClr val="tx1"/>
                </a:solidFill>
                <a:latin typeface="+mn-lt"/>
                <a:ea typeface="+mn-ea"/>
                <a:cs typeface="+mn-cs"/>
              </a:defRPr>
            </a:lvl6pPr>
            <a:lvl7pPr marL="2084705" indent="-210185"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9pPr>
          </a:lstStyle>
          <a:p>
            <a:pPr>
              <a:buFont typeface="Wingdings" panose="05000000000000000000" pitchFamily="2" charset="2"/>
              <a:buChar char="v"/>
            </a:pPr>
            <a:r>
              <a:rPr lang="en-US" sz="7600" dirty="0" err="1"/>
              <a:t>Ví</a:t>
            </a:r>
            <a:r>
              <a:rPr lang="en-US" sz="7600" dirty="0"/>
              <a:t> </a:t>
            </a:r>
            <a:r>
              <a:rPr lang="en-US" sz="7600" dirty="0" err="1"/>
              <a:t>dụ</a:t>
            </a:r>
            <a:r>
              <a:rPr lang="vi-VN" sz="7600" dirty="0"/>
              <a:t> 2</a:t>
            </a:r>
            <a:r>
              <a:rPr lang="en-US" sz="7600" dirty="0"/>
              <a:t>:</a:t>
            </a:r>
          </a:p>
          <a:p>
            <a:pPr marL="64135" indent="0">
              <a:buNone/>
            </a:pPr>
            <a:r>
              <a:rPr lang="en-US" sz="7600" dirty="0" err="1"/>
              <a:t>Nếu</a:t>
            </a:r>
            <a:r>
              <a:rPr lang="en-US" sz="7600" dirty="0"/>
              <a:t> </a:t>
            </a:r>
            <a:r>
              <a:rPr lang="en-US" sz="7600" dirty="0" err="1"/>
              <a:t>bạn</a:t>
            </a:r>
            <a:r>
              <a:rPr lang="en-US" sz="7600" dirty="0"/>
              <a:t> </a:t>
            </a:r>
            <a:r>
              <a:rPr lang="en-US" sz="7600" dirty="0" err="1"/>
              <a:t>đi</a:t>
            </a:r>
            <a:r>
              <a:rPr lang="en-US" sz="7600" dirty="0"/>
              <a:t> </a:t>
            </a:r>
            <a:r>
              <a:rPr lang="en-US" sz="7600" dirty="0" err="1"/>
              <a:t>xe</a:t>
            </a:r>
            <a:r>
              <a:rPr lang="en-US" sz="7600" dirty="0"/>
              <a:t> </a:t>
            </a:r>
            <a:r>
              <a:rPr lang="en-US" sz="7600" dirty="0" err="1"/>
              <a:t>điện</a:t>
            </a:r>
            <a:r>
              <a:rPr lang="en-US" sz="7600" dirty="0"/>
              <a:t> </a:t>
            </a:r>
            <a:r>
              <a:rPr lang="en-US" sz="7600" dirty="0" err="1"/>
              <a:t>chuyến</a:t>
            </a:r>
            <a:r>
              <a:rPr lang="en-US" sz="7600" dirty="0"/>
              <a:t> </a:t>
            </a:r>
            <a:r>
              <a:rPr lang="en-US" sz="7600" dirty="0" err="1"/>
              <a:t>trước</a:t>
            </a:r>
            <a:r>
              <a:rPr lang="en-US" sz="7600" dirty="0"/>
              <a:t> 9:30 </a:t>
            </a:r>
            <a:r>
              <a:rPr lang="en-US" sz="7600" dirty="0" err="1"/>
              <a:t>sáng</a:t>
            </a:r>
            <a:r>
              <a:rPr lang="en-US" sz="7600" dirty="0"/>
              <a:t> </a:t>
            </a:r>
            <a:r>
              <a:rPr lang="en-US" sz="7600" dirty="0" err="1"/>
              <a:t>hoặc</a:t>
            </a:r>
            <a:r>
              <a:rPr lang="en-US" sz="7600" dirty="0"/>
              <a:t> </a:t>
            </a:r>
            <a:r>
              <a:rPr lang="en-US" sz="7600" dirty="0" err="1"/>
              <a:t>từ</a:t>
            </a:r>
            <a:r>
              <a:rPr lang="en-US" sz="7600" dirty="0"/>
              <a:t> </a:t>
            </a:r>
            <a:r>
              <a:rPr lang="en-US" sz="7600" dirty="0" err="1"/>
              <a:t>sau</a:t>
            </a:r>
            <a:r>
              <a:rPr lang="en-US" sz="7600" dirty="0"/>
              <a:t> 4:00 </a:t>
            </a:r>
            <a:r>
              <a:rPr lang="en-US" sz="7600" dirty="0" err="1"/>
              <a:t>chiều</a:t>
            </a:r>
            <a:r>
              <a:rPr lang="en-US" sz="7600" dirty="0"/>
              <a:t> </a:t>
            </a:r>
            <a:r>
              <a:rPr lang="en-US" sz="7600" dirty="0" err="1"/>
              <a:t>đến</a:t>
            </a:r>
            <a:r>
              <a:rPr lang="en-US" sz="7600" dirty="0"/>
              <a:t> 7:30 </a:t>
            </a:r>
            <a:r>
              <a:rPr lang="en-US" sz="7600" dirty="0" err="1"/>
              <a:t>tối</a:t>
            </a:r>
            <a:r>
              <a:rPr lang="en-US" sz="7600" dirty="0"/>
              <a:t> (</a:t>
            </a:r>
            <a:r>
              <a:rPr lang="en-US" sz="7600" dirty="0" err="1"/>
              <a:t>giờ</a:t>
            </a:r>
            <a:r>
              <a:rPr lang="en-US" sz="7600" dirty="0"/>
              <a:t> </a:t>
            </a:r>
            <a:r>
              <a:rPr lang="en-US" sz="7600" dirty="0" err="1"/>
              <a:t>cao</a:t>
            </a:r>
            <a:r>
              <a:rPr lang="en-US" sz="7600" dirty="0"/>
              <a:t> </a:t>
            </a:r>
            <a:r>
              <a:rPr lang="en-US" sz="7600" dirty="0" err="1"/>
              <a:t>điểm</a:t>
            </a:r>
            <a:r>
              <a:rPr lang="en-US" sz="7600" dirty="0"/>
              <a:t>), </a:t>
            </a:r>
            <a:r>
              <a:rPr lang="en-US" sz="7600" dirty="0" err="1"/>
              <a:t>thì</a:t>
            </a:r>
            <a:r>
              <a:rPr lang="en-US" sz="7600" dirty="0"/>
              <a:t> </a:t>
            </a:r>
            <a:r>
              <a:rPr lang="en-US" sz="7600" dirty="0" err="1"/>
              <a:t>bạn</a:t>
            </a:r>
            <a:r>
              <a:rPr lang="en-US" sz="7600" dirty="0"/>
              <a:t> </a:t>
            </a:r>
            <a:r>
              <a:rPr lang="en-US" sz="7600" dirty="0" err="1"/>
              <a:t>phải</a:t>
            </a:r>
            <a:r>
              <a:rPr lang="en-US" sz="7600" dirty="0"/>
              <a:t> </a:t>
            </a:r>
            <a:r>
              <a:rPr lang="en-US" sz="7600" dirty="0" err="1"/>
              <a:t>mua</a:t>
            </a:r>
            <a:r>
              <a:rPr lang="en-US" sz="7600" dirty="0"/>
              <a:t> </a:t>
            </a:r>
            <a:r>
              <a:rPr lang="en-US" sz="7600" dirty="0" err="1"/>
              <a:t>vé</a:t>
            </a:r>
            <a:r>
              <a:rPr lang="en-US" sz="7600" dirty="0"/>
              <a:t> </a:t>
            </a:r>
            <a:r>
              <a:rPr lang="en-US" sz="7600" dirty="0" err="1"/>
              <a:t>thường</a:t>
            </a:r>
            <a:r>
              <a:rPr lang="en-US" sz="7600" dirty="0"/>
              <a:t>. </a:t>
            </a:r>
            <a:r>
              <a:rPr lang="en-US" sz="7600" dirty="0" err="1"/>
              <a:t>Vé</a:t>
            </a:r>
            <a:r>
              <a:rPr lang="en-US" sz="7600" dirty="0"/>
              <a:t> </a:t>
            </a:r>
            <a:r>
              <a:rPr lang="en-US" sz="7600" dirty="0" err="1"/>
              <a:t>tiết</a:t>
            </a:r>
            <a:r>
              <a:rPr lang="en-US" sz="7600" dirty="0"/>
              <a:t> </a:t>
            </a:r>
            <a:r>
              <a:rPr lang="en-US" sz="7600" dirty="0" err="1"/>
              <a:t>kiệm</a:t>
            </a:r>
            <a:r>
              <a:rPr lang="en-US" sz="7600" dirty="0"/>
              <a:t> (</a:t>
            </a:r>
            <a:r>
              <a:rPr lang="en-US" sz="7600" dirty="0" err="1"/>
              <a:t>giá</a:t>
            </a:r>
            <a:r>
              <a:rPr lang="en-US" sz="7600" dirty="0"/>
              <a:t> </a:t>
            </a:r>
            <a:r>
              <a:rPr lang="en-US" sz="7600" dirty="0" err="1"/>
              <a:t>thấp</a:t>
            </a:r>
            <a:r>
              <a:rPr lang="en-US" sz="7600" dirty="0"/>
              <a:t> </a:t>
            </a:r>
            <a:r>
              <a:rPr lang="en-US" sz="7600" dirty="0" err="1"/>
              <a:t>hơn</a:t>
            </a:r>
            <a:r>
              <a:rPr lang="en-US" sz="7600" dirty="0"/>
              <a:t> </a:t>
            </a:r>
            <a:r>
              <a:rPr lang="en-US" sz="7600" dirty="0" err="1"/>
              <a:t>vé</a:t>
            </a:r>
            <a:r>
              <a:rPr lang="en-US" sz="7600" dirty="0"/>
              <a:t> </a:t>
            </a:r>
            <a:r>
              <a:rPr lang="en-US" sz="7600" dirty="0" err="1"/>
              <a:t>thường</a:t>
            </a:r>
            <a:r>
              <a:rPr lang="en-US" sz="7600" dirty="0"/>
              <a:t>) </a:t>
            </a:r>
            <a:r>
              <a:rPr lang="en-US" sz="7600" dirty="0" err="1"/>
              <a:t>có</a:t>
            </a:r>
            <a:r>
              <a:rPr lang="en-US" sz="7600" dirty="0"/>
              <a:t> </a:t>
            </a:r>
            <a:r>
              <a:rPr lang="en-US" sz="7600" dirty="0" err="1"/>
              <a:t>hiệu</a:t>
            </a:r>
            <a:r>
              <a:rPr lang="en-US" sz="7600" dirty="0"/>
              <a:t> </a:t>
            </a:r>
            <a:r>
              <a:rPr lang="en-US" sz="7600" dirty="0" err="1"/>
              <a:t>lực</a:t>
            </a:r>
            <a:r>
              <a:rPr lang="en-US" sz="7600" dirty="0"/>
              <a:t> </a:t>
            </a:r>
            <a:r>
              <a:rPr lang="en-US" sz="7600" dirty="0" err="1"/>
              <a:t>cho</a:t>
            </a:r>
            <a:r>
              <a:rPr lang="en-US" sz="7600" dirty="0"/>
              <a:t> </a:t>
            </a:r>
            <a:r>
              <a:rPr lang="en-US" sz="7600" dirty="0" err="1"/>
              <a:t>các</a:t>
            </a:r>
            <a:r>
              <a:rPr lang="en-US" sz="7600" dirty="0"/>
              <a:t> </a:t>
            </a:r>
            <a:r>
              <a:rPr lang="en-US" sz="7600" dirty="0" err="1"/>
              <a:t>chuyến</a:t>
            </a:r>
            <a:r>
              <a:rPr lang="en-US" sz="7600" dirty="0"/>
              <a:t> </a:t>
            </a:r>
            <a:r>
              <a:rPr lang="en-US" sz="7600" dirty="0" err="1"/>
              <a:t>xe</a:t>
            </a:r>
            <a:r>
              <a:rPr lang="en-US" sz="7600" dirty="0"/>
              <a:t> </a:t>
            </a:r>
            <a:r>
              <a:rPr lang="en-US" sz="7600" dirty="0" err="1"/>
              <a:t>từ</a:t>
            </a:r>
            <a:r>
              <a:rPr lang="en-US" sz="7600" dirty="0"/>
              <a:t> 9:30 </a:t>
            </a:r>
            <a:r>
              <a:rPr lang="en-US" sz="7600" dirty="0" err="1"/>
              <a:t>sáng</a:t>
            </a:r>
            <a:r>
              <a:rPr lang="en-US" sz="7600" dirty="0"/>
              <a:t> </a:t>
            </a:r>
            <a:r>
              <a:rPr lang="en-US" sz="7600" dirty="0" err="1"/>
              <a:t>đến</a:t>
            </a:r>
            <a:r>
              <a:rPr lang="en-US" sz="7600" dirty="0"/>
              <a:t> 4:00 </a:t>
            </a:r>
            <a:r>
              <a:rPr lang="en-US" sz="7600" dirty="0" err="1"/>
              <a:t>chiều</a:t>
            </a:r>
            <a:r>
              <a:rPr lang="en-US" sz="7600" dirty="0"/>
              <a:t> </a:t>
            </a:r>
            <a:r>
              <a:rPr lang="en-US" sz="7600" dirty="0" err="1"/>
              <a:t>và</a:t>
            </a:r>
            <a:r>
              <a:rPr lang="en-US" sz="7600" dirty="0"/>
              <a:t> </a:t>
            </a:r>
            <a:r>
              <a:rPr lang="en-US" sz="7600" dirty="0" err="1"/>
              <a:t>sau</a:t>
            </a:r>
            <a:r>
              <a:rPr lang="en-US" sz="7600" dirty="0"/>
              <a:t> 7:30 </a:t>
            </a:r>
            <a:r>
              <a:rPr lang="en-US" sz="7600" dirty="0" err="1"/>
              <a:t>tối</a:t>
            </a:r>
            <a:r>
              <a:rPr lang="en-US" sz="7600" dirty="0"/>
              <a:t>. </a:t>
            </a:r>
            <a:r>
              <a:rPr lang="en-US" sz="7600" dirty="0" err="1"/>
              <a:t>Xe</a:t>
            </a:r>
            <a:r>
              <a:rPr lang="en-US" sz="7600" dirty="0"/>
              <a:t> </a:t>
            </a:r>
            <a:r>
              <a:rPr lang="en-US" sz="7600" dirty="0" err="1"/>
              <a:t>điện</a:t>
            </a:r>
            <a:r>
              <a:rPr lang="en-US" sz="7600" dirty="0"/>
              <a:t> </a:t>
            </a:r>
            <a:r>
              <a:rPr lang="en-US" sz="7600" dirty="0" err="1"/>
              <a:t>không</a:t>
            </a:r>
            <a:r>
              <a:rPr lang="en-US" sz="7600" dirty="0"/>
              <a:t> </a:t>
            </a:r>
            <a:r>
              <a:rPr lang="en-US" sz="7600" dirty="0" err="1"/>
              <a:t>chạy</a:t>
            </a:r>
            <a:r>
              <a:rPr lang="en-US" sz="7600" dirty="0"/>
              <a:t> </a:t>
            </a:r>
            <a:r>
              <a:rPr lang="en-US" sz="7600" dirty="0" err="1"/>
              <a:t>từ</a:t>
            </a:r>
            <a:r>
              <a:rPr lang="en-US" sz="7600" dirty="0"/>
              <a:t> </a:t>
            </a:r>
            <a:r>
              <a:rPr lang="en-US" sz="7600" dirty="0" err="1"/>
              <a:t>sau</a:t>
            </a:r>
            <a:r>
              <a:rPr lang="en-US" sz="7600" dirty="0"/>
              <a:t> 11:00 </a:t>
            </a:r>
            <a:r>
              <a:rPr lang="en-US" sz="7600" dirty="0" err="1"/>
              <a:t>tối</a:t>
            </a:r>
            <a:r>
              <a:rPr lang="en-US" sz="7600" dirty="0"/>
              <a:t> </a:t>
            </a:r>
            <a:r>
              <a:rPr lang="en-US" sz="7600" dirty="0" err="1"/>
              <a:t>và</a:t>
            </a:r>
            <a:r>
              <a:rPr lang="en-US" sz="7600" dirty="0"/>
              <a:t> </a:t>
            </a:r>
            <a:r>
              <a:rPr lang="en-US" sz="7600" dirty="0" err="1"/>
              <a:t>trước</a:t>
            </a:r>
            <a:r>
              <a:rPr lang="en-US" sz="7600" dirty="0"/>
              <a:t> 4:00 </a:t>
            </a:r>
            <a:r>
              <a:rPr lang="en-US" sz="7600" dirty="0" err="1"/>
              <a:t>sáng</a:t>
            </a:r>
            <a:r>
              <a:rPr lang="en-US" sz="7600" dirty="0"/>
              <a:t>. </a:t>
            </a:r>
            <a:r>
              <a:rPr lang="en-US" sz="7600" dirty="0" err="1"/>
              <a:t>Dựa</a:t>
            </a:r>
            <a:r>
              <a:rPr lang="en-US" sz="7600" dirty="0"/>
              <a:t> </a:t>
            </a:r>
            <a:r>
              <a:rPr lang="en-US" sz="7600" dirty="0" err="1"/>
              <a:t>vào</a:t>
            </a:r>
            <a:r>
              <a:rPr lang="en-US" sz="7600" dirty="0"/>
              <a:t> </a:t>
            </a:r>
            <a:r>
              <a:rPr lang="en-US" sz="7600" dirty="0" err="1"/>
              <a:t>nội</a:t>
            </a:r>
            <a:r>
              <a:rPr lang="en-US" sz="7600" dirty="0"/>
              <a:t> dung </a:t>
            </a:r>
            <a:r>
              <a:rPr lang="en-US" sz="7600" dirty="0" err="1"/>
              <a:t>trên</a:t>
            </a:r>
            <a:r>
              <a:rPr lang="en-US" sz="7600" dirty="0"/>
              <a:t> ta </a:t>
            </a:r>
            <a:r>
              <a:rPr lang="en-US" sz="7600" dirty="0" err="1"/>
              <a:t>sẽ</a:t>
            </a:r>
            <a:r>
              <a:rPr lang="en-US" sz="7600" dirty="0"/>
              <a:t> </a:t>
            </a:r>
            <a:r>
              <a:rPr lang="en-US" sz="7600" dirty="0" err="1"/>
              <a:t>có</a:t>
            </a:r>
            <a:r>
              <a:rPr lang="en-US" sz="7600" dirty="0"/>
              <a:t> </a:t>
            </a:r>
            <a:r>
              <a:rPr lang="en-US" sz="7600" dirty="0" err="1"/>
              <a:t>được</a:t>
            </a:r>
            <a:r>
              <a:rPr lang="en-US" sz="7600" dirty="0"/>
              <a:t> </a:t>
            </a:r>
            <a:r>
              <a:rPr lang="en-US" sz="7600" dirty="0" err="1"/>
              <a:t>như</a:t>
            </a:r>
            <a:r>
              <a:rPr lang="en-US" sz="7600" dirty="0"/>
              <a:t> </a:t>
            </a:r>
            <a:r>
              <a:rPr lang="en-US" sz="7600" dirty="0" err="1"/>
              <a:t>sau</a:t>
            </a:r>
            <a:r>
              <a:rPr lang="en-US" sz="7600" dirty="0"/>
              <a:t>:</a:t>
            </a:r>
          </a:p>
          <a:p>
            <a:pPr lvl="1">
              <a:buFont typeface="Wingdings" panose="05000000000000000000" pitchFamily="2" charset="2"/>
              <a:buChar char="ü"/>
            </a:pPr>
            <a:endParaRPr lang="en-US" dirty="0"/>
          </a:p>
          <a:p>
            <a:pPr marL="64135" indent="0">
              <a:buFont typeface="Arial" panose="020B0604020202020204" pitchFamily="34" charset="0"/>
              <a:buNone/>
            </a:pPr>
            <a:endParaRPr lang="en-US" dirty="0"/>
          </a:p>
          <a:p>
            <a:pPr>
              <a:buFont typeface="Wingdings" panose="05000000000000000000" pitchFamily="2" charset="2"/>
              <a:buChar char="v"/>
            </a:pPr>
            <a:endParaRPr lang="en-US" dirty="0"/>
          </a:p>
          <a:p>
            <a:pPr lvl="2">
              <a:buFont typeface="Wingdings" panose="05000000000000000000" pitchFamily="2" charset="2"/>
              <a:buChar char="ü"/>
            </a:pPr>
            <a:endParaRPr lang="en-US" dirty="0"/>
          </a:p>
          <a:p>
            <a:endParaRPr lang="en-US" dirty="0"/>
          </a:p>
          <a:p>
            <a:pPr marL="64135" indent="0">
              <a:buFont typeface="Arial" panose="020B0604020202020204" pitchFamily="34" charset="0"/>
              <a:buNone/>
            </a:pP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411423701"/>
              </p:ext>
            </p:extLst>
          </p:nvPr>
        </p:nvGraphicFramePr>
        <p:xfrm>
          <a:off x="457200" y="5867400"/>
          <a:ext cx="7239001" cy="741680"/>
        </p:xfrm>
        <a:graphic>
          <a:graphicData uri="http://schemas.openxmlformats.org/drawingml/2006/table">
            <a:tbl>
              <a:tblPr firstRow="1" bandRow="1">
                <a:tableStyleId>{5C22544A-7EE6-4342-B048-85BDC9FD1C3A}</a:tableStyleId>
              </a:tblPr>
              <a:tblGrid>
                <a:gridCol w="1034143">
                  <a:extLst>
                    <a:ext uri="{9D8B030D-6E8A-4147-A177-3AD203B41FA5}">
                      <a16:colId xmlns:a16="http://schemas.microsoft.com/office/drawing/2014/main" val="20000"/>
                    </a:ext>
                  </a:extLst>
                </a:gridCol>
                <a:gridCol w="1034143">
                  <a:extLst>
                    <a:ext uri="{9D8B030D-6E8A-4147-A177-3AD203B41FA5}">
                      <a16:colId xmlns:a16="http://schemas.microsoft.com/office/drawing/2014/main" val="20001"/>
                    </a:ext>
                  </a:extLst>
                </a:gridCol>
                <a:gridCol w="1034143">
                  <a:extLst>
                    <a:ext uri="{9D8B030D-6E8A-4147-A177-3AD203B41FA5}">
                      <a16:colId xmlns:a16="http://schemas.microsoft.com/office/drawing/2014/main" val="20002"/>
                    </a:ext>
                  </a:extLst>
                </a:gridCol>
                <a:gridCol w="1034143">
                  <a:extLst>
                    <a:ext uri="{9D8B030D-6E8A-4147-A177-3AD203B41FA5}">
                      <a16:colId xmlns:a16="http://schemas.microsoft.com/office/drawing/2014/main" val="20003"/>
                    </a:ext>
                  </a:extLst>
                </a:gridCol>
                <a:gridCol w="1034143">
                  <a:extLst>
                    <a:ext uri="{9D8B030D-6E8A-4147-A177-3AD203B41FA5}">
                      <a16:colId xmlns:a16="http://schemas.microsoft.com/office/drawing/2014/main" val="20004"/>
                    </a:ext>
                  </a:extLst>
                </a:gridCol>
                <a:gridCol w="1034143">
                  <a:extLst>
                    <a:ext uri="{9D8B030D-6E8A-4147-A177-3AD203B41FA5}">
                      <a16:colId xmlns:a16="http://schemas.microsoft.com/office/drawing/2014/main" val="20005"/>
                    </a:ext>
                  </a:extLst>
                </a:gridCol>
                <a:gridCol w="1034143">
                  <a:extLst>
                    <a:ext uri="{9D8B030D-6E8A-4147-A177-3AD203B41FA5}">
                      <a16:colId xmlns:a16="http://schemas.microsoft.com/office/drawing/2014/main" val="20006"/>
                    </a:ext>
                  </a:extLst>
                </a:gridCol>
              </a:tblGrid>
              <a:tr h="370840">
                <a:tc>
                  <a:txBody>
                    <a:bodyPr/>
                    <a:lstStyle/>
                    <a:p>
                      <a:pPr algn="just">
                        <a:lnSpc>
                          <a:spcPct val="150000"/>
                        </a:lnSpc>
                        <a:spcAft>
                          <a:spcPts val="0"/>
                        </a:spcAft>
                      </a:pPr>
                      <a:r>
                        <a:rPr lang="en-US" sz="1100" dirty="0" err="1">
                          <a:effectLst/>
                        </a:rPr>
                        <a:t>Lịch</a:t>
                      </a:r>
                      <a:r>
                        <a:rPr lang="en-US" sz="1100" dirty="0">
                          <a:effectLst/>
                        </a:rPr>
                        <a:t> </a:t>
                      </a:r>
                      <a:r>
                        <a:rPr lang="en-US" sz="1100" dirty="0" err="1">
                          <a:effectLst/>
                        </a:rPr>
                        <a:t>trình</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a:effectLst/>
                        </a:rPr>
                        <a:t>00:00-3:59</a:t>
                      </a:r>
                      <a:endParaRPr lang="en-US" sz="110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a:effectLst/>
                        </a:rPr>
                        <a:t>4:00-9:29</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a:effectLst/>
                        </a:rPr>
                        <a:t>9:30-16:00</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a:effectLst/>
                        </a:rPr>
                        <a:t>16:01-19:30</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a:effectLst/>
                        </a:rPr>
                        <a:t>19:31-22:59</a:t>
                      </a:r>
                      <a:endParaRPr lang="en-US" sz="110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a:effectLst/>
                        </a:rPr>
                        <a:t>23:00-23:59</a:t>
                      </a:r>
                      <a:endParaRPr lang="en-US" sz="110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70840">
                <a:tc>
                  <a:txBody>
                    <a:bodyPr/>
                    <a:lstStyle/>
                    <a:p>
                      <a:pPr algn="just">
                        <a:lnSpc>
                          <a:spcPct val="150000"/>
                        </a:lnSpc>
                        <a:spcAft>
                          <a:spcPts val="0"/>
                        </a:spcAft>
                      </a:pPr>
                      <a:r>
                        <a:rPr lang="en-US" sz="1100">
                          <a:effectLst/>
                        </a:rPr>
                        <a:t>Loại vé</a:t>
                      </a:r>
                      <a:endParaRPr lang="en-US" sz="110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a:effectLst/>
                        </a:rPr>
                        <a:t>Invalid</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effectLst/>
                        </a:rPr>
                        <a:t>Vé</a:t>
                      </a:r>
                      <a:r>
                        <a:rPr lang="en-US" sz="1100" dirty="0">
                          <a:effectLst/>
                        </a:rPr>
                        <a:t> </a:t>
                      </a:r>
                      <a:r>
                        <a:rPr lang="en-US" sz="1100" dirty="0" err="1">
                          <a:effectLst/>
                        </a:rPr>
                        <a:t>thường</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effectLst/>
                        </a:rPr>
                        <a:t>Tiết</a:t>
                      </a:r>
                      <a:r>
                        <a:rPr lang="en-US" sz="1100" dirty="0">
                          <a:effectLst/>
                        </a:rPr>
                        <a:t> </a:t>
                      </a:r>
                      <a:r>
                        <a:rPr lang="en-US" sz="1100" dirty="0" err="1">
                          <a:effectLst/>
                        </a:rPr>
                        <a:t>kiệm</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effectLst/>
                        </a:rPr>
                        <a:t>Vé</a:t>
                      </a:r>
                      <a:r>
                        <a:rPr lang="en-US" sz="1100" dirty="0">
                          <a:effectLst/>
                        </a:rPr>
                        <a:t> </a:t>
                      </a:r>
                      <a:r>
                        <a:rPr lang="en-US" sz="1100" dirty="0" err="1">
                          <a:effectLst/>
                        </a:rPr>
                        <a:t>thường</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effectLst/>
                        </a:rPr>
                        <a:t>Tiết</a:t>
                      </a:r>
                      <a:r>
                        <a:rPr lang="en-US" sz="1100" dirty="0">
                          <a:effectLst/>
                        </a:rPr>
                        <a:t> </a:t>
                      </a:r>
                      <a:r>
                        <a:rPr lang="en-US" sz="1100" dirty="0" err="1">
                          <a:effectLst/>
                        </a:rPr>
                        <a:t>kiệm</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a:effectLst/>
                        </a:rPr>
                        <a:t>Invalid</a:t>
                      </a:r>
                      <a:endParaRPr lang="en-US" sz="1100" dirty="0">
                        <a:solidFill>
                          <a:srgbClr val="000000"/>
                        </a:solidFill>
                        <a:effectLst/>
                        <a:latin typeface="Times New Roman" panose="02020603050405020304" pitchFamily="18" charset="0"/>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862363446"/>
              </p:ext>
            </p:extLst>
          </p:nvPr>
        </p:nvGraphicFramePr>
        <p:xfrm>
          <a:off x="304800" y="1397000"/>
          <a:ext cx="7620000" cy="2042685"/>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5638800">
                  <a:extLst>
                    <a:ext uri="{9D8B030D-6E8A-4147-A177-3AD203B41FA5}">
                      <a16:colId xmlns:a16="http://schemas.microsoft.com/office/drawing/2014/main" val="20002"/>
                    </a:ext>
                  </a:extLst>
                </a:gridCol>
              </a:tblGrid>
              <a:tr h="232630">
                <a:tc>
                  <a:txBody>
                    <a:bodyPr/>
                    <a:lstStyle/>
                    <a:p>
                      <a:pPr algn="just">
                        <a:lnSpc>
                          <a:spcPct val="150000"/>
                        </a:lnSpc>
                        <a:spcAft>
                          <a:spcPts val="0"/>
                        </a:spcAft>
                      </a:pPr>
                      <a:r>
                        <a:rPr lang="en-US" sz="1100" dirty="0">
                          <a:effectLst/>
                          <a:latin typeface="+mn-lt"/>
                        </a:rPr>
                        <a:t>Case</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effectLst/>
                          <a:latin typeface="+mn-lt"/>
                        </a:rPr>
                        <a:t>Giá</a:t>
                      </a:r>
                      <a:r>
                        <a:rPr lang="en-US" sz="1100" dirty="0">
                          <a:effectLst/>
                          <a:latin typeface="+mn-lt"/>
                        </a:rPr>
                        <a:t> </a:t>
                      </a:r>
                      <a:r>
                        <a:rPr lang="en-US" sz="1100" dirty="0" err="1">
                          <a:effectLst/>
                          <a:latin typeface="+mn-lt"/>
                        </a:rPr>
                        <a:t>trị</a:t>
                      </a:r>
                      <a:r>
                        <a:rPr lang="en-US" sz="1100" dirty="0">
                          <a:effectLst/>
                          <a:latin typeface="+mn-lt"/>
                        </a:rPr>
                        <a:t> </a:t>
                      </a:r>
                      <a:r>
                        <a:rPr lang="en-US" sz="1100" dirty="0" err="1">
                          <a:effectLst/>
                          <a:latin typeface="+mn-lt"/>
                        </a:rPr>
                        <a:t>nhập</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effectLst/>
                          <a:latin typeface="+mn-lt"/>
                        </a:rPr>
                        <a:t>Kết</a:t>
                      </a:r>
                      <a:r>
                        <a:rPr lang="en-US" sz="1100" dirty="0">
                          <a:effectLst/>
                          <a:latin typeface="+mn-lt"/>
                        </a:rPr>
                        <a:t> </a:t>
                      </a:r>
                      <a:r>
                        <a:rPr lang="en-US" sz="1100" dirty="0" err="1">
                          <a:effectLst/>
                          <a:latin typeface="+mn-lt"/>
                        </a:rPr>
                        <a:t>quả</a:t>
                      </a:r>
                      <a:r>
                        <a:rPr lang="en-US" sz="1100" dirty="0">
                          <a:effectLst/>
                          <a:latin typeface="+mn-lt"/>
                        </a:rPr>
                        <a:t> </a:t>
                      </a:r>
                      <a:r>
                        <a:rPr lang="en-US" sz="1100" dirty="0" err="1">
                          <a:effectLst/>
                          <a:latin typeface="+mn-lt"/>
                        </a:rPr>
                        <a:t>mong</a:t>
                      </a:r>
                      <a:r>
                        <a:rPr lang="en-US" sz="1100" dirty="0">
                          <a:effectLst/>
                          <a:latin typeface="+mn-lt"/>
                        </a:rPr>
                        <a:t> </a:t>
                      </a:r>
                      <a:r>
                        <a:rPr lang="en-US" sz="1100" dirty="0" err="1">
                          <a:effectLst/>
                          <a:latin typeface="+mn-lt"/>
                        </a:rPr>
                        <a:t>muốn</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32630">
                <a:tc>
                  <a:txBody>
                    <a:bodyPr/>
                    <a:lstStyle/>
                    <a:p>
                      <a:pPr algn="just">
                        <a:lnSpc>
                          <a:spcPct val="150000"/>
                        </a:lnSpc>
                        <a:spcAft>
                          <a:spcPts val="0"/>
                        </a:spcAft>
                      </a:pPr>
                      <a:r>
                        <a:rPr lang="en-US" sz="1100" dirty="0">
                          <a:effectLst/>
                          <a:latin typeface="+mn-lt"/>
                        </a:rPr>
                        <a:t>1</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latin typeface="+mn-lt"/>
                        </a:rPr>
                        <a:t>Nhập</a:t>
                      </a:r>
                      <a:r>
                        <a:rPr lang="en-US" sz="1100" dirty="0">
                          <a:latin typeface="+mn-lt"/>
                        </a:rPr>
                        <a:t> </a:t>
                      </a:r>
                      <a:r>
                        <a:rPr lang="vi-VN" sz="1100" dirty="0">
                          <a:latin typeface="+mn-lt"/>
                        </a:rPr>
                        <a:t>2 ký</a:t>
                      </a:r>
                      <a:r>
                        <a:rPr lang="vi-VN" sz="1100" baseline="0" dirty="0">
                          <a:latin typeface="+mn-lt"/>
                        </a:rPr>
                        <a:t> tự</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latin typeface="+mn-lt"/>
                        </a:rPr>
                        <a:t>Hiển thị thông báo lỗi “Tên phải có ít nhất 3 ký tự và ít hơn 20 ký tự”</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15485">
                <a:tc>
                  <a:txBody>
                    <a:bodyPr/>
                    <a:lstStyle/>
                    <a:p>
                      <a:pPr algn="just">
                        <a:lnSpc>
                          <a:spcPct val="150000"/>
                        </a:lnSpc>
                        <a:spcAft>
                          <a:spcPts val="0"/>
                        </a:spcAft>
                      </a:pPr>
                      <a:r>
                        <a:rPr lang="en-US" sz="1100">
                          <a:effectLst/>
                          <a:latin typeface="+mn-lt"/>
                        </a:rPr>
                        <a:t>2</a:t>
                      </a:r>
                      <a:endParaRPr lang="en-US" sz="110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latin typeface="+mn-lt"/>
                        </a:rPr>
                        <a:t>Nhập</a:t>
                      </a:r>
                      <a:r>
                        <a:rPr lang="en-US" sz="1100" dirty="0">
                          <a:latin typeface="+mn-lt"/>
                        </a:rPr>
                        <a:t> 3 </a:t>
                      </a:r>
                      <a:r>
                        <a:rPr lang="en-US" sz="1100" dirty="0" err="1">
                          <a:latin typeface="+mn-lt"/>
                        </a:rPr>
                        <a:t>ký</a:t>
                      </a:r>
                      <a:r>
                        <a:rPr lang="en-US" sz="1100" dirty="0">
                          <a:latin typeface="+mn-lt"/>
                        </a:rPr>
                        <a:t> </a:t>
                      </a:r>
                      <a:r>
                        <a:rPr lang="en-US" sz="1100" dirty="0" err="1">
                          <a:latin typeface="+mn-lt"/>
                        </a:rPr>
                        <a:t>tự</a:t>
                      </a:r>
                      <a:r>
                        <a:rPr lang="en-US" sz="1100" dirty="0">
                          <a:latin typeface="+mn-lt"/>
                        </a:rPr>
                        <a:t> </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latin typeface="+mn-lt"/>
                        </a:rPr>
                        <a:t>Pass</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315485">
                <a:tc>
                  <a:txBody>
                    <a:bodyPr/>
                    <a:lstStyle/>
                    <a:p>
                      <a:pPr algn="just">
                        <a:lnSpc>
                          <a:spcPct val="150000"/>
                        </a:lnSpc>
                        <a:spcAft>
                          <a:spcPts val="0"/>
                        </a:spcAft>
                      </a:pPr>
                      <a:r>
                        <a:rPr lang="en-US" sz="1100">
                          <a:effectLst/>
                          <a:latin typeface="+mn-lt"/>
                        </a:rPr>
                        <a:t>3</a:t>
                      </a:r>
                      <a:endParaRPr lang="en-US" sz="110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en-US" sz="1100" dirty="0" err="1">
                          <a:latin typeface="+mn-lt"/>
                        </a:rPr>
                        <a:t>Nhập</a:t>
                      </a:r>
                      <a:r>
                        <a:rPr lang="en-US" sz="1100" dirty="0">
                          <a:latin typeface="+mn-lt"/>
                        </a:rPr>
                        <a:t> </a:t>
                      </a:r>
                      <a:r>
                        <a:rPr lang="vi-VN" sz="1100" dirty="0">
                          <a:latin typeface="+mn-lt"/>
                        </a:rPr>
                        <a:t>4 ký</a:t>
                      </a:r>
                      <a:r>
                        <a:rPr lang="vi-VN" sz="1100" baseline="0" dirty="0">
                          <a:latin typeface="+mn-lt"/>
                        </a:rPr>
                        <a:t> tự</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latin typeface="+mn-lt"/>
                        </a:rPr>
                        <a:t>Pass</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15485">
                <a:tc>
                  <a:txBody>
                    <a:bodyPr/>
                    <a:lstStyle/>
                    <a:p>
                      <a:pPr algn="just">
                        <a:lnSpc>
                          <a:spcPct val="150000"/>
                        </a:lnSpc>
                        <a:spcAft>
                          <a:spcPts val="0"/>
                        </a:spcAft>
                      </a:pPr>
                      <a:r>
                        <a:rPr lang="en-US" sz="1100" dirty="0">
                          <a:effectLst/>
                          <a:latin typeface="+mn-lt"/>
                        </a:rPr>
                        <a:t>4</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solidFill>
                            <a:schemeClr val="dk1"/>
                          </a:solidFill>
                          <a:effectLst/>
                          <a:latin typeface="+mn-lt"/>
                          <a:ea typeface="+mn-ea"/>
                          <a:cs typeface="+mn-cs"/>
                        </a:rPr>
                        <a:t>Nhập</a:t>
                      </a:r>
                      <a:r>
                        <a:rPr lang="vi-VN" sz="1100" baseline="0" dirty="0">
                          <a:solidFill>
                            <a:schemeClr val="dk1"/>
                          </a:solidFill>
                          <a:effectLst/>
                          <a:latin typeface="+mn-lt"/>
                          <a:ea typeface="+mn-ea"/>
                          <a:cs typeface="+mn-cs"/>
                        </a:rPr>
                        <a:t> 19 ký tự</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latin typeface="+mn-lt"/>
                        </a:rPr>
                        <a:t>Pass</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315485">
                <a:tc>
                  <a:txBody>
                    <a:bodyPr/>
                    <a:lstStyle/>
                    <a:p>
                      <a:pPr algn="just">
                        <a:lnSpc>
                          <a:spcPct val="150000"/>
                        </a:lnSpc>
                        <a:spcAft>
                          <a:spcPts val="0"/>
                        </a:spcAft>
                      </a:pPr>
                      <a:r>
                        <a:rPr lang="vi-VN" sz="1100" dirty="0">
                          <a:solidFill>
                            <a:schemeClr val="bg1"/>
                          </a:solidFill>
                          <a:effectLst/>
                          <a:latin typeface="+mn-lt"/>
                          <a:ea typeface="+mn-ea"/>
                          <a:cs typeface="+mn-cs"/>
                        </a:rPr>
                        <a:t>5</a:t>
                      </a:r>
                      <a:endParaRPr lang="en-US" sz="1100" dirty="0">
                        <a:solidFill>
                          <a:schemeClr val="bg1"/>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effectLst/>
                          <a:latin typeface="+mn-lt"/>
                        </a:rPr>
                        <a:t>Nhập</a:t>
                      </a:r>
                      <a:r>
                        <a:rPr lang="vi-VN" sz="1100" baseline="0" dirty="0">
                          <a:effectLst/>
                          <a:latin typeface="+mn-lt"/>
                        </a:rPr>
                        <a:t> 20 ký tự</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latin typeface="+mn-lt"/>
                        </a:rPr>
                        <a:t>Pass</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315485">
                <a:tc>
                  <a:txBody>
                    <a:bodyPr/>
                    <a:lstStyle/>
                    <a:p>
                      <a:pPr algn="just">
                        <a:lnSpc>
                          <a:spcPct val="150000"/>
                        </a:lnSpc>
                        <a:spcAft>
                          <a:spcPts val="0"/>
                        </a:spcAft>
                      </a:pPr>
                      <a:r>
                        <a:rPr lang="vi-VN" sz="1100" dirty="0">
                          <a:solidFill>
                            <a:srgbClr val="000000"/>
                          </a:solidFill>
                          <a:effectLst/>
                          <a:latin typeface="+mn-lt"/>
                          <a:ea typeface="ＭＳ 明朝" panose="02020609040205080304" pitchFamily="17" charset="-128"/>
                          <a:cs typeface="Times New Roman" panose="02020603050405020304" pitchFamily="18" charset="0"/>
                        </a:rPr>
                        <a:t>6</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algn="just">
                        <a:lnSpc>
                          <a:spcPct val="150000"/>
                        </a:lnSpc>
                        <a:spcAft>
                          <a:spcPts val="0"/>
                        </a:spcAft>
                      </a:pPr>
                      <a:r>
                        <a:rPr lang="vi-VN" sz="1100" dirty="0">
                          <a:solidFill>
                            <a:srgbClr val="000000"/>
                          </a:solidFill>
                          <a:effectLst/>
                          <a:latin typeface="+mn-lt"/>
                          <a:ea typeface="ＭＳ 明朝" panose="02020609040205080304" pitchFamily="17" charset="-128"/>
                          <a:cs typeface="Times New Roman" panose="02020603050405020304" pitchFamily="18" charset="0"/>
                        </a:rPr>
                        <a:t>Nhập</a:t>
                      </a:r>
                      <a:r>
                        <a:rPr lang="vi-VN" sz="1100" baseline="0" dirty="0">
                          <a:solidFill>
                            <a:srgbClr val="000000"/>
                          </a:solidFill>
                          <a:effectLst/>
                          <a:latin typeface="+mn-lt"/>
                          <a:ea typeface="ＭＳ 明朝" panose="02020609040205080304" pitchFamily="17" charset="-128"/>
                          <a:cs typeface="Times New Roman" panose="02020603050405020304" pitchFamily="18" charset="0"/>
                        </a:rPr>
                        <a:t> 21 ký tự</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vi-VN" sz="1100" dirty="0">
                          <a:latin typeface="+mn-lt"/>
                        </a:rPr>
                        <a:t>Hiển thị thông báo lỗi “Tên phải có ít nhất 3 ký tự và ít hơn 20 ký tự”</a:t>
                      </a:r>
                      <a:endParaRPr lang="en-US" sz="1100" dirty="0">
                        <a:solidFill>
                          <a:srgbClr val="000000"/>
                        </a:solidFill>
                        <a:effectLst/>
                        <a:latin typeface="+mn-lt"/>
                        <a:ea typeface="ＭＳ 明朝" panose="02020609040205080304" pitchFamily="17" charset="-128"/>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96103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6858000" cy="799306"/>
          </a:xfrm>
        </p:spPr>
        <p:txBody>
          <a:bodyPr/>
          <a:lstStyle/>
          <a:p>
            <a:r>
              <a:rPr lang="en-US" dirty="0"/>
              <a:t>3.2. </a:t>
            </a:r>
            <a:r>
              <a:rPr lang="en-US" dirty="0" err="1"/>
              <a:t>Phân</a:t>
            </a:r>
            <a:r>
              <a:rPr lang="en-US" dirty="0"/>
              <a:t> </a:t>
            </a:r>
            <a:r>
              <a:rPr lang="en-US" dirty="0" err="1"/>
              <a:t>tích</a:t>
            </a:r>
            <a:r>
              <a:rPr lang="en-US" dirty="0"/>
              <a:t> </a:t>
            </a:r>
            <a:r>
              <a:rPr lang="en-US" dirty="0" err="1"/>
              <a:t>giá</a:t>
            </a:r>
            <a:r>
              <a:rPr lang="en-US" dirty="0"/>
              <a:t> </a:t>
            </a:r>
            <a:r>
              <a:rPr lang="en-US" dirty="0" err="1"/>
              <a:t>trị</a:t>
            </a:r>
            <a:r>
              <a:rPr lang="en-US" dirty="0"/>
              <a:t> </a:t>
            </a:r>
            <a:r>
              <a:rPr lang="en-US" dirty="0" err="1"/>
              <a:t>biên</a:t>
            </a:r>
            <a:endParaRPr lang="en-US" dirty="0"/>
          </a:p>
        </p:txBody>
      </p:sp>
      <p:sp>
        <p:nvSpPr>
          <p:cNvPr id="3" name="Content Placeholder 2"/>
          <p:cNvSpPr>
            <a:spLocks noGrp="1"/>
          </p:cNvSpPr>
          <p:nvPr>
            <p:ph idx="1"/>
          </p:nvPr>
        </p:nvSpPr>
        <p:spPr>
          <a:xfrm>
            <a:off x="95250" y="897064"/>
            <a:ext cx="8305800" cy="4441300"/>
          </a:xfrm>
        </p:spPr>
        <p:txBody>
          <a:bodyPr>
            <a:normAutofit/>
          </a:bodyPr>
          <a:lstStyle/>
          <a:p>
            <a:pPr>
              <a:buFont typeface="Wingdings" panose="05000000000000000000" pitchFamily="2" charset="2"/>
              <a:buChar char="v"/>
            </a:pPr>
            <a:r>
              <a:rPr lang="en-US" sz="1900" dirty="0" err="1"/>
              <a:t>Với</a:t>
            </a:r>
            <a:r>
              <a:rPr lang="en-US" sz="1900" dirty="0"/>
              <a:t> </a:t>
            </a:r>
            <a:r>
              <a:rPr lang="en-US" sz="1900" dirty="0" err="1"/>
              <a:t>ví</a:t>
            </a:r>
            <a:r>
              <a:rPr lang="en-US" sz="1900" dirty="0"/>
              <a:t> </a:t>
            </a:r>
            <a:r>
              <a:rPr lang="en-US" sz="1900" dirty="0" err="1"/>
              <a:t>dụ</a:t>
            </a:r>
            <a:r>
              <a:rPr lang="en-US" sz="1900" dirty="0"/>
              <a:t> </a:t>
            </a:r>
            <a:r>
              <a:rPr lang="en-US" sz="1900" dirty="0" err="1"/>
              <a:t>trên</a:t>
            </a:r>
            <a:r>
              <a:rPr lang="en-US" sz="1900" dirty="0"/>
              <a:t> t</a:t>
            </a:r>
            <a:r>
              <a:rPr lang="vi-VN" sz="1900" dirty="0"/>
              <a:t>a xác định được các case test giá trị biên như sau:</a:t>
            </a:r>
            <a:endParaRPr lang="en-US" sz="1900" dirty="0"/>
          </a:p>
          <a:p>
            <a:pPr lvl="1">
              <a:buFont typeface="Wingdings" panose="05000000000000000000" pitchFamily="2" charset="2"/>
              <a:buChar char="ü"/>
            </a:pPr>
            <a:endParaRPr lang="en-US" dirty="0"/>
          </a:p>
          <a:p>
            <a:pPr marL="64135" indent="0">
              <a:buNone/>
            </a:pPr>
            <a:endParaRPr lang="en-US" dirty="0"/>
          </a:p>
          <a:p>
            <a:pPr>
              <a:buFont typeface="Wingdings" panose="05000000000000000000" pitchFamily="2" charset="2"/>
              <a:buChar char="v"/>
            </a:pPr>
            <a:endParaRPr lang="en-US" dirty="0"/>
          </a:p>
          <a:p>
            <a:pPr lvl="2">
              <a:buFont typeface="Wingdings" panose="05000000000000000000" pitchFamily="2" charset="2"/>
              <a:buChar char="ü"/>
            </a:pPr>
            <a:endParaRPr lang="en-US" dirty="0"/>
          </a:p>
          <a:p>
            <a:endParaRPr lang="en-US" dirty="0"/>
          </a:p>
          <a:p>
            <a:pPr marL="64135" indent="0">
              <a:buNone/>
            </a:pPr>
            <a:endParaRPr lang="en-US" dirty="0"/>
          </a:p>
        </p:txBody>
      </p:sp>
      <p:pic>
        <p:nvPicPr>
          <p:cNvPr id="4" name="Picture 3"/>
          <p:cNvPicPr>
            <a:picLocks noChangeAspect="1"/>
          </p:cNvPicPr>
          <p:nvPr/>
        </p:nvPicPr>
        <p:blipFill>
          <a:blip r:embed="rId2"/>
          <a:stretch>
            <a:fillRect/>
          </a:stretch>
        </p:blipFill>
        <p:spPr>
          <a:xfrm>
            <a:off x="762000" y="1295400"/>
            <a:ext cx="7161905" cy="5562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7315200" cy="799306"/>
          </a:xfrm>
        </p:spPr>
        <p:txBody>
          <a:bodyPr/>
          <a:lstStyle/>
          <a:p>
            <a:r>
              <a:rPr lang="en-US" dirty="0"/>
              <a:t>3.3 </a:t>
            </a:r>
            <a:r>
              <a:rPr lang="vi-VN" dirty="0"/>
              <a:t>Bảng quyết định</a:t>
            </a:r>
            <a:endParaRPr lang="en-US" dirty="0"/>
          </a:p>
        </p:txBody>
      </p:sp>
      <p:sp>
        <p:nvSpPr>
          <p:cNvPr id="3" name="Content Placeholder 2"/>
          <p:cNvSpPr>
            <a:spLocks noGrp="1"/>
          </p:cNvSpPr>
          <p:nvPr>
            <p:ph idx="1"/>
          </p:nvPr>
        </p:nvSpPr>
        <p:spPr>
          <a:xfrm>
            <a:off x="95250" y="897255"/>
            <a:ext cx="8305800" cy="5845810"/>
          </a:xfrm>
        </p:spPr>
        <p:txBody>
          <a:bodyPr>
            <a:noAutofit/>
          </a:bodyPr>
          <a:lstStyle/>
          <a:p>
            <a:pPr>
              <a:buFont typeface="Wingdings" panose="05000000000000000000" pitchFamily="2" charset="2"/>
              <a:buChar char="v"/>
            </a:pPr>
            <a:r>
              <a:rPr lang="en-US" sz="1700" dirty="0"/>
              <a:t>B</a:t>
            </a:r>
            <a:r>
              <a:rPr lang="vi-VN" sz="1700" dirty="0"/>
              <a:t>ảng quyết định </a:t>
            </a:r>
          </a:p>
          <a:p>
            <a:pPr lvl="1">
              <a:buFont typeface="Wingdings" panose="05000000000000000000" pitchFamily="2" charset="2"/>
              <a:buChar char="ü"/>
            </a:pPr>
            <a:r>
              <a:rPr lang="en-US" sz="1700" dirty="0" err="1"/>
              <a:t>Là</a:t>
            </a:r>
            <a:r>
              <a:rPr lang="en-US" sz="1700" dirty="0"/>
              <a:t> </a:t>
            </a:r>
            <a:r>
              <a:rPr lang="en-US" sz="1700" dirty="0" err="1"/>
              <a:t>kỹ</a:t>
            </a:r>
            <a:r>
              <a:rPr lang="en-US" sz="1700" dirty="0"/>
              <a:t> </a:t>
            </a:r>
            <a:r>
              <a:rPr lang="en-US" sz="1700" dirty="0" err="1"/>
              <a:t>thuật</a:t>
            </a:r>
            <a:r>
              <a:rPr lang="en-US" sz="1700" dirty="0"/>
              <a:t> test </a:t>
            </a:r>
            <a:r>
              <a:rPr lang="en-US" sz="1700" dirty="0" err="1"/>
              <a:t>sử</a:t>
            </a:r>
            <a:r>
              <a:rPr lang="en-US" sz="1700" dirty="0"/>
              <a:t> </a:t>
            </a:r>
            <a:r>
              <a:rPr lang="en-US" sz="1700" dirty="0" err="1"/>
              <a:t>dụng</a:t>
            </a:r>
            <a:r>
              <a:rPr lang="en-US" sz="1700" dirty="0"/>
              <a:t> </a:t>
            </a:r>
            <a:r>
              <a:rPr lang="en-US" sz="1700" dirty="0" err="1"/>
              <a:t>để</a:t>
            </a:r>
            <a:r>
              <a:rPr lang="en-US" sz="1700" dirty="0"/>
              <a:t> </a:t>
            </a:r>
            <a:r>
              <a:rPr lang="en-US" sz="1700" dirty="0" err="1"/>
              <a:t>kiểm</a:t>
            </a:r>
            <a:r>
              <a:rPr lang="en-US" sz="1700" dirty="0"/>
              <a:t> </a:t>
            </a:r>
            <a:r>
              <a:rPr lang="en-US" sz="1700" dirty="0" err="1"/>
              <a:t>tra</a:t>
            </a:r>
            <a:r>
              <a:rPr lang="en-US" sz="1700" dirty="0"/>
              <a:t> </a:t>
            </a:r>
            <a:r>
              <a:rPr lang="en-US" sz="1700" dirty="0" err="1"/>
              <a:t>các</a:t>
            </a:r>
            <a:r>
              <a:rPr lang="en-US" sz="1700" dirty="0"/>
              <a:t> </a:t>
            </a:r>
            <a:r>
              <a:rPr lang="en-US" sz="1700" dirty="0" err="1"/>
              <a:t>hoạt</a:t>
            </a:r>
            <a:r>
              <a:rPr lang="en-US" sz="1700" dirty="0"/>
              <a:t> </a:t>
            </a:r>
            <a:r>
              <a:rPr lang="en-US" sz="1700" dirty="0" err="1"/>
              <a:t>động</a:t>
            </a:r>
            <a:r>
              <a:rPr lang="en-US" sz="1700" dirty="0"/>
              <a:t> </a:t>
            </a:r>
            <a:r>
              <a:rPr lang="en-US" sz="1700" dirty="0" err="1"/>
              <a:t>của</a:t>
            </a:r>
            <a:r>
              <a:rPr lang="en-US" sz="1700" dirty="0"/>
              <a:t> </a:t>
            </a:r>
            <a:r>
              <a:rPr lang="en-US" sz="1700" dirty="0" err="1"/>
              <a:t>hệ</a:t>
            </a:r>
            <a:r>
              <a:rPr lang="en-US" sz="1700" dirty="0"/>
              <a:t> </a:t>
            </a:r>
            <a:r>
              <a:rPr lang="en-US" sz="1700" dirty="0" err="1"/>
              <a:t>thống</a:t>
            </a:r>
            <a:r>
              <a:rPr lang="en-US" sz="1700" dirty="0"/>
              <a:t> </a:t>
            </a:r>
            <a:r>
              <a:rPr lang="en-US" sz="1700" dirty="0" err="1"/>
              <a:t>bằng</a:t>
            </a:r>
            <a:r>
              <a:rPr lang="en-US" sz="1700" dirty="0"/>
              <a:t> </a:t>
            </a:r>
            <a:r>
              <a:rPr lang="en-US" sz="1700" dirty="0" err="1"/>
              <a:t>cách</a:t>
            </a:r>
            <a:r>
              <a:rPr lang="en-US" sz="1700" dirty="0"/>
              <a:t> </a:t>
            </a:r>
            <a:r>
              <a:rPr lang="en-US" sz="1700" dirty="0" err="1"/>
              <a:t>kết</a:t>
            </a:r>
            <a:r>
              <a:rPr lang="en-US" sz="1700" dirty="0"/>
              <a:t> </a:t>
            </a:r>
            <a:r>
              <a:rPr lang="en-US" sz="1700" dirty="0" err="1"/>
              <a:t>hợp</a:t>
            </a:r>
            <a:r>
              <a:rPr lang="en-US" sz="1700" dirty="0"/>
              <a:t> </a:t>
            </a:r>
            <a:r>
              <a:rPr lang="en-US" sz="1700" dirty="0" err="1"/>
              <a:t>các</a:t>
            </a:r>
            <a:r>
              <a:rPr lang="en-US" sz="1700" dirty="0"/>
              <a:t> input </a:t>
            </a:r>
            <a:r>
              <a:rPr lang="en-US" sz="1700" dirty="0" err="1"/>
              <a:t>đầu</a:t>
            </a:r>
            <a:r>
              <a:rPr lang="en-US" sz="1700" dirty="0"/>
              <a:t> </a:t>
            </a:r>
            <a:r>
              <a:rPr lang="en-US" sz="1700" dirty="0" err="1"/>
              <a:t>vào</a:t>
            </a:r>
            <a:r>
              <a:rPr lang="en-US" sz="1700" dirty="0"/>
              <a:t> </a:t>
            </a:r>
            <a:r>
              <a:rPr lang="en-US" sz="1700" dirty="0" err="1"/>
              <a:t>khác</a:t>
            </a:r>
            <a:r>
              <a:rPr lang="en-US" sz="1700" dirty="0"/>
              <a:t> </a:t>
            </a:r>
            <a:r>
              <a:rPr lang="en-US" sz="1700" dirty="0" err="1"/>
              <a:t>nhau</a:t>
            </a:r>
            <a:r>
              <a:rPr lang="en-US" sz="1700" dirty="0"/>
              <a:t> </a:t>
            </a:r>
            <a:r>
              <a:rPr lang="en-US" sz="1700" dirty="0" err="1"/>
              <a:t>để</a:t>
            </a:r>
            <a:r>
              <a:rPr lang="en-US" sz="1700" dirty="0"/>
              <a:t> </a:t>
            </a:r>
            <a:r>
              <a:rPr lang="en-US" sz="1700" dirty="0" err="1"/>
              <a:t>đưa</a:t>
            </a:r>
            <a:r>
              <a:rPr lang="en-US" sz="1700" dirty="0"/>
              <a:t> </a:t>
            </a:r>
            <a:r>
              <a:rPr lang="en-US" sz="1700" dirty="0" err="1"/>
              <a:t>ra</a:t>
            </a:r>
            <a:r>
              <a:rPr lang="en-US" sz="1700" dirty="0"/>
              <a:t> </a:t>
            </a:r>
            <a:r>
              <a:rPr lang="en-US" sz="1700" dirty="0" err="1"/>
              <a:t>các</a:t>
            </a:r>
            <a:r>
              <a:rPr lang="en-US" sz="1700" dirty="0"/>
              <a:t> </a:t>
            </a:r>
            <a:r>
              <a:rPr lang="en-US" sz="1700" dirty="0" err="1"/>
              <a:t>kết</a:t>
            </a:r>
            <a:r>
              <a:rPr lang="en-US" sz="1700" dirty="0"/>
              <a:t> </a:t>
            </a:r>
            <a:r>
              <a:rPr lang="en-US" sz="1700" dirty="0" err="1"/>
              <a:t>quả</a:t>
            </a:r>
            <a:r>
              <a:rPr lang="en-US" sz="1700" dirty="0"/>
              <a:t> </a:t>
            </a:r>
            <a:r>
              <a:rPr lang="en-US" sz="1700" dirty="0" err="1"/>
              <a:t>tương</a:t>
            </a:r>
            <a:r>
              <a:rPr lang="en-US" sz="1700" dirty="0"/>
              <a:t> </a:t>
            </a:r>
            <a:r>
              <a:rPr lang="en-US" sz="1700" dirty="0" err="1"/>
              <a:t>ứng</a:t>
            </a:r>
            <a:r>
              <a:rPr lang="en-US" sz="1700" dirty="0"/>
              <a:t>. </a:t>
            </a:r>
            <a:r>
              <a:rPr lang="en-US" altLang="vi-VN" sz="1700" dirty="0" err="1"/>
              <a:t>Các</a:t>
            </a:r>
            <a:r>
              <a:rPr lang="en-US" altLang="vi-VN" sz="1700" dirty="0"/>
              <a:t> </a:t>
            </a:r>
            <a:r>
              <a:rPr lang="en-US" altLang="vi-VN" sz="1700" dirty="0" err="1"/>
              <a:t>cách</a:t>
            </a:r>
            <a:r>
              <a:rPr lang="en-US" altLang="vi-VN" sz="1700" dirty="0"/>
              <a:t> </a:t>
            </a:r>
            <a:r>
              <a:rPr lang="en-US" altLang="vi-VN" sz="1700" dirty="0" err="1"/>
              <a:t>kết</a:t>
            </a:r>
            <a:r>
              <a:rPr lang="en-US" altLang="vi-VN" sz="1700" dirty="0"/>
              <a:t> </a:t>
            </a:r>
            <a:r>
              <a:rPr lang="en-US" altLang="vi-VN" sz="1700" dirty="0" err="1"/>
              <a:t>hợp</a:t>
            </a:r>
            <a:r>
              <a:rPr lang="en-US" altLang="vi-VN" sz="1700" dirty="0"/>
              <a:t> </a:t>
            </a:r>
            <a:r>
              <a:rPr lang="en-US" altLang="vi-VN" sz="1700" dirty="0" err="1"/>
              <a:t>đó</a:t>
            </a:r>
            <a:r>
              <a:rPr lang="en-US" altLang="vi-VN" sz="1700" dirty="0"/>
              <a:t> </a:t>
            </a:r>
            <a:r>
              <a:rPr lang="en-US" altLang="vi-VN" sz="1700" dirty="0" err="1"/>
              <a:t>được</a:t>
            </a:r>
            <a:r>
              <a:rPr lang="en-US" altLang="vi-VN" sz="1700" dirty="0"/>
              <a:t> </a:t>
            </a:r>
            <a:r>
              <a:rPr lang="en-US" altLang="vi-VN" sz="1700" dirty="0" err="1"/>
              <a:t>ghi</a:t>
            </a:r>
            <a:r>
              <a:rPr lang="en-US" altLang="vi-VN" sz="1700" dirty="0"/>
              <a:t> </a:t>
            </a:r>
            <a:r>
              <a:rPr lang="en-US" altLang="vi-VN" sz="1700" dirty="0" err="1"/>
              <a:t>dưới</a:t>
            </a:r>
            <a:r>
              <a:rPr lang="en-US" altLang="vi-VN" sz="1700" dirty="0"/>
              <a:t> </a:t>
            </a:r>
            <a:r>
              <a:rPr lang="en-US" altLang="vi-VN" sz="1700" dirty="0" err="1"/>
              <a:t>dạng</a:t>
            </a:r>
            <a:r>
              <a:rPr lang="en-US" altLang="vi-VN" sz="1700" dirty="0"/>
              <a:t> </a:t>
            </a:r>
            <a:r>
              <a:rPr lang="en-US" altLang="vi-VN" sz="1700" dirty="0" err="1"/>
              <a:t>bảng</a:t>
            </a:r>
            <a:r>
              <a:rPr lang="en-US" altLang="vi-VN" sz="1700" dirty="0"/>
              <a:t>.</a:t>
            </a:r>
            <a:endParaRPr lang="vi-VN" sz="1700" dirty="0"/>
          </a:p>
          <a:p>
            <a:pPr>
              <a:buFont typeface="Wingdings" panose="05000000000000000000" pitchFamily="2" charset="2"/>
              <a:buChar char="v"/>
            </a:pPr>
            <a:r>
              <a:rPr lang="vi-VN" sz="1700" dirty="0"/>
              <a:t>Ưu, Nhược điểm:</a:t>
            </a:r>
          </a:p>
          <a:p>
            <a:pPr lvl="1">
              <a:buFont typeface="Wingdings" panose="05000000000000000000" pitchFamily="2" charset="2"/>
              <a:buChar char="ü"/>
            </a:pPr>
            <a:r>
              <a:rPr lang="vi-VN" sz="1700" dirty="0"/>
              <a:t>Ưu điểm</a:t>
            </a:r>
            <a:r>
              <a:rPr lang="en-US" sz="1700" dirty="0"/>
              <a:t>:</a:t>
            </a:r>
            <a:r>
              <a:rPr lang="vi-VN" sz="1700" dirty="0"/>
              <a:t> </a:t>
            </a:r>
            <a:r>
              <a:rPr lang="en-US" sz="1700" dirty="0"/>
              <a:t>G</a:t>
            </a:r>
            <a:r>
              <a:rPr lang="vi-VN" sz="1700" dirty="0"/>
              <a:t>iúp phát hiện</a:t>
            </a:r>
            <a:r>
              <a:rPr lang="en-US" sz="1700" dirty="0"/>
              <a:t> case test </a:t>
            </a:r>
            <a:r>
              <a:rPr lang="en-US" sz="1700" dirty="0" err="1"/>
              <a:t>dễ</a:t>
            </a:r>
            <a:r>
              <a:rPr lang="en-US" sz="1700" dirty="0"/>
              <a:t> </a:t>
            </a:r>
            <a:r>
              <a:rPr lang="en-US" sz="1700" dirty="0" err="1"/>
              <a:t>bị</a:t>
            </a:r>
            <a:r>
              <a:rPr lang="en-US" sz="1700" dirty="0"/>
              <a:t> </a:t>
            </a:r>
            <a:r>
              <a:rPr lang="en-US" sz="1700" dirty="0" err="1"/>
              <a:t>thiếu</a:t>
            </a:r>
            <a:r>
              <a:rPr lang="en-US" sz="1700" dirty="0"/>
              <a:t> </a:t>
            </a:r>
            <a:r>
              <a:rPr lang="en-US" sz="1700" dirty="0" err="1"/>
              <a:t>và</a:t>
            </a:r>
            <a:r>
              <a:rPr lang="en-US" sz="1700" dirty="0"/>
              <a:t> </a:t>
            </a:r>
            <a:r>
              <a:rPr lang="en-US" sz="1700" dirty="0" err="1"/>
              <a:t>dễ</a:t>
            </a:r>
            <a:r>
              <a:rPr lang="en-US" sz="1700" dirty="0"/>
              <a:t> </a:t>
            </a:r>
            <a:r>
              <a:rPr lang="en-US" sz="1700" dirty="0" err="1"/>
              <a:t>kiểm</a:t>
            </a:r>
            <a:r>
              <a:rPr lang="en-US" sz="1700" dirty="0"/>
              <a:t> </a:t>
            </a:r>
            <a:r>
              <a:rPr lang="en-US" sz="1700" dirty="0" err="1"/>
              <a:t>tra</a:t>
            </a:r>
            <a:r>
              <a:rPr lang="en-US" sz="1700" dirty="0"/>
              <a:t> </a:t>
            </a:r>
            <a:r>
              <a:rPr lang="en-US" sz="1700" dirty="0" err="1"/>
              <a:t>thiếu</a:t>
            </a:r>
            <a:r>
              <a:rPr lang="en-US" sz="1700" dirty="0"/>
              <a:t> </a:t>
            </a:r>
            <a:r>
              <a:rPr lang="en-US" sz="1700" dirty="0" err="1"/>
              <a:t>đủ</a:t>
            </a:r>
            <a:r>
              <a:rPr lang="en-US" sz="1700" dirty="0"/>
              <a:t> logic </a:t>
            </a:r>
            <a:r>
              <a:rPr lang="en-US" sz="1700" dirty="0" err="1"/>
              <a:t>của</a:t>
            </a:r>
            <a:r>
              <a:rPr lang="en-US" sz="1700" dirty="0"/>
              <a:t> </a:t>
            </a:r>
            <a:r>
              <a:rPr lang="en-US" sz="1700" dirty="0" err="1"/>
              <a:t>hệ</a:t>
            </a:r>
            <a:r>
              <a:rPr lang="en-US" sz="1700" dirty="0"/>
              <a:t> </a:t>
            </a:r>
            <a:r>
              <a:rPr lang="en-US" sz="1700" dirty="0" err="1"/>
              <a:t>thống</a:t>
            </a:r>
            <a:r>
              <a:rPr lang="en-US" sz="1700" dirty="0"/>
              <a:t>.</a:t>
            </a:r>
            <a:endParaRPr lang="vi-VN" sz="1700" dirty="0"/>
          </a:p>
          <a:p>
            <a:pPr lvl="1">
              <a:buFont typeface="Wingdings" panose="05000000000000000000" pitchFamily="2" charset="2"/>
              <a:buChar char="ü"/>
            </a:pPr>
            <a:r>
              <a:rPr lang="vi-VN" sz="1700" dirty="0"/>
              <a:t>Nhược điểm</a:t>
            </a:r>
            <a:r>
              <a:rPr lang="en-US" sz="1700" dirty="0"/>
              <a:t>: </a:t>
            </a:r>
            <a:r>
              <a:rPr lang="en-US" sz="1700" dirty="0" err="1"/>
              <a:t>Khi</a:t>
            </a:r>
            <a:r>
              <a:rPr lang="en-US" sz="1700" dirty="0"/>
              <a:t> </a:t>
            </a:r>
            <a:r>
              <a:rPr lang="en-US" sz="1700" dirty="0" err="1"/>
              <a:t>số</a:t>
            </a:r>
            <a:r>
              <a:rPr lang="en-US" sz="1700" dirty="0"/>
              <a:t> </a:t>
            </a:r>
            <a:r>
              <a:rPr lang="en-US" sz="1700" dirty="0" err="1"/>
              <a:t>lượng</a:t>
            </a:r>
            <a:r>
              <a:rPr lang="en-US" sz="1700" dirty="0"/>
              <a:t> input </a:t>
            </a:r>
            <a:r>
              <a:rPr lang="en-US" sz="1700" dirty="0" err="1"/>
              <a:t>tăng</a:t>
            </a:r>
            <a:r>
              <a:rPr lang="en-US" sz="1700" dirty="0"/>
              <a:t> </a:t>
            </a:r>
            <a:r>
              <a:rPr lang="en-US" sz="1700" dirty="0" err="1"/>
              <a:t>thì</a:t>
            </a:r>
            <a:r>
              <a:rPr lang="en-US" sz="1700" dirty="0"/>
              <a:t> </a:t>
            </a:r>
            <a:r>
              <a:rPr lang="en-US" sz="1700" dirty="0" err="1"/>
              <a:t>tính</a:t>
            </a:r>
            <a:r>
              <a:rPr lang="en-US" sz="1700" dirty="0"/>
              <a:t> </a:t>
            </a:r>
            <a:r>
              <a:rPr lang="en-US" sz="1700" dirty="0" err="1"/>
              <a:t>phức</a:t>
            </a:r>
            <a:r>
              <a:rPr lang="en-US" sz="1700" dirty="0"/>
              <a:t> </a:t>
            </a:r>
            <a:r>
              <a:rPr lang="en-US" sz="1700" dirty="0" err="1"/>
              <a:t>tạp</a:t>
            </a:r>
            <a:r>
              <a:rPr lang="en-US" sz="1700" dirty="0"/>
              <a:t> </a:t>
            </a:r>
            <a:r>
              <a:rPr lang="en-US" sz="1700" dirty="0" err="1"/>
              <a:t>của</a:t>
            </a:r>
            <a:r>
              <a:rPr lang="en-US" sz="1700" dirty="0"/>
              <a:t> </a:t>
            </a:r>
            <a:r>
              <a:rPr lang="en-US" sz="1700" dirty="0" err="1"/>
              <a:t>bảng</a:t>
            </a:r>
            <a:r>
              <a:rPr lang="en-US" sz="1700" dirty="0"/>
              <a:t> </a:t>
            </a:r>
            <a:r>
              <a:rPr lang="en-US" sz="1700" dirty="0" err="1"/>
              <a:t>cũng</a:t>
            </a:r>
            <a:r>
              <a:rPr lang="en-US" sz="1700" dirty="0"/>
              <a:t> </a:t>
            </a:r>
            <a:r>
              <a:rPr lang="en-US" sz="1700" dirty="0" err="1"/>
              <a:t>tăng</a:t>
            </a:r>
            <a:r>
              <a:rPr lang="en-US" sz="1700" dirty="0"/>
              <a:t>.</a:t>
            </a:r>
          </a:p>
          <a:p>
            <a:pPr>
              <a:buFont typeface="Wingdings" panose="05000000000000000000" pitchFamily="2" charset="2"/>
              <a:buChar char="v"/>
            </a:pPr>
            <a:r>
              <a:rPr lang="vi-VN" sz="1700" dirty="0"/>
              <a:t>Thiết kế Test</a:t>
            </a:r>
            <a:r>
              <a:rPr lang="en-US" sz="1700" dirty="0"/>
              <a:t> </a:t>
            </a:r>
            <a:r>
              <a:rPr lang="vi-VN" sz="1700" dirty="0"/>
              <a:t>case</a:t>
            </a:r>
            <a:r>
              <a:rPr lang="en-US" altLang="vi-VN" sz="1700" dirty="0"/>
              <a:t>s</a:t>
            </a:r>
            <a:r>
              <a:rPr lang="vi-VN" sz="1700" dirty="0"/>
              <a:t> bằng bảng quyết định tiến hành theo 4 bước:</a:t>
            </a:r>
            <a:endParaRPr lang="en-US" sz="1700" dirty="0"/>
          </a:p>
          <a:p>
            <a:pPr lvl="1">
              <a:buFont typeface="Wingdings" panose="05000000000000000000" pitchFamily="2" charset="2"/>
              <a:buChar char="ü"/>
            </a:pPr>
            <a:r>
              <a:rPr lang="vi-VN" sz="1700" dirty="0"/>
              <a:t>Xác định tập </a:t>
            </a:r>
            <a:r>
              <a:rPr lang="en-US" sz="1700" dirty="0"/>
              <a:t>input và </a:t>
            </a:r>
            <a:r>
              <a:rPr lang="en-US" sz="1700" dirty="0" err="1"/>
              <a:t>kết</a:t>
            </a:r>
            <a:r>
              <a:rPr lang="en-US" sz="1700" dirty="0"/>
              <a:t> </a:t>
            </a:r>
            <a:r>
              <a:rPr lang="en-US" sz="1700" dirty="0" err="1"/>
              <a:t>quả</a:t>
            </a:r>
            <a:r>
              <a:rPr lang="en-US" sz="1700" dirty="0"/>
              <a:t>.</a:t>
            </a:r>
          </a:p>
          <a:p>
            <a:pPr lvl="1">
              <a:buFont typeface="Wingdings" panose="05000000000000000000" pitchFamily="2" charset="2"/>
              <a:buChar char="ü"/>
            </a:pPr>
            <a:r>
              <a:rPr lang="en-US" sz="1700" dirty="0" err="1"/>
              <a:t>Lập</a:t>
            </a:r>
            <a:r>
              <a:rPr lang="en-US" sz="1700" dirty="0"/>
              <a:t> </a:t>
            </a:r>
            <a:r>
              <a:rPr lang="en-US" sz="1700" dirty="0" err="1"/>
              <a:t>bảng</a:t>
            </a:r>
            <a:r>
              <a:rPr lang="en-US" sz="1700" dirty="0"/>
              <a:t> </a:t>
            </a:r>
            <a:r>
              <a:rPr lang="en-US" sz="1700" dirty="0" err="1"/>
              <a:t>quyết</a:t>
            </a:r>
            <a:r>
              <a:rPr lang="en-US" sz="1700" dirty="0"/>
              <a:t> </a:t>
            </a:r>
            <a:r>
              <a:rPr lang="en-US" sz="1700" dirty="0" err="1"/>
              <a:t>định</a:t>
            </a:r>
            <a:r>
              <a:rPr lang="en-US" sz="1700" dirty="0"/>
              <a:t> </a:t>
            </a:r>
            <a:r>
              <a:rPr lang="en-US" sz="1700" dirty="0" err="1"/>
              <a:t>từ</a:t>
            </a:r>
            <a:r>
              <a:rPr lang="en-US" sz="1700" dirty="0"/>
              <a:t> </a:t>
            </a:r>
            <a:r>
              <a:rPr lang="en-US" sz="1700" dirty="0" err="1"/>
              <a:t>việc</a:t>
            </a:r>
            <a:r>
              <a:rPr lang="en-US" sz="1700" dirty="0"/>
              <a:t> </a:t>
            </a:r>
            <a:r>
              <a:rPr lang="en-US" sz="1700" dirty="0" err="1"/>
              <a:t>kết</a:t>
            </a:r>
            <a:r>
              <a:rPr lang="en-US" sz="1700" dirty="0"/>
              <a:t> </a:t>
            </a:r>
            <a:r>
              <a:rPr lang="en-US" sz="1700" dirty="0" err="1"/>
              <a:t>hợp</a:t>
            </a:r>
            <a:r>
              <a:rPr lang="en-US" sz="1700" dirty="0"/>
              <a:t> </a:t>
            </a:r>
            <a:r>
              <a:rPr lang="en-US" sz="1700" dirty="0" err="1"/>
              <a:t>các</a:t>
            </a:r>
            <a:r>
              <a:rPr lang="en-US" sz="1700" dirty="0"/>
              <a:t> input </a:t>
            </a:r>
            <a:r>
              <a:rPr lang="en-US" sz="1700" dirty="0" err="1"/>
              <a:t>và</a:t>
            </a:r>
            <a:r>
              <a:rPr lang="en-US" sz="1700" dirty="0"/>
              <a:t> </a:t>
            </a:r>
            <a:r>
              <a:rPr lang="en-US" sz="1700" dirty="0" err="1"/>
              <a:t>kết</a:t>
            </a:r>
            <a:r>
              <a:rPr lang="en-US" sz="1700" dirty="0"/>
              <a:t> </a:t>
            </a:r>
            <a:r>
              <a:rPr lang="en-US" sz="1700" dirty="0" err="1"/>
              <a:t>quả</a:t>
            </a:r>
            <a:r>
              <a:rPr lang="en-US" sz="1700" dirty="0"/>
              <a:t> </a:t>
            </a:r>
            <a:r>
              <a:rPr lang="en-US" sz="1700" dirty="0" err="1"/>
              <a:t>tương</a:t>
            </a:r>
            <a:r>
              <a:rPr lang="en-US" sz="1700" dirty="0"/>
              <a:t> </a:t>
            </a:r>
            <a:r>
              <a:rPr lang="en-US" sz="1700" dirty="0" err="1"/>
              <a:t>ứng</a:t>
            </a:r>
            <a:r>
              <a:rPr lang="en-US" sz="1700" dirty="0"/>
              <a:t>.</a:t>
            </a:r>
          </a:p>
          <a:p>
            <a:pPr lvl="1">
              <a:buFont typeface="Wingdings" panose="05000000000000000000" pitchFamily="2" charset="2"/>
              <a:buChar char="ü"/>
            </a:pPr>
            <a:r>
              <a:rPr lang="en-US" sz="1700" dirty="0" err="1"/>
              <a:t>Rút</a:t>
            </a:r>
            <a:r>
              <a:rPr lang="en-US" sz="1700" dirty="0"/>
              <a:t> </a:t>
            </a:r>
            <a:r>
              <a:rPr lang="en-US" sz="1700" dirty="0" err="1"/>
              <a:t>gọn</a:t>
            </a:r>
            <a:r>
              <a:rPr lang="en-US" sz="1700" dirty="0"/>
              <a:t> </a:t>
            </a:r>
            <a:r>
              <a:rPr lang="en-US" sz="1700" dirty="0" err="1"/>
              <a:t>bảng</a:t>
            </a:r>
            <a:r>
              <a:rPr lang="en-US" sz="1700" dirty="0"/>
              <a:t> </a:t>
            </a:r>
            <a:r>
              <a:rPr lang="en-US" sz="1700" dirty="0" err="1"/>
              <a:t>quyết</a:t>
            </a:r>
            <a:r>
              <a:rPr lang="en-US" sz="1700" dirty="0"/>
              <a:t> </a:t>
            </a:r>
            <a:r>
              <a:rPr lang="en-US" sz="1700" dirty="0" err="1"/>
              <a:t>định</a:t>
            </a:r>
            <a:r>
              <a:rPr lang="en-US" sz="1700" dirty="0"/>
              <a:t>.</a:t>
            </a:r>
          </a:p>
          <a:p>
            <a:pPr lvl="1">
              <a:buFont typeface="Wingdings" panose="05000000000000000000" pitchFamily="2" charset="2"/>
              <a:buChar char="ü"/>
            </a:pPr>
            <a:r>
              <a:rPr lang="en-US" sz="1700" dirty="0" err="1"/>
              <a:t>Chuyển</a:t>
            </a:r>
            <a:r>
              <a:rPr lang="en-US" sz="1700" dirty="0"/>
              <a:t> </a:t>
            </a:r>
            <a:r>
              <a:rPr lang="en-US" sz="1700" dirty="0" err="1"/>
              <a:t>mỗi</a:t>
            </a:r>
            <a:r>
              <a:rPr lang="en-US" sz="1700" dirty="0"/>
              <a:t> </a:t>
            </a:r>
            <a:r>
              <a:rPr lang="en-US" sz="1700" dirty="0" err="1"/>
              <a:t>cột</a:t>
            </a:r>
            <a:r>
              <a:rPr lang="en-US" sz="1700" dirty="0"/>
              <a:t> </a:t>
            </a:r>
            <a:r>
              <a:rPr lang="en-US" sz="1700" dirty="0" err="1"/>
              <a:t>trong</a:t>
            </a:r>
            <a:r>
              <a:rPr lang="en-US" sz="1700" dirty="0"/>
              <a:t> </a:t>
            </a:r>
            <a:r>
              <a:rPr lang="en-US" sz="1700" dirty="0" err="1"/>
              <a:t>bảng</a:t>
            </a:r>
            <a:r>
              <a:rPr lang="en-US" sz="1700" dirty="0"/>
              <a:t> </a:t>
            </a:r>
            <a:r>
              <a:rPr lang="en-US" sz="1700" dirty="0" err="1"/>
              <a:t>quyết</a:t>
            </a:r>
            <a:r>
              <a:rPr lang="en-US" sz="1700" dirty="0"/>
              <a:t> </a:t>
            </a:r>
            <a:r>
              <a:rPr lang="en-US" sz="1700" dirty="0" err="1"/>
              <a:t>định</a:t>
            </a:r>
            <a:r>
              <a:rPr lang="en-US" sz="1700" dirty="0"/>
              <a:t> </a:t>
            </a:r>
            <a:r>
              <a:rPr lang="en-US" sz="1700" dirty="0" err="1"/>
              <a:t>thành</a:t>
            </a:r>
            <a:r>
              <a:rPr lang="en-US" sz="1700" dirty="0"/>
              <a:t> 1 test case.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7315200" cy="799306"/>
          </a:xfrm>
        </p:spPr>
        <p:txBody>
          <a:bodyPr/>
          <a:lstStyle/>
          <a:p>
            <a:r>
              <a:rPr lang="en-US" dirty="0"/>
              <a:t>3.3. </a:t>
            </a:r>
            <a:r>
              <a:rPr lang="vi-VN" dirty="0"/>
              <a:t>Bảng quyết định</a:t>
            </a:r>
            <a:endParaRPr lang="en-US" dirty="0"/>
          </a:p>
        </p:txBody>
      </p:sp>
      <p:sp>
        <p:nvSpPr>
          <p:cNvPr id="3" name="Content Placeholder 2"/>
          <p:cNvSpPr>
            <a:spLocks noGrp="1"/>
          </p:cNvSpPr>
          <p:nvPr>
            <p:ph idx="1"/>
          </p:nvPr>
        </p:nvSpPr>
        <p:spPr>
          <a:xfrm>
            <a:off x="95250" y="897064"/>
            <a:ext cx="8305800" cy="5579936"/>
          </a:xfrm>
        </p:spPr>
        <p:txBody>
          <a:bodyPr>
            <a:noAutofit/>
          </a:bodyPr>
          <a:lstStyle/>
          <a:p>
            <a:pPr>
              <a:buFont typeface="Wingdings" panose="05000000000000000000" pitchFamily="2" charset="2"/>
              <a:buChar char="v"/>
            </a:pPr>
            <a:r>
              <a:rPr lang="en-US" sz="1900" dirty="0" err="1"/>
              <a:t>Ví</a:t>
            </a:r>
            <a:r>
              <a:rPr lang="en-US" sz="1900" dirty="0"/>
              <a:t> </a:t>
            </a:r>
            <a:r>
              <a:rPr lang="en-US" sz="1900" dirty="0" err="1"/>
              <a:t>dụ</a:t>
            </a:r>
            <a:r>
              <a:rPr lang="en-US" sz="1900" dirty="0"/>
              <a:t>: </a:t>
            </a:r>
            <a:r>
              <a:rPr lang="en-US" sz="1900" dirty="0" err="1"/>
              <a:t>Cửa</a:t>
            </a:r>
            <a:r>
              <a:rPr lang="en-US" sz="1900" dirty="0"/>
              <a:t> </a:t>
            </a:r>
            <a:r>
              <a:rPr lang="en-US" sz="1900" dirty="0" err="1"/>
              <a:t>hàng</a:t>
            </a:r>
            <a:r>
              <a:rPr lang="en-US" sz="1900" dirty="0"/>
              <a:t> A </a:t>
            </a:r>
            <a:r>
              <a:rPr lang="en-US" sz="1900" dirty="0" err="1"/>
              <a:t>có</a:t>
            </a:r>
            <a:r>
              <a:rPr lang="en-US" sz="1900" dirty="0"/>
              <a:t> </a:t>
            </a:r>
            <a:r>
              <a:rPr lang="en-US" sz="1900" dirty="0" err="1"/>
              <a:t>chính</a:t>
            </a:r>
            <a:r>
              <a:rPr lang="en-US" sz="1900" dirty="0"/>
              <a:t> </a:t>
            </a:r>
            <a:r>
              <a:rPr lang="en-US" sz="1900" dirty="0" err="1"/>
              <a:t>sách</a:t>
            </a:r>
            <a:r>
              <a:rPr lang="en-US" sz="1900" dirty="0"/>
              <a:t> </a:t>
            </a:r>
            <a:r>
              <a:rPr lang="en-US" sz="1900" dirty="0" err="1"/>
              <a:t>như</a:t>
            </a:r>
            <a:r>
              <a:rPr lang="en-US" sz="1900" dirty="0"/>
              <a:t> </a:t>
            </a:r>
            <a:r>
              <a:rPr lang="en-US" sz="1900" dirty="0" err="1"/>
              <a:t>sau</a:t>
            </a:r>
            <a:r>
              <a:rPr lang="en-US" sz="1900" dirty="0"/>
              <a:t>:</a:t>
            </a:r>
          </a:p>
          <a:p>
            <a:pPr lvl="1">
              <a:buFont typeface="Wingdings" panose="05000000000000000000" pitchFamily="2" charset="2"/>
              <a:buChar char="v"/>
            </a:pPr>
            <a:r>
              <a:rPr lang="en-US" sz="1900" dirty="0" err="1"/>
              <a:t>Khách</a:t>
            </a:r>
            <a:r>
              <a:rPr lang="en-US" sz="1900" dirty="0"/>
              <a:t> </a:t>
            </a:r>
            <a:r>
              <a:rPr lang="en-US" sz="1900" dirty="0" err="1"/>
              <a:t>hàng</a:t>
            </a:r>
            <a:r>
              <a:rPr lang="en-US" sz="1900" dirty="0"/>
              <a:t> </a:t>
            </a:r>
            <a:r>
              <a:rPr lang="en-US" sz="1900" dirty="0" err="1"/>
              <a:t>mới</a:t>
            </a:r>
            <a:r>
              <a:rPr lang="en-US" sz="1900" dirty="0"/>
              <a:t> </a:t>
            </a:r>
            <a:r>
              <a:rPr lang="en-US" sz="1900" dirty="0" err="1"/>
              <a:t>thì</a:t>
            </a:r>
            <a:r>
              <a:rPr lang="en-US" sz="1900" dirty="0"/>
              <a:t> </a:t>
            </a:r>
            <a:r>
              <a:rPr lang="en-US" sz="1900" dirty="0" err="1"/>
              <a:t>sẽ</a:t>
            </a:r>
            <a:r>
              <a:rPr lang="en-US" sz="1900" dirty="0"/>
              <a:t> </a:t>
            </a:r>
            <a:r>
              <a:rPr lang="en-US" sz="1900" dirty="0" err="1"/>
              <a:t>được</a:t>
            </a:r>
            <a:r>
              <a:rPr lang="en-US" sz="1900" dirty="0"/>
              <a:t> </a:t>
            </a:r>
            <a:r>
              <a:rPr lang="en-US" sz="1900" dirty="0" err="1"/>
              <a:t>chiết</a:t>
            </a:r>
            <a:r>
              <a:rPr lang="en-US" sz="1900" dirty="0"/>
              <a:t> </a:t>
            </a:r>
            <a:r>
              <a:rPr lang="en-US" sz="1900" dirty="0" err="1"/>
              <a:t>khấu</a:t>
            </a:r>
            <a:r>
              <a:rPr lang="en-US" sz="1900" dirty="0"/>
              <a:t> 15% (</a:t>
            </a:r>
            <a:r>
              <a:rPr lang="en-US" sz="1900" dirty="0" err="1"/>
              <a:t>Khách</a:t>
            </a:r>
            <a:r>
              <a:rPr lang="en-US" sz="1900" dirty="0"/>
              <a:t> </a:t>
            </a:r>
            <a:r>
              <a:rPr lang="en-US" sz="1900" dirty="0" err="1"/>
              <a:t>hàng</a:t>
            </a:r>
            <a:r>
              <a:rPr lang="en-US" sz="1900" dirty="0"/>
              <a:t> </a:t>
            </a:r>
            <a:r>
              <a:rPr lang="en-US" sz="1900" dirty="0" err="1"/>
              <a:t>mới</a:t>
            </a:r>
            <a:r>
              <a:rPr lang="en-US" sz="1900" dirty="0"/>
              <a:t> </a:t>
            </a:r>
            <a:r>
              <a:rPr lang="en-US" sz="1900" dirty="0" err="1"/>
              <a:t>ko</a:t>
            </a:r>
            <a:r>
              <a:rPr lang="en-US" sz="1900" dirty="0"/>
              <a:t> </a:t>
            </a:r>
            <a:r>
              <a:rPr lang="en-US" sz="1900" dirty="0" err="1"/>
              <a:t>thể</a:t>
            </a:r>
            <a:r>
              <a:rPr lang="en-US" sz="1900" dirty="0"/>
              <a:t> </a:t>
            </a:r>
            <a:r>
              <a:rPr lang="en-US" sz="1900" dirty="0" err="1"/>
              <a:t>có</a:t>
            </a:r>
            <a:r>
              <a:rPr lang="en-US" sz="1900" dirty="0"/>
              <a:t> coupon).</a:t>
            </a:r>
          </a:p>
          <a:p>
            <a:pPr lvl="1">
              <a:buFont typeface="Wingdings" panose="05000000000000000000" pitchFamily="2" charset="2"/>
              <a:buChar char="v"/>
            </a:pPr>
            <a:r>
              <a:rPr lang="en-US" sz="1900" dirty="0" err="1"/>
              <a:t>khách</a:t>
            </a:r>
            <a:r>
              <a:rPr lang="en-US" sz="1900" dirty="0"/>
              <a:t> </a:t>
            </a:r>
            <a:r>
              <a:rPr lang="en-US" sz="1900" dirty="0" err="1"/>
              <a:t>hàng</a:t>
            </a:r>
            <a:r>
              <a:rPr lang="en-US" sz="1900" dirty="0"/>
              <a:t> VIP </a:t>
            </a:r>
            <a:r>
              <a:rPr lang="en-US" sz="1900" dirty="0" err="1"/>
              <a:t>được</a:t>
            </a:r>
            <a:r>
              <a:rPr lang="en-US" sz="1900" dirty="0"/>
              <a:t> </a:t>
            </a:r>
            <a:r>
              <a:rPr lang="en-US" sz="1900" dirty="0" err="1"/>
              <a:t>chiết</a:t>
            </a:r>
            <a:r>
              <a:rPr lang="en-US" sz="1900" dirty="0"/>
              <a:t> </a:t>
            </a:r>
            <a:r>
              <a:rPr lang="en-US" sz="1900" dirty="0" err="1"/>
              <a:t>khấu</a:t>
            </a:r>
            <a:r>
              <a:rPr lang="en-US" sz="1900" dirty="0"/>
              <a:t> 10%.</a:t>
            </a:r>
          </a:p>
          <a:p>
            <a:pPr lvl="1">
              <a:buFont typeface="Wingdings" panose="05000000000000000000" pitchFamily="2" charset="2"/>
              <a:buChar char="v"/>
            </a:pPr>
            <a:r>
              <a:rPr lang="en-US" sz="1900" dirty="0" err="1"/>
              <a:t>khách</a:t>
            </a:r>
            <a:r>
              <a:rPr lang="en-US" sz="1900" dirty="0"/>
              <a:t> </a:t>
            </a:r>
            <a:r>
              <a:rPr lang="en-US" sz="1900" dirty="0" err="1"/>
              <a:t>hàng</a:t>
            </a:r>
            <a:r>
              <a:rPr lang="en-US" sz="1900" dirty="0"/>
              <a:t> </a:t>
            </a:r>
            <a:r>
              <a:rPr lang="en-US" sz="1900" dirty="0" err="1"/>
              <a:t>có</a:t>
            </a:r>
            <a:r>
              <a:rPr lang="en-US" sz="1900" dirty="0"/>
              <a:t> coupon </a:t>
            </a:r>
            <a:r>
              <a:rPr lang="en-US" sz="1900" dirty="0" err="1"/>
              <a:t>được</a:t>
            </a:r>
            <a:r>
              <a:rPr lang="en-US" sz="1900" dirty="0"/>
              <a:t> </a:t>
            </a:r>
            <a:r>
              <a:rPr lang="en-US" sz="1900" dirty="0" err="1"/>
              <a:t>chiết</a:t>
            </a:r>
            <a:r>
              <a:rPr lang="en-US" sz="1900" dirty="0"/>
              <a:t> </a:t>
            </a:r>
            <a:r>
              <a:rPr lang="en-US" sz="1900" dirty="0" err="1"/>
              <a:t>khấu</a:t>
            </a:r>
            <a:r>
              <a:rPr lang="en-US" sz="1900" dirty="0"/>
              <a:t> 20%.</a:t>
            </a:r>
          </a:p>
          <a:p>
            <a:pPr lvl="1">
              <a:buFont typeface="Wingdings" panose="05000000000000000000" pitchFamily="2" charset="2"/>
              <a:buChar char="v"/>
            </a:pPr>
            <a:r>
              <a:rPr lang="en-US" sz="1900" dirty="0" err="1"/>
              <a:t>Mỗi</a:t>
            </a:r>
            <a:r>
              <a:rPr lang="en-US" sz="1900" dirty="0"/>
              <a:t> </a:t>
            </a:r>
            <a:r>
              <a:rPr lang="en-US" sz="1900" dirty="0" err="1"/>
              <a:t>khách</a:t>
            </a:r>
            <a:r>
              <a:rPr lang="en-US" sz="1900" dirty="0"/>
              <a:t> </a:t>
            </a:r>
            <a:r>
              <a:rPr lang="en-US" sz="1900" dirty="0" err="1"/>
              <a:t>hàng</a:t>
            </a:r>
            <a:r>
              <a:rPr lang="en-US" sz="1900" dirty="0"/>
              <a:t> </a:t>
            </a:r>
            <a:r>
              <a:rPr lang="en-US" sz="1900" dirty="0" err="1"/>
              <a:t>tại</a:t>
            </a:r>
            <a:r>
              <a:rPr lang="en-US" sz="1900" dirty="0"/>
              <a:t> </a:t>
            </a:r>
            <a:r>
              <a:rPr lang="en-US" sz="1900" dirty="0" err="1"/>
              <a:t>một</a:t>
            </a:r>
            <a:r>
              <a:rPr lang="en-US" sz="1900" dirty="0"/>
              <a:t> </a:t>
            </a:r>
            <a:r>
              <a:rPr lang="en-US" sz="1900" dirty="0" err="1"/>
              <a:t>thời</a:t>
            </a:r>
            <a:r>
              <a:rPr lang="en-US" sz="1900" dirty="0"/>
              <a:t> </a:t>
            </a:r>
            <a:r>
              <a:rPr lang="en-US" sz="1900" dirty="0" err="1"/>
              <a:t>điểm</a:t>
            </a:r>
            <a:r>
              <a:rPr lang="en-US" sz="1900" dirty="0"/>
              <a:t> </a:t>
            </a:r>
            <a:r>
              <a:rPr lang="en-US" sz="1900" dirty="0" err="1"/>
              <a:t>chỉ</a:t>
            </a:r>
            <a:r>
              <a:rPr lang="en-US" sz="1900" dirty="0"/>
              <a:t> </a:t>
            </a:r>
            <a:r>
              <a:rPr lang="en-US" sz="1900" dirty="0" err="1"/>
              <a:t>được</a:t>
            </a:r>
            <a:r>
              <a:rPr lang="en-US" sz="1900" dirty="0"/>
              <a:t> </a:t>
            </a:r>
            <a:r>
              <a:rPr lang="en-US" sz="1900" dirty="0" err="1"/>
              <a:t>nhận</a:t>
            </a:r>
            <a:r>
              <a:rPr lang="en-US" sz="1900" dirty="0"/>
              <a:t> </a:t>
            </a:r>
            <a:r>
              <a:rPr lang="en-US" sz="1900" dirty="0" err="1"/>
              <a:t>chiết</a:t>
            </a:r>
            <a:r>
              <a:rPr lang="en-US" sz="1900" dirty="0"/>
              <a:t> </a:t>
            </a:r>
            <a:r>
              <a:rPr lang="en-US" sz="1900" dirty="0" err="1"/>
              <a:t>khấu</a:t>
            </a:r>
            <a:r>
              <a:rPr lang="en-US" sz="1900" dirty="0"/>
              <a:t> </a:t>
            </a:r>
            <a:r>
              <a:rPr lang="en-US" sz="1900" dirty="0" err="1"/>
              <a:t>cao</a:t>
            </a:r>
            <a:r>
              <a:rPr lang="en-US" sz="1900" dirty="0"/>
              <a:t> </a:t>
            </a:r>
            <a:r>
              <a:rPr lang="en-US" sz="1900" dirty="0" err="1"/>
              <a:t>nhất</a:t>
            </a:r>
            <a:r>
              <a:rPr lang="en-US" sz="1900" dirty="0"/>
              <a:t>.</a:t>
            </a:r>
          </a:p>
          <a:p>
            <a:pPr>
              <a:buFont typeface="Wingdings" panose="05000000000000000000" pitchFamily="2" charset="2"/>
              <a:buChar char="v"/>
            </a:pPr>
            <a:r>
              <a:rPr lang="en-US" sz="1900" dirty="0" err="1"/>
              <a:t>Dựa</a:t>
            </a:r>
            <a:r>
              <a:rPr lang="en-US" sz="1900" dirty="0"/>
              <a:t> </a:t>
            </a:r>
            <a:r>
              <a:rPr lang="en-US" sz="1900" dirty="0" err="1"/>
              <a:t>vào</a:t>
            </a:r>
            <a:r>
              <a:rPr lang="en-US" sz="1900" dirty="0"/>
              <a:t> require </a:t>
            </a:r>
            <a:r>
              <a:rPr lang="en-US" sz="1900" dirty="0" err="1"/>
              <a:t>trên</a:t>
            </a:r>
            <a:r>
              <a:rPr lang="en-US" sz="1900" dirty="0"/>
              <a:t> ta </a:t>
            </a:r>
            <a:r>
              <a:rPr lang="en-US" sz="1900" dirty="0" err="1"/>
              <a:t>xác</a:t>
            </a:r>
            <a:r>
              <a:rPr lang="en-US" sz="1900" dirty="0"/>
              <a:t> </a:t>
            </a:r>
            <a:r>
              <a:rPr lang="en-US" sz="1900" dirty="0" err="1"/>
              <a:t>định</a:t>
            </a:r>
            <a:r>
              <a:rPr lang="en-US" sz="1900" dirty="0"/>
              <a:t> </a:t>
            </a:r>
            <a:r>
              <a:rPr lang="en-US" sz="1900" dirty="0" err="1"/>
              <a:t>như</a:t>
            </a:r>
            <a:r>
              <a:rPr lang="en-US" sz="1900" dirty="0"/>
              <a:t> </a:t>
            </a:r>
            <a:r>
              <a:rPr lang="en-US" sz="1900" dirty="0" err="1"/>
              <a:t>sau</a:t>
            </a:r>
            <a:endParaRPr lang="en-US" sz="1900" dirty="0"/>
          </a:p>
          <a:p>
            <a:pPr lvl="1">
              <a:buFont typeface="Wingdings" panose="05000000000000000000" pitchFamily="2" charset="2"/>
              <a:buChar char="Ø"/>
            </a:pPr>
            <a:r>
              <a:rPr lang="en-US" sz="1900" dirty="0"/>
              <a:t>Input: </a:t>
            </a:r>
          </a:p>
          <a:p>
            <a:pPr lvl="2">
              <a:buFont typeface="Wingdings" panose="05000000000000000000" pitchFamily="2" charset="2"/>
              <a:buChar char="ü"/>
            </a:pPr>
            <a:r>
              <a:rPr lang="en-US" sz="1900" dirty="0"/>
              <a:t>C1: </a:t>
            </a:r>
            <a:r>
              <a:rPr lang="en-US" sz="1900" dirty="0" err="1"/>
              <a:t>Khách</a:t>
            </a:r>
            <a:r>
              <a:rPr lang="en-US" sz="1900" dirty="0"/>
              <a:t> </a:t>
            </a:r>
            <a:r>
              <a:rPr lang="en-US" sz="1900" dirty="0" err="1"/>
              <a:t>hàng</a:t>
            </a:r>
            <a:r>
              <a:rPr lang="en-US" sz="1900" dirty="0"/>
              <a:t> m</a:t>
            </a:r>
            <a:r>
              <a:rPr lang="vi-VN" sz="1900" dirty="0"/>
              <a:t>ới</a:t>
            </a:r>
            <a:r>
              <a:rPr lang="en-US" altLang="vi-VN" sz="1900" dirty="0"/>
              <a:t>.</a:t>
            </a:r>
            <a:endParaRPr lang="en-US" sz="1900" dirty="0"/>
          </a:p>
          <a:p>
            <a:pPr lvl="2">
              <a:buFont typeface="Wingdings" panose="05000000000000000000" pitchFamily="2" charset="2"/>
              <a:buChar char="ü"/>
            </a:pPr>
            <a:r>
              <a:rPr lang="en-US" sz="1900" dirty="0"/>
              <a:t>C2: </a:t>
            </a:r>
            <a:r>
              <a:rPr lang="en-US" sz="1900" dirty="0" err="1"/>
              <a:t>Khách</a:t>
            </a:r>
            <a:r>
              <a:rPr lang="en-US" sz="1900" dirty="0"/>
              <a:t> </a:t>
            </a:r>
            <a:r>
              <a:rPr lang="en-US" sz="1900" dirty="0" err="1"/>
              <a:t>hàng</a:t>
            </a:r>
            <a:r>
              <a:rPr lang="en-US" sz="1900" dirty="0"/>
              <a:t> VIP.</a:t>
            </a:r>
          </a:p>
          <a:p>
            <a:pPr lvl="2">
              <a:buFont typeface="Wingdings" panose="05000000000000000000" pitchFamily="2" charset="2"/>
              <a:buChar char="ü"/>
            </a:pPr>
            <a:r>
              <a:rPr lang="en-US" sz="1900" dirty="0"/>
              <a:t>C3: </a:t>
            </a:r>
            <a:r>
              <a:rPr lang="en-US" sz="1900" dirty="0" err="1"/>
              <a:t>Khách</a:t>
            </a:r>
            <a:r>
              <a:rPr lang="en-US" sz="1900" dirty="0"/>
              <a:t> </a:t>
            </a:r>
            <a:r>
              <a:rPr lang="en-US" sz="1900" dirty="0" err="1"/>
              <a:t>hàng</a:t>
            </a:r>
            <a:r>
              <a:rPr lang="en-US" sz="1900" dirty="0"/>
              <a:t> </a:t>
            </a:r>
            <a:r>
              <a:rPr lang="en-US" sz="1900" dirty="0" err="1"/>
              <a:t>có</a:t>
            </a:r>
            <a:r>
              <a:rPr lang="en-US" sz="1900" dirty="0"/>
              <a:t> coupon.</a:t>
            </a:r>
          </a:p>
        </p:txBody>
      </p:sp>
      <p:sp>
        <p:nvSpPr>
          <p:cNvPr id="4" name="Content Placeholder 2"/>
          <p:cNvSpPr txBox="1">
            <a:spLocks/>
          </p:cNvSpPr>
          <p:nvPr/>
        </p:nvSpPr>
        <p:spPr>
          <a:xfrm>
            <a:off x="4135395" y="4038600"/>
            <a:ext cx="3962400" cy="1981200"/>
          </a:xfrm>
          <a:prstGeom prst="rect">
            <a:avLst/>
          </a:prstGeom>
        </p:spPr>
        <p:txBody>
          <a:bodyPr vert="horz" anchor="t">
            <a:normAutofit/>
          </a:bodyPr>
          <a:lstStyle>
            <a:lvl1pPr marL="448310" indent="-384175" algn="l" rtl="0" eaLnBrk="1" latinLnBrk="0" hangingPunct="1">
              <a:spcBef>
                <a:spcPct val="20000"/>
              </a:spcBef>
              <a:spcAft>
                <a:spcPts val="1000"/>
              </a:spcAft>
              <a:buClr>
                <a:schemeClr val="accent1"/>
              </a:buClr>
              <a:buSzPct val="80000"/>
              <a:buFont typeface="Arial" panose="020B0604020202020204" pitchFamily="34" charset="0"/>
              <a:buChar char="•"/>
              <a:defRPr sz="2000" kern="1200">
                <a:solidFill>
                  <a:schemeClr val="bg2"/>
                </a:solidFill>
                <a:latin typeface="+mn-lt"/>
                <a:ea typeface="+mn-ea"/>
                <a:cs typeface="+mn-cs"/>
              </a:defRPr>
            </a:lvl1pPr>
            <a:lvl2pPr marL="822960" indent="-285750" algn="l" rtl="0" eaLnBrk="1" latinLnBrk="0" hangingPunct="1">
              <a:spcBef>
                <a:spcPct val="20000"/>
              </a:spcBef>
              <a:spcAft>
                <a:spcPts val="1000"/>
              </a:spcAft>
              <a:buClr>
                <a:schemeClr val="accent1"/>
              </a:buClr>
              <a:buSzPct val="95000"/>
              <a:buFont typeface="Arial" panose="020B0604020202020204" pitchFamily="34" charset="0"/>
              <a:buChar char="•"/>
              <a:defRPr sz="1800" kern="1200">
                <a:solidFill>
                  <a:schemeClr val="bg2"/>
                </a:solidFill>
                <a:latin typeface="+mn-lt"/>
                <a:ea typeface="+mn-ea"/>
                <a:cs typeface="+mn-cs"/>
              </a:defRPr>
            </a:lvl2pPr>
            <a:lvl3pPr marL="1106170" indent="-228600"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3pPr>
            <a:lvl4pPr marL="13716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4pPr>
            <a:lvl5pPr marL="16002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5pPr>
            <a:lvl6pPr marL="1828800" indent="-210185" algn="l" rtl="0" eaLnBrk="1" latinLnBrk="0" hangingPunct="1">
              <a:spcBef>
                <a:spcPct val="20000"/>
              </a:spcBef>
              <a:buClr>
                <a:schemeClr val="accent1">
                  <a:tint val="75000"/>
                </a:schemeClr>
              </a:buClr>
              <a:buFont typeface="Wingdings 2" panose="05020102010507070707"/>
              <a:buChar char=""/>
              <a:defRPr sz="1800" kern="1200">
                <a:solidFill>
                  <a:schemeClr val="tx1"/>
                </a:solidFill>
                <a:latin typeface="+mn-lt"/>
                <a:ea typeface="+mn-ea"/>
                <a:cs typeface="+mn-cs"/>
              </a:defRPr>
            </a:lvl6pPr>
            <a:lvl7pPr marL="2084705" indent="-210185"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9pPr>
          </a:lstStyle>
          <a:p>
            <a:pPr lvl="1">
              <a:buFont typeface="Wingdings" panose="05000000000000000000" pitchFamily="2" charset="2"/>
              <a:buChar char="Ø"/>
            </a:pPr>
            <a:r>
              <a:rPr lang="en-US" sz="1900"/>
              <a:t>Kết quả:</a:t>
            </a:r>
          </a:p>
          <a:p>
            <a:pPr lvl="2">
              <a:buFont typeface="Wingdings" panose="05000000000000000000" pitchFamily="2" charset="2"/>
              <a:buChar char="ü"/>
            </a:pPr>
            <a:r>
              <a:rPr lang="en-US" sz="1900"/>
              <a:t>E1: Chiết khấu 15%.</a:t>
            </a:r>
          </a:p>
          <a:p>
            <a:pPr lvl="2">
              <a:buFont typeface="Wingdings" panose="05000000000000000000" pitchFamily="2" charset="2"/>
              <a:buChar char="ü"/>
            </a:pPr>
            <a:r>
              <a:rPr lang="en-US" sz="1900"/>
              <a:t>E2: Chiết khấu 10%.</a:t>
            </a:r>
          </a:p>
          <a:p>
            <a:pPr lvl="2">
              <a:buFont typeface="Wingdings" panose="05000000000000000000" pitchFamily="2" charset="2"/>
              <a:buChar char="ü"/>
            </a:pPr>
            <a:r>
              <a:rPr lang="en-US" sz="1900"/>
              <a:t>E3: Chiết khấu 20%.</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7315200" cy="799306"/>
          </a:xfrm>
        </p:spPr>
        <p:txBody>
          <a:bodyPr/>
          <a:lstStyle/>
          <a:p>
            <a:r>
              <a:rPr lang="en-US" dirty="0"/>
              <a:t>3.3. </a:t>
            </a:r>
            <a:r>
              <a:rPr lang="vi-VN" dirty="0"/>
              <a:t>Bảng quyết định</a:t>
            </a:r>
            <a:endParaRPr lang="en-US" dirty="0"/>
          </a:p>
        </p:txBody>
      </p:sp>
      <p:graphicFrame>
        <p:nvGraphicFramePr>
          <p:cNvPr id="10" name="Content Placeholder 9"/>
          <p:cNvGraphicFramePr>
            <a:graphicFrameLocks noGrp="1"/>
          </p:cNvGraphicFramePr>
          <p:nvPr>
            <p:ph idx="1"/>
          </p:nvPr>
        </p:nvGraphicFramePr>
        <p:xfrm>
          <a:off x="381000" y="1091017"/>
          <a:ext cx="8229600" cy="37084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sz="1800" b="1" kern="1200" dirty="0" err="1">
                          <a:solidFill>
                            <a:schemeClr val="bg1"/>
                          </a:solidFill>
                          <a:effectLst/>
                          <a:latin typeface="+mn-lt"/>
                          <a:ea typeface="+mn-ea"/>
                          <a:cs typeface="+mn-cs"/>
                        </a:rPr>
                        <a:t>Lập</a:t>
                      </a:r>
                      <a:r>
                        <a:rPr lang="en-US" sz="1800" b="1" kern="1200" dirty="0">
                          <a:solidFill>
                            <a:schemeClr val="bg1"/>
                          </a:solidFill>
                          <a:effectLst/>
                          <a:latin typeface="+mn-lt"/>
                          <a:ea typeface="+mn-ea"/>
                          <a:cs typeface="+mn-cs"/>
                        </a:rPr>
                        <a:t> </a:t>
                      </a:r>
                      <a:r>
                        <a:rPr lang="en-US" sz="1800" b="1" kern="1200" dirty="0" err="1">
                          <a:solidFill>
                            <a:schemeClr val="bg1"/>
                          </a:solidFill>
                          <a:effectLst/>
                          <a:latin typeface="+mn-lt"/>
                          <a:ea typeface="+mn-ea"/>
                          <a:cs typeface="+mn-cs"/>
                        </a:rPr>
                        <a:t>bảng</a:t>
                      </a:r>
                      <a:r>
                        <a:rPr lang="en-US" sz="1800" b="1" kern="1200" dirty="0">
                          <a:solidFill>
                            <a:schemeClr val="bg1"/>
                          </a:solidFill>
                          <a:effectLst/>
                          <a:latin typeface="+mn-lt"/>
                          <a:ea typeface="+mn-ea"/>
                          <a:cs typeface="+mn-cs"/>
                        </a:rPr>
                        <a:t> </a:t>
                      </a:r>
                      <a:r>
                        <a:rPr lang="en-US" sz="1800" b="1" kern="1200" dirty="0" err="1">
                          <a:solidFill>
                            <a:schemeClr val="bg1"/>
                          </a:solidFill>
                          <a:effectLst/>
                          <a:latin typeface="+mn-lt"/>
                          <a:ea typeface="+mn-ea"/>
                          <a:cs typeface="+mn-cs"/>
                        </a:rPr>
                        <a:t>quyết</a:t>
                      </a:r>
                      <a:r>
                        <a:rPr lang="en-US" sz="1800" b="1" kern="1200" dirty="0">
                          <a:solidFill>
                            <a:schemeClr val="bg1"/>
                          </a:solidFill>
                          <a:effectLst/>
                          <a:latin typeface="+mn-lt"/>
                          <a:ea typeface="+mn-ea"/>
                          <a:cs typeface="+mn-cs"/>
                        </a:rPr>
                        <a:t> </a:t>
                      </a:r>
                      <a:r>
                        <a:rPr lang="en-US" sz="1800" b="1" kern="1200" dirty="0" err="1">
                          <a:solidFill>
                            <a:schemeClr val="bg1"/>
                          </a:solidFill>
                          <a:effectLst/>
                          <a:latin typeface="+mn-lt"/>
                          <a:ea typeface="+mn-ea"/>
                          <a:cs typeface="+mn-cs"/>
                        </a:rPr>
                        <a:t>định</a:t>
                      </a:r>
                      <a:endParaRPr lang="en-US" dirty="0">
                        <a:solidFill>
                          <a:schemeClr val="bg1"/>
                        </a:solidFill>
                      </a:endParaRPr>
                    </a:p>
                  </a:txBody>
                  <a:tcPr>
                    <a:noFill/>
                  </a:tcPr>
                </a:tc>
                <a:tc>
                  <a:txBody>
                    <a:bodyPr/>
                    <a:lstStyle/>
                    <a:p>
                      <a:r>
                        <a:rPr lang="en-US" sz="1800" b="1" kern="1200" dirty="0" err="1">
                          <a:solidFill>
                            <a:schemeClr val="bg1"/>
                          </a:solidFill>
                          <a:effectLst/>
                          <a:latin typeface="+mn-lt"/>
                          <a:ea typeface="+mn-ea"/>
                          <a:cs typeface="+mn-cs"/>
                        </a:rPr>
                        <a:t>Rút</a:t>
                      </a:r>
                      <a:r>
                        <a:rPr lang="en-US" sz="1800" b="1" kern="1200" dirty="0">
                          <a:solidFill>
                            <a:schemeClr val="bg1"/>
                          </a:solidFill>
                          <a:effectLst/>
                          <a:latin typeface="+mn-lt"/>
                          <a:ea typeface="+mn-ea"/>
                          <a:cs typeface="+mn-cs"/>
                        </a:rPr>
                        <a:t> </a:t>
                      </a:r>
                      <a:r>
                        <a:rPr lang="en-US" sz="1800" b="1" kern="1200" dirty="0" err="1">
                          <a:solidFill>
                            <a:schemeClr val="bg1"/>
                          </a:solidFill>
                          <a:effectLst/>
                          <a:latin typeface="+mn-lt"/>
                          <a:ea typeface="+mn-ea"/>
                          <a:cs typeface="+mn-cs"/>
                        </a:rPr>
                        <a:t>gọn</a:t>
                      </a:r>
                      <a:r>
                        <a:rPr lang="en-US" sz="1800" b="1" kern="1200" dirty="0">
                          <a:solidFill>
                            <a:schemeClr val="bg1"/>
                          </a:solidFill>
                          <a:effectLst/>
                          <a:latin typeface="+mn-lt"/>
                          <a:ea typeface="+mn-ea"/>
                          <a:cs typeface="+mn-cs"/>
                        </a:rPr>
                        <a:t> </a:t>
                      </a:r>
                      <a:r>
                        <a:rPr lang="en-US" sz="1800" b="1" kern="1200" dirty="0" err="1">
                          <a:solidFill>
                            <a:schemeClr val="bg1"/>
                          </a:solidFill>
                          <a:effectLst/>
                          <a:latin typeface="+mn-lt"/>
                          <a:ea typeface="+mn-ea"/>
                          <a:cs typeface="+mn-cs"/>
                        </a:rPr>
                        <a:t>bảng</a:t>
                      </a:r>
                      <a:r>
                        <a:rPr lang="en-US" sz="1800" b="1" kern="1200" dirty="0">
                          <a:solidFill>
                            <a:schemeClr val="bg1"/>
                          </a:solidFill>
                          <a:effectLst/>
                          <a:latin typeface="+mn-lt"/>
                          <a:ea typeface="+mn-ea"/>
                          <a:cs typeface="+mn-cs"/>
                        </a:rPr>
                        <a:t> </a:t>
                      </a:r>
                      <a:r>
                        <a:rPr lang="en-US" sz="1800" b="1" kern="1200" dirty="0" err="1">
                          <a:solidFill>
                            <a:schemeClr val="bg1"/>
                          </a:solidFill>
                          <a:effectLst/>
                          <a:latin typeface="+mn-lt"/>
                          <a:ea typeface="+mn-ea"/>
                          <a:cs typeface="+mn-cs"/>
                        </a:rPr>
                        <a:t>quyết</a:t>
                      </a:r>
                      <a:r>
                        <a:rPr lang="en-US" sz="1800" b="1" kern="1200" dirty="0">
                          <a:solidFill>
                            <a:schemeClr val="bg1"/>
                          </a:solidFill>
                          <a:effectLst/>
                          <a:latin typeface="+mn-lt"/>
                          <a:ea typeface="+mn-ea"/>
                          <a:cs typeface="+mn-cs"/>
                        </a:rPr>
                        <a:t> </a:t>
                      </a:r>
                      <a:r>
                        <a:rPr lang="en-US" sz="1800" b="1" kern="1200" dirty="0" err="1">
                          <a:solidFill>
                            <a:schemeClr val="bg1"/>
                          </a:solidFill>
                          <a:effectLst/>
                          <a:latin typeface="+mn-lt"/>
                          <a:ea typeface="+mn-ea"/>
                          <a:cs typeface="+mn-cs"/>
                        </a:rPr>
                        <a:t>định</a:t>
                      </a:r>
                      <a:endParaRPr lang="en-US" dirty="0">
                        <a:solidFill>
                          <a:schemeClr val="bg1"/>
                        </a:solidFill>
                      </a:endParaRPr>
                    </a:p>
                  </a:txBody>
                  <a:tcPr>
                    <a:noFill/>
                  </a:tcPr>
                </a:tc>
                <a:extLst>
                  <a:ext uri="{0D108BD9-81ED-4DB2-BD59-A6C34878D82A}">
                    <a16:rowId xmlns:a16="http://schemas.microsoft.com/office/drawing/2014/main" val="10000"/>
                  </a:ext>
                </a:extLst>
              </a:tr>
            </a:tbl>
          </a:graphicData>
        </a:graphic>
      </p:graphicFrame>
      <p:sp>
        <p:nvSpPr>
          <p:cNvPr id="11" name="Rectangle 10"/>
          <p:cNvSpPr/>
          <p:nvPr/>
        </p:nvSpPr>
        <p:spPr>
          <a:xfrm>
            <a:off x="1219200" y="3558659"/>
            <a:ext cx="7696200" cy="369332"/>
          </a:xfrm>
          <a:prstGeom prst="rect">
            <a:avLst/>
          </a:prstGeom>
        </p:spPr>
        <p:txBody>
          <a:bodyPr wrap="square">
            <a:spAutoFit/>
          </a:bodyPr>
          <a:lstStyle/>
          <a:p>
            <a:r>
              <a:rPr lang="en-US" dirty="0" err="1">
                <a:solidFill>
                  <a:srgbClr val="000000"/>
                </a:solidFill>
                <a:latin typeface="Times New Roman" panose="02020603050405020304" pitchFamily="18" charset="0"/>
                <a:ea typeface="ＭＳ 明朝" panose="02020609040205080304" pitchFamily="17" charset="-128"/>
              </a:rPr>
              <a:t>Chuyển</a:t>
            </a:r>
            <a:r>
              <a:rPr lang="en-US" dirty="0">
                <a:solidFill>
                  <a:srgbClr val="000000"/>
                </a:solidFill>
                <a:latin typeface="Times New Roman" panose="02020603050405020304" pitchFamily="18" charset="0"/>
                <a:ea typeface="ＭＳ 明朝" panose="02020609040205080304" pitchFamily="17" charset="-128"/>
              </a:rPr>
              <a:t> </a:t>
            </a:r>
            <a:r>
              <a:rPr lang="en-US" dirty="0" err="1">
                <a:solidFill>
                  <a:srgbClr val="000000"/>
                </a:solidFill>
                <a:latin typeface="Times New Roman" panose="02020603050405020304" pitchFamily="18" charset="0"/>
                <a:ea typeface="ＭＳ 明朝" panose="02020609040205080304" pitchFamily="17" charset="-128"/>
              </a:rPr>
              <a:t>mỗi</a:t>
            </a:r>
            <a:r>
              <a:rPr lang="en-US" dirty="0">
                <a:solidFill>
                  <a:srgbClr val="000000"/>
                </a:solidFill>
                <a:latin typeface="Times New Roman" panose="02020603050405020304" pitchFamily="18" charset="0"/>
                <a:ea typeface="ＭＳ 明朝" panose="02020609040205080304" pitchFamily="17" charset="-128"/>
              </a:rPr>
              <a:t> </a:t>
            </a:r>
            <a:r>
              <a:rPr lang="en-US" dirty="0" err="1">
                <a:solidFill>
                  <a:srgbClr val="000000"/>
                </a:solidFill>
                <a:latin typeface="Times New Roman" panose="02020603050405020304" pitchFamily="18" charset="0"/>
                <a:ea typeface="ＭＳ 明朝" panose="02020609040205080304" pitchFamily="17" charset="-128"/>
              </a:rPr>
              <a:t>cột</a:t>
            </a:r>
            <a:r>
              <a:rPr lang="en-US" dirty="0">
                <a:solidFill>
                  <a:srgbClr val="000000"/>
                </a:solidFill>
                <a:latin typeface="Times New Roman" panose="02020603050405020304" pitchFamily="18" charset="0"/>
                <a:ea typeface="ＭＳ 明朝" panose="02020609040205080304" pitchFamily="17" charset="-128"/>
              </a:rPr>
              <a:t> </a:t>
            </a:r>
            <a:r>
              <a:rPr lang="en-US" dirty="0" err="1">
                <a:solidFill>
                  <a:srgbClr val="000000"/>
                </a:solidFill>
                <a:latin typeface="Times New Roman" panose="02020603050405020304" pitchFamily="18" charset="0"/>
                <a:ea typeface="ＭＳ 明朝" panose="02020609040205080304" pitchFamily="17" charset="-128"/>
              </a:rPr>
              <a:t>trong</a:t>
            </a:r>
            <a:r>
              <a:rPr lang="en-US" dirty="0">
                <a:solidFill>
                  <a:srgbClr val="000000"/>
                </a:solidFill>
                <a:latin typeface="Times New Roman" panose="02020603050405020304" pitchFamily="18" charset="0"/>
                <a:ea typeface="ＭＳ 明朝" panose="02020609040205080304" pitchFamily="17" charset="-128"/>
              </a:rPr>
              <a:t> </a:t>
            </a:r>
            <a:r>
              <a:rPr lang="en-US" dirty="0" err="1">
                <a:solidFill>
                  <a:srgbClr val="000000"/>
                </a:solidFill>
                <a:latin typeface="Times New Roman" panose="02020603050405020304" pitchFamily="18" charset="0"/>
                <a:ea typeface="ＭＳ 明朝" panose="02020609040205080304" pitchFamily="17" charset="-128"/>
              </a:rPr>
              <a:t>bảng</a:t>
            </a:r>
            <a:r>
              <a:rPr lang="en-US" dirty="0">
                <a:solidFill>
                  <a:srgbClr val="000000"/>
                </a:solidFill>
                <a:latin typeface="Times New Roman" panose="02020603050405020304" pitchFamily="18" charset="0"/>
                <a:ea typeface="ＭＳ 明朝" panose="02020609040205080304" pitchFamily="17" charset="-128"/>
              </a:rPr>
              <a:t> </a:t>
            </a:r>
            <a:r>
              <a:rPr lang="en-US" dirty="0" err="1">
                <a:solidFill>
                  <a:srgbClr val="000000"/>
                </a:solidFill>
                <a:latin typeface="Times New Roman" panose="02020603050405020304" pitchFamily="18" charset="0"/>
                <a:ea typeface="ＭＳ 明朝" panose="02020609040205080304" pitchFamily="17" charset="-128"/>
              </a:rPr>
              <a:t>quyết</a:t>
            </a:r>
            <a:r>
              <a:rPr lang="en-US" dirty="0">
                <a:solidFill>
                  <a:srgbClr val="000000"/>
                </a:solidFill>
                <a:latin typeface="Times New Roman" panose="02020603050405020304" pitchFamily="18" charset="0"/>
                <a:ea typeface="ＭＳ 明朝" panose="02020609040205080304" pitchFamily="17" charset="-128"/>
              </a:rPr>
              <a:t> </a:t>
            </a:r>
            <a:r>
              <a:rPr lang="en-US" dirty="0" err="1">
                <a:solidFill>
                  <a:srgbClr val="000000"/>
                </a:solidFill>
                <a:latin typeface="Times New Roman" panose="02020603050405020304" pitchFamily="18" charset="0"/>
                <a:ea typeface="ＭＳ 明朝" panose="02020609040205080304" pitchFamily="17" charset="-128"/>
              </a:rPr>
              <a:t>định</a:t>
            </a:r>
            <a:r>
              <a:rPr lang="en-US" dirty="0">
                <a:solidFill>
                  <a:srgbClr val="000000"/>
                </a:solidFill>
                <a:latin typeface="Times New Roman" panose="02020603050405020304" pitchFamily="18" charset="0"/>
                <a:ea typeface="ＭＳ 明朝" panose="02020609040205080304" pitchFamily="17" charset="-128"/>
              </a:rPr>
              <a:t> </a:t>
            </a:r>
            <a:r>
              <a:rPr lang="en-US" dirty="0" err="1">
                <a:solidFill>
                  <a:srgbClr val="000000"/>
                </a:solidFill>
                <a:latin typeface="Times New Roman" panose="02020603050405020304" pitchFamily="18" charset="0"/>
                <a:ea typeface="ＭＳ 明朝" panose="02020609040205080304" pitchFamily="17" charset="-128"/>
              </a:rPr>
              <a:t>thành</a:t>
            </a:r>
            <a:r>
              <a:rPr lang="en-US" dirty="0">
                <a:solidFill>
                  <a:srgbClr val="000000"/>
                </a:solidFill>
                <a:latin typeface="Times New Roman" panose="02020603050405020304" pitchFamily="18" charset="0"/>
                <a:ea typeface="ＭＳ 明朝" panose="02020609040205080304" pitchFamily="17" charset="-128"/>
              </a:rPr>
              <a:t> 1 test case:</a:t>
            </a:r>
            <a:endParaRPr lang="en-US" dirty="0"/>
          </a:p>
        </p:txBody>
      </p:sp>
      <p:pic>
        <p:nvPicPr>
          <p:cNvPr id="5" name="Picture 4"/>
          <p:cNvPicPr>
            <a:picLocks noChangeAspect="1"/>
          </p:cNvPicPr>
          <p:nvPr/>
        </p:nvPicPr>
        <p:blipFill>
          <a:blip r:embed="rId2"/>
          <a:stretch>
            <a:fillRect/>
          </a:stretch>
        </p:blipFill>
        <p:spPr>
          <a:xfrm>
            <a:off x="533400" y="1460242"/>
            <a:ext cx="3424238" cy="2000250"/>
          </a:xfrm>
          <a:prstGeom prst="rect">
            <a:avLst/>
          </a:prstGeom>
        </p:spPr>
      </p:pic>
      <p:pic>
        <p:nvPicPr>
          <p:cNvPr id="6" name="Picture 5"/>
          <p:cNvPicPr>
            <a:picLocks noChangeAspect="1"/>
          </p:cNvPicPr>
          <p:nvPr/>
        </p:nvPicPr>
        <p:blipFill>
          <a:blip r:embed="rId3"/>
          <a:stretch>
            <a:fillRect/>
          </a:stretch>
        </p:blipFill>
        <p:spPr>
          <a:xfrm>
            <a:off x="4495800" y="1525030"/>
            <a:ext cx="4114800" cy="1800225"/>
          </a:xfrm>
          <a:prstGeom prst="rect">
            <a:avLst/>
          </a:prstGeom>
        </p:spPr>
      </p:pic>
      <p:pic>
        <p:nvPicPr>
          <p:cNvPr id="7" name="Picture 6"/>
          <p:cNvPicPr>
            <a:picLocks noChangeAspect="1"/>
          </p:cNvPicPr>
          <p:nvPr/>
        </p:nvPicPr>
        <p:blipFill>
          <a:blip r:embed="rId4"/>
          <a:stretch>
            <a:fillRect/>
          </a:stretch>
        </p:blipFill>
        <p:spPr>
          <a:xfrm>
            <a:off x="1371600" y="4078932"/>
            <a:ext cx="2876550" cy="14287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7315200" cy="799306"/>
          </a:xfrm>
        </p:spPr>
        <p:txBody>
          <a:bodyPr/>
          <a:lstStyle/>
          <a:p>
            <a:r>
              <a:rPr lang="en-US" dirty="0"/>
              <a:t>3.4. </a:t>
            </a:r>
            <a:r>
              <a:rPr lang="vi-VN" dirty="0"/>
              <a:t>Biểu đồ dịch chuyển trạng thái</a:t>
            </a:r>
            <a:endParaRPr lang="en-US" dirty="0"/>
          </a:p>
        </p:txBody>
      </p:sp>
      <p:sp>
        <p:nvSpPr>
          <p:cNvPr id="3" name="Content Placeholder 2"/>
          <p:cNvSpPr>
            <a:spLocks noGrp="1"/>
          </p:cNvSpPr>
          <p:nvPr>
            <p:ph idx="1"/>
          </p:nvPr>
        </p:nvSpPr>
        <p:spPr>
          <a:xfrm>
            <a:off x="228600" y="1143000"/>
            <a:ext cx="8229600" cy="5562600"/>
          </a:xfrm>
        </p:spPr>
        <p:txBody>
          <a:bodyPr>
            <a:noAutofit/>
          </a:bodyPr>
          <a:lstStyle/>
          <a:p>
            <a:pPr>
              <a:buFont typeface="Wingdings" panose="05000000000000000000" pitchFamily="2" charset="2"/>
              <a:buChar char="v"/>
            </a:pPr>
            <a:r>
              <a:rPr lang="en-US" sz="1900" dirty="0" err="1"/>
              <a:t>Là</a:t>
            </a:r>
            <a:r>
              <a:rPr lang="en-US" sz="1900" dirty="0"/>
              <a:t> </a:t>
            </a:r>
            <a:r>
              <a:rPr lang="en-US" sz="1900" dirty="0" err="1"/>
              <a:t>mô</a:t>
            </a:r>
            <a:r>
              <a:rPr lang="en-US" sz="1900" dirty="0"/>
              <a:t> </a:t>
            </a:r>
            <a:r>
              <a:rPr lang="en-US" sz="1900" dirty="0" err="1"/>
              <a:t>hình</a:t>
            </a:r>
            <a:r>
              <a:rPr lang="en-US" sz="1900" dirty="0"/>
              <a:t> </a:t>
            </a:r>
            <a:r>
              <a:rPr lang="en-US" sz="1900" dirty="0" err="1"/>
              <a:t>biểu</a:t>
            </a:r>
            <a:r>
              <a:rPr lang="en-US" sz="1900" dirty="0"/>
              <a:t> </a:t>
            </a:r>
            <a:r>
              <a:rPr lang="en-US" sz="1900" dirty="0" err="1"/>
              <a:t>đồ</a:t>
            </a:r>
            <a:r>
              <a:rPr lang="en-US" sz="1900" dirty="0"/>
              <a:t> </a:t>
            </a:r>
            <a:r>
              <a:rPr lang="en-US" sz="1900" dirty="0" err="1"/>
              <a:t>ghi</a:t>
            </a:r>
            <a:r>
              <a:rPr lang="en-US" sz="1900" dirty="0"/>
              <a:t> </a:t>
            </a:r>
            <a:r>
              <a:rPr lang="en-US" sz="1900" dirty="0" err="1"/>
              <a:t>lại</a:t>
            </a:r>
            <a:r>
              <a:rPr lang="en-US" sz="1900" dirty="0"/>
              <a:t> </a:t>
            </a:r>
            <a:r>
              <a:rPr lang="en-US" sz="1900" dirty="0" err="1"/>
              <a:t>sự</a:t>
            </a:r>
            <a:r>
              <a:rPr lang="en-US" sz="1900" dirty="0"/>
              <a:t> </a:t>
            </a:r>
            <a:r>
              <a:rPr lang="en-US" sz="1900" dirty="0" err="1"/>
              <a:t>dịch</a:t>
            </a:r>
            <a:r>
              <a:rPr lang="en-US" sz="1900" dirty="0"/>
              <a:t> </a:t>
            </a:r>
            <a:r>
              <a:rPr lang="en-US" sz="1900" dirty="0" err="1"/>
              <a:t>chuyển</a:t>
            </a:r>
            <a:r>
              <a:rPr lang="en-US" sz="1900" dirty="0"/>
              <a:t> </a:t>
            </a:r>
            <a:r>
              <a:rPr lang="en-US" sz="1900" dirty="0" err="1"/>
              <a:t>từ</a:t>
            </a:r>
            <a:r>
              <a:rPr lang="en-US" sz="1900" dirty="0"/>
              <a:t> </a:t>
            </a:r>
            <a:r>
              <a:rPr lang="en-US" sz="1900" dirty="0" err="1"/>
              <a:t>trạng</a:t>
            </a:r>
            <a:r>
              <a:rPr lang="en-US" sz="1900" dirty="0"/>
              <a:t> </a:t>
            </a:r>
            <a:r>
              <a:rPr lang="en-US" sz="1900" dirty="0" err="1"/>
              <a:t>thái</a:t>
            </a:r>
            <a:r>
              <a:rPr lang="en-US" sz="1900" dirty="0"/>
              <a:t> </a:t>
            </a:r>
            <a:r>
              <a:rPr lang="en-US" sz="1900" dirty="0" err="1"/>
              <a:t>này</a:t>
            </a:r>
            <a:r>
              <a:rPr lang="en-US" sz="1900" dirty="0"/>
              <a:t> sang </a:t>
            </a:r>
            <a:r>
              <a:rPr lang="en-US" sz="1900" dirty="0" err="1"/>
              <a:t>trạng</a:t>
            </a:r>
            <a:r>
              <a:rPr lang="en-US" sz="1900" dirty="0"/>
              <a:t> </a:t>
            </a:r>
            <a:r>
              <a:rPr lang="en-US" sz="1900" dirty="0" err="1"/>
              <a:t>thái</a:t>
            </a:r>
            <a:r>
              <a:rPr lang="en-US" sz="1900" dirty="0"/>
              <a:t> </a:t>
            </a:r>
            <a:r>
              <a:rPr lang="en-US" sz="1900" dirty="0" err="1"/>
              <a:t>khác</a:t>
            </a:r>
            <a:r>
              <a:rPr lang="en-US" sz="1900" dirty="0"/>
              <a:t> </a:t>
            </a:r>
            <a:r>
              <a:rPr lang="en-US" sz="1900" dirty="0" err="1"/>
              <a:t>theo</a:t>
            </a:r>
            <a:r>
              <a:rPr lang="en-US" sz="1900" dirty="0"/>
              <a:t> </a:t>
            </a:r>
            <a:r>
              <a:rPr lang="en-US" sz="1900" dirty="0" err="1"/>
              <a:t>một</a:t>
            </a:r>
            <a:r>
              <a:rPr lang="en-US" sz="1900" dirty="0"/>
              <a:t> </a:t>
            </a:r>
            <a:r>
              <a:rPr lang="en-US" sz="1900" dirty="0" err="1"/>
              <a:t>quy</a:t>
            </a:r>
            <a:r>
              <a:rPr lang="en-US" sz="1900" dirty="0"/>
              <a:t> </a:t>
            </a:r>
            <a:r>
              <a:rPr lang="en-US" sz="1900" dirty="0" err="1"/>
              <a:t>tắc</a:t>
            </a:r>
            <a:r>
              <a:rPr lang="en-US" sz="1900" dirty="0"/>
              <a:t> </a:t>
            </a:r>
            <a:r>
              <a:rPr lang="en-US" sz="1900" dirty="0" err="1"/>
              <a:t>xác</a:t>
            </a:r>
            <a:r>
              <a:rPr lang="en-US" sz="1900" dirty="0"/>
              <a:t> </a:t>
            </a:r>
            <a:r>
              <a:rPr lang="en-US" sz="1900" dirty="0" err="1"/>
              <a:t>định</a:t>
            </a:r>
            <a:r>
              <a:rPr lang="en-US" sz="1900" dirty="0"/>
              <a:t> </a:t>
            </a:r>
            <a:r>
              <a:rPr lang="en-US" sz="1900" dirty="0" err="1"/>
              <a:t>của</a:t>
            </a:r>
            <a:r>
              <a:rPr lang="en-US" sz="1900" dirty="0"/>
              <a:t> </a:t>
            </a:r>
            <a:r>
              <a:rPr lang="en-US" sz="1900" dirty="0" err="1"/>
              <a:t>hệ</a:t>
            </a:r>
            <a:r>
              <a:rPr lang="en-US" sz="1900" dirty="0"/>
              <a:t> </a:t>
            </a:r>
            <a:r>
              <a:rPr lang="en-US" sz="1900" dirty="0" err="1"/>
              <a:t>thống</a:t>
            </a:r>
            <a:r>
              <a:rPr lang="en-US" sz="1900" dirty="0"/>
              <a:t>. </a:t>
            </a:r>
            <a:r>
              <a:rPr lang="en-US" sz="1900" dirty="0" err="1"/>
              <a:t>Biểu</a:t>
            </a:r>
            <a:r>
              <a:rPr lang="en-US" sz="1900" dirty="0"/>
              <a:t> </a:t>
            </a:r>
            <a:r>
              <a:rPr lang="en-US" sz="1900" dirty="0" err="1"/>
              <a:t>đồ</a:t>
            </a:r>
            <a:r>
              <a:rPr lang="en-US" sz="1900" dirty="0"/>
              <a:t> </a:t>
            </a:r>
            <a:r>
              <a:rPr lang="en-US" sz="1900" dirty="0" err="1"/>
              <a:t>này</a:t>
            </a:r>
            <a:r>
              <a:rPr lang="en-US" sz="1900" dirty="0"/>
              <a:t> </a:t>
            </a:r>
            <a:r>
              <a:rPr lang="en-US" sz="1900" dirty="0" err="1"/>
              <a:t>được</a:t>
            </a:r>
            <a:r>
              <a:rPr lang="en-US" sz="1900" dirty="0"/>
              <a:t> </a:t>
            </a:r>
            <a:r>
              <a:rPr lang="en-US" sz="1900" dirty="0" err="1"/>
              <a:t>sử</a:t>
            </a:r>
            <a:r>
              <a:rPr lang="en-US" sz="1900" dirty="0"/>
              <a:t> </a:t>
            </a:r>
            <a:r>
              <a:rPr lang="en-US" sz="1900" dirty="0" err="1"/>
              <a:t>dụng</a:t>
            </a:r>
            <a:r>
              <a:rPr lang="en-US" sz="1900" dirty="0"/>
              <a:t> </a:t>
            </a:r>
            <a:r>
              <a:rPr lang="en-US" sz="1900" dirty="0" err="1"/>
              <a:t>khi</a:t>
            </a:r>
            <a:r>
              <a:rPr lang="en-US" sz="1900" dirty="0"/>
              <a:t> </a:t>
            </a:r>
            <a:r>
              <a:rPr lang="en-US" sz="1900" dirty="0" err="1"/>
              <a:t>các</a:t>
            </a:r>
            <a:r>
              <a:rPr lang="en-US" sz="1900" dirty="0"/>
              <a:t> </a:t>
            </a:r>
            <a:r>
              <a:rPr lang="en-US" sz="1900" dirty="0" err="1"/>
              <a:t>trạng</a:t>
            </a:r>
            <a:r>
              <a:rPr lang="en-US" sz="1900" dirty="0"/>
              <a:t> </a:t>
            </a:r>
            <a:r>
              <a:rPr lang="en-US" sz="1900" dirty="0" err="1"/>
              <a:t>thái</a:t>
            </a:r>
            <a:r>
              <a:rPr lang="en-US" sz="1900" dirty="0"/>
              <a:t> </a:t>
            </a:r>
            <a:r>
              <a:rPr lang="en-US" sz="1900" dirty="0" err="1"/>
              <a:t>của</a:t>
            </a:r>
            <a:r>
              <a:rPr lang="en-US" sz="1900" dirty="0"/>
              <a:t> </a:t>
            </a:r>
            <a:r>
              <a:rPr lang="en-US" sz="1900" dirty="0" err="1"/>
              <a:t>hệ</a:t>
            </a:r>
            <a:r>
              <a:rPr lang="en-US" sz="1900" dirty="0"/>
              <a:t> </a:t>
            </a:r>
            <a:r>
              <a:rPr lang="en-US" sz="1900" dirty="0" err="1"/>
              <a:t>thống</a:t>
            </a:r>
            <a:r>
              <a:rPr lang="en-US" sz="1900" dirty="0"/>
              <a:t> </a:t>
            </a:r>
            <a:r>
              <a:rPr lang="en-US" sz="1900" dirty="0" err="1"/>
              <a:t>là</a:t>
            </a:r>
            <a:r>
              <a:rPr lang="en-US" sz="1900" dirty="0"/>
              <a:t> </a:t>
            </a:r>
            <a:r>
              <a:rPr lang="en-US" sz="1900" dirty="0" err="1"/>
              <a:t>hữu</a:t>
            </a:r>
            <a:r>
              <a:rPr lang="en-US" sz="1900" dirty="0"/>
              <a:t> </a:t>
            </a:r>
            <a:r>
              <a:rPr lang="en-US" sz="1900" dirty="0" err="1"/>
              <a:t>hạn</a:t>
            </a:r>
            <a:r>
              <a:rPr lang="en-US" sz="1900" dirty="0"/>
              <a:t> (</a:t>
            </a:r>
            <a:r>
              <a:rPr lang="en-US" sz="1900" dirty="0" err="1"/>
              <a:t>có</a:t>
            </a:r>
            <a:r>
              <a:rPr lang="en-US" sz="1900" dirty="0"/>
              <a:t> </a:t>
            </a:r>
            <a:r>
              <a:rPr lang="en-US" sz="1900" dirty="0" err="1"/>
              <a:t>thể</a:t>
            </a:r>
            <a:r>
              <a:rPr lang="en-US" sz="1900" dirty="0"/>
              <a:t> </a:t>
            </a:r>
            <a:r>
              <a:rPr lang="en-US" sz="1900" dirty="0" err="1"/>
              <a:t>đo</a:t>
            </a:r>
            <a:r>
              <a:rPr lang="en-US" sz="1900" dirty="0"/>
              <a:t> </a:t>
            </a:r>
            <a:r>
              <a:rPr lang="en-US" sz="1900" dirty="0" err="1"/>
              <a:t>đếm</a:t>
            </a:r>
            <a:r>
              <a:rPr lang="en-US" sz="1900" dirty="0"/>
              <a:t> </a:t>
            </a:r>
            <a:r>
              <a:rPr lang="en-US" sz="1900" dirty="0" err="1"/>
              <a:t>được</a:t>
            </a:r>
            <a:r>
              <a:rPr lang="en-US" sz="1900" dirty="0"/>
              <a:t>). </a:t>
            </a:r>
            <a:r>
              <a:rPr lang="vi-VN" sz="1900" dirty="0"/>
              <a:t>Ví dụ</a:t>
            </a:r>
            <a:r>
              <a:rPr lang="en-US" sz="1900" dirty="0"/>
              <a:t>:</a:t>
            </a:r>
          </a:p>
          <a:p>
            <a:pPr marL="724535" lvl="1">
              <a:buFont typeface="Wingdings" panose="05000000000000000000" pitchFamily="2" charset="2"/>
              <a:buChar char="ü"/>
            </a:pPr>
            <a:r>
              <a:rPr lang="vi-VN" sz="1900" dirty="0"/>
              <a:t>Giỏ hàng</a:t>
            </a:r>
            <a:r>
              <a:rPr lang="en-US" sz="1900" dirty="0"/>
              <a:t> </a:t>
            </a:r>
            <a:r>
              <a:rPr lang="vi-VN" sz="1900" dirty="0"/>
              <a:t>(</a:t>
            </a:r>
            <a:r>
              <a:rPr lang="vi-VN" sz="1900" dirty="0">
                <a:solidFill>
                  <a:srgbClr val="FF0000"/>
                </a:solidFill>
              </a:rPr>
              <a:t>đối tượng</a:t>
            </a:r>
            <a:r>
              <a:rPr lang="vi-VN" sz="1900" dirty="0"/>
              <a:t>) sẽ chuyển từ trạng thái rỗng (</a:t>
            </a:r>
            <a:r>
              <a:rPr lang="vi-VN" sz="1900" dirty="0">
                <a:solidFill>
                  <a:srgbClr val="FF0000"/>
                </a:solidFill>
              </a:rPr>
              <a:t>trạng thái</a:t>
            </a:r>
            <a:r>
              <a:rPr lang="vi-VN" sz="1900" dirty="0"/>
              <a:t>) sang trạng thái có hàng (</a:t>
            </a:r>
            <a:r>
              <a:rPr lang="vi-VN" sz="1900" dirty="0">
                <a:solidFill>
                  <a:srgbClr val="FF0000"/>
                </a:solidFill>
              </a:rPr>
              <a:t>trạng thái</a:t>
            </a:r>
            <a:r>
              <a:rPr lang="vi-VN" sz="1900" dirty="0"/>
              <a:t>) khi chọn sản phẩm và add vào giỏ hàng (</a:t>
            </a:r>
            <a:r>
              <a:rPr lang="vi-VN" sz="1900" dirty="0">
                <a:solidFill>
                  <a:srgbClr val="FF0000"/>
                </a:solidFill>
              </a:rPr>
              <a:t>sự kiện</a:t>
            </a:r>
            <a:r>
              <a:rPr lang="vi-VN" sz="1900" dirty="0"/>
              <a:t>). </a:t>
            </a:r>
            <a:endParaRPr lang="en-US" sz="1900" dirty="0"/>
          </a:p>
          <a:p>
            <a:pPr marL="724535" lvl="1">
              <a:buFont typeface="Wingdings" panose="05000000000000000000" pitchFamily="2" charset="2"/>
              <a:buChar char="ü"/>
            </a:pPr>
            <a:r>
              <a:rPr lang="vi-VN" sz="1900" dirty="0"/>
              <a:t>Giỏ hàng bắt đầu với trạng thái rỗng.</a:t>
            </a:r>
            <a:endParaRPr lang="en-US" sz="1900" dirty="0"/>
          </a:p>
          <a:p>
            <a:pPr>
              <a:buFont typeface="Wingdings" panose="05000000000000000000" pitchFamily="2" charset="2"/>
              <a:buChar char="v"/>
            </a:pPr>
            <a:r>
              <a:rPr lang="vi-VN" sz="1900" dirty="0"/>
              <a:t>Biểu đồ trạng thái thể hiện các khía cạnh khi xem xét trạng thái của một đối tượng: </a:t>
            </a:r>
          </a:p>
          <a:p>
            <a:pPr lvl="1">
              <a:buFont typeface="Wingdings" panose="05000000000000000000" pitchFamily="2" charset="2"/>
              <a:buChar char="ü"/>
            </a:pPr>
            <a:r>
              <a:rPr lang="vi-VN" sz="1900" dirty="0"/>
              <a:t>Trạng thái ban đầu</a:t>
            </a:r>
            <a:r>
              <a:rPr lang="en-US" sz="1900" dirty="0"/>
              <a:t>, </a:t>
            </a:r>
            <a:r>
              <a:rPr lang="en-US" sz="1900" dirty="0" err="1"/>
              <a:t>giữa</a:t>
            </a:r>
            <a:r>
              <a:rPr lang="en-US" sz="1900" dirty="0"/>
              <a:t>, </a:t>
            </a:r>
            <a:r>
              <a:rPr lang="en-US" sz="1900" dirty="0" err="1"/>
              <a:t>kết</a:t>
            </a:r>
            <a:r>
              <a:rPr lang="en-US" sz="1900" dirty="0"/>
              <a:t> </a:t>
            </a:r>
            <a:r>
              <a:rPr lang="en-US" sz="1900" dirty="0" err="1"/>
              <a:t>thúc</a:t>
            </a:r>
            <a:r>
              <a:rPr lang="en-US" sz="1900" dirty="0"/>
              <a:t>.</a:t>
            </a:r>
          </a:p>
          <a:p>
            <a:pPr lvl="1">
              <a:buFont typeface="Wingdings" panose="05000000000000000000" pitchFamily="2" charset="2"/>
              <a:buChar char="ü"/>
            </a:pPr>
            <a:r>
              <a:rPr lang="vi-VN" sz="1900" dirty="0"/>
              <a:t>Sự biến đổi giữa các trạng thái</a:t>
            </a:r>
            <a:r>
              <a:rPr lang="en-US" altLang="vi-VN" sz="1900" dirty="0"/>
              <a:t>.</a:t>
            </a:r>
            <a:endParaRPr lang="vi-VN" sz="1900" dirty="0"/>
          </a:p>
          <a:p>
            <a:pPr lvl="1">
              <a:buFont typeface="Wingdings" panose="05000000000000000000" pitchFamily="2" charset="2"/>
              <a:buChar char="ü"/>
            </a:pPr>
            <a:r>
              <a:rPr lang="vi-VN" sz="1900" dirty="0"/>
              <a:t>Những sự kiện gây nên sự biến </a:t>
            </a:r>
            <a:r>
              <a:rPr lang="en-US" sz="1900" dirty="0" err="1"/>
              <a:t>đổi</a:t>
            </a:r>
            <a:r>
              <a:rPr lang="en-US" sz="1900" dirty="0"/>
              <a:t> </a:t>
            </a:r>
            <a:r>
              <a:rPr lang="vi-VN" sz="1900" dirty="0"/>
              <a:t>trạng thái</a:t>
            </a:r>
            <a:r>
              <a:rPr lang="en-US" altLang="vi-VN" sz="1900" dirty="0"/>
              <a:t>.</a:t>
            </a:r>
          </a:p>
          <a:p>
            <a:pPr lvl="1">
              <a:buFont typeface="Wingdings" panose="05000000000000000000" pitchFamily="2" charset="2"/>
              <a:buChar char="ü"/>
            </a:pPr>
            <a:r>
              <a:rPr lang="en-US" sz="1900" dirty="0" err="1"/>
              <a:t>Các</a:t>
            </a:r>
            <a:r>
              <a:rPr lang="en-US" sz="1900" dirty="0"/>
              <a:t> </a:t>
            </a:r>
            <a:r>
              <a:rPr lang="en-US" sz="1900" dirty="0" err="1"/>
              <a:t>hành</a:t>
            </a:r>
            <a:r>
              <a:rPr lang="en-US" sz="1900" dirty="0"/>
              <a:t> </a:t>
            </a:r>
            <a:r>
              <a:rPr lang="en-US" sz="1900" dirty="0" err="1"/>
              <a:t>động</a:t>
            </a:r>
            <a:r>
              <a:rPr lang="en-US" sz="1900" dirty="0"/>
              <a:t> </a:t>
            </a:r>
            <a:r>
              <a:rPr lang="en-US" sz="1900" dirty="0" err="1"/>
              <a:t>là</a:t>
            </a:r>
            <a:r>
              <a:rPr lang="en-US" sz="1900" dirty="0"/>
              <a:t> </a:t>
            </a:r>
            <a:r>
              <a:rPr lang="en-US" sz="1900" dirty="0" err="1"/>
              <a:t>kết</a:t>
            </a:r>
            <a:r>
              <a:rPr lang="en-US" sz="1900" dirty="0"/>
              <a:t> </a:t>
            </a:r>
            <a:r>
              <a:rPr lang="en-US" sz="1900" dirty="0" err="1"/>
              <a:t>quả</a:t>
            </a:r>
            <a:r>
              <a:rPr lang="en-US" sz="1900" dirty="0"/>
              <a:t> </a:t>
            </a:r>
            <a:r>
              <a:rPr lang="en-US" sz="1900" dirty="0" err="1"/>
              <a:t>của</a:t>
            </a:r>
            <a:r>
              <a:rPr lang="en-US" sz="1900" dirty="0"/>
              <a:t> </a:t>
            </a:r>
            <a:r>
              <a:rPr lang="en-US" sz="1900" dirty="0" err="1"/>
              <a:t>biến</a:t>
            </a:r>
            <a:r>
              <a:rPr lang="en-US" sz="1900" dirty="0"/>
              <a:t> </a:t>
            </a:r>
            <a:r>
              <a:rPr lang="en-US" sz="1900" dirty="0" err="1"/>
              <a:t>đổi</a:t>
            </a:r>
            <a:r>
              <a:rPr lang="en-US" sz="1900" dirty="0"/>
              <a:t> </a:t>
            </a:r>
            <a:r>
              <a:rPr lang="en-US" sz="1900" dirty="0" err="1"/>
              <a:t>trạng</a:t>
            </a:r>
            <a:r>
              <a:rPr lang="en-US" sz="1900" dirty="0"/>
              <a:t> </a:t>
            </a:r>
            <a:r>
              <a:rPr lang="en-US" sz="1900" dirty="0" err="1"/>
              <a:t>thái</a:t>
            </a:r>
            <a:r>
              <a:rPr lang="en-US" sz="1900" dirty="0"/>
              <a:t>.</a:t>
            </a:r>
            <a:endParaRPr lang="vi-VN" sz="1900" dirty="0"/>
          </a:p>
          <a:p>
            <a:pPr marL="537210" lvl="1" indent="0">
              <a:buNone/>
            </a:pPr>
            <a:endParaRPr lang="vi-VN" sz="1900" dirty="0"/>
          </a:p>
          <a:p>
            <a:pPr marL="64135" indent="0">
              <a:buNone/>
            </a:pPr>
            <a:endParaRPr lang="en-US" sz="19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8879"/>
            <a:ext cx="7315200" cy="799306"/>
          </a:xfrm>
        </p:spPr>
        <p:txBody>
          <a:bodyPr/>
          <a:lstStyle/>
          <a:p>
            <a:r>
              <a:rPr lang="en-US" dirty="0"/>
              <a:t>3.5. </a:t>
            </a:r>
            <a:r>
              <a:rPr lang="vi-VN" dirty="0"/>
              <a:t>Use case testing</a:t>
            </a:r>
            <a:endParaRPr lang="en-US" dirty="0"/>
          </a:p>
        </p:txBody>
      </p:sp>
      <p:sp>
        <p:nvSpPr>
          <p:cNvPr id="3" name="Content Placeholder 2"/>
          <p:cNvSpPr>
            <a:spLocks noGrp="1"/>
          </p:cNvSpPr>
          <p:nvPr>
            <p:ph idx="1"/>
          </p:nvPr>
        </p:nvSpPr>
        <p:spPr>
          <a:xfrm>
            <a:off x="533400" y="848185"/>
            <a:ext cx="8001000" cy="4572000"/>
          </a:xfrm>
        </p:spPr>
        <p:txBody>
          <a:bodyPr>
            <a:normAutofit/>
          </a:bodyPr>
          <a:lstStyle/>
          <a:p>
            <a:pPr>
              <a:buFont typeface="Wingdings" panose="05000000000000000000" pitchFamily="2" charset="2"/>
              <a:buChar char="v"/>
            </a:pPr>
            <a:r>
              <a:rPr lang="vi-VN" sz="1900" dirty="0"/>
              <a:t>Use case </a:t>
            </a:r>
            <a:endParaRPr lang="en-US" sz="1900" dirty="0"/>
          </a:p>
          <a:p>
            <a:pPr lvl="1">
              <a:buFont typeface="Wingdings" panose="05000000000000000000" pitchFamily="2" charset="2"/>
              <a:buChar char="ü"/>
            </a:pPr>
            <a:r>
              <a:rPr lang="vi-VN" sz="1900" dirty="0"/>
              <a:t>Use case mô tả sự tương tác giữa người dùng bên ngoài và hệ thống</a:t>
            </a:r>
            <a:r>
              <a:rPr lang="en-US" altLang="vi-VN" sz="1900" dirty="0"/>
              <a:t>.</a:t>
            </a:r>
            <a:endParaRPr lang="vi-VN" sz="1900" dirty="0"/>
          </a:p>
          <a:p>
            <a:pPr lvl="1">
              <a:buFont typeface="Wingdings" panose="05000000000000000000" pitchFamily="2" charset="2"/>
              <a:buChar char="ü"/>
            </a:pPr>
            <a:r>
              <a:rPr lang="vi-VN" sz="1900" dirty="0"/>
              <a:t>Mỗi Use case mô tả cách thức actor tương tác với hệ thống để đạt được mục tiêu nào đó.</a:t>
            </a:r>
          </a:p>
          <a:p>
            <a:pPr>
              <a:buFont typeface="Wingdings" panose="05000000000000000000" pitchFamily="2" charset="2"/>
              <a:buChar char="v"/>
            </a:pPr>
            <a:r>
              <a:rPr lang="vi-VN" sz="1900" dirty="0"/>
              <a:t>Use case testing dựa trên các tương tác của </a:t>
            </a:r>
            <a:r>
              <a:rPr lang="en-US" sz="1900" dirty="0" err="1"/>
              <a:t>người</a:t>
            </a:r>
            <a:r>
              <a:rPr lang="en-US" sz="1900" dirty="0"/>
              <a:t> </a:t>
            </a:r>
            <a:r>
              <a:rPr lang="en-US" sz="1900" dirty="0" err="1"/>
              <a:t>dùng</a:t>
            </a:r>
            <a:r>
              <a:rPr lang="en-US" sz="1900" dirty="0"/>
              <a:t> </a:t>
            </a:r>
            <a:r>
              <a:rPr lang="en-US" sz="1900" dirty="0" err="1"/>
              <a:t>bên</a:t>
            </a:r>
            <a:r>
              <a:rPr lang="en-US" sz="1900" dirty="0"/>
              <a:t> </a:t>
            </a:r>
            <a:r>
              <a:rPr lang="en-US" sz="1900" dirty="0" err="1"/>
              <a:t>ngoài</a:t>
            </a:r>
            <a:r>
              <a:rPr lang="en-US" sz="1900" dirty="0"/>
              <a:t> </a:t>
            </a:r>
            <a:r>
              <a:rPr lang="vi-VN" sz="1900" dirty="0"/>
              <a:t>với hệ thống để tạo ra các ngữ cảnh test cho toàn hệ thống từ trạng thái bắt đầu cho đến kết thúc.</a:t>
            </a:r>
            <a:endParaRPr lang="en-US" sz="1900" dirty="0"/>
          </a:p>
          <a:p>
            <a:pPr>
              <a:buFont typeface="Wingdings" panose="05000000000000000000" pitchFamily="2" charset="2"/>
              <a:buChar char="v"/>
            </a:pPr>
            <a:r>
              <a:rPr lang="vi-VN" sz="1900" dirty="0"/>
              <a:t>Kỹ thuật này </a:t>
            </a:r>
            <a:r>
              <a:rPr lang="en-US" sz="1900" dirty="0" err="1"/>
              <a:t>thường</a:t>
            </a:r>
            <a:r>
              <a:rPr lang="en-US" sz="1900" dirty="0"/>
              <a:t> </a:t>
            </a:r>
            <a:r>
              <a:rPr lang="vi-VN" sz="1900" dirty="0"/>
              <a:t>được sử dụng trong test tiếp nhận </a:t>
            </a:r>
            <a:r>
              <a:rPr lang="en-US" sz="1900" dirty="0"/>
              <a:t>(</a:t>
            </a:r>
            <a:r>
              <a:rPr lang="vi-VN" sz="1900" dirty="0"/>
              <a:t>acceptance</a:t>
            </a:r>
            <a:r>
              <a:rPr lang="en-US" sz="1900" dirty="0"/>
              <a:t> test</a:t>
            </a:r>
            <a:r>
              <a:rPr lang="vi-VN" sz="1900" dirty="0"/>
              <a:t>).</a:t>
            </a:r>
            <a:endParaRPr lang="en-US" sz="1900" dirty="0"/>
          </a:p>
          <a:p>
            <a:pPr marL="64135" indent="0">
              <a:buNone/>
            </a:pP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86400"/>
          </a:xfrm>
        </p:spPr>
        <p:txBody>
          <a:bodyPr>
            <a:normAutofit/>
          </a:bodyPr>
          <a:lstStyle/>
          <a:p>
            <a:pPr marL="64135" indent="0" algn="ctr">
              <a:buNone/>
            </a:pPr>
            <a:endParaRPr lang="en-US" sz="2800" b="1" i="1" dirty="0">
              <a:solidFill>
                <a:srgbClr val="FF0000"/>
              </a:solidFill>
              <a:latin typeface="Baskerville Old Face" panose="02020602080505020303" pitchFamily="18" charset="0"/>
            </a:endParaRPr>
          </a:p>
          <a:p>
            <a:pPr marL="64135" indent="0" algn="ctr">
              <a:buNone/>
            </a:pPr>
            <a:r>
              <a:rPr lang="en-US" sz="3600" b="1" i="1" dirty="0">
                <a:solidFill>
                  <a:srgbClr val="FF0000"/>
                </a:solidFill>
                <a:latin typeface="Arial (Body)" charset="0"/>
                <a:cs typeface="Arial (Body)" charset="0"/>
              </a:rPr>
              <a:t>XIN CẢM ƠN VÌ ĐÃ LẮNG NGHE !</a:t>
            </a:r>
          </a:p>
          <a:p>
            <a:pPr marL="64135" indent="0" algn="ctr">
              <a:buNone/>
            </a:pPr>
            <a:endParaRPr lang="en-US" sz="2800" b="1" i="1" dirty="0">
              <a:solidFill>
                <a:srgbClr val="FF0000"/>
              </a:solidFill>
              <a:latin typeface="Baskerville Old Face" panose="02020602080505020303" pitchFamily="18" charset="0"/>
            </a:endParaRPr>
          </a:p>
          <a:p>
            <a:pPr marL="64135" indent="0" algn="ctr">
              <a:buNone/>
            </a:pPr>
            <a:r>
              <a:rPr lang="en-US" sz="13800" b="1" dirty="0"/>
              <a:t>Q&amp;A?</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Custom 48">
      <a:dk1>
        <a:sysClr val="windowText" lastClr="000000"/>
      </a:dk1>
      <a:lt1>
        <a:sysClr val="window" lastClr="FFFFFF"/>
      </a:lt1>
      <a:dk2>
        <a:srgbClr val="262626"/>
      </a:dk2>
      <a:lt2>
        <a:srgbClr val="F2F2F2"/>
      </a:lt2>
      <a:accent1>
        <a:srgbClr val="C94C25"/>
      </a:accent1>
      <a:accent2>
        <a:srgbClr val="EA8640"/>
      </a:accent2>
      <a:accent3>
        <a:srgbClr val="99D9E7"/>
      </a:accent3>
      <a:accent4>
        <a:srgbClr val="FAB17B"/>
      </a:accent4>
      <a:accent5>
        <a:srgbClr val="21B8B3"/>
      </a:accent5>
      <a:accent6>
        <a:srgbClr val="F3786E"/>
      </a:accent6>
      <a:hlink>
        <a:srgbClr val="646567"/>
      </a:hlink>
      <a:folHlink>
        <a:srgbClr val="646567"/>
      </a:folHlink>
    </a:clrScheme>
    <a:fontScheme name="Custom 27">
      <a:majorFont>
        <a:latin typeface="Segoe UI"/>
        <a:ea typeface=""/>
        <a:cs typeface=""/>
      </a:majorFont>
      <a:minorFont>
        <a:latin typeface="Arial"/>
        <a:ea typeface=""/>
        <a:cs typeface=""/>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110000" t="250000" r="110000" b="40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110000" t="250000" r="110000" b="40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70000"/>
                <a:satMod val="130000"/>
              </a:schemeClr>
              <a:schemeClr val="phClr">
                <a:tint val="70000"/>
                <a:satMod val="130000"/>
              </a:schemeClr>
            </a:duotone>
          </a:blip>
          <a:tile tx="0" ty="0" sx="90000" sy="90000" flip="none" algn="t"/>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tf10167107</Template>
  <TotalTime>4771</TotalTime>
  <Words>2054</Words>
  <Application>Microsoft Office PowerPoint</Application>
  <PresentationFormat>On-screen Show (4:3)</PresentationFormat>
  <Paragraphs>245</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 (Body)</vt:lpstr>
      <vt:lpstr>Arial</vt:lpstr>
      <vt:lpstr>Baskerville Old Face</vt:lpstr>
      <vt:lpstr>Calibri</vt:lpstr>
      <vt:lpstr>Segoe UI</vt:lpstr>
      <vt:lpstr>Tahoma</vt:lpstr>
      <vt:lpstr>Times New Roman</vt:lpstr>
      <vt:lpstr>Wingdings</vt:lpstr>
      <vt:lpstr>Wingdings 2</vt:lpstr>
      <vt:lpstr>Verve</vt:lpstr>
      <vt:lpstr>KỸ THUẬT TEST  HỘP ĐEN</vt:lpstr>
      <vt:lpstr>NỘI DUNG</vt:lpstr>
      <vt:lpstr>I. Test hộp đen </vt:lpstr>
      <vt:lpstr>II. Ưu và nhược điểm</vt:lpstr>
      <vt:lpstr>III. Các phương pháp test hộp đen</vt:lpstr>
      <vt:lpstr>3.1 Phân lớp tương đương</vt:lpstr>
      <vt:lpstr>3.1. Phân lớp tương đương</vt:lpstr>
      <vt:lpstr>3.1. Phân lớp tương đương</vt:lpstr>
      <vt:lpstr>3.1. Phân lớp tương đương</vt:lpstr>
      <vt:lpstr>3.2 Phân tích giá trị biên</vt:lpstr>
      <vt:lpstr>3.2. Phân tích giá trị biên</vt:lpstr>
      <vt:lpstr>3.2. Phân tích giá trị biên</vt:lpstr>
      <vt:lpstr>3.3 Bảng quyết định</vt:lpstr>
      <vt:lpstr>3.3. Bảng quyết định</vt:lpstr>
      <vt:lpstr>3.3. Bảng quyết định</vt:lpstr>
      <vt:lpstr>3.4. Biểu đồ dịch chuyển trạng thái</vt:lpstr>
      <vt:lpstr>3.5. Use case testing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Reporting Progress or Status</dc:title>
  <dc:creator>Duong Thi Hong Diep</dc:creator>
  <cp:lastModifiedBy>Pham Thi Thanh Nga</cp:lastModifiedBy>
  <cp:revision>490</cp:revision>
  <dcterms:created xsi:type="dcterms:W3CDTF">2018-01-16T08:57:00Z</dcterms:created>
  <dcterms:modified xsi:type="dcterms:W3CDTF">2023-04-06T03:00:30Z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1033-10.2.0.7617</vt:lpwstr>
  </property>
</Properties>
</file>